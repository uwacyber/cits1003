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3"/>
  </p:notesMasterIdLst>
  <p:sldIdLst>
    <p:sldId id="354" r:id="rId2"/>
    <p:sldId id="333" r:id="rId3"/>
    <p:sldId id="355" r:id="rId4"/>
    <p:sldId id="350" r:id="rId5"/>
    <p:sldId id="334" r:id="rId6"/>
    <p:sldId id="351" r:id="rId7"/>
    <p:sldId id="335" r:id="rId8"/>
    <p:sldId id="336" r:id="rId9"/>
    <p:sldId id="337" r:id="rId10"/>
    <p:sldId id="338" r:id="rId11"/>
    <p:sldId id="339" r:id="rId12"/>
    <p:sldId id="340" r:id="rId13"/>
    <p:sldId id="345" r:id="rId14"/>
    <p:sldId id="346" r:id="rId15"/>
    <p:sldId id="352" r:id="rId16"/>
    <p:sldId id="344" r:id="rId17"/>
    <p:sldId id="347" r:id="rId18"/>
    <p:sldId id="353" r:id="rId19"/>
    <p:sldId id="349" r:id="rId20"/>
    <p:sldId id="348" r:id="rId21"/>
    <p:sldId id="356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B600"/>
    <a:srgbClr val="273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91" autoAdjust="0"/>
    <p:restoredTop sz="72693" autoAdjust="0"/>
  </p:normalViewPr>
  <p:slideViewPr>
    <p:cSldViewPr snapToGrid="0">
      <p:cViewPr varScale="1">
        <p:scale>
          <a:sx n="51" d="100"/>
          <a:sy n="51" d="100"/>
        </p:scale>
        <p:origin x="1704" y="78"/>
      </p:cViewPr>
      <p:guideLst>
        <p:guide orient="horz" pos="2880"/>
        <p:guide pos="2160"/>
      </p:guideLst>
    </p:cSldViewPr>
  </p:slideViewPr>
  <p:notesTextViewPr>
    <p:cViewPr>
      <p:scale>
        <a:sx n="88" d="100"/>
        <a:sy n="88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1EA6C-3B84-4E77-BF57-24C3612E0A9E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DBE4F-CC4A-4CB5-AC60-259D115F6B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6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452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353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163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917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682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517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070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942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408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743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116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363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98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934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91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841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330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68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579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30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18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4792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15804" y="6357897"/>
            <a:ext cx="304165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wacyber.gitbook.io/cits1003/project/over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E8B26A-1BFF-4919-B06A-9076B8A656DE}"/>
              </a:ext>
            </a:extLst>
          </p:cNvPr>
          <p:cNvSpPr txBox="1">
            <a:spLocks/>
          </p:cNvSpPr>
          <p:nvPr/>
        </p:nvSpPr>
        <p:spPr>
          <a:xfrm>
            <a:off x="374050" y="2046570"/>
            <a:ext cx="8630090" cy="1820200"/>
          </a:xfrm>
          <a:prstGeom prst="rect">
            <a:avLst/>
          </a:prstGeom>
        </p:spPr>
        <p:txBody>
          <a:bodyPr wrap="square" lIns="0" tIns="0" rIns="0" bIns="0">
            <a:normAutofit fontScale="97500"/>
          </a:bodyPr>
          <a:lstStyle>
            <a:lvl1pPr>
              <a:defRPr sz="2500" b="1" i="0">
                <a:solidFill>
                  <a:srgbClr val="27348A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3600" kern="0" dirty="0"/>
              <a:t>CITS1003 Introduction to Cybersecurity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5641FC5-701A-47A6-B23F-FA674E737194}"/>
              </a:ext>
            </a:extLst>
          </p:cNvPr>
          <p:cNvSpPr txBox="1">
            <a:spLocks/>
          </p:cNvSpPr>
          <p:nvPr/>
        </p:nvSpPr>
        <p:spPr>
          <a:xfrm>
            <a:off x="3514065" y="3672662"/>
            <a:ext cx="2350060" cy="388216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>
            <a:lvl1pPr marL="0">
              <a:defRPr sz="24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Dr Zhi Zhang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6B0573-945C-4A87-8496-9594045A6263}"/>
              </a:ext>
            </a:extLst>
          </p:cNvPr>
          <p:cNvSpPr txBox="1">
            <a:spLocks/>
          </p:cNvSpPr>
          <p:nvPr/>
        </p:nvSpPr>
        <p:spPr>
          <a:xfrm>
            <a:off x="3514065" y="2801367"/>
            <a:ext cx="4058091" cy="871295"/>
          </a:xfrm>
          <a:prstGeom prst="rect">
            <a:avLst/>
          </a:prstGeom>
        </p:spPr>
        <p:txBody>
          <a:bodyPr wrap="square" lIns="0" tIns="0" rIns="0" bIns="0">
            <a:normAutofit fontScale="97500"/>
          </a:bodyPr>
          <a:lstStyle>
            <a:lvl1pPr>
              <a:defRPr sz="2500" b="1" i="0">
                <a:solidFill>
                  <a:srgbClr val="27348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3600" kern="0" dirty="0"/>
              <a:t>[6] Project</a:t>
            </a:r>
          </a:p>
        </p:txBody>
      </p:sp>
    </p:spTree>
    <p:extLst>
      <p:ext uri="{BB962C8B-B14F-4D97-AF65-F5344CB8AC3E}">
        <p14:creationId xmlns:p14="http://schemas.microsoft.com/office/powerpoint/2010/main" val="91668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346" y="515361"/>
            <a:ext cx="8050837" cy="384721"/>
          </a:xfrm>
        </p:spPr>
        <p:txBody>
          <a:bodyPr/>
          <a:lstStyle/>
          <a:p>
            <a:r>
              <a:rPr lang="en-GB" dirty="0"/>
              <a:t>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1CF00B-ECD8-48F7-8509-BF86C3504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158" y="1955767"/>
            <a:ext cx="3933684" cy="294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3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346" y="515361"/>
            <a:ext cx="8050837" cy="384721"/>
          </a:xfrm>
        </p:spPr>
        <p:txBody>
          <a:bodyPr/>
          <a:lstStyle/>
          <a:p>
            <a:r>
              <a:rPr lang="en-GB" dirty="0"/>
              <a:t>Contributors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7C24FC-26ED-4C0D-80B0-014312042469}"/>
              </a:ext>
            </a:extLst>
          </p:cNvPr>
          <p:cNvSpPr/>
          <p:nvPr/>
        </p:nvSpPr>
        <p:spPr>
          <a:xfrm>
            <a:off x="280346" y="1204006"/>
            <a:ext cx="6758940" cy="220689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>
              <a:buSzPct val="100000"/>
            </a:pPr>
            <a:endParaRPr lang="en-US" sz="1600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AU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Miss </a:t>
            </a:r>
            <a:r>
              <a:rPr lang="en-AU" dirty="0" err="1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Aliah</a:t>
            </a:r>
            <a:r>
              <a:rPr lang="en-AU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Al-</a:t>
            </a:r>
            <a:r>
              <a:rPr lang="en-AU" dirty="0" err="1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Shabib</a:t>
            </a:r>
            <a:endParaRPr lang="en-AU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AU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Mr Alex Brown</a:t>
            </a:r>
            <a:endParaRPr lang="en-US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171450" indent="-171450">
              <a:buSzPct val="100000"/>
              <a:buFontTx/>
              <a:buChar char="•"/>
            </a:pPr>
            <a:r>
              <a:rPr lang="en-AU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Mr Jack Sun</a:t>
            </a:r>
            <a:endParaRPr lang="en-US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AU" b="1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Mr </a:t>
            </a:r>
            <a:r>
              <a:rPr lang="en-US" b="1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Jichunyang Li</a:t>
            </a:r>
          </a:p>
          <a:p>
            <a:pPr marL="171450" indent="-171450">
              <a:buSzPct val="100000"/>
              <a:buChar char="•"/>
            </a:pPr>
            <a:r>
              <a:rPr lang="en-AU" b="1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Mr </a:t>
            </a:r>
            <a:r>
              <a:rPr lang="en-US" b="1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Fudong Qin</a:t>
            </a:r>
          </a:p>
          <a:p>
            <a:pPr marL="171450" indent="-171450">
              <a:buSzPct val="100000"/>
              <a:buChar char="•"/>
            </a:pPr>
            <a:endParaRPr lang="en-US" b="1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endParaRPr lang="en-US" b="1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US" b="1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Dr. Zhi Zhang</a:t>
            </a:r>
            <a:endParaRPr lang="en-US" sz="1600" b="1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4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9">
            <a:extLst>
              <a:ext uri="{FF2B5EF4-FFF2-40B4-BE49-F238E27FC236}">
                <a16:creationId xmlns:a16="http://schemas.microsoft.com/office/drawing/2014/main" id="{BAA853C1-A31A-42A8-A37E-5AF23FB9ED23}"/>
              </a:ext>
            </a:extLst>
          </p:cNvPr>
          <p:cNvSpPr txBox="1"/>
          <p:nvPr/>
        </p:nvSpPr>
        <p:spPr>
          <a:xfrm>
            <a:off x="583853" y="1948432"/>
            <a:ext cx="8050837" cy="645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0" indent="-171450">
              <a:spcBef>
                <a:spcPts val="135"/>
              </a:spcBef>
              <a:buFont typeface="Wingdings" panose="05000000000000000000" pitchFamily="2" charset="2"/>
              <a:buChar char="q"/>
            </a:pPr>
            <a:r>
              <a:rPr lang="en-AU" sz="2000" b="1" spc="10" dirty="0">
                <a:latin typeface="Arial"/>
                <a:cs typeface="Arial"/>
              </a:rPr>
              <a:t>Project overview</a:t>
            </a:r>
          </a:p>
          <a:p>
            <a:pPr marL="812800" lvl="1" indent="-342900">
              <a:spcBef>
                <a:spcPts val="135"/>
              </a:spcBef>
              <a:buFont typeface="Wingdings" panose="05000000000000000000" pitchFamily="2" charset="2"/>
              <a:buChar char="Ø"/>
            </a:pPr>
            <a:r>
              <a:rPr lang="en-AU" sz="2000" b="1" spc="10" dirty="0">
                <a:latin typeface="Arial"/>
                <a:cs typeface="Arial"/>
                <a:hlinkClick r:id="rId3"/>
              </a:rPr>
              <a:t>https://uwacyber.gitbook.io/cits1003/project/overview</a:t>
            </a:r>
            <a:endParaRPr lang="en-AU" sz="2000" b="1" spc="10" dirty="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0D38DB-2DBE-4BEE-8796-BA3D18DF00DB}"/>
              </a:ext>
            </a:extLst>
          </p:cNvPr>
          <p:cNvSpPr txBox="1">
            <a:spLocks/>
          </p:cNvSpPr>
          <p:nvPr/>
        </p:nvSpPr>
        <p:spPr>
          <a:xfrm>
            <a:off x="583853" y="2209401"/>
            <a:ext cx="805083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7348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GB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135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57" y="411844"/>
            <a:ext cx="8050837" cy="430887"/>
          </a:xfrm>
        </p:spPr>
        <p:txBody>
          <a:bodyPr/>
          <a:lstStyle/>
          <a:p>
            <a:r>
              <a:rPr lang="en-AU" sz="2800" b="1" spc="10" dirty="0">
                <a:latin typeface="Arial"/>
                <a:cs typeface="Arial"/>
              </a:rPr>
              <a:t>V</a:t>
            </a:r>
            <a:r>
              <a:rPr lang="en-US" altLang="zh-CN" sz="2800" b="1" spc="10" dirty="0" err="1">
                <a:latin typeface="Arial"/>
                <a:cs typeface="Arial"/>
              </a:rPr>
              <a:t>ulnerabilities</a:t>
            </a:r>
            <a:r>
              <a:rPr lang="en-GB" dirty="0"/>
              <a:t> 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7DDA43B-4A5B-7C52-F5C0-A091A10EDE2C}"/>
              </a:ext>
            </a:extLst>
          </p:cNvPr>
          <p:cNvSpPr/>
          <p:nvPr/>
        </p:nvSpPr>
        <p:spPr>
          <a:xfrm>
            <a:off x="349357" y="1312681"/>
            <a:ext cx="6758940" cy="87731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Web authentication.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Path and path traversal.</a:t>
            </a:r>
          </a:p>
          <a:p>
            <a:pPr marL="171450" indent="-17145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CWE and CVE.</a:t>
            </a:r>
          </a:p>
        </p:txBody>
      </p:sp>
    </p:spTree>
    <p:extLst>
      <p:ext uri="{BB962C8B-B14F-4D97-AF65-F5344CB8AC3E}">
        <p14:creationId xmlns:p14="http://schemas.microsoft.com/office/powerpoint/2010/main" val="59487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57" y="411844"/>
            <a:ext cx="8050837" cy="430887"/>
          </a:xfrm>
        </p:spPr>
        <p:txBody>
          <a:bodyPr/>
          <a:lstStyle/>
          <a:p>
            <a:r>
              <a:rPr lang="en-AU" sz="2800" b="1" spc="10" dirty="0">
                <a:latin typeface="Arial"/>
                <a:cs typeface="Arial"/>
              </a:rPr>
              <a:t>V</a:t>
            </a:r>
            <a:r>
              <a:rPr lang="en-US" altLang="zh-CN" sz="2800" b="1" spc="10" dirty="0" err="1">
                <a:latin typeface="Arial"/>
                <a:cs typeface="Arial"/>
              </a:rPr>
              <a:t>ulnerabilities</a:t>
            </a:r>
            <a:r>
              <a:rPr lang="en-GB" dirty="0"/>
              <a:t> 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063C906-677F-4444-B460-8D9EDB490EF1}"/>
              </a:ext>
            </a:extLst>
          </p:cNvPr>
          <p:cNvSpPr/>
          <p:nvPr/>
        </p:nvSpPr>
        <p:spPr>
          <a:xfrm>
            <a:off x="411480" y="1234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pc="10" dirty="0">
                <a:latin typeface="Arial"/>
                <a:cs typeface="Arial"/>
              </a:rPr>
              <a:t>Web Authentication (Tokens, Cookies)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04C1994-E798-4CA9-884F-4014D2CFFCFE}"/>
              </a:ext>
            </a:extLst>
          </p:cNvPr>
          <p:cNvSpPr/>
          <p:nvPr/>
        </p:nvSpPr>
        <p:spPr>
          <a:xfrm>
            <a:off x="1456841" y="2379367"/>
            <a:ext cx="2215482" cy="777240"/>
          </a:xfrm>
          <a:prstGeom prst="rect">
            <a:avLst/>
          </a:prstGeom>
          <a:solidFill>
            <a:srgbClr val="EEF2FF"/>
          </a:solidFill>
          <a:ln w="1778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730A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Your browser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D85806A-643C-469D-96EF-E0AFCD419DFF}"/>
              </a:ext>
            </a:extLst>
          </p:cNvPr>
          <p:cNvSpPr/>
          <p:nvPr/>
        </p:nvSpPr>
        <p:spPr>
          <a:xfrm>
            <a:off x="4861042" y="2379367"/>
            <a:ext cx="3017520" cy="777240"/>
          </a:xfrm>
          <a:prstGeom prst="rect">
            <a:avLst/>
          </a:prstGeom>
          <a:solidFill>
            <a:srgbClr val="E0F2FE"/>
          </a:solidFill>
          <a:ln w="1778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5985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Website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rgbClr val="075985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server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84222F6-11CF-494C-A2DC-0CC35B9ACD51}"/>
              </a:ext>
            </a:extLst>
          </p:cNvPr>
          <p:cNvSpPr/>
          <p:nvPr/>
        </p:nvSpPr>
        <p:spPr>
          <a:xfrm>
            <a:off x="3810258" y="2833002"/>
            <a:ext cx="914400" cy="0"/>
          </a:xfrm>
          <a:prstGeom prst="line">
            <a:avLst/>
          </a:prstGeom>
          <a:noFill/>
          <a:ln w="26670">
            <a:solidFill>
              <a:srgbClr val="60A5F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ED2FF13-E462-40B4-AD77-818694E73054}"/>
              </a:ext>
            </a:extLst>
          </p:cNvPr>
          <p:cNvSpPr/>
          <p:nvPr/>
        </p:nvSpPr>
        <p:spPr>
          <a:xfrm>
            <a:off x="2337135" y="3429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Browser and website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50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exchange requests and responses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28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D5C0D63-3048-49A5-884B-EAA0D7C98CE4}"/>
              </a:ext>
            </a:extLst>
          </p:cNvPr>
          <p:cNvSpPr/>
          <p:nvPr/>
        </p:nvSpPr>
        <p:spPr>
          <a:xfrm>
            <a:off x="192024" y="665226"/>
            <a:ext cx="61036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1. What is web authentication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FB0B93E-3927-4CAE-ACC1-D72DC2E70DAF}"/>
              </a:ext>
            </a:extLst>
          </p:cNvPr>
          <p:cNvSpPr/>
          <p:nvPr/>
        </p:nvSpPr>
        <p:spPr>
          <a:xfrm>
            <a:off x="466342" y="1310258"/>
            <a:ext cx="8258557" cy="178308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You provide something that proves your identity, such as a password.</a:t>
            </a:r>
          </a:p>
          <a:p>
            <a:pPr marL="171450" indent="-171450"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website checks that proof.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If the check succeeds, the website treats you as a signed-in user.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716CE7C-7B79-4784-9001-4E96910777FB}"/>
              </a:ext>
            </a:extLst>
          </p:cNvPr>
          <p:cNvSpPr/>
          <p:nvPr/>
        </p:nvSpPr>
        <p:spPr>
          <a:xfrm>
            <a:off x="2372106" y="2790827"/>
            <a:ext cx="994410" cy="973836"/>
          </a:xfrm>
          <a:prstGeom prst="roundRect">
            <a:avLst>
              <a:gd name="adj" fmla="val 5634"/>
            </a:avLst>
          </a:prstGeom>
          <a:solidFill>
            <a:srgbClr val="EEF2FF"/>
          </a:solidFill>
          <a:ln w="17780">
            <a:solidFill>
              <a:srgbClr val="4338C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3B516DC-EE53-4E5D-966E-C7580E90A8D0}"/>
              </a:ext>
            </a:extLst>
          </p:cNvPr>
          <p:cNvSpPr/>
          <p:nvPr/>
        </p:nvSpPr>
        <p:spPr>
          <a:xfrm>
            <a:off x="2495550" y="2886839"/>
            <a:ext cx="7475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338C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Step 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96DF97B-332F-4D71-9C2E-BF9BAEAD04EA}"/>
              </a:ext>
            </a:extLst>
          </p:cNvPr>
          <p:cNvSpPr/>
          <p:nvPr/>
        </p:nvSpPr>
        <p:spPr>
          <a:xfrm>
            <a:off x="2495550" y="3113153"/>
            <a:ext cx="7475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User signs 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48782CF-358F-4080-94AF-B79FE7AE1D35}"/>
              </a:ext>
            </a:extLst>
          </p:cNvPr>
          <p:cNvSpPr/>
          <p:nvPr/>
        </p:nvSpPr>
        <p:spPr>
          <a:xfrm>
            <a:off x="3766185" y="2790827"/>
            <a:ext cx="994410" cy="973836"/>
          </a:xfrm>
          <a:prstGeom prst="roundRect">
            <a:avLst>
              <a:gd name="adj" fmla="val 5634"/>
            </a:avLst>
          </a:prstGeom>
          <a:solidFill>
            <a:srgbClr val="ECFEFF"/>
          </a:solidFill>
          <a:ln w="17780">
            <a:solidFill>
              <a:srgbClr val="0F766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91D3725-69A0-43D2-B7B5-45C06FCAB45B}"/>
              </a:ext>
            </a:extLst>
          </p:cNvPr>
          <p:cNvSpPr/>
          <p:nvPr/>
        </p:nvSpPr>
        <p:spPr>
          <a:xfrm>
            <a:off x="3889629" y="2886839"/>
            <a:ext cx="7475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766E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Step 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A267294-F0BE-4882-8963-F7B4FB9D4D83}"/>
              </a:ext>
            </a:extLst>
          </p:cNvPr>
          <p:cNvSpPr/>
          <p:nvPr/>
        </p:nvSpPr>
        <p:spPr>
          <a:xfrm>
            <a:off x="3889629" y="3113153"/>
            <a:ext cx="7475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Website checks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84226D5-8370-489B-8C44-524B271580B0}"/>
              </a:ext>
            </a:extLst>
          </p:cNvPr>
          <p:cNvSpPr/>
          <p:nvPr/>
        </p:nvSpPr>
        <p:spPr>
          <a:xfrm>
            <a:off x="5232654" y="2790827"/>
            <a:ext cx="1062990" cy="973836"/>
          </a:xfrm>
          <a:prstGeom prst="roundRect">
            <a:avLst>
              <a:gd name="adj" fmla="val 5634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6361DFD-DD6C-4750-A5FC-C3A3B8E88713}"/>
              </a:ext>
            </a:extLst>
          </p:cNvPr>
          <p:cNvSpPr/>
          <p:nvPr/>
        </p:nvSpPr>
        <p:spPr>
          <a:xfrm>
            <a:off x="5356098" y="2886839"/>
            <a:ext cx="81610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45309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Step 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71C8EAB-56F9-4B2B-9231-BB3B9571E214}"/>
              </a:ext>
            </a:extLst>
          </p:cNvPr>
          <p:cNvSpPr/>
          <p:nvPr/>
        </p:nvSpPr>
        <p:spPr>
          <a:xfrm>
            <a:off x="5356098" y="3113153"/>
            <a:ext cx="81610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Session begins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A33E9CE-8355-4758-8DD2-B815FE4DE5F4}"/>
              </a:ext>
            </a:extLst>
          </p:cNvPr>
          <p:cNvSpPr/>
          <p:nvPr/>
        </p:nvSpPr>
        <p:spPr>
          <a:xfrm>
            <a:off x="4869561" y="3133727"/>
            <a:ext cx="192024" cy="123444"/>
          </a:xfrm>
          <a:prstGeom prst="chevron">
            <a:avLst/>
          </a:prstGeom>
          <a:solidFill>
            <a:srgbClr val="94A3B8">
              <a:alpha val="90000"/>
            </a:srgbClr>
          </a:solidFill>
          <a:ln w="12700">
            <a:solidFill>
              <a:srgbClr val="94A3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30A3DAF4-EF5C-4ED2-9E40-6CED8FD8788D}"/>
              </a:ext>
            </a:extLst>
          </p:cNvPr>
          <p:cNvSpPr/>
          <p:nvPr/>
        </p:nvSpPr>
        <p:spPr>
          <a:xfrm>
            <a:off x="3469386" y="3133727"/>
            <a:ext cx="192024" cy="123444"/>
          </a:xfrm>
          <a:prstGeom prst="chevron">
            <a:avLst/>
          </a:prstGeom>
          <a:solidFill>
            <a:srgbClr val="94A3B8">
              <a:alpha val="90000"/>
            </a:srgbClr>
          </a:solidFill>
          <a:ln w="12700">
            <a:solidFill>
              <a:srgbClr val="94A3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58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E5D224D-17FA-450B-B9B6-7BBB80B91C10}"/>
              </a:ext>
            </a:extLst>
          </p:cNvPr>
          <p:cNvSpPr/>
          <p:nvPr/>
        </p:nvSpPr>
        <p:spPr>
          <a:xfrm>
            <a:off x="274320" y="620649"/>
            <a:ext cx="61036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2. What is an authentication token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CCD858F-F9F3-42C2-B6EA-7662A2877AD5}"/>
              </a:ext>
            </a:extLst>
          </p:cNvPr>
          <p:cNvSpPr/>
          <p:nvPr/>
        </p:nvSpPr>
        <p:spPr>
          <a:xfrm>
            <a:off x="342900" y="1182751"/>
            <a:ext cx="84480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A token is data that helps the website recognize an authenticated session.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A0A57F3-83D6-4288-BEAD-7F5073897AD8}"/>
              </a:ext>
            </a:extLst>
          </p:cNvPr>
          <p:cNvSpPr/>
          <p:nvPr/>
        </p:nvSpPr>
        <p:spPr>
          <a:xfrm>
            <a:off x="353060" y="1662304"/>
            <a:ext cx="6758940" cy="87731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server creates and returns a token after a successful login.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browser sends it back on later requests so the user stays signed in.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B271E3-C4BF-45F0-ACB1-B691FA9C43AC}"/>
              </a:ext>
            </a:extLst>
          </p:cNvPr>
          <p:cNvSpPr/>
          <p:nvPr/>
        </p:nvSpPr>
        <p:spPr>
          <a:xfrm>
            <a:off x="2658237" y="4098291"/>
            <a:ext cx="32232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1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BCC7E08-9934-42A2-B4C8-DFFBF739376E}"/>
              </a:ext>
            </a:extLst>
          </p:cNvPr>
          <p:cNvSpPr/>
          <p:nvPr/>
        </p:nvSpPr>
        <p:spPr>
          <a:xfrm>
            <a:off x="2678430" y="4283837"/>
            <a:ext cx="31203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9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2121E20-2F24-433D-9CB5-5B284184982B}"/>
              </a:ext>
            </a:extLst>
          </p:cNvPr>
          <p:cNvSpPr/>
          <p:nvPr/>
        </p:nvSpPr>
        <p:spPr>
          <a:xfrm>
            <a:off x="2429636" y="3193993"/>
            <a:ext cx="2188083" cy="946913"/>
          </a:xfrm>
          <a:prstGeom prst="roundRect">
            <a:avLst>
              <a:gd name="adj" fmla="val 5926"/>
            </a:avLst>
          </a:prstGeom>
          <a:solidFill>
            <a:srgbClr val="E0E7FF"/>
          </a:solidFill>
          <a:ln w="1651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BD9789B-CD61-4936-89D9-3960CA1D2066}"/>
              </a:ext>
            </a:extLst>
          </p:cNvPr>
          <p:cNvSpPr/>
          <p:nvPr/>
        </p:nvSpPr>
        <p:spPr>
          <a:xfrm>
            <a:off x="2543936" y="3299340"/>
            <a:ext cx="2028064" cy="736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 err="1">
                <a:solidFill>
                  <a:srgbClr val="3730A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session_id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3730A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= abc123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A5F57D8-F798-43C9-8E44-DA60EE7D97B3}"/>
              </a:ext>
            </a:extLst>
          </p:cNvPr>
          <p:cNvSpPr/>
          <p:nvPr/>
        </p:nvSpPr>
        <p:spPr>
          <a:xfrm>
            <a:off x="269240" y="2535952"/>
            <a:ext cx="4297680" cy="5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Example: A token can be a session ID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CDC0C77-EC8A-4D1A-84DE-0A4F90AFCFB5}"/>
              </a:ext>
            </a:extLst>
          </p:cNvPr>
          <p:cNvSpPr/>
          <p:nvPr/>
        </p:nvSpPr>
        <p:spPr>
          <a:xfrm>
            <a:off x="353060" y="4898517"/>
            <a:ext cx="23223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E123C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Token ≠ password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99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D68A36C-312B-42EF-81A9-969C605E1A3B}"/>
              </a:ext>
            </a:extLst>
          </p:cNvPr>
          <p:cNvSpPr/>
          <p:nvPr/>
        </p:nvSpPr>
        <p:spPr>
          <a:xfrm>
            <a:off x="263144" y="625602"/>
            <a:ext cx="61036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3. What is a browser cookie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5A677B8-7D57-45C0-8D98-E8ED6C0C0FDF}"/>
              </a:ext>
            </a:extLst>
          </p:cNvPr>
          <p:cNvSpPr/>
          <p:nvPr/>
        </p:nvSpPr>
        <p:spPr>
          <a:xfrm>
            <a:off x="263144" y="1182751"/>
            <a:ext cx="727710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A cookie is a small piece of data a website stores in the browser.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02278ED-8D47-4360-B5A3-C2FD3F108A38}"/>
              </a:ext>
            </a:extLst>
          </p:cNvPr>
          <p:cNvSpPr/>
          <p:nvPr/>
        </p:nvSpPr>
        <p:spPr>
          <a:xfrm>
            <a:off x="263144" y="1805940"/>
            <a:ext cx="8144256" cy="122936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Char char="•"/>
            </a:pPr>
            <a:r>
              <a:rPr lang="en-AU" sz="16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often used to remember a session by saving a session ID for a specific website.</a:t>
            </a:r>
            <a:endParaRPr lang="en-US" sz="16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browser can send a cookie automatically with later requests to the same site.</a:t>
            </a:r>
          </a:p>
          <a:p>
            <a:pPr marL="171450" indent="-171450">
              <a:buSzPct val="100000"/>
              <a:buFontTx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Cookies are usually stored as name–value pairs.</a:t>
            </a:r>
          </a:p>
          <a:p>
            <a:pPr marL="171450" indent="-171450">
              <a:buSzPct val="100000"/>
              <a:buChar char="•"/>
            </a:pPr>
            <a:endParaRPr lang="en-US" sz="1600" dirty="0">
              <a:solidFill>
                <a:srgbClr val="33415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9DF468F-4EB4-4AE7-A03E-C62D05854AAB}"/>
              </a:ext>
            </a:extLst>
          </p:cNvPr>
          <p:cNvSpPr/>
          <p:nvPr/>
        </p:nvSpPr>
        <p:spPr>
          <a:xfrm>
            <a:off x="7104380" y="972312"/>
            <a:ext cx="13030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50" dirty="0">
                <a:solidFill>
                  <a:srgbClr val="B4530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🍪</a:t>
            </a:r>
            <a:endParaRPr lang="en-US" sz="40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55820A6-387E-4CEF-94E9-B941B2A823AF}"/>
              </a:ext>
            </a:extLst>
          </p:cNvPr>
          <p:cNvSpPr/>
          <p:nvPr/>
        </p:nvSpPr>
        <p:spPr>
          <a:xfrm>
            <a:off x="263146" y="3134995"/>
            <a:ext cx="1832610" cy="24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cookie fields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B63F85B-6D6D-4A0B-823D-C2AE203B0B48}"/>
              </a:ext>
            </a:extLst>
          </p:cNvPr>
          <p:cNvSpPr/>
          <p:nvPr/>
        </p:nvSpPr>
        <p:spPr>
          <a:xfrm>
            <a:off x="263145" y="3387090"/>
            <a:ext cx="198313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Name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6A8A46A-9713-4754-8D32-19474FC7EE78}"/>
              </a:ext>
            </a:extLst>
          </p:cNvPr>
          <p:cNvSpPr/>
          <p:nvPr/>
        </p:nvSpPr>
        <p:spPr>
          <a:xfrm>
            <a:off x="1077470" y="3166872"/>
            <a:ext cx="2258568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3341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session_id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3F5DB64-23B6-4DAB-8C5A-4E9672908173}"/>
              </a:ext>
            </a:extLst>
          </p:cNvPr>
          <p:cNvSpPr/>
          <p:nvPr/>
        </p:nvSpPr>
        <p:spPr>
          <a:xfrm>
            <a:off x="263145" y="3493008"/>
            <a:ext cx="1983133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Value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5D5B8F0-0311-45A8-A24E-C81B75A617DA}"/>
              </a:ext>
            </a:extLst>
          </p:cNvPr>
          <p:cNvSpPr/>
          <p:nvPr/>
        </p:nvSpPr>
        <p:spPr>
          <a:xfrm>
            <a:off x="1077470" y="3513836"/>
            <a:ext cx="2258568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abc123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E714197-CE38-4B65-993B-62D887F94330}"/>
              </a:ext>
            </a:extLst>
          </p:cNvPr>
          <p:cNvSpPr/>
          <p:nvPr/>
        </p:nvSpPr>
        <p:spPr>
          <a:xfrm>
            <a:off x="263144" y="3862832"/>
            <a:ext cx="1983133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Domain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3513C64-6723-46CA-8FE8-4F2B5D205378}"/>
              </a:ext>
            </a:extLst>
          </p:cNvPr>
          <p:cNvSpPr/>
          <p:nvPr/>
        </p:nvSpPr>
        <p:spPr>
          <a:xfrm>
            <a:off x="1116993" y="3875024"/>
            <a:ext cx="2258568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shop.com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73EC4CA-B66E-4908-9517-0049DFE79B8F}"/>
              </a:ext>
            </a:extLst>
          </p:cNvPr>
          <p:cNvSpPr/>
          <p:nvPr/>
        </p:nvSpPr>
        <p:spPr>
          <a:xfrm>
            <a:off x="263145" y="4277868"/>
            <a:ext cx="1983133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Expires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B363A1E-A9C4-44C9-8AA1-EDC9A94A80A5}"/>
              </a:ext>
            </a:extLst>
          </p:cNvPr>
          <p:cNvSpPr/>
          <p:nvPr/>
        </p:nvSpPr>
        <p:spPr>
          <a:xfrm>
            <a:off x="1136755" y="4277868"/>
            <a:ext cx="2258568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 2 hours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1DEEF68-B0AC-A51E-39DA-50CA9EE62675}"/>
              </a:ext>
            </a:extLst>
          </p:cNvPr>
          <p:cNvSpPr/>
          <p:nvPr/>
        </p:nvSpPr>
        <p:spPr>
          <a:xfrm>
            <a:off x="-13911" y="2538300"/>
            <a:ext cx="1474839" cy="5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10203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6C4A9CF-BEF6-4A63-86A4-844B49A5E492}"/>
              </a:ext>
            </a:extLst>
          </p:cNvPr>
          <p:cNvSpPr/>
          <p:nvPr/>
        </p:nvSpPr>
        <p:spPr>
          <a:xfrm>
            <a:off x="186944" y="600202"/>
            <a:ext cx="677265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4. Tokens and cookies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0980085-C927-4F68-905F-007334468CC6}"/>
              </a:ext>
            </a:extLst>
          </p:cNvPr>
          <p:cNvSpPr/>
          <p:nvPr/>
        </p:nvSpPr>
        <p:spPr>
          <a:xfrm>
            <a:off x="186944" y="1348486"/>
            <a:ext cx="5655056" cy="55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A common pattern is to store an authentication token inside a cookie.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C5BD4F2-8280-455E-BA49-E50156DA000A}"/>
              </a:ext>
            </a:extLst>
          </p:cNvPr>
          <p:cNvSpPr/>
          <p:nvPr/>
        </p:nvSpPr>
        <p:spPr>
          <a:xfrm>
            <a:off x="1359126" y="2685623"/>
            <a:ext cx="2211070" cy="980694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7780">
            <a:solidFill>
              <a:srgbClr val="1D4ED8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AEB0950-2101-4288-B25F-2DBCAA0FCB73}"/>
              </a:ext>
            </a:extLst>
          </p:cNvPr>
          <p:cNvSpPr/>
          <p:nvPr/>
        </p:nvSpPr>
        <p:spPr>
          <a:xfrm>
            <a:off x="1430500" y="2740487"/>
            <a:ext cx="14676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D4ED8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Cookie</a:t>
            </a:r>
            <a:endParaRPr lang="en-US" sz="138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8008CC9-38BC-4B94-ABA1-672C9FED2CA5}"/>
              </a:ext>
            </a:extLst>
          </p:cNvPr>
          <p:cNvSpPr/>
          <p:nvPr/>
        </p:nvSpPr>
        <p:spPr>
          <a:xfrm>
            <a:off x="1461361" y="3007949"/>
            <a:ext cx="208762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storage container in the browser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including name, value, expiry, domain)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A0C8058-AC50-4795-A6DE-839CCDD23BAA}"/>
              </a:ext>
            </a:extLst>
          </p:cNvPr>
          <p:cNvSpPr/>
          <p:nvPr/>
        </p:nvSpPr>
        <p:spPr>
          <a:xfrm>
            <a:off x="3917922" y="2685623"/>
            <a:ext cx="2191893" cy="980694"/>
          </a:xfrm>
          <a:prstGeom prst="roundRect">
            <a:avLst>
              <a:gd name="adj" fmla="val 4651"/>
            </a:avLst>
          </a:prstGeom>
          <a:solidFill>
            <a:srgbClr val="FFF7ED"/>
          </a:solidFill>
          <a:ln w="17780">
            <a:solidFill>
              <a:srgbClr val="C2410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A564800-582D-462F-B4B2-8B1D47CFD273}"/>
              </a:ext>
            </a:extLst>
          </p:cNvPr>
          <p:cNvSpPr/>
          <p:nvPr/>
        </p:nvSpPr>
        <p:spPr>
          <a:xfrm>
            <a:off x="4013045" y="2730200"/>
            <a:ext cx="14676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2410C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Token</a:t>
            </a:r>
            <a:endParaRPr lang="en-US" sz="138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06D931C-CF9A-45F0-AB0C-613957FD8A04}"/>
              </a:ext>
            </a:extLst>
          </p:cNvPr>
          <p:cNvSpPr/>
          <p:nvPr/>
        </p:nvSpPr>
        <p:spPr>
          <a:xfrm>
            <a:off x="4013045" y="3007949"/>
            <a:ext cx="204190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 actual value that proves or identifies the signed-in session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BE5708E-630A-441D-B260-A91FA905BF0A}"/>
              </a:ext>
            </a:extLst>
          </p:cNvPr>
          <p:cNvSpPr/>
          <p:nvPr/>
        </p:nvSpPr>
        <p:spPr>
          <a:xfrm>
            <a:off x="3644618" y="3155523"/>
            <a:ext cx="192024" cy="123444"/>
          </a:xfrm>
          <a:prstGeom prst="chevron">
            <a:avLst/>
          </a:prstGeom>
          <a:solidFill>
            <a:srgbClr val="94A3B8">
              <a:alpha val="90000"/>
            </a:srgbClr>
          </a:solidFill>
          <a:ln w="12700">
            <a:solidFill>
              <a:srgbClr val="94A3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3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E155666-CE7F-4AF2-99F3-CC711CFD1709}"/>
              </a:ext>
            </a:extLst>
          </p:cNvPr>
          <p:cNvSpPr/>
          <p:nvPr/>
        </p:nvSpPr>
        <p:spPr>
          <a:xfrm>
            <a:off x="269240" y="638302"/>
            <a:ext cx="61036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5. What happens when you log in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DC0B60F-410C-4DFC-B71B-6858580095B6}"/>
              </a:ext>
            </a:extLst>
          </p:cNvPr>
          <p:cNvSpPr/>
          <p:nvPr/>
        </p:nvSpPr>
        <p:spPr>
          <a:xfrm>
            <a:off x="269240" y="12623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A simplified request-and-response flow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13BC5D6-B4BF-432B-BD5B-089225594A2B}"/>
              </a:ext>
            </a:extLst>
          </p:cNvPr>
          <p:cNvSpPr/>
          <p:nvPr/>
        </p:nvSpPr>
        <p:spPr>
          <a:xfrm>
            <a:off x="219456" y="1773174"/>
            <a:ext cx="2404745" cy="3154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524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E181E93-B63A-40BC-B073-6D54DF0FE668}"/>
              </a:ext>
            </a:extLst>
          </p:cNvPr>
          <p:cNvSpPr/>
          <p:nvPr/>
        </p:nvSpPr>
        <p:spPr>
          <a:xfrm>
            <a:off x="3198749" y="1768348"/>
            <a:ext cx="2640330" cy="3154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180ED02-4068-405A-8A53-85A8266893AC}"/>
              </a:ext>
            </a:extLst>
          </p:cNvPr>
          <p:cNvSpPr/>
          <p:nvPr/>
        </p:nvSpPr>
        <p:spPr>
          <a:xfrm>
            <a:off x="6406769" y="1756918"/>
            <a:ext cx="2571750" cy="3154680"/>
          </a:xfrm>
          <a:prstGeom prst="roundRect">
            <a:avLst>
              <a:gd name="adj" fmla="val 2133"/>
            </a:avLst>
          </a:prstGeom>
          <a:solidFill>
            <a:schemeClr val="accent3">
              <a:lumMod val="40000"/>
              <a:lumOff val="60000"/>
            </a:schemeClr>
          </a:solidFill>
          <a:ln w="1524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7EA5520-B218-4AC6-819A-8C89AB9C312B}"/>
              </a:ext>
            </a:extLst>
          </p:cNvPr>
          <p:cNvSpPr/>
          <p:nvPr/>
        </p:nvSpPr>
        <p:spPr>
          <a:xfrm>
            <a:off x="220154" y="1867725"/>
            <a:ext cx="1211707" cy="26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730A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Browser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5A0626B-3C0D-415F-BC9A-A5E8D02CBA8B}"/>
              </a:ext>
            </a:extLst>
          </p:cNvPr>
          <p:cNvSpPr/>
          <p:nvPr/>
        </p:nvSpPr>
        <p:spPr>
          <a:xfrm>
            <a:off x="3281870" y="1845419"/>
            <a:ext cx="2219770" cy="265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730A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Network messages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7FCE943-C369-452F-96F3-4A0383DDFC85}"/>
              </a:ext>
            </a:extLst>
          </p:cNvPr>
          <p:cNvSpPr/>
          <p:nvPr/>
        </p:nvSpPr>
        <p:spPr>
          <a:xfrm>
            <a:off x="6368925" y="1867724"/>
            <a:ext cx="1458340" cy="200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730A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Website</a:t>
            </a: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BBE1990-5277-4847-9D9E-1627ECA5D061}"/>
              </a:ext>
            </a:extLst>
          </p:cNvPr>
          <p:cNvSpPr/>
          <p:nvPr/>
        </p:nvSpPr>
        <p:spPr>
          <a:xfrm flipV="1">
            <a:off x="2631059" y="2374914"/>
            <a:ext cx="569341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344957A8-72B0-4207-A1F1-726F27EF2531}"/>
              </a:ext>
            </a:extLst>
          </p:cNvPr>
          <p:cNvSpPr/>
          <p:nvPr/>
        </p:nvSpPr>
        <p:spPr>
          <a:xfrm>
            <a:off x="6722237" y="3917188"/>
            <a:ext cx="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EE5D9B2F-B4D1-44A8-B8AF-54B8F8683023}"/>
              </a:ext>
            </a:extLst>
          </p:cNvPr>
          <p:cNvSpPr/>
          <p:nvPr/>
        </p:nvSpPr>
        <p:spPr>
          <a:xfrm>
            <a:off x="299148" y="2231262"/>
            <a:ext cx="2245360" cy="26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88" b="1" dirty="0">
                <a:solidFill>
                  <a:srgbClr val="0F172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1. User </a:t>
            </a: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submits</a:t>
            </a:r>
            <a:r>
              <a:rPr lang="en-US" sz="1388" b="1" dirty="0">
                <a:solidFill>
                  <a:srgbClr val="0F172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 login form</a:t>
            </a:r>
            <a:endParaRPr lang="en-US" sz="138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5CCD378-598C-45E6-B4AD-91D7EEEC0DDD}"/>
              </a:ext>
            </a:extLst>
          </p:cNvPr>
          <p:cNvSpPr/>
          <p:nvPr/>
        </p:nvSpPr>
        <p:spPr>
          <a:xfrm>
            <a:off x="3335909" y="2234692"/>
            <a:ext cx="20742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POST /login with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username + password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8EAFD03-5F09-4F56-8011-DE8F12F9540C}"/>
              </a:ext>
            </a:extLst>
          </p:cNvPr>
          <p:cNvSpPr/>
          <p:nvPr/>
        </p:nvSpPr>
        <p:spPr>
          <a:xfrm>
            <a:off x="6496940" y="2577175"/>
            <a:ext cx="2408047" cy="200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766E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2. Server checks credentials. If valid, create a</a:t>
            </a:r>
          </a:p>
          <a:p>
            <a:r>
              <a:rPr lang="en-US" sz="1400" b="1" dirty="0">
                <a:solidFill>
                  <a:srgbClr val="0F766E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session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43C4FE2-915F-403B-88DE-5DFEAF823124}"/>
              </a:ext>
            </a:extLst>
          </p:cNvPr>
          <p:cNvSpPr/>
          <p:nvPr/>
        </p:nvSpPr>
        <p:spPr>
          <a:xfrm>
            <a:off x="6574029" y="2577175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b="1" dirty="0">
              <a:solidFill>
                <a:srgbClr val="0F766E"/>
              </a:solidFill>
              <a:latin typeface="Arial" panose="020B0604020202020204" pitchFamily="34" charset="0"/>
              <a:ea typeface="Aptos Display" pitchFamily="34" charset="-122"/>
              <a:cs typeface="Arial" panose="020B0604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9132AF4-7E2A-4EE9-815E-10D0C7FAE5FA}"/>
              </a:ext>
            </a:extLst>
          </p:cNvPr>
          <p:cNvSpPr/>
          <p:nvPr/>
        </p:nvSpPr>
        <p:spPr>
          <a:xfrm>
            <a:off x="3335909" y="2884962"/>
            <a:ext cx="2219769" cy="39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Response tells browser</a:t>
            </a:r>
          </a:p>
          <a:p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store a cookie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EECEB46-BF97-4D7C-956F-FC27A5CEE010}"/>
              </a:ext>
            </a:extLst>
          </p:cNvPr>
          <p:cNvSpPr/>
          <p:nvPr/>
        </p:nvSpPr>
        <p:spPr>
          <a:xfrm>
            <a:off x="3335909" y="3369201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2400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Set-Cookie: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solidFill>
                  <a:srgbClr val="92400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session_id</a:t>
            </a:r>
            <a:r>
              <a:rPr lang="en-US" sz="1400" dirty="0">
                <a:solidFill>
                  <a:srgbClr val="92400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=abc123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8F6D7269-E9E4-4574-84A6-33790E522F11}"/>
              </a:ext>
            </a:extLst>
          </p:cNvPr>
          <p:cNvSpPr/>
          <p:nvPr/>
        </p:nvSpPr>
        <p:spPr>
          <a:xfrm>
            <a:off x="295909" y="3885662"/>
            <a:ext cx="23199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4. Later request includes</a:t>
            </a:r>
          </a:p>
          <a:p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cookie automatically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36A26745-7048-4F35-A992-A349D937E8A4}"/>
              </a:ext>
            </a:extLst>
          </p:cNvPr>
          <p:cNvSpPr/>
          <p:nvPr/>
        </p:nvSpPr>
        <p:spPr>
          <a:xfrm>
            <a:off x="3321050" y="4013200"/>
            <a:ext cx="22781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/profile with</a:t>
            </a:r>
          </a:p>
          <a:p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Cookie: </a:t>
            </a:r>
            <a:r>
              <a:rPr lang="en-US" sz="1400" dirty="0" err="1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=abc123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C0E86CD0-A031-4285-81A7-C185D9E50C57}"/>
              </a:ext>
            </a:extLst>
          </p:cNvPr>
          <p:cNvSpPr/>
          <p:nvPr/>
        </p:nvSpPr>
        <p:spPr>
          <a:xfrm>
            <a:off x="6783959" y="3951641"/>
            <a:ext cx="2140585" cy="543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766E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Server reads the cookie</a:t>
            </a:r>
          </a:p>
          <a:p>
            <a:r>
              <a:rPr lang="en-US" sz="1400" b="1" dirty="0">
                <a:solidFill>
                  <a:srgbClr val="0F766E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and recognizes the created session</a:t>
            </a: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23C0E96C-68A3-44FD-8774-8FAC4800C911}"/>
              </a:ext>
            </a:extLst>
          </p:cNvPr>
          <p:cNvSpPr/>
          <p:nvPr/>
        </p:nvSpPr>
        <p:spPr>
          <a:xfrm flipV="1">
            <a:off x="5839079" y="2374914"/>
            <a:ext cx="569341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CC5CBD40-79BE-4E1E-8205-99854F4719B1}"/>
              </a:ext>
            </a:extLst>
          </p:cNvPr>
          <p:cNvSpPr/>
          <p:nvPr/>
        </p:nvSpPr>
        <p:spPr>
          <a:xfrm flipH="1">
            <a:off x="5837427" y="2777925"/>
            <a:ext cx="569342" cy="128429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8DABE0B1-081D-4838-BB9E-CBC915C22613}"/>
              </a:ext>
            </a:extLst>
          </p:cNvPr>
          <p:cNvSpPr/>
          <p:nvPr/>
        </p:nvSpPr>
        <p:spPr>
          <a:xfrm flipV="1">
            <a:off x="2631059" y="4142216"/>
            <a:ext cx="569341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6233AFA6-FA79-43DD-8437-C5EE335C73E1}"/>
              </a:ext>
            </a:extLst>
          </p:cNvPr>
          <p:cNvSpPr/>
          <p:nvPr/>
        </p:nvSpPr>
        <p:spPr>
          <a:xfrm flipV="1">
            <a:off x="5850128" y="4139706"/>
            <a:ext cx="569341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AEB2F-6C02-43F2-88D6-FB92D6DB4B6E}"/>
              </a:ext>
            </a:extLst>
          </p:cNvPr>
          <p:cNvSpPr/>
          <p:nvPr/>
        </p:nvSpPr>
        <p:spPr>
          <a:xfrm rot="10800000" flipV="1">
            <a:off x="6476238" y="3839574"/>
            <a:ext cx="337309" cy="3514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rgbClr val="0F766E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5.</a:t>
            </a: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732E497-BAA8-4D95-9327-EE9F279DE99A}"/>
              </a:ext>
            </a:extLst>
          </p:cNvPr>
          <p:cNvSpPr/>
          <p:nvPr/>
        </p:nvSpPr>
        <p:spPr>
          <a:xfrm>
            <a:off x="295909" y="5081270"/>
            <a:ext cx="5576760" cy="620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Cookie is often encoded via, e.g., Base64.</a:t>
            </a:r>
          </a:p>
        </p:txBody>
      </p:sp>
    </p:spTree>
    <p:extLst>
      <p:ext uri="{BB962C8B-B14F-4D97-AF65-F5344CB8AC3E}">
        <p14:creationId xmlns:p14="http://schemas.microsoft.com/office/powerpoint/2010/main" val="234013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88921EF-90B0-4831-9454-9F686A06945A}"/>
              </a:ext>
            </a:extLst>
          </p:cNvPr>
          <p:cNvSpPr/>
          <p:nvPr/>
        </p:nvSpPr>
        <p:spPr>
          <a:xfrm>
            <a:off x="139700" y="638302"/>
            <a:ext cx="67564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6. How to inspect cookies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FEF6E4F-5028-4A39-92C2-1E54DD431494}"/>
              </a:ext>
            </a:extLst>
          </p:cNvPr>
          <p:cNvSpPr/>
          <p:nvPr/>
        </p:nvSpPr>
        <p:spPr>
          <a:xfrm>
            <a:off x="139700" y="1286002"/>
            <a:ext cx="83642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Open a site, and use the browser’s developer tools to view stored cookies</a:t>
            </a:r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41E95A7F-8CAE-4E7A-B6DC-50CD15CE1253}"/>
              </a:ext>
            </a:extLst>
          </p:cNvPr>
          <p:cNvSpPr/>
          <p:nvPr/>
        </p:nvSpPr>
        <p:spPr>
          <a:xfrm>
            <a:off x="195834" y="1691259"/>
            <a:ext cx="7585456" cy="571881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FontTx/>
              <a:buChar char="•"/>
            </a:pP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Right-click a web page </a:t>
            </a:r>
            <a:r>
              <a:rPr lang="en-US" altLang="zh-CN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and click “</a:t>
            </a: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Inspect”.</a:t>
            </a:r>
          </a:p>
          <a:p>
            <a:pPr marL="171450" indent="-171450">
              <a:buSzPct val="100000"/>
              <a:buFontTx/>
              <a:buChar char="•"/>
            </a:pP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Go to the cookie storage for the current web site.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6D76F13-9DF3-470D-9F2A-2CB8A0030919}"/>
              </a:ext>
            </a:extLst>
          </p:cNvPr>
          <p:cNvSpPr/>
          <p:nvPr/>
        </p:nvSpPr>
        <p:spPr>
          <a:xfrm>
            <a:off x="195834" y="2858640"/>
            <a:ext cx="83642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Demo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A2E0C26-3735-4EE3-A869-9DDC737BE2D8}"/>
              </a:ext>
            </a:extLst>
          </p:cNvPr>
          <p:cNvSpPr/>
          <p:nvPr/>
        </p:nvSpPr>
        <p:spPr>
          <a:xfrm>
            <a:off x="195834" y="3282375"/>
            <a:ext cx="7585456" cy="571881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FontTx/>
              <a:buChar char="•"/>
            </a:pP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Chrome.</a:t>
            </a:r>
          </a:p>
        </p:txBody>
      </p:sp>
    </p:spTree>
    <p:extLst>
      <p:ext uri="{BB962C8B-B14F-4D97-AF65-F5344CB8AC3E}">
        <p14:creationId xmlns:p14="http://schemas.microsoft.com/office/powerpoint/2010/main" val="390095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2AEA928-FC12-4E35-96E3-34A4116DB5A7}"/>
              </a:ext>
            </a:extLst>
          </p:cNvPr>
          <p:cNvSpPr/>
          <p:nvPr/>
        </p:nvSpPr>
        <p:spPr>
          <a:xfrm>
            <a:off x="144018" y="667113"/>
            <a:ext cx="78867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7. What is path in Linux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89FFDC-2567-40ED-944A-B6AAF19D9122}"/>
              </a:ext>
            </a:extLst>
          </p:cNvPr>
          <p:cNvSpPr/>
          <p:nvPr/>
        </p:nvSpPr>
        <p:spPr>
          <a:xfrm>
            <a:off x="144018" y="1219200"/>
            <a:ext cx="750138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Path is a file address. A file path tells Linux where a file lives.</a:t>
            </a:r>
          </a:p>
        </p:txBody>
      </p:sp>
    </p:spTree>
    <p:extLst>
      <p:ext uri="{BB962C8B-B14F-4D97-AF65-F5344CB8AC3E}">
        <p14:creationId xmlns:p14="http://schemas.microsoft.com/office/powerpoint/2010/main" val="3447183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2AEA928-FC12-4E35-96E3-34A4116DB5A7}"/>
              </a:ext>
            </a:extLst>
          </p:cNvPr>
          <p:cNvSpPr/>
          <p:nvPr/>
        </p:nvSpPr>
        <p:spPr>
          <a:xfrm>
            <a:off x="144018" y="667113"/>
            <a:ext cx="78867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7. What is path in Linux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89FFDC-2567-40ED-944A-B6AAF19D9122}"/>
              </a:ext>
            </a:extLst>
          </p:cNvPr>
          <p:cNvSpPr/>
          <p:nvPr/>
        </p:nvSpPr>
        <p:spPr>
          <a:xfrm>
            <a:off x="144018" y="1219200"/>
            <a:ext cx="750138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Path is a file address. A file path tells Linux where a file lives.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528FA98-0FBA-47A0-8ABD-8C58E31D4DEA}"/>
              </a:ext>
            </a:extLst>
          </p:cNvPr>
          <p:cNvSpPr/>
          <p:nvPr/>
        </p:nvSpPr>
        <p:spPr>
          <a:xfrm>
            <a:off x="105918" y="1709864"/>
            <a:ext cx="12675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Practice: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16C652A-1507-4050-8470-C435449D63AC}"/>
              </a:ext>
            </a:extLst>
          </p:cNvPr>
          <p:cNvSpPr/>
          <p:nvPr/>
        </p:nvSpPr>
        <p:spPr>
          <a:xfrm>
            <a:off x="628650" y="2278688"/>
            <a:ext cx="6640055" cy="47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Read the path and imagine where you end up, starting from the folder /app/pics/. The current logged-in user is cits1003 and their home directory as /home/cits1003.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68820B7-F011-4C33-B4A9-9047478AEDCD}"/>
              </a:ext>
            </a:extLst>
          </p:cNvPr>
          <p:cNvSpPr/>
          <p:nvPr/>
        </p:nvSpPr>
        <p:spPr>
          <a:xfrm>
            <a:off x="1156470" y="3257550"/>
            <a:ext cx="1543050" cy="240030"/>
          </a:xfrm>
          <a:prstGeom prst="roundRect">
            <a:avLst>
              <a:gd name="adj" fmla="val 8571"/>
            </a:avLst>
          </a:prstGeom>
          <a:solidFill>
            <a:srgbClr val="FFFFFF">
              <a:alpha val="0"/>
            </a:srgbClr>
          </a:solidFill>
          <a:ln w="12700">
            <a:solidFill>
              <a:srgbClr val="4A6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CBA5CB2-31D4-43C2-8D19-467C54A60CAF}"/>
              </a:ext>
            </a:extLst>
          </p:cNvPr>
          <p:cNvSpPr/>
          <p:nvPr/>
        </p:nvSpPr>
        <p:spPr>
          <a:xfrm>
            <a:off x="1170186" y="3305556"/>
            <a:ext cx="151561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Input</a:t>
            </a:r>
            <a:endParaRPr lang="en-US" sz="14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FE4D2A5-18EE-452F-BB34-D0D6C480AAC1}"/>
              </a:ext>
            </a:extLst>
          </p:cNvPr>
          <p:cNvSpPr/>
          <p:nvPr/>
        </p:nvSpPr>
        <p:spPr>
          <a:xfrm>
            <a:off x="1156470" y="3559302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F98D15E-A591-46F5-BB59-BD732DCA7897}"/>
              </a:ext>
            </a:extLst>
          </p:cNvPr>
          <p:cNvSpPr/>
          <p:nvPr/>
        </p:nvSpPr>
        <p:spPr>
          <a:xfrm>
            <a:off x="1211334" y="3641598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photo.png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3C7E2732-B275-4244-ABBC-FB0F8837E72E}"/>
              </a:ext>
            </a:extLst>
          </p:cNvPr>
          <p:cNvSpPr/>
          <p:nvPr/>
        </p:nvSpPr>
        <p:spPr>
          <a:xfrm>
            <a:off x="1156470" y="4018788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EDFEB542-EF65-4132-AC9A-C2490AB46F39}"/>
              </a:ext>
            </a:extLst>
          </p:cNvPr>
          <p:cNvSpPr/>
          <p:nvPr/>
        </p:nvSpPr>
        <p:spPr>
          <a:xfrm>
            <a:off x="1211334" y="4101084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./photo.png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CBCC545E-A00D-4F63-AD8D-94698C5292F7}"/>
              </a:ext>
            </a:extLst>
          </p:cNvPr>
          <p:cNvSpPr/>
          <p:nvPr/>
        </p:nvSpPr>
        <p:spPr>
          <a:xfrm>
            <a:off x="1156470" y="4478274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7DAAB52E-1AD5-4CF9-AE50-DAC550AC6056}"/>
              </a:ext>
            </a:extLst>
          </p:cNvPr>
          <p:cNvSpPr/>
          <p:nvPr/>
        </p:nvSpPr>
        <p:spPr>
          <a:xfrm>
            <a:off x="1211334" y="4560570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../config.yml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28">
            <a:extLst>
              <a:ext uri="{FF2B5EF4-FFF2-40B4-BE49-F238E27FC236}">
                <a16:creationId xmlns:a16="http://schemas.microsoft.com/office/drawing/2014/main" id="{E81A5AB5-E29C-4656-83DF-15FDEB7C359E}"/>
              </a:ext>
            </a:extLst>
          </p:cNvPr>
          <p:cNvSpPr/>
          <p:nvPr/>
        </p:nvSpPr>
        <p:spPr>
          <a:xfrm>
            <a:off x="1156470" y="4937760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08A43B6F-C69C-4FDF-B86C-17A995EC7521}"/>
              </a:ext>
            </a:extLst>
          </p:cNvPr>
          <p:cNvSpPr/>
          <p:nvPr/>
        </p:nvSpPr>
        <p:spPr>
          <a:xfrm>
            <a:off x="1211334" y="5020056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../../secret.txt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34">
            <a:extLst>
              <a:ext uri="{FF2B5EF4-FFF2-40B4-BE49-F238E27FC236}">
                <a16:creationId xmlns:a16="http://schemas.microsoft.com/office/drawing/2014/main" id="{842615B9-10C8-4B84-96A2-B30873373409}"/>
              </a:ext>
            </a:extLst>
          </p:cNvPr>
          <p:cNvSpPr/>
          <p:nvPr/>
        </p:nvSpPr>
        <p:spPr>
          <a:xfrm>
            <a:off x="1156470" y="5397246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35">
            <a:extLst>
              <a:ext uri="{FF2B5EF4-FFF2-40B4-BE49-F238E27FC236}">
                <a16:creationId xmlns:a16="http://schemas.microsoft.com/office/drawing/2014/main" id="{E9E212CE-25D0-4003-82F9-58B00E7376F7}"/>
              </a:ext>
            </a:extLst>
          </p:cNvPr>
          <p:cNvSpPr/>
          <p:nvPr/>
        </p:nvSpPr>
        <p:spPr>
          <a:xfrm>
            <a:off x="1211334" y="5479542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~/notes.txt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CA45689C-AE1F-4CD2-9641-CFEEC7D4A4D3}"/>
              </a:ext>
            </a:extLst>
          </p:cNvPr>
          <p:cNvSpPr/>
          <p:nvPr/>
        </p:nvSpPr>
        <p:spPr>
          <a:xfrm>
            <a:off x="3831840" y="3251970"/>
            <a:ext cx="2146554" cy="240030"/>
          </a:xfrm>
          <a:prstGeom prst="roundRect">
            <a:avLst>
              <a:gd name="adj" fmla="val 8571"/>
            </a:avLst>
          </a:prstGeom>
          <a:solidFill>
            <a:srgbClr val="FFFFFF">
              <a:alpha val="0"/>
            </a:srgbClr>
          </a:solidFill>
          <a:ln w="12700">
            <a:solidFill>
              <a:srgbClr val="4A6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D05F3D0-D9F0-40FB-9A05-3A39A572FF12}"/>
              </a:ext>
            </a:extLst>
          </p:cNvPr>
          <p:cNvSpPr/>
          <p:nvPr/>
        </p:nvSpPr>
        <p:spPr>
          <a:xfrm>
            <a:off x="3845556" y="3299976"/>
            <a:ext cx="211912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What it points to?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675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2AEA928-FC12-4E35-96E3-34A4116DB5A7}"/>
              </a:ext>
            </a:extLst>
          </p:cNvPr>
          <p:cNvSpPr/>
          <p:nvPr/>
        </p:nvSpPr>
        <p:spPr>
          <a:xfrm>
            <a:off x="144018" y="667113"/>
            <a:ext cx="78867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7. What is path in Linux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89FFDC-2567-40ED-944A-B6AAF19D9122}"/>
              </a:ext>
            </a:extLst>
          </p:cNvPr>
          <p:cNvSpPr/>
          <p:nvPr/>
        </p:nvSpPr>
        <p:spPr>
          <a:xfrm>
            <a:off x="151511" y="1108947"/>
            <a:ext cx="750138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Path is a file address. A file path tells Linux where a file lives.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528FA98-0FBA-47A0-8ABD-8C58E31D4DEA}"/>
              </a:ext>
            </a:extLst>
          </p:cNvPr>
          <p:cNvSpPr/>
          <p:nvPr/>
        </p:nvSpPr>
        <p:spPr>
          <a:xfrm>
            <a:off x="144018" y="1573489"/>
            <a:ext cx="12675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Practice: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16C652A-1507-4050-8470-C435449D63AC}"/>
              </a:ext>
            </a:extLst>
          </p:cNvPr>
          <p:cNvSpPr/>
          <p:nvPr/>
        </p:nvSpPr>
        <p:spPr>
          <a:xfrm>
            <a:off x="463834" y="2035233"/>
            <a:ext cx="7189059" cy="73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Read the path and imagine where you end up, starting from the folder /app/pics/. The current logged-in user is cits1003 and their home directory as /home/cits1003.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68820B7-F011-4C33-B4A9-9047478AEDCD}"/>
              </a:ext>
            </a:extLst>
          </p:cNvPr>
          <p:cNvSpPr/>
          <p:nvPr/>
        </p:nvSpPr>
        <p:spPr>
          <a:xfrm>
            <a:off x="1125474" y="3067226"/>
            <a:ext cx="1543050" cy="240030"/>
          </a:xfrm>
          <a:prstGeom prst="roundRect">
            <a:avLst>
              <a:gd name="adj" fmla="val 8571"/>
            </a:avLst>
          </a:prstGeom>
          <a:solidFill>
            <a:srgbClr val="FFFFFF">
              <a:alpha val="0"/>
            </a:srgbClr>
          </a:solidFill>
          <a:ln w="12700">
            <a:solidFill>
              <a:srgbClr val="4A6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CBA5CB2-31D4-43C2-8D19-467C54A60CAF}"/>
              </a:ext>
            </a:extLst>
          </p:cNvPr>
          <p:cNvSpPr/>
          <p:nvPr/>
        </p:nvSpPr>
        <p:spPr>
          <a:xfrm>
            <a:off x="1139190" y="3115232"/>
            <a:ext cx="151561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Input</a:t>
            </a:r>
            <a:endParaRPr lang="en-US" sz="14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FE4D2A5-18EE-452F-BB34-D0D6C480AAC1}"/>
              </a:ext>
            </a:extLst>
          </p:cNvPr>
          <p:cNvSpPr/>
          <p:nvPr/>
        </p:nvSpPr>
        <p:spPr>
          <a:xfrm>
            <a:off x="1125474" y="3368978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F98D15E-A591-46F5-BB59-BD732DCA7897}"/>
              </a:ext>
            </a:extLst>
          </p:cNvPr>
          <p:cNvSpPr/>
          <p:nvPr/>
        </p:nvSpPr>
        <p:spPr>
          <a:xfrm>
            <a:off x="1180338" y="3451274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photo.png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3C7E2732-B275-4244-ABBC-FB0F8837E72E}"/>
              </a:ext>
            </a:extLst>
          </p:cNvPr>
          <p:cNvSpPr/>
          <p:nvPr/>
        </p:nvSpPr>
        <p:spPr>
          <a:xfrm>
            <a:off x="1125474" y="3828464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EDFEB542-EF65-4132-AC9A-C2490AB46F39}"/>
              </a:ext>
            </a:extLst>
          </p:cNvPr>
          <p:cNvSpPr/>
          <p:nvPr/>
        </p:nvSpPr>
        <p:spPr>
          <a:xfrm>
            <a:off x="1180338" y="3910760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./photo.png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CBCC545E-A00D-4F63-AD8D-94698C5292F7}"/>
              </a:ext>
            </a:extLst>
          </p:cNvPr>
          <p:cNvSpPr/>
          <p:nvPr/>
        </p:nvSpPr>
        <p:spPr>
          <a:xfrm>
            <a:off x="1125474" y="4287950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7DAAB52E-1AD5-4CF9-AE50-DAC550AC6056}"/>
              </a:ext>
            </a:extLst>
          </p:cNvPr>
          <p:cNvSpPr/>
          <p:nvPr/>
        </p:nvSpPr>
        <p:spPr>
          <a:xfrm>
            <a:off x="1180338" y="4370246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../config.yml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28">
            <a:extLst>
              <a:ext uri="{FF2B5EF4-FFF2-40B4-BE49-F238E27FC236}">
                <a16:creationId xmlns:a16="http://schemas.microsoft.com/office/drawing/2014/main" id="{E81A5AB5-E29C-4656-83DF-15FDEB7C359E}"/>
              </a:ext>
            </a:extLst>
          </p:cNvPr>
          <p:cNvSpPr/>
          <p:nvPr/>
        </p:nvSpPr>
        <p:spPr>
          <a:xfrm>
            <a:off x="1125474" y="4747436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08A43B6F-C69C-4FDF-B86C-17A995EC7521}"/>
              </a:ext>
            </a:extLst>
          </p:cNvPr>
          <p:cNvSpPr/>
          <p:nvPr/>
        </p:nvSpPr>
        <p:spPr>
          <a:xfrm>
            <a:off x="1180338" y="4829732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../../secret.txt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34">
            <a:extLst>
              <a:ext uri="{FF2B5EF4-FFF2-40B4-BE49-F238E27FC236}">
                <a16:creationId xmlns:a16="http://schemas.microsoft.com/office/drawing/2014/main" id="{842615B9-10C8-4B84-96A2-B30873373409}"/>
              </a:ext>
            </a:extLst>
          </p:cNvPr>
          <p:cNvSpPr/>
          <p:nvPr/>
        </p:nvSpPr>
        <p:spPr>
          <a:xfrm>
            <a:off x="1125474" y="5206922"/>
            <a:ext cx="1543050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35">
            <a:extLst>
              <a:ext uri="{FF2B5EF4-FFF2-40B4-BE49-F238E27FC236}">
                <a16:creationId xmlns:a16="http://schemas.microsoft.com/office/drawing/2014/main" id="{E9E212CE-25D0-4003-82F9-58B00E7376F7}"/>
              </a:ext>
            </a:extLst>
          </p:cNvPr>
          <p:cNvSpPr/>
          <p:nvPr/>
        </p:nvSpPr>
        <p:spPr>
          <a:xfrm>
            <a:off x="1180338" y="5289218"/>
            <a:ext cx="14333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~/notes.txt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CA45689C-AE1F-4CD2-9641-CFEEC7D4A4D3}"/>
              </a:ext>
            </a:extLst>
          </p:cNvPr>
          <p:cNvSpPr/>
          <p:nvPr/>
        </p:nvSpPr>
        <p:spPr>
          <a:xfrm>
            <a:off x="3847338" y="3067226"/>
            <a:ext cx="2146554" cy="240030"/>
          </a:xfrm>
          <a:prstGeom prst="roundRect">
            <a:avLst>
              <a:gd name="adj" fmla="val 8571"/>
            </a:avLst>
          </a:prstGeom>
          <a:solidFill>
            <a:srgbClr val="FFFFFF">
              <a:alpha val="0"/>
            </a:srgbClr>
          </a:solidFill>
          <a:ln w="12700">
            <a:solidFill>
              <a:srgbClr val="4A6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D05F3D0-D9F0-40FB-9A05-3A39A572FF12}"/>
              </a:ext>
            </a:extLst>
          </p:cNvPr>
          <p:cNvSpPr/>
          <p:nvPr/>
        </p:nvSpPr>
        <p:spPr>
          <a:xfrm>
            <a:off x="3861054" y="3115232"/>
            <a:ext cx="211912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What it points to?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D786C261-D383-4F75-AE8B-25F00B551AD3}"/>
              </a:ext>
            </a:extLst>
          </p:cNvPr>
          <p:cNvSpPr/>
          <p:nvPr/>
        </p:nvSpPr>
        <p:spPr>
          <a:xfrm>
            <a:off x="3847338" y="3368978"/>
            <a:ext cx="2146554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F5F054ED-D046-429F-9233-A45684A513F5}"/>
              </a:ext>
            </a:extLst>
          </p:cNvPr>
          <p:cNvSpPr/>
          <p:nvPr/>
        </p:nvSpPr>
        <p:spPr>
          <a:xfrm>
            <a:off x="3902202" y="3451274"/>
            <a:ext cx="20368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/app/pics/photo.png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7935B4AF-F4ED-41DB-97BA-3779AB5CEB66}"/>
              </a:ext>
            </a:extLst>
          </p:cNvPr>
          <p:cNvSpPr/>
          <p:nvPr/>
        </p:nvSpPr>
        <p:spPr>
          <a:xfrm>
            <a:off x="3847338" y="3828464"/>
            <a:ext cx="2146554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B4CED315-DBC6-4EF4-9104-FEF2CF16C5B8}"/>
              </a:ext>
            </a:extLst>
          </p:cNvPr>
          <p:cNvSpPr/>
          <p:nvPr/>
        </p:nvSpPr>
        <p:spPr>
          <a:xfrm>
            <a:off x="3902202" y="3910760"/>
            <a:ext cx="20368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/app/uploads/./photo.png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FEDE111F-E000-4622-A8F1-974C896E00F2}"/>
              </a:ext>
            </a:extLst>
          </p:cNvPr>
          <p:cNvSpPr/>
          <p:nvPr/>
        </p:nvSpPr>
        <p:spPr>
          <a:xfrm>
            <a:off x="3847338" y="4307181"/>
            <a:ext cx="2146554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52B8D824-9F70-404F-B699-FDF4BA6591FF}"/>
              </a:ext>
            </a:extLst>
          </p:cNvPr>
          <p:cNvSpPr/>
          <p:nvPr/>
        </p:nvSpPr>
        <p:spPr>
          <a:xfrm>
            <a:off x="3902202" y="4389477"/>
            <a:ext cx="20368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/app/config.yml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30">
            <a:extLst>
              <a:ext uri="{FF2B5EF4-FFF2-40B4-BE49-F238E27FC236}">
                <a16:creationId xmlns:a16="http://schemas.microsoft.com/office/drawing/2014/main" id="{E9397CF0-8C3F-4ABC-B5C5-E848B7603C87}"/>
              </a:ext>
            </a:extLst>
          </p:cNvPr>
          <p:cNvSpPr/>
          <p:nvPr/>
        </p:nvSpPr>
        <p:spPr>
          <a:xfrm>
            <a:off x="3847338" y="4747436"/>
            <a:ext cx="2146554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E0A6CC6-8442-42EA-A1F5-07FA5547BBD1}"/>
              </a:ext>
            </a:extLst>
          </p:cNvPr>
          <p:cNvSpPr/>
          <p:nvPr/>
        </p:nvSpPr>
        <p:spPr>
          <a:xfrm>
            <a:off x="3902202" y="4829732"/>
            <a:ext cx="20368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/secret.txt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631205AA-E9D0-4DD9-BCD2-BCC9BF78DA3E}"/>
              </a:ext>
            </a:extLst>
          </p:cNvPr>
          <p:cNvSpPr/>
          <p:nvPr/>
        </p:nvSpPr>
        <p:spPr>
          <a:xfrm>
            <a:off x="3847338" y="5206922"/>
            <a:ext cx="2146554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5E44A9BB-C961-47D9-BDC5-34A9D839C282}"/>
              </a:ext>
            </a:extLst>
          </p:cNvPr>
          <p:cNvSpPr/>
          <p:nvPr/>
        </p:nvSpPr>
        <p:spPr>
          <a:xfrm>
            <a:off x="3902202" y="5289218"/>
            <a:ext cx="20368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/home/cits1003/nots.txt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95D3ECB5-3E3C-4463-84B3-97B970FE1E65}"/>
              </a:ext>
            </a:extLst>
          </p:cNvPr>
          <p:cNvSpPr/>
          <p:nvPr/>
        </p:nvSpPr>
        <p:spPr>
          <a:xfrm>
            <a:off x="6258844" y="3828464"/>
            <a:ext cx="2146554" cy="384048"/>
          </a:xfrm>
          <a:prstGeom prst="roundRect">
            <a:avLst>
              <a:gd name="adj" fmla="val 7143"/>
            </a:avLst>
          </a:prstGeom>
          <a:solidFill>
            <a:srgbClr val="FAFAFB">
              <a:alpha val="70000"/>
            </a:srgbClr>
          </a:solidFill>
          <a:ln w="12700">
            <a:solidFill>
              <a:srgbClr val="C7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52996728-3242-475C-919D-9A5100950AC3}"/>
              </a:ext>
            </a:extLst>
          </p:cNvPr>
          <p:cNvSpPr/>
          <p:nvPr/>
        </p:nvSpPr>
        <p:spPr>
          <a:xfrm>
            <a:off x="6313708" y="3910760"/>
            <a:ext cx="20368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/app/uploads/photo.png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647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2AEA928-FC12-4E35-96E3-34A4116DB5A7}"/>
              </a:ext>
            </a:extLst>
          </p:cNvPr>
          <p:cNvSpPr/>
          <p:nvPr/>
        </p:nvSpPr>
        <p:spPr>
          <a:xfrm>
            <a:off x="144018" y="667113"/>
            <a:ext cx="78867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8. What is path traversal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920516F-1896-48FD-8537-67BFA657737E}"/>
              </a:ext>
            </a:extLst>
          </p:cNvPr>
          <p:cNvSpPr/>
          <p:nvPr/>
        </p:nvSpPr>
        <p:spPr>
          <a:xfrm>
            <a:off x="1400096" y="2675037"/>
            <a:ext cx="5657827" cy="3308172"/>
          </a:xfrm>
          <a:prstGeom prst="roundRect">
            <a:avLst>
              <a:gd name="adj" fmla="val 1951"/>
            </a:avLst>
          </a:prstGeom>
          <a:solidFill>
            <a:srgbClr val="E9F1EA"/>
          </a:solidFill>
          <a:ln w="12700">
            <a:solidFill>
              <a:srgbClr val="66A8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C3FDDF-21A0-416F-8E41-6E3BFC17F199}"/>
              </a:ext>
            </a:extLst>
          </p:cNvPr>
          <p:cNvSpPr/>
          <p:nvPr/>
        </p:nvSpPr>
        <p:spPr>
          <a:xfrm>
            <a:off x="1683381" y="3105621"/>
            <a:ext cx="5374542" cy="266764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/>
          <a:lstStyle/>
          <a:p>
            <a:r>
              <a:rPr lang="en-US" sz="1200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</a:t>
            </a:r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app/public/notes.txt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/app/private/grades.csv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Allowed input: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notes.txt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meaning “</a:t>
            </a:r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stays in public/”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Unsafe input: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../private/grades.csv</a:t>
            </a:r>
          </a:p>
          <a:p>
            <a:r>
              <a:rPr lang="en-US" dirty="0">
                <a:solidFill>
                  <a:srgbClr val="27304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meaning “escapes public/ and reaches private/”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825E12D-9BD5-426E-92F9-99FA7EFD83CE}"/>
              </a:ext>
            </a:extLst>
          </p:cNvPr>
          <p:cNvSpPr/>
          <p:nvPr/>
        </p:nvSpPr>
        <p:spPr>
          <a:xfrm>
            <a:off x="144018" y="2220268"/>
            <a:ext cx="12675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Example: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898B1C-3F46-444F-948F-CDEE9F2E1CBA}"/>
              </a:ext>
            </a:extLst>
          </p:cNvPr>
          <p:cNvSpPr txBox="1"/>
          <p:nvPr/>
        </p:nvSpPr>
        <p:spPr>
          <a:xfrm>
            <a:off x="180572" y="1274830"/>
            <a:ext cx="5018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spc="10" dirty="0">
                <a:latin typeface="Arial"/>
                <a:cs typeface="Arial"/>
              </a:rPr>
              <a:t>Using the path syntax to reach files outside the folder an application meant to use.</a:t>
            </a:r>
          </a:p>
        </p:txBody>
      </p:sp>
    </p:spTree>
    <p:extLst>
      <p:ext uri="{BB962C8B-B14F-4D97-AF65-F5344CB8AC3E}">
        <p14:creationId xmlns:p14="http://schemas.microsoft.com/office/powerpoint/2010/main" val="1744185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2AEA928-FC12-4E35-96E3-34A4116DB5A7}"/>
              </a:ext>
            </a:extLst>
          </p:cNvPr>
          <p:cNvSpPr/>
          <p:nvPr/>
        </p:nvSpPr>
        <p:spPr>
          <a:xfrm>
            <a:off x="144018" y="667113"/>
            <a:ext cx="78867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8. What is path traversal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825E12D-9BD5-426E-92F9-99FA7EFD83CE}"/>
              </a:ext>
            </a:extLst>
          </p:cNvPr>
          <p:cNvSpPr/>
          <p:nvPr/>
        </p:nvSpPr>
        <p:spPr>
          <a:xfrm>
            <a:off x="85915" y="1652018"/>
            <a:ext cx="12675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Example: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133C7C3-3BE0-4BAC-8A8C-97560ED41BD8}"/>
              </a:ext>
            </a:extLst>
          </p:cNvPr>
          <p:cNvSpPr/>
          <p:nvPr/>
        </p:nvSpPr>
        <p:spPr>
          <a:xfrm>
            <a:off x="739139" y="2124701"/>
            <a:ext cx="3078882" cy="3008772"/>
          </a:xfrm>
          <a:prstGeom prst="roundRect">
            <a:avLst>
              <a:gd name="adj" fmla="val 3077"/>
            </a:avLst>
          </a:prstGeom>
          <a:solidFill>
            <a:srgbClr val="E7F0F4"/>
          </a:solidFill>
          <a:ln w="12700">
            <a:solidFill>
              <a:srgbClr val="5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A1F3FD7-9350-4E3E-878A-5CE9693316CC}"/>
              </a:ext>
            </a:extLst>
          </p:cNvPr>
          <p:cNvSpPr/>
          <p:nvPr/>
        </p:nvSpPr>
        <p:spPr>
          <a:xfrm>
            <a:off x="1190244" y="2202585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5A9FB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Normal request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B2E782D-F34B-4D96-BB7D-86D1152DB5B8}"/>
              </a:ext>
            </a:extLst>
          </p:cNvPr>
          <p:cNvSpPr/>
          <p:nvPr/>
        </p:nvSpPr>
        <p:spPr>
          <a:xfrm>
            <a:off x="904313" y="2663681"/>
            <a:ext cx="2748534" cy="13304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/>
          <a:lstStyle/>
          <a:p>
            <a:r>
              <a:rPr lang="en-US" sz="1600" i="1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Client operation:</a:t>
            </a:r>
          </a:p>
          <a:p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/download?file=notes.txt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Server operation: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open("public/" + user_input)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Result</a:t>
            </a:r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public/notes.txt</a:t>
            </a:r>
            <a:endParaRPr lang="en-US" sz="120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85849767-EE4F-4677-A60B-D5C80512072B}"/>
              </a:ext>
            </a:extLst>
          </p:cNvPr>
          <p:cNvSpPr/>
          <p:nvPr/>
        </p:nvSpPr>
        <p:spPr>
          <a:xfrm>
            <a:off x="4709159" y="2138416"/>
            <a:ext cx="2844165" cy="2995057"/>
          </a:xfrm>
          <a:prstGeom prst="roundRect">
            <a:avLst>
              <a:gd name="adj" fmla="val 3077"/>
            </a:avLst>
          </a:prstGeom>
          <a:solidFill>
            <a:srgbClr val="F7EFE4"/>
          </a:solidFill>
          <a:ln w="12700">
            <a:solidFill>
              <a:srgbClr val="E08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14B7736-97DD-48C6-BE30-91D4F1BBCFFB}"/>
              </a:ext>
            </a:extLst>
          </p:cNvPr>
          <p:cNvSpPr/>
          <p:nvPr/>
        </p:nvSpPr>
        <p:spPr>
          <a:xfrm>
            <a:off x="4932045" y="2202585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8C2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Unsafe request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3507D40B-3F4D-4343-8486-3EE1F72671F2}"/>
              </a:ext>
            </a:extLst>
          </p:cNvPr>
          <p:cNvSpPr/>
          <p:nvPr/>
        </p:nvSpPr>
        <p:spPr>
          <a:xfrm>
            <a:off x="4860036" y="2508749"/>
            <a:ext cx="2455164" cy="1788415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/>
          <a:lstStyle/>
          <a:p>
            <a:r>
              <a:rPr lang="en-US" sz="1600" i="1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Client operation:</a:t>
            </a:r>
          </a:p>
          <a:p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/download?file=../private/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grades.csv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Same server operation: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open("public/" + user_input)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Result: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public/../private/grades.csv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057BAB-0502-439D-B84D-18F7D74CC9D8}"/>
              </a:ext>
            </a:extLst>
          </p:cNvPr>
          <p:cNvSpPr txBox="1"/>
          <p:nvPr/>
        </p:nvSpPr>
        <p:spPr>
          <a:xfrm>
            <a:off x="144017" y="1210664"/>
            <a:ext cx="861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10" dirty="0">
                <a:latin typeface="Arial"/>
                <a:cs typeface="Arial"/>
              </a:rPr>
              <a:t>A vulnerable web application may build a file path directly from user input.</a:t>
            </a:r>
          </a:p>
          <a:p>
            <a:pPr marL="0" indent="0">
              <a:buNone/>
            </a:pPr>
            <a:endParaRPr lang="en-US" b="1" spc="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884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C3BBBFA-308C-4951-AA59-4B6F7E492015}"/>
              </a:ext>
            </a:extLst>
          </p:cNvPr>
          <p:cNvSpPr/>
          <p:nvPr/>
        </p:nvSpPr>
        <p:spPr>
          <a:xfrm>
            <a:off x="149249" y="651122"/>
            <a:ext cx="3957802" cy="371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9. CWE vs CVE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3E4EB5C-E312-4A60-832B-DD709F67F65E}"/>
              </a:ext>
            </a:extLst>
          </p:cNvPr>
          <p:cNvSpPr/>
          <p:nvPr/>
        </p:nvSpPr>
        <p:spPr>
          <a:xfrm>
            <a:off x="484094" y="2256282"/>
            <a:ext cx="3777010" cy="1619784"/>
          </a:xfrm>
          <a:prstGeom prst="roundRect">
            <a:avLst>
              <a:gd name="adj" fmla="val 2339"/>
            </a:avLst>
          </a:prstGeom>
          <a:solidFill>
            <a:srgbClr val="E9EDF9"/>
          </a:solidFill>
          <a:ln w="12700">
            <a:solidFill>
              <a:srgbClr val="4A6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9C9D8D8-2D48-4FEA-BC26-95B49E35CE9B}"/>
              </a:ext>
            </a:extLst>
          </p:cNvPr>
          <p:cNvSpPr/>
          <p:nvPr/>
        </p:nvSpPr>
        <p:spPr>
          <a:xfrm>
            <a:off x="384707" y="1695060"/>
            <a:ext cx="3876397" cy="333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CWE</a:t>
            </a:r>
          </a:p>
          <a:p>
            <a:pPr algn="ctr"/>
            <a:r>
              <a:rPr lang="en-AU" b="1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Common Weakness Enumeration</a:t>
            </a:r>
            <a:endParaRPr lang="en-US" b="1" dirty="0">
              <a:solidFill>
                <a:srgbClr val="4A67E2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723DAE0-545D-477A-B743-3EFC2ECA483E}"/>
              </a:ext>
            </a:extLst>
          </p:cNvPr>
          <p:cNvSpPr/>
          <p:nvPr/>
        </p:nvSpPr>
        <p:spPr>
          <a:xfrm>
            <a:off x="578224" y="2379726"/>
            <a:ext cx="3528827" cy="104927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/>
          <a:lstStyle/>
          <a:p>
            <a:r>
              <a:rPr lang="en-US" sz="14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Describes a general class of weakness in software or hardware design or code.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• Example: CWE-22 = path traversal.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43484ACD-F48D-4006-97D7-92EC3618AF21}"/>
              </a:ext>
            </a:extLst>
          </p:cNvPr>
          <p:cNvSpPr/>
          <p:nvPr/>
        </p:nvSpPr>
        <p:spPr>
          <a:xfrm>
            <a:off x="4882895" y="2262103"/>
            <a:ext cx="3965269" cy="1619784"/>
          </a:xfrm>
          <a:prstGeom prst="roundRect">
            <a:avLst>
              <a:gd name="adj" fmla="val 2339"/>
            </a:avLst>
          </a:prstGeom>
          <a:solidFill>
            <a:srgbClr val="F7EBEC"/>
          </a:solidFill>
          <a:ln w="12700">
            <a:solidFill>
              <a:srgbClr val="C7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46FAA89-438B-4F7E-8612-943E60FC9DB4}"/>
              </a:ext>
            </a:extLst>
          </p:cNvPr>
          <p:cNvSpPr/>
          <p:nvPr/>
        </p:nvSpPr>
        <p:spPr>
          <a:xfrm>
            <a:off x="4572000" y="1690198"/>
            <a:ext cx="4472537" cy="333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C76A6E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CVE</a:t>
            </a:r>
          </a:p>
          <a:p>
            <a:pPr algn="ctr"/>
            <a:r>
              <a:rPr lang="en-AU" b="1" dirty="0">
                <a:solidFill>
                  <a:srgbClr val="C76A6E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Common Vulnerabilities and Exposures</a:t>
            </a:r>
            <a:endParaRPr lang="en-US" b="1" dirty="0">
              <a:solidFill>
                <a:srgbClr val="C76A6E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F9C5ED6-AF12-40B0-836E-7AE7F5677864}"/>
              </a:ext>
            </a:extLst>
          </p:cNvPr>
          <p:cNvSpPr/>
          <p:nvPr/>
        </p:nvSpPr>
        <p:spPr>
          <a:xfrm>
            <a:off x="5033772" y="2385547"/>
            <a:ext cx="3626134" cy="135831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/>
          <a:lstStyle/>
          <a:p>
            <a:r>
              <a:rPr lang="en-US" sz="1140" dirty="0">
                <a:solidFill>
                  <a:srgbClr val="273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>
                <a:solidFill>
                  <a:srgbClr val="27304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Identifies one publicly disclosed vulnerability in a specific software or hardware product or system</a:t>
            </a:r>
            <a:r>
              <a:rPr lang="en-US" sz="1400" dirty="0">
                <a:solidFill>
                  <a:srgbClr val="2730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solidFill>
                <a:srgbClr val="2730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2730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Example: </a:t>
            </a:r>
            <a:r>
              <a:rPr lang="en-AU" sz="1400" dirty="0">
                <a:solidFill>
                  <a:srgbClr val="2730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CVE-2024-45291</a:t>
            </a:r>
            <a:r>
              <a:rPr lang="en-US" sz="1400" dirty="0">
                <a:solidFill>
                  <a:srgbClr val="2730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(CWE-22 in </a:t>
            </a:r>
            <a:r>
              <a:rPr lang="en-AU" sz="1400" dirty="0" err="1">
                <a:solidFill>
                  <a:srgbClr val="2730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PhpSpreadsheet</a:t>
            </a:r>
            <a:r>
              <a:rPr lang="en-AU" sz="1400" dirty="0">
                <a:solidFill>
                  <a:srgbClr val="2730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400" dirty="0">
              <a:solidFill>
                <a:srgbClr val="2730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742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01D51D8E-C44C-4D4F-948A-6EA9194104B9}"/>
              </a:ext>
            </a:extLst>
          </p:cNvPr>
          <p:cNvSpPr/>
          <p:nvPr/>
        </p:nvSpPr>
        <p:spPr>
          <a:xfrm>
            <a:off x="102108" y="637794"/>
            <a:ext cx="69082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10. Where to look up a CWE number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3A51FA2-E58F-4C7E-8192-55AD8E0EB3A7}"/>
              </a:ext>
            </a:extLst>
          </p:cNvPr>
          <p:cNvSpPr/>
          <p:nvPr/>
        </p:nvSpPr>
        <p:spPr>
          <a:xfrm>
            <a:off x="219456" y="1385316"/>
            <a:ext cx="78867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Use the official references first, then read the details in context.</a:t>
            </a: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22C1497-36DF-4DBD-B00B-B4895D228D53}"/>
              </a:ext>
            </a:extLst>
          </p:cNvPr>
          <p:cNvSpPr/>
          <p:nvPr/>
        </p:nvSpPr>
        <p:spPr>
          <a:xfrm>
            <a:off x="219456" y="1728216"/>
            <a:ext cx="342214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For a CWE number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E0D3CC30-A854-4A4C-A98C-F8F6E4462C89}"/>
              </a:ext>
            </a:extLst>
          </p:cNvPr>
          <p:cNvSpPr/>
          <p:nvPr/>
        </p:nvSpPr>
        <p:spPr>
          <a:xfrm>
            <a:off x="219456" y="2071116"/>
            <a:ext cx="7585456" cy="571881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FontTx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Go to the MITRE CWE site.</a:t>
            </a:r>
          </a:p>
          <a:p>
            <a:pPr marL="171450" indent="-171450">
              <a:buSzPct val="100000"/>
              <a:buFontTx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Search for the number.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9B47A-6EA4-44F5-A442-3B3EDBD80CA1}"/>
              </a:ext>
            </a:extLst>
          </p:cNvPr>
          <p:cNvSpPr txBox="1"/>
          <p:nvPr/>
        </p:nvSpPr>
        <p:spPr>
          <a:xfrm>
            <a:off x="219455" y="2962960"/>
            <a:ext cx="56955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https://cwe.mitre.org/data/definitions/22.html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4E039B2-016A-4A2D-97A5-5E37600221BA}"/>
              </a:ext>
            </a:extLst>
          </p:cNvPr>
          <p:cNvSpPr/>
          <p:nvPr/>
        </p:nvSpPr>
        <p:spPr>
          <a:xfrm>
            <a:off x="102108" y="2654350"/>
            <a:ext cx="12675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71292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01D51D8E-C44C-4D4F-948A-6EA9194104B9}"/>
              </a:ext>
            </a:extLst>
          </p:cNvPr>
          <p:cNvSpPr/>
          <p:nvPr/>
        </p:nvSpPr>
        <p:spPr>
          <a:xfrm>
            <a:off x="89154" y="576072"/>
            <a:ext cx="63367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11. Where to look up a CVE number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3A51FA2-E58F-4C7E-8192-55AD8E0EB3A7}"/>
              </a:ext>
            </a:extLst>
          </p:cNvPr>
          <p:cNvSpPr/>
          <p:nvPr/>
        </p:nvSpPr>
        <p:spPr>
          <a:xfrm>
            <a:off x="219456" y="1385316"/>
            <a:ext cx="78867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Use the official references first, then read the details in context.</a:t>
            </a: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77CFC205-789F-4A0B-904D-8DB1E1E9A5CE}"/>
              </a:ext>
            </a:extLst>
          </p:cNvPr>
          <p:cNvSpPr/>
          <p:nvPr/>
        </p:nvSpPr>
        <p:spPr>
          <a:xfrm>
            <a:off x="219455" y="2837309"/>
            <a:ext cx="5105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67E2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https://www.cve.org/CVERecord?id=CVE-2024-45291</a:t>
            </a: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6B330636-9404-4B06-80C5-55E196646C40}"/>
              </a:ext>
            </a:extLst>
          </p:cNvPr>
          <p:cNvSpPr/>
          <p:nvPr/>
        </p:nvSpPr>
        <p:spPr>
          <a:xfrm>
            <a:off x="219456" y="1728216"/>
            <a:ext cx="342214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spc="10" dirty="0">
                <a:latin typeface="Arial"/>
                <a:cs typeface="Arial"/>
              </a:rPr>
              <a:t>For a CVE number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AF21C64E-C297-4F43-B80E-261A5E1BE654}"/>
              </a:ext>
            </a:extLst>
          </p:cNvPr>
          <p:cNvSpPr/>
          <p:nvPr/>
        </p:nvSpPr>
        <p:spPr>
          <a:xfrm>
            <a:off x="219456" y="2071117"/>
            <a:ext cx="7585456" cy="39090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/>
          <a:lstStyle/>
          <a:p>
            <a:pPr marL="171450" indent="-171450">
              <a:buSzPct val="100000"/>
              <a:buFontTx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Start with CVE.org for the official CVE’s record.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E8D3AF6-2EB2-498B-A82E-A478F4B73947}"/>
              </a:ext>
            </a:extLst>
          </p:cNvPr>
          <p:cNvSpPr/>
          <p:nvPr/>
        </p:nvSpPr>
        <p:spPr>
          <a:xfrm>
            <a:off x="89154" y="2418971"/>
            <a:ext cx="12675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spc="10" dirty="0">
                <a:latin typeface="Arial"/>
                <a:cs typeface="Arial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602502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2EAD07-0094-43DB-B280-3FCB8529ED69}"/>
              </a:ext>
            </a:extLst>
          </p:cNvPr>
          <p:cNvSpPr txBox="1"/>
          <p:nvPr/>
        </p:nvSpPr>
        <p:spPr>
          <a:xfrm>
            <a:off x="203005" y="2474893"/>
            <a:ext cx="87379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B949E"/>
                </a:solidFill>
                <a:latin typeface="Calibri"/>
              </a:defRPr>
            </a:pPr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The aim is not just to capture the flags, </a:t>
            </a:r>
          </a:p>
          <a:p>
            <a:pPr algn="ctr">
              <a:defRPr sz="1400">
                <a:solidFill>
                  <a:srgbClr val="8B949E"/>
                </a:solidFill>
                <a:latin typeface="Calibri"/>
              </a:defRPr>
            </a:pPr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but to understand what you are doing and why.</a:t>
            </a:r>
            <a:endParaRPr sz="2800" b="1" spc="10" dirty="0">
              <a:solidFill>
                <a:srgbClr val="27348A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9EA641C-29EF-4E5A-B2A1-BDE574DD29C4}"/>
              </a:ext>
            </a:extLst>
          </p:cNvPr>
          <p:cNvSpPr/>
          <p:nvPr/>
        </p:nvSpPr>
        <p:spPr>
          <a:xfrm>
            <a:off x="184404" y="614172"/>
            <a:ext cx="63367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spc="10" dirty="0">
                <a:solidFill>
                  <a:srgbClr val="27348A"/>
                </a:solidFill>
                <a:latin typeface="Arial"/>
                <a:ea typeface="+mj-ea"/>
                <a:cs typeface="Arial"/>
              </a:rPr>
              <a:t>A note</a:t>
            </a:r>
          </a:p>
        </p:txBody>
      </p:sp>
    </p:spTree>
    <p:extLst>
      <p:ext uri="{BB962C8B-B14F-4D97-AF65-F5344CB8AC3E}">
        <p14:creationId xmlns:p14="http://schemas.microsoft.com/office/powerpoint/2010/main" val="78122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Microsoft Office PowerPoint</Application>
  <PresentationFormat>On-screen Show (4:3)</PresentationFormat>
  <Paragraphs>203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Segoe UI Emoji</vt:lpstr>
      <vt:lpstr>Wingdings</vt:lpstr>
      <vt:lpstr>Office Theme</vt:lpstr>
      <vt:lpstr>PowerPoint Presentation</vt:lpstr>
      <vt:lpstr>Project</vt:lpstr>
      <vt:lpstr>Contributors</vt:lpstr>
      <vt:lpstr>PowerPoint Presentation</vt:lpstr>
      <vt:lpstr>Vulnerabilities </vt:lpstr>
      <vt:lpstr>Vulnerabilities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2026-03-30T03:28:35Z</dcterms:created>
  <dcterms:modified xsi:type="dcterms:W3CDTF">2026-03-30T03:28:48Z</dcterms:modified>
</cp:coreProperties>
</file>