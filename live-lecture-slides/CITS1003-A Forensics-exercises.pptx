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763" r:id="rId1"/>
  </p:sldMasterIdLst>
  <p:notesMasterIdLst>
    <p:notesMasterId r:id="rId63"/>
  </p:notesMasterIdLst>
  <p:sldIdLst>
    <p:sldId id="256" r:id="rId2"/>
    <p:sldId id="467" r:id="rId3"/>
    <p:sldId id="463" r:id="rId4"/>
    <p:sldId id="257" r:id="rId5"/>
    <p:sldId id="466" r:id="rId6"/>
    <p:sldId id="468" r:id="rId7"/>
    <p:sldId id="469" r:id="rId8"/>
    <p:sldId id="449" r:id="rId9"/>
    <p:sldId id="525" r:id="rId10"/>
    <p:sldId id="526" r:id="rId11"/>
    <p:sldId id="527" r:id="rId12"/>
    <p:sldId id="530" r:id="rId13"/>
    <p:sldId id="533" r:id="rId14"/>
    <p:sldId id="534" r:id="rId15"/>
    <p:sldId id="524" r:id="rId16"/>
    <p:sldId id="464" r:id="rId17"/>
    <p:sldId id="465" r:id="rId18"/>
    <p:sldId id="450" r:id="rId19"/>
    <p:sldId id="535" r:id="rId20"/>
    <p:sldId id="536" r:id="rId21"/>
    <p:sldId id="579" r:id="rId22"/>
    <p:sldId id="537" r:id="rId23"/>
    <p:sldId id="451" r:id="rId24"/>
    <p:sldId id="542" r:id="rId25"/>
    <p:sldId id="458" r:id="rId26"/>
    <p:sldId id="540" r:id="rId27"/>
    <p:sldId id="541" r:id="rId28"/>
    <p:sldId id="557" r:id="rId29"/>
    <p:sldId id="583" r:id="rId30"/>
    <p:sldId id="539" r:id="rId31"/>
    <p:sldId id="460" r:id="rId32"/>
    <p:sldId id="556" r:id="rId33"/>
    <p:sldId id="580" r:id="rId34"/>
    <p:sldId id="407" r:id="rId35"/>
    <p:sldId id="545" r:id="rId36"/>
    <p:sldId id="546" r:id="rId37"/>
    <p:sldId id="548" r:id="rId38"/>
    <p:sldId id="549" r:id="rId39"/>
    <p:sldId id="550" r:id="rId40"/>
    <p:sldId id="455" r:id="rId41"/>
    <p:sldId id="551" r:id="rId42"/>
    <p:sldId id="553" r:id="rId43"/>
    <p:sldId id="582" r:id="rId44"/>
    <p:sldId id="563" r:id="rId45"/>
    <p:sldId id="552" r:id="rId46"/>
    <p:sldId id="554" r:id="rId47"/>
    <p:sldId id="566" r:id="rId48"/>
    <p:sldId id="567" r:id="rId49"/>
    <p:sldId id="568" r:id="rId50"/>
    <p:sldId id="565" r:id="rId51"/>
    <p:sldId id="571" r:id="rId52"/>
    <p:sldId id="569" r:id="rId53"/>
    <p:sldId id="572" r:id="rId54"/>
    <p:sldId id="574" r:id="rId55"/>
    <p:sldId id="577" r:id="rId56"/>
    <p:sldId id="578" r:id="rId57"/>
    <p:sldId id="573" r:id="rId58"/>
    <p:sldId id="576" r:id="rId59"/>
    <p:sldId id="575" r:id="rId60"/>
    <p:sldId id="558" r:id="rId61"/>
    <p:sldId id="560" r:id="rId6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103" autoAdjust="0"/>
    <p:restoredTop sz="55179" autoAdjust="0"/>
  </p:normalViewPr>
  <p:slideViewPr>
    <p:cSldViewPr snapToGrid="0" snapToObjects="1">
      <p:cViewPr varScale="1">
        <p:scale>
          <a:sx n="39" d="100"/>
          <a:sy n="39" d="100"/>
        </p:scale>
        <p:origin x="128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notesMaster" Target="notesMasters/notesMaster1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commentAuthors" Target="commentAuthor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6D7260-B7E4-B548-BD1F-84ED14536037}" type="datetimeFigureOut">
              <a:rPr lang="en-AU" smtClean="0"/>
              <a:t>4/05/2026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030C05-EF6C-9847-8923-580D76870F8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63409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654578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797808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25763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437196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561866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981071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271602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458122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22331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265733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577291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520545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093479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2480120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9530487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7353221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2123039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5745976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19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2113684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9535555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3796431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556387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7927074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2419090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8886520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157218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8420992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3039591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141964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00231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219210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4648657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3944658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3998973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944628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005284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3331273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0786008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39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5397649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C3088D-F300-4D15-B8E0-972016C40E3C}" type="slidenum">
              <a:rPr lang="en-AU" smtClean="0"/>
              <a:t>40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0907987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C3088D-F300-4D15-B8E0-972016C40E3C}" type="slidenum">
              <a:rPr lang="en-AU" smtClean="0"/>
              <a:t>41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133651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C3088D-F300-4D15-B8E0-972016C40E3C}" type="slidenum">
              <a:rPr lang="en-AU" smtClean="0"/>
              <a:t>42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3888345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0993821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261195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1220830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37022136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5780657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95265155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49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55534796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50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640038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51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07066176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5400" dirty="0"/>
                  <a:t>The difference </a:t>
                </a:r>
                <a:r>
                  <a:rPr lang="en-US" sz="5400" dirty="0" err="1"/>
                  <a:t>dj</a:t>
                </a:r>
                <a:r>
                  <a:rPr lang="en-US" sz="5400" dirty="0"/>
                  <a:t> of this pixel pair equals to gj+1 – </a:t>
                </a:r>
                <a:r>
                  <a:rPr lang="en-US" sz="5400" dirty="0" err="1"/>
                  <a:t>gj</a:t>
                </a:r>
                <a:r>
                  <a:rPr lang="en-US" sz="5400" dirty="0"/>
                  <a:t>.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5400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5400" dirty="0"/>
                  <a:t>Cause gj+1 can be 255 and </a:t>
                </a:r>
                <a:r>
                  <a:rPr lang="en-US" sz="5400" dirty="0" err="1"/>
                  <a:t>gj</a:t>
                </a:r>
                <a:r>
                  <a:rPr lang="en-US" sz="5400" dirty="0"/>
                  <a:t> can be 0, so the maximum </a:t>
                </a:r>
                <a:r>
                  <a:rPr lang="en-US" sz="5400" dirty="0" err="1"/>
                  <a:t>dj</a:t>
                </a:r>
                <a:r>
                  <a:rPr lang="en-US" sz="5400" dirty="0"/>
                  <a:t> is positive 255. when gj+1 is as small as 0, and </a:t>
                </a:r>
                <a:r>
                  <a:rPr lang="en-US" sz="5400" dirty="0" err="1"/>
                  <a:t>gj</a:t>
                </a:r>
                <a:r>
                  <a:rPr lang="en-US" sz="5400" dirty="0"/>
                  <a:t> is 255, the minimal </a:t>
                </a:r>
                <a:r>
                  <a:rPr lang="en-US" sz="5400" dirty="0" err="1"/>
                  <a:t>dj</a:t>
                </a:r>
                <a:r>
                  <a:rPr lang="en-US" sz="5400" dirty="0"/>
                  <a:t> is -255. so </a:t>
                </a:r>
                <a:r>
                  <a:rPr lang="en-US" sz="5400" dirty="0" err="1"/>
                  <a:t>dj</a:t>
                </a:r>
                <a:r>
                  <a:rPr lang="en-US" sz="5400" dirty="0"/>
                  <a:t> is ranging from -255 to +255. </a:t>
                </a:r>
                <a:r>
                  <a:rPr lang="en-US" sz="4000" dirty="0"/>
                  <a:t>The absolute value of the difference </a:t>
                </a:r>
                <a:r>
                  <a:rPr lang="en-US" sz="4000" dirty="0" err="1"/>
                  <a:t>dj</a:t>
                </a:r>
                <a:r>
                  <a:rPr lang="en-US" sz="4000" dirty="0"/>
                  <a:t> falls in the range from 0 to 255.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4000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AU" sz="4000" dirty="0"/>
                  <a:t>More specifically, </a:t>
                </a:r>
                <a:r>
                  <a:rPr lang="en-AU" sz="4000" i="0">
                    <a:effectLst/>
                    <a:latin typeface="Cambria Math" panose="02040503050406030204" pitchFamily="18" charset="0"/>
                  </a:rPr>
                  <a:t>〖|</a:t>
                </a:r>
                <a:r>
                  <a:rPr lang="en-AU" sz="4000" i="0">
                    <a:effectLst/>
                    <a:latin typeface="Cambria Math" panose="02040503050406030204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𝑑〗_𝑗 |</a:t>
                </a:r>
                <a:r>
                  <a:rPr lang="en-AU" sz="4000" dirty="0"/>
                  <a:t> will fall into a sub-range of this big</a:t>
                </a:r>
                <a:r>
                  <a:rPr lang="en-AU" sz="4000" baseline="0" dirty="0"/>
                  <a:t> range. We can use</a:t>
                </a:r>
                <a:r>
                  <a:rPr lang="en-AU" sz="4000" dirty="0"/>
                  <a:t> </a:t>
                </a:r>
                <a:r>
                  <a:rPr lang="en-AU" sz="4000" i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𝑟_𝑖</a:t>
                </a:r>
                <a:r>
                  <a:rPr lang="en-AU" sz="4000" dirty="0"/>
                  <a:t> </a:t>
                </a:r>
                <a:r>
                  <a:rPr lang="en-US" sz="4000" baseline="0" dirty="0"/>
                  <a:t> to denote this sub range, and</a:t>
                </a:r>
                <a:r>
                  <a:rPr lang="en-US" sz="4000" dirty="0"/>
                  <a:t> we have this formula</a:t>
                </a:r>
                <a:endParaRPr lang="en-US" sz="2800" dirty="0">
                  <a:effectLst/>
                </a:endParaRP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52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7791058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53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9878240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54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7596666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55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56411750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56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88374583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57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34667958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58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56040908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2800" dirty="0">
                    <a:effectLst/>
                  </a:rPr>
                  <a:t>To extract the secret bits, we also need to rely on this formula.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2800" dirty="0">
                  <a:effectLst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2800" dirty="0">
                    <a:effectLst/>
                  </a:rPr>
                  <a:t>Remember that </a:t>
                </a:r>
                <a:r>
                  <a:rPr lang="en-AU" sz="2800" i="0">
                    <a:effectLst/>
                    <a:latin typeface="Cambria Math" panose="02040503050406030204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𝑔_𝑗^′</a:t>
                </a:r>
                <a:r>
                  <a:rPr lang="en-AU" sz="2800" b="0" i="0">
                    <a:effectLst/>
                    <a:latin typeface="Cambria Math" panose="02040503050406030204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 </a:t>
                </a:r>
                <a:r>
                  <a:rPr lang="en-AU" sz="2800" dirty="0">
                    <a:effectLst/>
                  </a:rPr>
                  <a:t>is 48 and </a:t>
                </a:r>
                <a:r>
                  <a:rPr lang="en-AU" sz="2800" i="0">
                    <a:effectLst/>
                    <a:latin typeface="Cambria Math" panose="02040503050406030204" pitchFamily="18" charset="0"/>
                  </a:rPr>
                  <a:t>𝑔_(𝑗+1)^′</a:t>
                </a:r>
                <a:r>
                  <a:rPr lang="en-AU" sz="2800" dirty="0">
                    <a:effectLst/>
                  </a:rPr>
                  <a:t> is 66. so </a:t>
                </a:r>
                <a:r>
                  <a:rPr lang="en-AU" sz="2800" dirty="0" err="1">
                    <a:effectLst/>
                  </a:rPr>
                  <a:t>dj</a:t>
                </a:r>
                <a:r>
                  <a:rPr lang="en-AU" sz="2800" dirty="0">
                    <a:effectLst/>
                  </a:rPr>
                  <a:t>’ equals</a:t>
                </a:r>
                <a:r>
                  <a:rPr lang="en-AU" sz="2800" baseline="0" dirty="0">
                    <a:effectLst/>
                  </a:rPr>
                  <a:t> to 18. because </a:t>
                </a:r>
                <a:r>
                  <a:rPr lang="en-AU" sz="2800" baseline="0" dirty="0" err="1">
                    <a:effectLst/>
                  </a:rPr>
                  <a:t>dj</a:t>
                </a:r>
                <a:r>
                  <a:rPr lang="en-AU" sz="2800" baseline="0" dirty="0">
                    <a:effectLst/>
                  </a:rPr>
                  <a:t>’ also falls within the range of 8 to 23. li equals to 8.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AU" sz="2800" baseline="0" dirty="0">
                  <a:effectLst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AU" sz="2800" baseline="0" dirty="0">
                    <a:effectLst/>
                  </a:rPr>
                  <a:t>so based on this formula, which should we use to calculate bk.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AU" sz="2800" baseline="0" dirty="0">
                  <a:effectLst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AU" sz="2800" baseline="0" dirty="0">
                    <a:effectLst/>
                  </a:rPr>
                  <a:t>Because bk is a positive value, if we use the bottom one, bk will be negative 26. this is not right. So we need to use the top one. So bk’s value is 10. </a:t>
                </a:r>
                <a:endParaRPr lang="en-AU" sz="2800" dirty="0">
                  <a:effectLst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2800" dirty="0">
                    <a:effectLst/>
                  </a:rPr>
                  <a:t> 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59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01638640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60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56123898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61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681040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5090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9118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98948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29889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1553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296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8986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45868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77937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5171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354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372291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FC2C-8905-46F0-B443-CE905B76BA01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34648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95302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15711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E833E-1B6D-415F-AD29-75AE8C43BD0D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85967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2596F-08A7-4B70-989A-F2B1CF31E66B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6992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5/4/2026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639898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0" r:id="rId1"/>
    <p:sldLayoutId id="2147483761" r:id="rId2"/>
    <p:sldLayoutId id="2147483762" r:id="rId3"/>
    <p:sldLayoutId id="2147483746" r:id="rId4"/>
    <p:sldLayoutId id="2147483747" r:id="rId5"/>
    <p:sldLayoutId id="2147483748" r:id="rId6"/>
    <p:sldLayoutId id="2147483749" r:id="rId7"/>
    <p:sldLayoutId id="2147483750" r:id="rId8"/>
    <p:sldLayoutId id="2147483751" r:id="rId9"/>
    <p:sldLayoutId id="2147483752" r:id="rId10"/>
    <p:sldLayoutId id="2147483759" r:id="rId11"/>
    <p:sldLayoutId id="2147483753" r:id="rId12"/>
    <p:sldLayoutId id="2147483754" r:id="rId13"/>
    <p:sldLayoutId id="2147483755" r:id="rId14"/>
    <p:sldLayoutId id="2147483756" r:id="rId15"/>
    <p:sldLayoutId id="2147483757" r:id="rId16"/>
    <p:sldLayoutId id="2147483758" r:id="rId17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9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7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5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5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0.png"/><Relationship Id="rId4" Type="http://schemas.openxmlformats.org/officeDocument/2006/relationships/image" Target="../media/image150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0.png"/><Relationship Id="rId5" Type="http://schemas.openxmlformats.org/officeDocument/2006/relationships/image" Target="../media/image150.png"/><Relationship Id="rId4" Type="http://schemas.openxmlformats.org/officeDocument/2006/relationships/image" Target="../media/image140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60.png"/><Relationship Id="rId4" Type="http://schemas.openxmlformats.org/officeDocument/2006/relationships/image" Target="../media/image150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7" Type="http://schemas.openxmlformats.org/officeDocument/2006/relationships/image" Target="../media/image160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0.png"/><Relationship Id="rId5" Type="http://schemas.openxmlformats.org/officeDocument/2006/relationships/image" Target="../media/image140.png"/><Relationship Id="rId4" Type="http://schemas.openxmlformats.org/officeDocument/2006/relationships/image" Target="../media/image19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0.png"/><Relationship Id="rId5" Type="http://schemas.openxmlformats.org/officeDocument/2006/relationships/image" Target="../media/image150.png"/><Relationship Id="rId4" Type="http://schemas.openxmlformats.org/officeDocument/2006/relationships/image" Target="../media/image140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30.png"/><Relationship Id="rId4" Type="http://schemas.openxmlformats.org/officeDocument/2006/relationships/image" Target="../media/image25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300.png"/><Relationship Id="rId4" Type="http://schemas.openxmlformats.org/officeDocument/2006/relationships/image" Target="../media/image25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0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33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25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08E16CA-BF32-4E68-AAAF-189A3408C6C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3986" b="1744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 useBgFill="1">
        <p:nvSpPr>
          <p:cNvPr id="14" name="Freeform 5">
            <a:extLst>
              <a:ext uri="{FF2B5EF4-FFF2-40B4-BE49-F238E27FC236}">
                <a16:creationId xmlns:a16="http://schemas.microsoft.com/office/drawing/2014/main" id="{608EAA06-5488-416B-B2B2-E55213011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2271651" y="1762886"/>
            <a:ext cx="7656919" cy="3332229"/>
          </a:xfrm>
          <a:custGeom>
            <a:avLst/>
            <a:gdLst>
              <a:gd name="T0" fmla="*/ 1577 w 1601"/>
              <a:gd name="T1" fmla="*/ 0 h 696"/>
              <a:gd name="T2" fmla="*/ 833 w 1601"/>
              <a:gd name="T3" fmla="*/ 0 h 696"/>
              <a:gd name="T4" fmla="*/ 768 w 1601"/>
              <a:gd name="T5" fmla="*/ 0 h 696"/>
              <a:gd name="T6" fmla="*/ 24 w 1601"/>
              <a:gd name="T7" fmla="*/ 0 h 696"/>
              <a:gd name="T8" fmla="*/ 0 w 1601"/>
              <a:gd name="T9" fmla="*/ 27 h 696"/>
              <a:gd name="T10" fmla="*/ 0 w 1601"/>
              <a:gd name="T11" fmla="*/ 669 h 696"/>
              <a:gd name="T12" fmla="*/ 24 w 1601"/>
              <a:gd name="T13" fmla="*/ 696 h 696"/>
              <a:gd name="T14" fmla="*/ 768 w 1601"/>
              <a:gd name="T15" fmla="*/ 696 h 696"/>
              <a:gd name="T16" fmla="*/ 833 w 1601"/>
              <a:gd name="T17" fmla="*/ 696 h 696"/>
              <a:gd name="T18" fmla="*/ 1577 w 1601"/>
              <a:gd name="T19" fmla="*/ 696 h 696"/>
              <a:gd name="T20" fmla="*/ 1601 w 1601"/>
              <a:gd name="T21" fmla="*/ 669 h 696"/>
              <a:gd name="T22" fmla="*/ 1601 w 1601"/>
              <a:gd name="T23" fmla="*/ 27 h 696"/>
              <a:gd name="T24" fmla="*/ 1577 w 1601"/>
              <a:gd name="T25" fmla="*/ 0 h 6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601" h="696">
                <a:moveTo>
                  <a:pt x="1577" y="0"/>
                </a:moveTo>
                <a:cubicBezTo>
                  <a:pt x="833" y="0"/>
                  <a:pt x="833" y="0"/>
                  <a:pt x="833" y="0"/>
                </a:cubicBezTo>
                <a:cubicBezTo>
                  <a:pt x="768" y="0"/>
                  <a:pt x="768" y="0"/>
                  <a:pt x="768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2"/>
                  <a:pt x="0" y="27"/>
                </a:cubicBezTo>
                <a:cubicBezTo>
                  <a:pt x="0" y="669"/>
                  <a:pt x="0" y="669"/>
                  <a:pt x="0" y="669"/>
                </a:cubicBezTo>
                <a:cubicBezTo>
                  <a:pt x="0" y="684"/>
                  <a:pt x="11" y="696"/>
                  <a:pt x="24" y="696"/>
                </a:cubicBezTo>
                <a:cubicBezTo>
                  <a:pt x="768" y="696"/>
                  <a:pt x="768" y="696"/>
                  <a:pt x="768" y="696"/>
                </a:cubicBezTo>
                <a:cubicBezTo>
                  <a:pt x="833" y="696"/>
                  <a:pt x="833" y="696"/>
                  <a:pt x="833" y="696"/>
                </a:cubicBezTo>
                <a:cubicBezTo>
                  <a:pt x="1577" y="696"/>
                  <a:pt x="1577" y="696"/>
                  <a:pt x="1577" y="696"/>
                </a:cubicBezTo>
                <a:cubicBezTo>
                  <a:pt x="1590" y="696"/>
                  <a:pt x="1601" y="684"/>
                  <a:pt x="1601" y="669"/>
                </a:cubicBezTo>
                <a:cubicBezTo>
                  <a:pt x="1601" y="27"/>
                  <a:pt x="1601" y="27"/>
                  <a:pt x="1601" y="27"/>
                </a:cubicBezTo>
                <a:cubicBezTo>
                  <a:pt x="1601" y="12"/>
                  <a:pt x="1590" y="0"/>
                  <a:pt x="1577" y="0"/>
                </a:cubicBezTo>
                <a:close/>
              </a:path>
            </a:pathLst>
          </a:custGeom>
          <a:ln>
            <a:noFill/>
          </a:ln>
          <a:effectLst>
            <a:outerShdw blurRad="50800" dist="38100" dir="5400000" algn="tl" rotWithShape="0">
              <a:srgbClr val="000000">
                <a:alpha val="43000"/>
              </a:srgbClr>
            </a:outerShdw>
          </a:effectLst>
          <a:extLst>
            <a:ext uri="{91240B29-F687-4f45-9708-019B960494DF}">
              <a14:hiddenLine xmlns:a16="http://schemas.microsoft.com/office/drawing/2014/main" xmlns:p14="http://schemas.microsoft.com/office/powerpoint/2010/main"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F2B5DE-6445-CC49-9F8E-7C9072991A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80733" y="2074339"/>
            <a:ext cx="7219954" cy="1828801"/>
          </a:xfrm>
        </p:spPr>
        <p:txBody>
          <a:bodyPr>
            <a:normAutofit fontScale="90000"/>
          </a:bodyPr>
          <a:lstStyle/>
          <a:p>
            <a:r>
              <a:rPr lang="en-US" sz="4800" dirty="0"/>
              <a:t>CITS1003 Introduction to Cybersecurity</a:t>
            </a:r>
            <a:br>
              <a:rPr lang="en-US" sz="4800" dirty="0"/>
            </a:br>
            <a:r>
              <a:rPr lang="en-US" sz="4800" dirty="0"/>
              <a:t>[A] Digital Forensics exercises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04B053-88E2-6F47-B5CB-F0B21DD687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80733" y="3903138"/>
            <a:ext cx="7219954" cy="1049867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20D1FF"/>
                </a:solidFill>
              </a:rPr>
              <a:t>Dr </a:t>
            </a:r>
            <a:r>
              <a:rPr lang="en-US" dirty="0" err="1">
                <a:solidFill>
                  <a:srgbClr val="20D1FF"/>
                </a:solidFill>
              </a:rPr>
              <a:t>Zhi</a:t>
            </a:r>
            <a:r>
              <a:rPr lang="en-US" dirty="0">
                <a:solidFill>
                  <a:srgbClr val="20D1FF"/>
                </a:solidFill>
              </a:rPr>
              <a:t> Zhang</a:t>
            </a:r>
          </a:p>
        </p:txBody>
      </p:sp>
    </p:spTree>
    <p:extLst>
      <p:ext uri="{BB962C8B-B14F-4D97-AF65-F5344CB8AC3E}">
        <p14:creationId xmlns:p14="http://schemas.microsoft.com/office/powerpoint/2010/main" val="10775866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6FDE42-6C64-4484-BC4E-72F1B6CCFA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2406" y="1181044"/>
            <a:ext cx="10353762" cy="3714749"/>
          </a:xfrm>
        </p:spPr>
        <p:txBody>
          <a:bodyPr>
            <a:normAutofit/>
          </a:bodyPr>
          <a:lstStyle/>
          <a:p>
            <a:r>
              <a:rPr lang="en-AU" sz="2800" dirty="0"/>
              <a:t>Steganography</a:t>
            </a:r>
          </a:p>
          <a:p>
            <a:pPr lvl="1"/>
            <a:endParaRPr lang="en-AU" sz="2600" dirty="0"/>
          </a:p>
        </p:txBody>
      </p:sp>
    </p:spTree>
    <p:extLst>
      <p:ext uri="{BB962C8B-B14F-4D97-AF65-F5344CB8AC3E}">
        <p14:creationId xmlns:p14="http://schemas.microsoft.com/office/powerpoint/2010/main" val="24547699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6FDE42-6C64-4484-BC4E-72F1B6CCFA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2406" y="1181044"/>
            <a:ext cx="11573374" cy="3714749"/>
          </a:xfrm>
        </p:spPr>
        <p:txBody>
          <a:bodyPr>
            <a:normAutofit/>
          </a:bodyPr>
          <a:lstStyle/>
          <a:p>
            <a:r>
              <a:rPr lang="en-AU" sz="2800" dirty="0"/>
              <a:t>Steganography</a:t>
            </a:r>
          </a:p>
          <a:p>
            <a:pPr lvl="1"/>
            <a:r>
              <a:rPr lang="en-US" sz="2800" dirty="0"/>
              <a:t>It is the practice of concealing a message, file, or other form of data within another file, or medium in order to hide the data’s existence.</a:t>
            </a:r>
          </a:p>
          <a:p>
            <a:pPr lvl="1"/>
            <a:endParaRPr lang="en-AU" sz="2600" dirty="0"/>
          </a:p>
        </p:txBody>
      </p:sp>
    </p:spTree>
    <p:extLst>
      <p:ext uri="{BB962C8B-B14F-4D97-AF65-F5344CB8AC3E}">
        <p14:creationId xmlns:p14="http://schemas.microsoft.com/office/powerpoint/2010/main" val="14462502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6FDE42-6C64-4484-BC4E-72F1B6CCFA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9119" y="716963"/>
            <a:ext cx="10353762" cy="4981216"/>
          </a:xfrm>
        </p:spPr>
        <p:txBody>
          <a:bodyPr>
            <a:normAutofit/>
          </a:bodyPr>
          <a:lstStyle/>
          <a:p>
            <a:r>
              <a:rPr lang="en-AU" sz="2800" dirty="0"/>
              <a:t>Steganography</a:t>
            </a:r>
          </a:p>
          <a:p>
            <a:pPr lvl="1"/>
            <a:r>
              <a:rPr lang="en-AU" sz="2800" dirty="0"/>
              <a:t>various mediums</a:t>
            </a:r>
          </a:p>
          <a:p>
            <a:pPr lvl="2"/>
            <a:r>
              <a:rPr lang="en-AU" sz="2600" dirty="0"/>
              <a:t>e.g., text, image, video, audio</a:t>
            </a:r>
            <a:endParaRPr lang="en-AU" sz="2800" dirty="0"/>
          </a:p>
          <a:p>
            <a:pPr lvl="1"/>
            <a:r>
              <a:rPr lang="en-AU" sz="2800" dirty="0"/>
              <a:t>text steganography</a:t>
            </a:r>
          </a:p>
          <a:p>
            <a:pPr lvl="1"/>
            <a:r>
              <a:rPr lang="en-AU" sz="2800" dirty="0"/>
              <a:t>image steganography</a:t>
            </a:r>
          </a:p>
        </p:txBody>
      </p:sp>
    </p:spTree>
    <p:extLst>
      <p:ext uri="{BB962C8B-B14F-4D97-AF65-F5344CB8AC3E}">
        <p14:creationId xmlns:p14="http://schemas.microsoft.com/office/powerpoint/2010/main" val="26383840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74C25-2D5A-48BC-9315-DB95C4804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-39756"/>
            <a:ext cx="10353762" cy="1015448"/>
          </a:xfrm>
        </p:spPr>
        <p:txBody>
          <a:bodyPr/>
          <a:lstStyle/>
          <a:p>
            <a:r>
              <a:rPr lang="en-AU" sz="4000" dirty="0" err="1"/>
              <a:t>Stegosystem</a:t>
            </a:r>
            <a:endParaRPr lang="en-AU" dirty="0"/>
          </a:p>
        </p:txBody>
      </p:sp>
      <p:sp>
        <p:nvSpPr>
          <p:cNvPr id="4" name="Rounded Rectangle 4">
            <a:extLst>
              <a:ext uri="{FF2B5EF4-FFF2-40B4-BE49-F238E27FC236}">
                <a16:creationId xmlns:a16="http://schemas.microsoft.com/office/drawing/2014/main" id="{CF7AEFFD-A6C2-4CDD-88A3-CD092B09E23C}"/>
              </a:ext>
            </a:extLst>
          </p:cNvPr>
          <p:cNvSpPr/>
          <p:nvPr/>
        </p:nvSpPr>
        <p:spPr>
          <a:xfrm>
            <a:off x="1780969" y="1532643"/>
            <a:ext cx="2400267" cy="690067"/>
          </a:xfrm>
          <a:prstGeom prst="roundRect">
            <a:avLst/>
          </a:prstGeom>
          <a:noFill/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>
                <a:solidFill>
                  <a:srgbClr val="FF0000"/>
                </a:solidFill>
              </a:rPr>
              <a:t>Secret Message</a:t>
            </a:r>
          </a:p>
        </p:txBody>
      </p:sp>
      <p:sp>
        <p:nvSpPr>
          <p:cNvPr id="5" name="Rounded Rectangle 7">
            <a:extLst>
              <a:ext uri="{FF2B5EF4-FFF2-40B4-BE49-F238E27FC236}">
                <a16:creationId xmlns:a16="http://schemas.microsoft.com/office/drawing/2014/main" id="{549DE84A-7FE6-4555-A3F1-0571A3A18D13}"/>
              </a:ext>
            </a:extLst>
          </p:cNvPr>
          <p:cNvSpPr/>
          <p:nvPr/>
        </p:nvSpPr>
        <p:spPr>
          <a:xfrm>
            <a:off x="1780969" y="2388636"/>
            <a:ext cx="2400267" cy="690067"/>
          </a:xfrm>
          <a:prstGeom prst="roundRect">
            <a:avLst/>
          </a:prstGeom>
          <a:noFill/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/>
              <a:t>Cover Medium</a:t>
            </a:r>
          </a:p>
        </p:txBody>
      </p:sp>
      <p:sp>
        <p:nvSpPr>
          <p:cNvPr id="6" name="Rounded Rectangle 8">
            <a:extLst>
              <a:ext uri="{FF2B5EF4-FFF2-40B4-BE49-F238E27FC236}">
                <a16:creationId xmlns:a16="http://schemas.microsoft.com/office/drawing/2014/main" id="{BC8C7906-4266-47E9-8B47-54F923F4BDB6}"/>
              </a:ext>
            </a:extLst>
          </p:cNvPr>
          <p:cNvSpPr/>
          <p:nvPr/>
        </p:nvSpPr>
        <p:spPr>
          <a:xfrm>
            <a:off x="5152634" y="1849092"/>
            <a:ext cx="2656105" cy="964399"/>
          </a:xfrm>
          <a:prstGeom prst="roundRect">
            <a:avLst/>
          </a:prstGeom>
          <a:noFill/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 err="1"/>
              <a:t>Stego</a:t>
            </a:r>
            <a:r>
              <a:rPr lang="en-AU" sz="2400" dirty="0"/>
              <a:t> Encoder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8079BFB-A387-4AC8-B724-0FAAA49723F7}"/>
              </a:ext>
            </a:extLst>
          </p:cNvPr>
          <p:cNvCxnSpPr>
            <a:cxnSpLocks/>
            <a:stCxn id="6" idx="1"/>
            <a:endCxn id="4" idx="3"/>
          </p:cNvCxnSpPr>
          <p:nvPr/>
        </p:nvCxnSpPr>
        <p:spPr>
          <a:xfrm flipH="1" flipV="1">
            <a:off x="4181236" y="1877677"/>
            <a:ext cx="971398" cy="453615"/>
          </a:xfrm>
          <a:prstGeom prst="straightConnector1">
            <a:avLst/>
          </a:prstGeom>
          <a:ln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FBF023C-E45C-48BC-AE1B-23B5FE743DA0}"/>
              </a:ext>
            </a:extLst>
          </p:cNvPr>
          <p:cNvCxnSpPr>
            <a:cxnSpLocks/>
            <a:stCxn id="6" idx="1"/>
            <a:endCxn id="5" idx="3"/>
          </p:cNvCxnSpPr>
          <p:nvPr/>
        </p:nvCxnSpPr>
        <p:spPr>
          <a:xfrm flipH="1">
            <a:off x="4181236" y="2331292"/>
            <a:ext cx="971398" cy="402378"/>
          </a:xfrm>
          <a:prstGeom prst="straightConnector1">
            <a:avLst/>
          </a:prstGeom>
          <a:ln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1CE3ED1-0602-4DDA-A88B-43533F4C75A1}"/>
              </a:ext>
            </a:extLst>
          </p:cNvPr>
          <p:cNvCxnSpPr>
            <a:cxnSpLocks/>
            <a:endCxn id="6" idx="3"/>
          </p:cNvCxnSpPr>
          <p:nvPr/>
        </p:nvCxnSpPr>
        <p:spPr>
          <a:xfrm flipH="1">
            <a:off x="7808739" y="2331292"/>
            <a:ext cx="802714" cy="0"/>
          </a:xfrm>
          <a:prstGeom prst="straightConnector1">
            <a:avLst/>
          </a:prstGeom>
          <a:ln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8">
            <a:extLst>
              <a:ext uri="{FF2B5EF4-FFF2-40B4-BE49-F238E27FC236}">
                <a16:creationId xmlns:a16="http://schemas.microsoft.com/office/drawing/2014/main" id="{F4350407-8837-4843-A1C6-27B8FBFDAF2A}"/>
              </a:ext>
            </a:extLst>
          </p:cNvPr>
          <p:cNvSpPr/>
          <p:nvPr/>
        </p:nvSpPr>
        <p:spPr>
          <a:xfrm>
            <a:off x="8611452" y="1831293"/>
            <a:ext cx="2656105" cy="964399"/>
          </a:xfrm>
          <a:prstGeom prst="roundRect">
            <a:avLst/>
          </a:prstGeom>
          <a:noFill/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 err="1"/>
              <a:t>Stego</a:t>
            </a:r>
            <a:r>
              <a:rPr lang="en-AU" sz="2400" dirty="0"/>
              <a:t> Medium</a:t>
            </a:r>
          </a:p>
        </p:txBody>
      </p:sp>
      <p:sp>
        <p:nvSpPr>
          <p:cNvPr id="35" name="Rounded Rectangle 8">
            <a:extLst>
              <a:ext uri="{FF2B5EF4-FFF2-40B4-BE49-F238E27FC236}">
                <a16:creationId xmlns:a16="http://schemas.microsoft.com/office/drawing/2014/main" id="{882DB82E-79CB-40F9-9B8D-3AF542BF4DD5}"/>
              </a:ext>
            </a:extLst>
          </p:cNvPr>
          <p:cNvSpPr/>
          <p:nvPr/>
        </p:nvSpPr>
        <p:spPr>
          <a:xfrm>
            <a:off x="5152634" y="4905700"/>
            <a:ext cx="2656103" cy="964399"/>
          </a:xfrm>
          <a:prstGeom prst="roundRect">
            <a:avLst/>
          </a:prstGeom>
          <a:noFill/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 err="1"/>
              <a:t>Stego</a:t>
            </a:r>
            <a:r>
              <a:rPr lang="en-AU" sz="2400" dirty="0"/>
              <a:t> Decoder</a:t>
            </a:r>
          </a:p>
        </p:txBody>
      </p: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C3E3EE10-FA53-4ADA-8BBA-771A16CF70D2}"/>
              </a:ext>
            </a:extLst>
          </p:cNvPr>
          <p:cNvCxnSpPr>
            <a:cxnSpLocks/>
            <a:stCxn id="18" idx="2"/>
            <a:endCxn id="35" idx="3"/>
          </p:cNvCxnSpPr>
          <p:nvPr/>
        </p:nvCxnSpPr>
        <p:spPr>
          <a:xfrm rot="5400000">
            <a:off x="7578017" y="3026412"/>
            <a:ext cx="2592208" cy="213076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">
            <a:extLst>
              <a:ext uri="{FF2B5EF4-FFF2-40B4-BE49-F238E27FC236}">
                <a16:creationId xmlns:a16="http://schemas.microsoft.com/office/drawing/2014/main" id="{833D6E82-1F6D-4851-AF4D-628B08019CDF}"/>
              </a:ext>
            </a:extLst>
          </p:cNvPr>
          <p:cNvSpPr/>
          <p:nvPr/>
        </p:nvSpPr>
        <p:spPr>
          <a:xfrm>
            <a:off x="1780969" y="4454972"/>
            <a:ext cx="2400267" cy="690067"/>
          </a:xfrm>
          <a:prstGeom prst="roundRect">
            <a:avLst/>
          </a:prstGeom>
          <a:noFill/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>
                <a:solidFill>
                  <a:srgbClr val="FF0000"/>
                </a:solidFill>
              </a:rPr>
              <a:t>Secret Message</a:t>
            </a:r>
          </a:p>
        </p:txBody>
      </p:sp>
      <p:sp>
        <p:nvSpPr>
          <p:cNvPr id="45" name="Rounded Rectangle 7">
            <a:extLst>
              <a:ext uri="{FF2B5EF4-FFF2-40B4-BE49-F238E27FC236}">
                <a16:creationId xmlns:a16="http://schemas.microsoft.com/office/drawing/2014/main" id="{A2F7DD92-BF14-4630-A591-771FF2936424}"/>
              </a:ext>
            </a:extLst>
          </p:cNvPr>
          <p:cNvSpPr/>
          <p:nvPr/>
        </p:nvSpPr>
        <p:spPr>
          <a:xfrm>
            <a:off x="1780969" y="5310965"/>
            <a:ext cx="2400267" cy="690067"/>
          </a:xfrm>
          <a:prstGeom prst="roundRect">
            <a:avLst/>
          </a:prstGeom>
          <a:noFill/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/>
              <a:t>Cover Medium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BFF53155-16A4-4E4E-B047-47BF7A6269D5}"/>
              </a:ext>
            </a:extLst>
          </p:cNvPr>
          <p:cNvCxnSpPr>
            <a:cxnSpLocks/>
            <a:stCxn id="44" idx="3"/>
            <a:endCxn id="35" idx="1"/>
          </p:cNvCxnSpPr>
          <p:nvPr/>
        </p:nvCxnSpPr>
        <p:spPr>
          <a:xfrm>
            <a:off x="4181236" y="4800006"/>
            <a:ext cx="971398" cy="587894"/>
          </a:xfrm>
          <a:prstGeom prst="straightConnector1">
            <a:avLst/>
          </a:prstGeom>
          <a:ln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B1F6F9FD-B0D0-4990-B433-B1F472311182}"/>
              </a:ext>
            </a:extLst>
          </p:cNvPr>
          <p:cNvCxnSpPr>
            <a:cxnSpLocks/>
            <a:stCxn id="45" idx="3"/>
            <a:endCxn id="35" idx="1"/>
          </p:cNvCxnSpPr>
          <p:nvPr/>
        </p:nvCxnSpPr>
        <p:spPr>
          <a:xfrm flipV="1">
            <a:off x="4181236" y="5387900"/>
            <a:ext cx="971398" cy="268099"/>
          </a:xfrm>
          <a:prstGeom prst="straightConnector1">
            <a:avLst/>
          </a:prstGeom>
          <a:ln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8">
            <a:extLst>
              <a:ext uri="{FF2B5EF4-FFF2-40B4-BE49-F238E27FC236}">
                <a16:creationId xmlns:a16="http://schemas.microsoft.com/office/drawing/2014/main" id="{CE3C4974-756D-4521-AB3C-CA59048B05D5}"/>
              </a:ext>
            </a:extLst>
          </p:cNvPr>
          <p:cNvSpPr/>
          <p:nvPr/>
        </p:nvSpPr>
        <p:spPr>
          <a:xfrm>
            <a:off x="209910" y="1848089"/>
            <a:ext cx="1429066" cy="727764"/>
          </a:xfrm>
          <a:prstGeom prst="round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/>
              <a:t>Sender</a:t>
            </a:r>
          </a:p>
        </p:txBody>
      </p:sp>
      <p:sp>
        <p:nvSpPr>
          <p:cNvPr id="38" name="Rounded Rectangle 8">
            <a:extLst>
              <a:ext uri="{FF2B5EF4-FFF2-40B4-BE49-F238E27FC236}">
                <a16:creationId xmlns:a16="http://schemas.microsoft.com/office/drawing/2014/main" id="{CF10E06A-CBA9-4378-8DF7-DAE1B3690CE9}"/>
              </a:ext>
            </a:extLst>
          </p:cNvPr>
          <p:cNvSpPr/>
          <p:nvPr/>
        </p:nvSpPr>
        <p:spPr>
          <a:xfrm>
            <a:off x="240658" y="4781157"/>
            <a:ext cx="1429066" cy="727764"/>
          </a:xfrm>
          <a:prstGeom prst="round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/>
              <a:t>Receiver</a:t>
            </a:r>
          </a:p>
        </p:txBody>
      </p:sp>
    </p:spTree>
    <p:extLst>
      <p:ext uri="{BB962C8B-B14F-4D97-AF65-F5344CB8AC3E}">
        <p14:creationId xmlns:p14="http://schemas.microsoft.com/office/powerpoint/2010/main" val="19283374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74C25-2D5A-48BC-9315-DB95C4804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38100"/>
            <a:ext cx="10353762" cy="1257300"/>
          </a:xfrm>
        </p:spPr>
        <p:txBody>
          <a:bodyPr/>
          <a:lstStyle/>
          <a:p>
            <a:r>
              <a:rPr lang="en-AU" dirty="0"/>
              <a:t>Steganography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1F018A-FD8B-4DBD-91A8-B6A88766ED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571625"/>
            <a:ext cx="10353762" cy="3714749"/>
          </a:xfrm>
        </p:spPr>
        <p:txBody>
          <a:bodyPr/>
          <a:lstStyle/>
          <a:p>
            <a:r>
              <a:rPr lang="en-AU" sz="2800" dirty="0"/>
              <a:t>a </a:t>
            </a:r>
            <a:r>
              <a:rPr lang="en-AU" sz="2800" dirty="0" err="1"/>
              <a:t>stegosystem</a:t>
            </a:r>
            <a:r>
              <a:rPr lang="en-AU" sz="2800" dirty="0"/>
              <a:t> and a crypto system are different:</a:t>
            </a:r>
          </a:p>
          <a:p>
            <a:pPr lvl="1"/>
            <a:r>
              <a:rPr lang="en-AU" sz="2600" dirty="0"/>
              <a:t>Goal</a:t>
            </a:r>
          </a:p>
          <a:p>
            <a:pPr lvl="1"/>
            <a:r>
              <a:rPr lang="en-AU" sz="2600" dirty="0"/>
              <a:t>Approach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690603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74C25-2D5A-48BC-9315-DB95C4804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-39756"/>
            <a:ext cx="10353762" cy="1015448"/>
          </a:xfrm>
        </p:spPr>
        <p:txBody>
          <a:bodyPr/>
          <a:lstStyle/>
          <a:p>
            <a:r>
              <a:rPr lang="en-AU" sz="4000" dirty="0" err="1"/>
              <a:t>Stegosystem</a:t>
            </a:r>
            <a:r>
              <a:rPr lang="en-AU" sz="4000" dirty="0"/>
              <a:t> with Cryptography</a:t>
            </a:r>
            <a:endParaRPr lang="en-AU" dirty="0"/>
          </a:p>
        </p:txBody>
      </p:sp>
      <p:sp>
        <p:nvSpPr>
          <p:cNvPr id="4" name="Rounded Rectangle 4">
            <a:extLst>
              <a:ext uri="{FF2B5EF4-FFF2-40B4-BE49-F238E27FC236}">
                <a16:creationId xmlns:a16="http://schemas.microsoft.com/office/drawing/2014/main" id="{CF7AEFFD-A6C2-4CDD-88A3-CD092B09E23C}"/>
              </a:ext>
            </a:extLst>
          </p:cNvPr>
          <p:cNvSpPr/>
          <p:nvPr/>
        </p:nvSpPr>
        <p:spPr>
          <a:xfrm>
            <a:off x="4417617" y="1395516"/>
            <a:ext cx="2642756" cy="690067"/>
          </a:xfrm>
          <a:prstGeom prst="roundRect">
            <a:avLst/>
          </a:prstGeom>
          <a:noFill/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/>
              <a:t>Cover Medium</a:t>
            </a:r>
          </a:p>
        </p:txBody>
      </p:sp>
      <p:sp>
        <p:nvSpPr>
          <p:cNvPr id="5" name="Rounded Rectangle 7">
            <a:extLst>
              <a:ext uri="{FF2B5EF4-FFF2-40B4-BE49-F238E27FC236}">
                <a16:creationId xmlns:a16="http://schemas.microsoft.com/office/drawing/2014/main" id="{549DE84A-7FE6-4555-A3F1-0571A3A18D13}"/>
              </a:ext>
            </a:extLst>
          </p:cNvPr>
          <p:cNvSpPr/>
          <p:nvPr/>
        </p:nvSpPr>
        <p:spPr>
          <a:xfrm>
            <a:off x="646539" y="2261791"/>
            <a:ext cx="2731987" cy="690068"/>
          </a:xfrm>
          <a:prstGeom prst="roundRect">
            <a:avLst/>
          </a:prstGeom>
          <a:noFill/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>
                <a:solidFill>
                  <a:srgbClr val="FF0000"/>
                </a:solidFill>
              </a:rPr>
              <a:t>Secret Message</a:t>
            </a:r>
            <a:endParaRPr lang="en-AU" sz="2400" dirty="0"/>
          </a:p>
        </p:txBody>
      </p:sp>
      <p:sp>
        <p:nvSpPr>
          <p:cNvPr id="6" name="Rounded Rectangle 8">
            <a:extLst>
              <a:ext uri="{FF2B5EF4-FFF2-40B4-BE49-F238E27FC236}">
                <a16:creationId xmlns:a16="http://schemas.microsoft.com/office/drawing/2014/main" id="{BC8C7906-4266-47E9-8B47-54F923F4BDB6}"/>
              </a:ext>
            </a:extLst>
          </p:cNvPr>
          <p:cNvSpPr/>
          <p:nvPr/>
        </p:nvSpPr>
        <p:spPr>
          <a:xfrm>
            <a:off x="7808739" y="1779590"/>
            <a:ext cx="2656105" cy="964399"/>
          </a:xfrm>
          <a:prstGeom prst="roundRect">
            <a:avLst/>
          </a:prstGeom>
          <a:noFill/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 err="1"/>
              <a:t>Stego</a:t>
            </a:r>
            <a:r>
              <a:rPr lang="en-AU" sz="2400" dirty="0"/>
              <a:t> Encoder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8079BFB-A387-4AC8-B724-0FAAA49723F7}"/>
              </a:ext>
            </a:extLst>
          </p:cNvPr>
          <p:cNvCxnSpPr>
            <a:cxnSpLocks/>
            <a:stCxn id="6" idx="1"/>
            <a:endCxn id="4" idx="3"/>
          </p:cNvCxnSpPr>
          <p:nvPr/>
        </p:nvCxnSpPr>
        <p:spPr>
          <a:xfrm flipH="1" flipV="1">
            <a:off x="7060373" y="1740550"/>
            <a:ext cx="748366" cy="521240"/>
          </a:xfrm>
          <a:prstGeom prst="straightConnector1">
            <a:avLst/>
          </a:prstGeom>
          <a:ln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FBF023C-E45C-48BC-AE1B-23B5FE743DA0}"/>
              </a:ext>
            </a:extLst>
          </p:cNvPr>
          <p:cNvCxnSpPr>
            <a:cxnSpLocks/>
            <a:stCxn id="53" idx="1"/>
            <a:endCxn id="5" idx="3"/>
          </p:cNvCxnSpPr>
          <p:nvPr/>
        </p:nvCxnSpPr>
        <p:spPr>
          <a:xfrm flipH="1">
            <a:off x="3378526" y="2606825"/>
            <a:ext cx="1025745" cy="0"/>
          </a:xfrm>
          <a:prstGeom prst="straightConnector1">
            <a:avLst/>
          </a:prstGeom>
          <a:ln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8">
            <a:extLst>
              <a:ext uri="{FF2B5EF4-FFF2-40B4-BE49-F238E27FC236}">
                <a16:creationId xmlns:a16="http://schemas.microsoft.com/office/drawing/2014/main" id="{F4350407-8837-4843-A1C6-27B8FBFDAF2A}"/>
              </a:ext>
            </a:extLst>
          </p:cNvPr>
          <p:cNvSpPr/>
          <p:nvPr/>
        </p:nvSpPr>
        <p:spPr>
          <a:xfrm>
            <a:off x="9429969" y="3324645"/>
            <a:ext cx="2373086" cy="642701"/>
          </a:xfrm>
          <a:prstGeom prst="roundRect">
            <a:avLst/>
          </a:prstGeom>
          <a:noFill/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 err="1"/>
              <a:t>Stego</a:t>
            </a:r>
            <a:r>
              <a:rPr lang="en-AU" sz="2400" dirty="0"/>
              <a:t> Medium</a:t>
            </a:r>
          </a:p>
        </p:txBody>
      </p:sp>
      <p:sp>
        <p:nvSpPr>
          <p:cNvPr id="35" name="Rounded Rectangle 8">
            <a:extLst>
              <a:ext uri="{FF2B5EF4-FFF2-40B4-BE49-F238E27FC236}">
                <a16:creationId xmlns:a16="http://schemas.microsoft.com/office/drawing/2014/main" id="{882DB82E-79CB-40F9-9B8D-3AF542BF4DD5}"/>
              </a:ext>
            </a:extLst>
          </p:cNvPr>
          <p:cNvSpPr/>
          <p:nvPr/>
        </p:nvSpPr>
        <p:spPr>
          <a:xfrm>
            <a:off x="7808739" y="4583717"/>
            <a:ext cx="2656103" cy="964399"/>
          </a:xfrm>
          <a:prstGeom prst="roundRect">
            <a:avLst/>
          </a:prstGeom>
          <a:noFill/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 err="1"/>
              <a:t>Stego</a:t>
            </a:r>
            <a:r>
              <a:rPr lang="en-AU" sz="2400" dirty="0"/>
              <a:t> Decoder</a:t>
            </a:r>
          </a:p>
        </p:txBody>
      </p: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C3E3EE10-FA53-4ADA-8BBA-771A16CF70D2}"/>
              </a:ext>
            </a:extLst>
          </p:cNvPr>
          <p:cNvCxnSpPr>
            <a:cxnSpLocks/>
            <a:stCxn id="18" idx="2"/>
            <a:endCxn id="35" idx="3"/>
          </p:cNvCxnSpPr>
          <p:nvPr/>
        </p:nvCxnSpPr>
        <p:spPr>
          <a:xfrm rot="5400000">
            <a:off x="9991392" y="4440796"/>
            <a:ext cx="1098571" cy="15167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">
            <a:extLst>
              <a:ext uri="{FF2B5EF4-FFF2-40B4-BE49-F238E27FC236}">
                <a16:creationId xmlns:a16="http://schemas.microsoft.com/office/drawing/2014/main" id="{833D6E82-1F6D-4851-AF4D-628B08019CDF}"/>
              </a:ext>
            </a:extLst>
          </p:cNvPr>
          <p:cNvSpPr/>
          <p:nvPr/>
        </p:nvSpPr>
        <p:spPr>
          <a:xfrm>
            <a:off x="4443909" y="4202968"/>
            <a:ext cx="2616464" cy="690067"/>
          </a:xfrm>
          <a:prstGeom prst="roundRect">
            <a:avLst/>
          </a:prstGeom>
          <a:noFill/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/>
              <a:t>Cover Medium</a:t>
            </a:r>
            <a:endParaRPr lang="en-AU" sz="2400" dirty="0">
              <a:solidFill>
                <a:srgbClr val="FF0000"/>
              </a:solidFill>
            </a:endParaRPr>
          </a:p>
        </p:txBody>
      </p:sp>
      <p:sp>
        <p:nvSpPr>
          <p:cNvPr id="45" name="Rounded Rectangle 7">
            <a:extLst>
              <a:ext uri="{FF2B5EF4-FFF2-40B4-BE49-F238E27FC236}">
                <a16:creationId xmlns:a16="http://schemas.microsoft.com/office/drawing/2014/main" id="{A2F7DD92-BF14-4630-A591-771FF2936424}"/>
              </a:ext>
            </a:extLst>
          </p:cNvPr>
          <p:cNvSpPr/>
          <p:nvPr/>
        </p:nvSpPr>
        <p:spPr>
          <a:xfrm>
            <a:off x="4443909" y="5058961"/>
            <a:ext cx="2656101" cy="690067"/>
          </a:xfrm>
          <a:prstGeom prst="roundRect">
            <a:avLst/>
          </a:prstGeom>
          <a:noFill/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>
                <a:solidFill>
                  <a:srgbClr val="FF0000"/>
                </a:solidFill>
              </a:rPr>
              <a:t>Encrypted Message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BFF53155-16A4-4E4E-B047-47BF7A6269D5}"/>
              </a:ext>
            </a:extLst>
          </p:cNvPr>
          <p:cNvCxnSpPr>
            <a:cxnSpLocks/>
            <a:stCxn id="44" idx="3"/>
            <a:endCxn id="35" idx="1"/>
          </p:cNvCxnSpPr>
          <p:nvPr/>
        </p:nvCxnSpPr>
        <p:spPr>
          <a:xfrm>
            <a:off x="7060373" y="4548002"/>
            <a:ext cx="748366" cy="517915"/>
          </a:xfrm>
          <a:prstGeom prst="straightConnector1">
            <a:avLst/>
          </a:prstGeom>
          <a:ln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B1F6F9FD-B0D0-4990-B433-B1F472311182}"/>
              </a:ext>
            </a:extLst>
          </p:cNvPr>
          <p:cNvCxnSpPr>
            <a:cxnSpLocks/>
            <a:stCxn id="45" idx="3"/>
            <a:endCxn id="35" idx="1"/>
          </p:cNvCxnSpPr>
          <p:nvPr/>
        </p:nvCxnSpPr>
        <p:spPr>
          <a:xfrm flipV="1">
            <a:off x="7100010" y="5065917"/>
            <a:ext cx="708729" cy="338078"/>
          </a:xfrm>
          <a:prstGeom prst="straightConnector1">
            <a:avLst/>
          </a:prstGeom>
          <a:ln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8">
            <a:extLst>
              <a:ext uri="{FF2B5EF4-FFF2-40B4-BE49-F238E27FC236}">
                <a16:creationId xmlns:a16="http://schemas.microsoft.com/office/drawing/2014/main" id="{CE3C4974-756D-4521-AB3C-CA59048B05D5}"/>
              </a:ext>
            </a:extLst>
          </p:cNvPr>
          <p:cNvSpPr/>
          <p:nvPr/>
        </p:nvSpPr>
        <p:spPr>
          <a:xfrm>
            <a:off x="1201093" y="1534027"/>
            <a:ext cx="1429066" cy="727764"/>
          </a:xfrm>
          <a:prstGeom prst="round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/>
              <a:t>Sender</a:t>
            </a:r>
          </a:p>
        </p:txBody>
      </p:sp>
      <p:sp>
        <p:nvSpPr>
          <p:cNvPr id="38" name="Rounded Rectangle 8">
            <a:extLst>
              <a:ext uri="{FF2B5EF4-FFF2-40B4-BE49-F238E27FC236}">
                <a16:creationId xmlns:a16="http://schemas.microsoft.com/office/drawing/2014/main" id="{CF10E06A-CBA9-4378-8DF7-DAE1B3690CE9}"/>
              </a:ext>
            </a:extLst>
          </p:cNvPr>
          <p:cNvSpPr/>
          <p:nvPr/>
        </p:nvSpPr>
        <p:spPr>
          <a:xfrm>
            <a:off x="1201093" y="4298891"/>
            <a:ext cx="1429066" cy="727764"/>
          </a:xfrm>
          <a:prstGeom prst="round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/>
              <a:t>Receiver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8AA1DD7A-2ED0-4B9A-82F4-C677EF0F1E0B}"/>
              </a:ext>
            </a:extLst>
          </p:cNvPr>
          <p:cNvCxnSpPr>
            <a:cxnSpLocks/>
            <a:stCxn id="36" idx="3"/>
            <a:endCxn id="45" idx="1"/>
          </p:cNvCxnSpPr>
          <p:nvPr/>
        </p:nvCxnSpPr>
        <p:spPr>
          <a:xfrm flipV="1">
            <a:off x="3378526" y="5403995"/>
            <a:ext cx="1065383" cy="2428"/>
          </a:xfrm>
          <a:prstGeom prst="straightConnector1">
            <a:avLst/>
          </a:prstGeom>
          <a:ln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5BCA7CCA-76E8-49E6-8AF4-187EC97B1509}"/>
              </a:ext>
            </a:extLst>
          </p:cNvPr>
          <p:cNvCxnSpPr>
            <a:cxnSpLocks/>
            <a:endCxn id="89" idx="2"/>
          </p:cNvCxnSpPr>
          <p:nvPr/>
        </p:nvCxnSpPr>
        <p:spPr>
          <a:xfrm flipH="1" flipV="1">
            <a:off x="3911217" y="3897529"/>
            <a:ext cx="13346" cy="1506466"/>
          </a:xfrm>
          <a:prstGeom prst="straightConnector1">
            <a:avLst/>
          </a:prstGeom>
          <a:ln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7">
            <a:extLst>
              <a:ext uri="{FF2B5EF4-FFF2-40B4-BE49-F238E27FC236}">
                <a16:creationId xmlns:a16="http://schemas.microsoft.com/office/drawing/2014/main" id="{B9B71D87-B97A-4600-A5F3-BCBC75A81048}"/>
              </a:ext>
            </a:extLst>
          </p:cNvPr>
          <p:cNvSpPr/>
          <p:nvPr/>
        </p:nvSpPr>
        <p:spPr>
          <a:xfrm>
            <a:off x="646540" y="5061389"/>
            <a:ext cx="2731986" cy="690067"/>
          </a:xfrm>
          <a:prstGeom prst="roundRect">
            <a:avLst/>
          </a:prstGeom>
          <a:noFill/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>
                <a:solidFill>
                  <a:srgbClr val="FF0000"/>
                </a:solidFill>
              </a:rPr>
              <a:t>Decrypted Message</a:t>
            </a:r>
          </a:p>
        </p:txBody>
      </p:sp>
      <p:sp>
        <p:nvSpPr>
          <p:cNvPr id="53" name="Rounded Rectangle 7">
            <a:extLst>
              <a:ext uri="{FF2B5EF4-FFF2-40B4-BE49-F238E27FC236}">
                <a16:creationId xmlns:a16="http://schemas.microsoft.com/office/drawing/2014/main" id="{CC944BAA-8A5C-4322-B0E0-FFCA2B735B37}"/>
              </a:ext>
            </a:extLst>
          </p:cNvPr>
          <p:cNvSpPr/>
          <p:nvPr/>
        </p:nvSpPr>
        <p:spPr>
          <a:xfrm>
            <a:off x="4404271" y="2261791"/>
            <a:ext cx="2656101" cy="690067"/>
          </a:xfrm>
          <a:prstGeom prst="roundRect">
            <a:avLst/>
          </a:prstGeom>
          <a:noFill/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>
                <a:solidFill>
                  <a:srgbClr val="FF0000"/>
                </a:solidFill>
              </a:rPr>
              <a:t>Encrypted Message</a:t>
            </a: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F60E5B13-C7EC-4675-87F2-807FBA3EA800}"/>
              </a:ext>
            </a:extLst>
          </p:cNvPr>
          <p:cNvCxnSpPr>
            <a:cxnSpLocks/>
            <a:stCxn id="6" idx="1"/>
            <a:endCxn id="53" idx="3"/>
          </p:cNvCxnSpPr>
          <p:nvPr/>
        </p:nvCxnSpPr>
        <p:spPr>
          <a:xfrm flipH="1">
            <a:off x="7060372" y="2261790"/>
            <a:ext cx="748367" cy="345035"/>
          </a:xfrm>
          <a:prstGeom prst="straightConnector1">
            <a:avLst/>
          </a:prstGeom>
          <a:ln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nector: Elbow 80">
            <a:extLst>
              <a:ext uri="{FF2B5EF4-FFF2-40B4-BE49-F238E27FC236}">
                <a16:creationId xmlns:a16="http://schemas.microsoft.com/office/drawing/2014/main" id="{B0FE49FB-6649-4FCC-B3CF-E6CFE4DFC8A6}"/>
              </a:ext>
            </a:extLst>
          </p:cNvPr>
          <p:cNvCxnSpPr>
            <a:cxnSpLocks/>
            <a:stCxn id="6" idx="3"/>
            <a:endCxn id="18" idx="0"/>
          </p:cNvCxnSpPr>
          <p:nvPr/>
        </p:nvCxnSpPr>
        <p:spPr>
          <a:xfrm>
            <a:off x="10464844" y="2261790"/>
            <a:ext cx="151668" cy="106285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Rounded Rectangle 8">
            <a:extLst>
              <a:ext uri="{FF2B5EF4-FFF2-40B4-BE49-F238E27FC236}">
                <a16:creationId xmlns:a16="http://schemas.microsoft.com/office/drawing/2014/main" id="{A625BB8E-1FE2-4883-8A94-B4D1FB515463}"/>
              </a:ext>
            </a:extLst>
          </p:cNvPr>
          <p:cNvSpPr/>
          <p:nvPr/>
        </p:nvSpPr>
        <p:spPr>
          <a:xfrm>
            <a:off x="2966952" y="3473008"/>
            <a:ext cx="1888530" cy="424521"/>
          </a:xfrm>
          <a:prstGeom prst="roundRect">
            <a:avLst/>
          </a:prstGeom>
          <a:noFill/>
          <a:ln>
            <a:solidFill>
              <a:srgbClr val="0070C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/>
              <a:t>Crypto Keys</a:t>
            </a:r>
          </a:p>
        </p:txBody>
      </p: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410A5447-FD74-45D0-B58A-03A340095A2B}"/>
              </a:ext>
            </a:extLst>
          </p:cNvPr>
          <p:cNvCxnSpPr>
            <a:cxnSpLocks/>
            <a:endCxn id="89" idx="0"/>
          </p:cNvCxnSpPr>
          <p:nvPr/>
        </p:nvCxnSpPr>
        <p:spPr>
          <a:xfrm flipH="1">
            <a:off x="3911217" y="2608463"/>
            <a:ext cx="13346" cy="864545"/>
          </a:xfrm>
          <a:prstGeom prst="straightConnector1">
            <a:avLst/>
          </a:prstGeom>
          <a:ln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73571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86256" y="1390650"/>
            <a:ext cx="10353762" cy="3714749"/>
          </a:xfrm>
        </p:spPr>
        <p:txBody>
          <a:bodyPr>
            <a:normAutofit/>
          </a:bodyPr>
          <a:lstStyle/>
          <a:p>
            <a:pPr lvl="1"/>
            <a:r>
              <a:rPr lang="en-AU" sz="2800" dirty="0"/>
              <a:t>Text Steganography</a:t>
            </a:r>
          </a:p>
          <a:p>
            <a:pPr lvl="2"/>
            <a:r>
              <a:rPr lang="en-AU" sz="2800" dirty="0"/>
              <a:t>e.g., alignment, font, position, white space</a:t>
            </a:r>
          </a:p>
          <a:p>
            <a:pPr marL="810000" lvl="2" indent="0">
              <a:buNone/>
            </a:pPr>
            <a:endParaRPr lang="en-AU" sz="2800" dirty="0"/>
          </a:p>
          <a:p>
            <a:pPr lvl="1"/>
            <a:r>
              <a:rPr lang="en-AU" sz="2800" dirty="0"/>
              <a:t>Demo</a:t>
            </a:r>
          </a:p>
          <a:p>
            <a:pPr lvl="2"/>
            <a:r>
              <a:rPr lang="en-AU" sz="2800" dirty="0"/>
              <a:t>white space</a:t>
            </a:r>
          </a:p>
          <a:p>
            <a:pPr marL="810000" lvl="2" indent="0">
              <a:buNone/>
            </a:pPr>
            <a:endParaRPr lang="en-AU" sz="28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8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19119" y="205154"/>
            <a:ext cx="10353762" cy="1060938"/>
          </a:xfrm>
        </p:spPr>
        <p:txBody>
          <a:bodyPr/>
          <a:lstStyle/>
          <a:p>
            <a:r>
              <a:rPr lang="en-AU" dirty="0"/>
              <a:t>Steganography</a:t>
            </a:r>
          </a:p>
        </p:txBody>
      </p:sp>
    </p:spTree>
    <p:extLst>
      <p:ext uri="{BB962C8B-B14F-4D97-AF65-F5344CB8AC3E}">
        <p14:creationId xmlns:p14="http://schemas.microsoft.com/office/powerpoint/2010/main" val="22185957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86256" y="1390650"/>
            <a:ext cx="10353762" cy="3714749"/>
          </a:xfrm>
        </p:spPr>
        <p:txBody>
          <a:bodyPr>
            <a:normAutofit/>
          </a:bodyPr>
          <a:lstStyle/>
          <a:p>
            <a:pPr lvl="1"/>
            <a:r>
              <a:rPr lang="en-US" sz="2800" dirty="0">
                <a:solidFill>
                  <a:srgbClr val="FF0000"/>
                </a:solidFill>
              </a:rPr>
              <a:t>Alignment</a:t>
            </a:r>
            <a:r>
              <a:rPr lang="en-US" sz="2800" dirty="0"/>
              <a:t>: The alignment of certain letters or words within a text can be used to hide a secret message.</a:t>
            </a:r>
            <a:endParaRPr lang="en-AU" sz="28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9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19119" y="205154"/>
            <a:ext cx="10353762" cy="1060938"/>
          </a:xfrm>
        </p:spPr>
        <p:txBody>
          <a:bodyPr/>
          <a:lstStyle/>
          <a:p>
            <a:r>
              <a:rPr lang="en-AU" dirty="0"/>
              <a:t>Steganography</a:t>
            </a:r>
          </a:p>
        </p:txBody>
      </p:sp>
    </p:spTree>
    <p:extLst>
      <p:ext uri="{BB962C8B-B14F-4D97-AF65-F5344CB8AC3E}">
        <p14:creationId xmlns:p14="http://schemas.microsoft.com/office/powerpoint/2010/main" val="19983550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10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19119" y="-147070"/>
            <a:ext cx="10353762" cy="1257300"/>
          </a:xfrm>
        </p:spPr>
        <p:txBody>
          <a:bodyPr/>
          <a:lstStyle/>
          <a:p>
            <a:r>
              <a:rPr lang="en-AU" dirty="0"/>
              <a:t>Alignment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1199455" y="1431889"/>
            <a:ext cx="9107627" cy="6667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3600" dirty="0"/>
              <a:t>“</a:t>
            </a:r>
            <a:r>
              <a:rPr lang="pt-BR" sz="3600" dirty="0"/>
              <a:t>I a e c t n a o h v a a a d d g</a:t>
            </a:r>
            <a:r>
              <a:rPr lang="en-AU" sz="36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878585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11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19119" y="-147070"/>
            <a:ext cx="10353762" cy="1257300"/>
          </a:xfrm>
        </p:spPr>
        <p:txBody>
          <a:bodyPr/>
          <a:lstStyle/>
          <a:p>
            <a:r>
              <a:rPr lang="en-AU" dirty="0"/>
              <a:t>Alignment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3989069" y="1431889"/>
            <a:ext cx="6904217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800" dirty="0"/>
              <a:t>“</a:t>
            </a:r>
            <a:r>
              <a:rPr lang="pt-BR" sz="2800" dirty="0"/>
              <a:t>I a e c t n a o</a:t>
            </a:r>
          </a:p>
          <a:p>
            <a:pPr algn="ctr"/>
            <a:r>
              <a:rPr lang="pt-BR" sz="2800" dirty="0"/>
              <a:t>  h v a a a d d g”</a:t>
            </a:r>
            <a:endParaRPr lang="en-AU" sz="2800" dirty="0"/>
          </a:p>
        </p:txBody>
      </p:sp>
      <p:sp>
        <p:nvSpPr>
          <p:cNvPr id="7" name="Rectangle 6"/>
          <p:cNvSpPr/>
          <p:nvPr/>
        </p:nvSpPr>
        <p:spPr>
          <a:xfrm>
            <a:off x="4377690" y="2786436"/>
            <a:ext cx="678745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800" b="1" dirty="0">
                <a:solidFill>
                  <a:srgbClr val="FF0000"/>
                </a:solidFill>
              </a:rPr>
              <a:t>I have a cat and a dog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106E69F-AA7C-47DC-9792-2F9DFAA113B4}"/>
              </a:ext>
            </a:extLst>
          </p:cNvPr>
          <p:cNvSpPr/>
          <p:nvPr/>
        </p:nvSpPr>
        <p:spPr>
          <a:xfrm>
            <a:off x="-309305" y="1670946"/>
            <a:ext cx="649293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800" dirty="0"/>
              <a:t>“</a:t>
            </a:r>
            <a:r>
              <a:rPr lang="pt-BR" sz="2800" dirty="0"/>
              <a:t>I a e c t n a o h v a a a d d g</a:t>
            </a:r>
            <a:r>
              <a:rPr lang="en-AU" sz="2800" dirty="0"/>
              <a:t>”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D8148F-1660-46F5-AEB6-4B33377CCBFF}"/>
              </a:ext>
            </a:extLst>
          </p:cNvPr>
          <p:cNvSpPr txBox="1"/>
          <p:nvPr/>
        </p:nvSpPr>
        <p:spPr>
          <a:xfrm>
            <a:off x="5514975" y="1686692"/>
            <a:ext cx="87439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800" dirty="0"/>
              <a:t>-&gt; </a:t>
            </a:r>
          </a:p>
        </p:txBody>
      </p:sp>
    </p:spTree>
    <p:extLst>
      <p:ext uri="{BB962C8B-B14F-4D97-AF65-F5344CB8AC3E}">
        <p14:creationId xmlns:p14="http://schemas.microsoft.com/office/powerpoint/2010/main" val="1762002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86256" y="1390650"/>
            <a:ext cx="11196144" cy="4133850"/>
          </a:xfrm>
        </p:spPr>
        <p:txBody>
          <a:bodyPr>
            <a:normAutofit/>
          </a:bodyPr>
          <a:lstStyle/>
          <a:p>
            <a:pPr lvl="1"/>
            <a:r>
              <a:rPr lang="en-US" sz="2800" dirty="0"/>
              <a:t>Alignment: The alignment of certain letters or words within a text can be used to hide a secret message</a:t>
            </a:r>
          </a:p>
          <a:p>
            <a:pPr lvl="1"/>
            <a:r>
              <a:rPr lang="en-US" sz="2800" dirty="0">
                <a:solidFill>
                  <a:srgbClr val="FF0000"/>
                </a:solidFill>
              </a:rPr>
              <a:t>Font</a:t>
            </a:r>
            <a:r>
              <a:rPr lang="en-US" sz="2800" dirty="0"/>
              <a:t>: The font itself can be used to hide a secret message.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12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19119" y="205154"/>
            <a:ext cx="10353762" cy="1060938"/>
          </a:xfrm>
        </p:spPr>
        <p:txBody>
          <a:bodyPr/>
          <a:lstStyle/>
          <a:p>
            <a:r>
              <a:rPr lang="en-AU" dirty="0"/>
              <a:t>Steganography</a:t>
            </a:r>
          </a:p>
        </p:txBody>
      </p:sp>
    </p:spTree>
    <p:extLst>
      <p:ext uri="{BB962C8B-B14F-4D97-AF65-F5344CB8AC3E}">
        <p14:creationId xmlns:p14="http://schemas.microsoft.com/office/powerpoint/2010/main" val="24356413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13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19119" y="0"/>
            <a:ext cx="10353762" cy="1110230"/>
          </a:xfrm>
        </p:spPr>
        <p:txBody>
          <a:bodyPr/>
          <a:lstStyle/>
          <a:p>
            <a:r>
              <a:rPr lang="en-AU" dirty="0"/>
              <a:t>Font</a:t>
            </a:r>
          </a:p>
        </p:txBody>
      </p:sp>
      <p:sp>
        <p:nvSpPr>
          <p:cNvPr id="6" name="Rectangle 5"/>
          <p:cNvSpPr/>
          <p:nvPr/>
        </p:nvSpPr>
        <p:spPr>
          <a:xfrm>
            <a:off x="1199455" y="1431889"/>
            <a:ext cx="9107627" cy="6667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3733" dirty="0"/>
              <a:t>“</a:t>
            </a:r>
            <a:r>
              <a:rPr lang="en-US" sz="3733" dirty="0">
                <a:latin typeface="Wingdings" panose="05000000000000000000" pitchFamily="2" charset="2"/>
              </a:rPr>
              <a:t>Hello, world</a:t>
            </a:r>
            <a:r>
              <a:rPr lang="en-AU" sz="3733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650495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14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19119" y="0"/>
            <a:ext cx="10353762" cy="1110230"/>
          </a:xfrm>
        </p:spPr>
        <p:txBody>
          <a:bodyPr/>
          <a:lstStyle/>
          <a:p>
            <a:r>
              <a:rPr lang="en-AU" dirty="0"/>
              <a:t>Font</a:t>
            </a:r>
          </a:p>
        </p:txBody>
      </p:sp>
      <p:sp>
        <p:nvSpPr>
          <p:cNvPr id="6" name="Rectangle 5"/>
          <p:cNvSpPr/>
          <p:nvPr/>
        </p:nvSpPr>
        <p:spPr>
          <a:xfrm>
            <a:off x="1199455" y="1431889"/>
            <a:ext cx="9107627" cy="6667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3600" dirty="0"/>
              <a:t>“</a:t>
            </a:r>
            <a:r>
              <a:rPr lang="en-US" sz="3600" dirty="0">
                <a:latin typeface="Wingdings" panose="05000000000000000000" pitchFamily="2" charset="2"/>
              </a:rPr>
              <a:t>Hello, world</a:t>
            </a:r>
            <a:r>
              <a:rPr lang="en-AU" sz="3600" dirty="0"/>
              <a:t>”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E5406FA-1128-4DCA-9A9D-EB13582D001B}"/>
              </a:ext>
            </a:extLst>
          </p:cNvPr>
          <p:cNvSpPr/>
          <p:nvPr/>
        </p:nvSpPr>
        <p:spPr>
          <a:xfrm>
            <a:off x="1199454" y="2762214"/>
            <a:ext cx="9107627" cy="6667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3733" dirty="0"/>
              <a:t>“</a:t>
            </a:r>
            <a:r>
              <a:rPr lang="en-US" sz="3733" dirty="0">
                <a:solidFill>
                  <a:srgbClr val="FF0000"/>
                </a:solidFill>
              </a:rPr>
              <a:t>Hello, world</a:t>
            </a:r>
            <a:r>
              <a:rPr lang="en-AU" sz="3733" dirty="0"/>
              <a:t>”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C8923F8-7E84-4486-ABC1-605C42FAFC40}"/>
              </a:ext>
            </a:extLst>
          </p:cNvPr>
          <p:cNvSpPr/>
          <p:nvPr/>
        </p:nvSpPr>
        <p:spPr>
          <a:xfrm>
            <a:off x="151705" y="1430266"/>
            <a:ext cx="2972496" cy="6667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3600" dirty="0"/>
              <a:t>Wingdings:</a:t>
            </a:r>
          </a:p>
        </p:txBody>
      </p:sp>
    </p:spTree>
    <p:extLst>
      <p:ext uri="{BB962C8B-B14F-4D97-AF65-F5344CB8AC3E}">
        <p14:creationId xmlns:p14="http://schemas.microsoft.com/office/powerpoint/2010/main" val="39128226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86256" y="1390650"/>
            <a:ext cx="10353762" cy="3714749"/>
          </a:xfrm>
        </p:spPr>
        <p:txBody>
          <a:bodyPr>
            <a:normAutofit/>
          </a:bodyPr>
          <a:lstStyle/>
          <a:p>
            <a:pPr lvl="1"/>
            <a:r>
              <a:rPr lang="en-US" sz="2800" dirty="0"/>
              <a:t>Alignment: The alignment of certain letters or words within a text can be used to hide a secret message.</a:t>
            </a:r>
          </a:p>
          <a:p>
            <a:pPr lvl="1"/>
            <a:r>
              <a:rPr lang="en-US" sz="2800" dirty="0"/>
              <a:t>Font: The font itself can be used to hide a secret message. </a:t>
            </a:r>
          </a:p>
          <a:p>
            <a:pPr lvl="1"/>
            <a:r>
              <a:rPr lang="en-AU" sz="2800" dirty="0">
                <a:solidFill>
                  <a:srgbClr val="FF0000"/>
                </a:solidFill>
              </a:rPr>
              <a:t>Position</a:t>
            </a:r>
            <a:r>
              <a:rPr lang="en-AU" sz="2800" dirty="0"/>
              <a:t>: </a:t>
            </a:r>
            <a:r>
              <a:rPr lang="en-US" sz="2800" dirty="0"/>
              <a:t>The position of letters or words within a text can be used to hide a secret message. </a:t>
            </a:r>
          </a:p>
          <a:p>
            <a:pPr marL="450000" lvl="1" indent="0">
              <a:buNone/>
            </a:pPr>
            <a:endParaRPr lang="en-US" sz="28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15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19119" y="205154"/>
            <a:ext cx="10353762" cy="1060938"/>
          </a:xfrm>
        </p:spPr>
        <p:txBody>
          <a:bodyPr/>
          <a:lstStyle/>
          <a:p>
            <a:r>
              <a:rPr lang="en-AU" dirty="0"/>
              <a:t>Steganography</a:t>
            </a:r>
          </a:p>
        </p:txBody>
      </p:sp>
    </p:spTree>
    <p:extLst>
      <p:ext uri="{BB962C8B-B14F-4D97-AF65-F5344CB8AC3E}">
        <p14:creationId xmlns:p14="http://schemas.microsoft.com/office/powerpoint/2010/main" val="20130190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16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93389" y="91440"/>
            <a:ext cx="10353762" cy="1133090"/>
          </a:xfrm>
        </p:spPr>
        <p:txBody>
          <a:bodyPr/>
          <a:lstStyle/>
          <a:p>
            <a:r>
              <a:rPr lang="en-AU" dirty="0"/>
              <a:t>Position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199455" y="1431889"/>
            <a:ext cx="9107627" cy="12412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3600" dirty="0"/>
              <a:t>“He encouraged leaving late on Wednesday only realising Laurie did!”</a:t>
            </a:r>
          </a:p>
        </p:txBody>
      </p:sp>
    </p:spTree>
    <p:extLst>
      <p:ext uri="{BB962C8B-B14F-4D97-AF65-F5344CB8AC3E}">
        <p14:creationId xmlns:p14="http://schemas.microsoft.com/office/powerpoint/2010/main" val="32840604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17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19119" y="-147070"/>
            <a:ext cx="10353762" cy="1257300"/>
          </a:xfrm>
        </p:spPr>
        <p:txBody>
          <a:bodyPr/>
          <a:lstStyle/>
          <a:p>
            <a:r>
              <a:rPr lang="en-AU" dirty="0"/>
              <a:t>Position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82621" y="1431889"/>
            <a:ext cx="1021066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800" dirty="0"/>
              <a:t>“He encouraged leaving late on Wednesday only realising Laurie did!”</a:t>
            </a:r>
          </a:p>
        </p:txBody>
      </p:sp>
      <p:sp>
        <p:nvSpPr>
          <p:cNvPr id="7" name="Rectangle 6"/>
          <p:cNvSpPr/>
          <p:nvPr/>
        </p:nvSpPr>
        <p:spPr>
          <a:xfrm>
            <a:off x="356219" y="2364781"/>
            <a:ext cx="10808921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800" b="1" dirty="0">
                <a:solidFill>
                  <a:srgbClr val="FF0000"/>
                </a:solidFill>
              </a:rPr>
              <a:t>H</a:t>
            </a:r>
            <a:r>
              <a:rPr lang="en-AU" sz="2800" dirty="0"/>
              <a:t>e </a:t>
            </a:r>
            <a:r>
              <a:rPr lang="en-AU" sz="2800" b="1" dirty="0">
                <a:solidFill>
                  <a:srgbClr val="FF0000"/>
                </a:solidFill>
              </a:rPr>
              <a:t>e</a:t>
            </a:r>
            <a:r>
              <a:rPr lang="en-AU" sz="2800" dirty="0"/>
              <a:t>ncouraged </a:t>
            </a:r>
            <a:r>
              <a:rPr lang="en-AU" sz="2800" b="1" dirty="0">
                <a:solidFill>
                  <a:srgbClr val="FF0000"/>
                </a:solidFill>
              </a:rPr>
              <a:t>l</a:t>
            </a:r>
            <a:r>
              <a:rPr lang="en-AU" sz="2800" dirty="0"/>
              <a:t>eaving </a:t>
            </a:r>
            <a:r>
              <a:rPr lang="en-AU" sz="2800" b="1" dirty="0">
                <a:solidFill>
                  <a:srgbClr val="FF0000"/>
                </a:solidFill>
              </a:rPr>
              <a:t>l</a:t>
            </a:r>
            <a:r>
              <a:rPr lang="en-AU" sz="2800" dirty="0"/>
              <a:t>ate </a:t>
            </a:r>
            <a:r>
              <a:rPr lang="en-AU" sz="2800" b="1" dirty="0">
                <a:solidFill>
                  <a:srgbClr val="FF0000"/>
                </a:solidFill>
              </a:rPr>
              <a:t>o</a:t>
            </a:r>
            <a:r>
              <a:rPr lang="en-AU" sz="2800" dirty="0"/>
              <a:t>n </a:t>
            </a:r>
            <a:r>
              <a:rPr lang="en-AU" sz="2800" b="1" dirty="0">
                <a:solidFill>
                  <a:srgbClr val="FF0000"/>
                </a:solidFill>
              </a:rPr>
              <a:t>W</a:t>
            </a:r>
            <a:r>
              <a:rPr lang="en-AU" sz="2800" dirty="0"/>
              <a:t>ednesday </a:t>
            </a:r>
            <a:r>
              <a:rPr lang="en-AU" sz="2800" b="1" dirty="0">
                <a:solidFill>
                  <a:srgbClr val="FF0000"/>
                </a:solidFill>
              </a:rPr>
              <a:t>o</a:t>
            </a:r>
            <a:r>
              <a:rPr lang="en-AU" sz="2800" dirty="0"/>
              <a:t>nly </a:t>
            </a:r>
            <a:r>
              <a:rPr lang="en-AU" sz="2800" b="1" dirty="0">
                <a:solidFill>
                  <a:srgbClr val="FF0000"/>
                </a:solidFill>
              </a:rPr>
              <a:t>r</a:t>
            </a:r>
            <a:r>
              <a:rPr lang="en-AU" sz="2800" dirty="0"/>
              <a:t>ealising </a:t>
            </a:r>
            <a:r>
              <a:rPr lang="en-AU" sz="2800" b="1" dirty="0">
                <a:solidFill>
                  <a:srgbClr val="FF0000"/>
                </a:solidFill>
              </a:rPr>
              <a:t>L</a:t>
            </a:r>
            <a:r>
              <a:rPr lang="en-AU" sz="2800" dirty="0"/>
              <a:t>aurie </a:t>
            </a:r>
            <a:r>
              <a:rPr lang="en-AU" sz="2800" b="1" dirty="0">
                <a:solidFill>
                  <a:srgbClr val="FF0000"/>
                </a:solidFill>
              </a:rPr>
              <a:t>d</a:t>
            </a:r>
            <a:r>
              <a:rPr lang="en-AU" sz="2800" dirty="0"/>
              <a:t>id</a:t>
            </a:r>
            <a:r>
              <a:rPr lang="en-AU" sz="2800" b="1" dirty="0">
                <a:solidFill>
                  <a:srgbClr val="FF0000"/>
                </a:solidFill>
              </a:rPr>
              <a:t> </a:t>
            </a:r>
          </a:p>
          <a:p>
            <a:r>
              <a:rPr lang="en-AU" sz="2800" b="1" dirty="0">
                <a:solidFill>
                  <a:srgbClr val="FF0000"/>
                </a:solidFill>
              </a:rPr>
              <a:t>     -&gt; Hello World</a:t>
            </a:r>
          </a:p>
        </p:txBody>
      </p:sp>
    </p:spTree>
    <p:extLst>
      <p:ext uri="{BB962C8B-B14F-4D97-AF65-F5344CB8AC3E}">
        <p14:creationId xmlns:p14="http://schemas.microsoft.com/office/powerpoint/2010/main" val="30327205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37021" y="1111322"/>
            <a:ext cx="10353762" cy="3714749"/>
          </a:xfrm>
        </p:spPr>
        <p:txBody>
          <a:bodyPr>
            <a:normAutofit/>
          </a:bodyPr>
          <a:lstStyle/>
          <a:p>
            <a:pPr marL="36900" indent="0">
              <a:buNone/>
            </a:pPr>
            <a:r>
              <a:rPr lang="en-AU" sz="3200" dirty="0">
                <a:effectLst/>
              </a:rPr>
              <a:t>“</a:t>
            </a:r>
            <a:r>
              <a:rPr lang="en-AU" sz="3200" dirty="0">
                <a:solidFill>
                  <a:schemeClr val="tx1"/>
                </a:solidFill>
              </a:rPr>
              <a:t>Apparently neutral's protest is thoroughly discounted And ignored. </a:t>
            </a:r>
            <a:r>
              <a:rPr lang="en-AU" sz="3200" dirty="0" err="1">
                <a:solidFill>
                  <a:schemeClr val="tx1"/>
                </a:solidFill>
              </a:rPr>
              <a:t>Isman</a:t>
            </a:r>
            <a:r>
              <a:rPr lang="en-AU" sz="3200" dirty="0">
                <a:solidFill>
                  <a:schemeClr val="tx1"/>
                </a:solidFill>
              </a:rPr>
              <a:t> hard hit. Blockade issue affects Pretext for embargo on by products, ejecting </a:t>
            </a:r>
            <a:r>
              <a:rPr lang="en-AU" sz="3200" dirty="0" err="1">
                <a:solidFill>
                  <a:schemeClr val="tx1"/>
                </a:solidFill>
              </a:rPr>
              <a:t>suets</a:t>
            </a:r>
            <a:r>
              <a:rPr lang="en-AU" sz="3200" dirty="0">
                <a:solidFill>
                  <a:schemeClr val="tx1"/>
                </a:solidFill>
              </a:rPr>
              <a:t> and Vegetable oils.”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18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13795" y="85725"/>
            <a:ext cx="10353762" cy="828675"/>
          </a:xfrm>
        </p:spPr>
        <p:txBody>
          <a:bodyPr/>
          <a:lstStyle/>
          <a:p>
            <a:r>
              <a:rPr lang="en-AU" dirty="0"/>
              <a:t>Position</a:t>
            </a:r>
          </a:p>
        </p:txBody>
      </p:sp>
    </p:spTree>
    <p:extLst>
      <p:ext uri="{BB962C8B-B14F-4D97-AF65-F5344CB8AC3E}">
        <p14:creationId xmlns:p14="http://schemas.microsoft.com/office/powerpoint/2010/main" val="42445482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37021" y="1066801"/>
            <a:ext cx="10353762" cy="1712975"/>
          </a:xfrm>
        </p:spPr>
        <p:txBody>
          <a:bodyPr>
            <a:normAutofit/>
          </a:bodyPr>
          <a:lstStyle/>
          <a:p>
            <a:pPr marL="36900" indent="0">
              <a:buNone/>
            </a:pPr>
            <a:r>
              <a:rPr lang="en-AU" sz="2800" dirty="0">
                <a:solidFill>
                  <a:schemeClr val="tx1"/>
                </a:solidFill>
              </a:rPr>
              <a:t>“Apparently neutral's protest is thoroughly discounted And ignored. </a:t>
            </a:r>
            <a:r>
              <a:rPr lang="en-AU" sz="2800" dirty="0" err="1">
                <a:solidFill>
                  <a:schemeClr val="tx1"/>
                </a:solidFill>
              </a:rPr>
              <a:t>Isman</a:t>
            </a:r>
            <a:r>
              <a:rPr lang="en-AU" sz="2800" dirty="0">
                <a:solidFill>
                  <a:schemeClr val="tx1"/>
                </a:solidFill>
              </a:rPr>
              <a:t> hard hit. Blockade issue affects Pretext for embargo on by products, ejecting </a:t>
            </a:r>
            <a:r>
              <a:rPr lang="en-AU" sz="2800" dirty="0" err="1">
                <a:solidFill>
                  <a:schemeClr val="tx1"/>
                </a:solidFill>
              </a:rPr>
              <a:t>suets</a:t>
            </a:r>
            <a:r>
              <a:rPr lang="en-AU" sz="2800" dirty="0">
                <a:solidFill>
                  <a:schemeClr val="tx1"/>
                </a:solidFill>
              </a:rPr>
              <a:t> and Vegetable oils.”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19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13795" y="85725"/>
            <a:ext cx="10353762" cy="981076"/>
          </a:xfrm>
        </p:spPr>
        <p:txBody>
          <a:bodyPr/>
          <a:lstStyle/>
          <a:p>
            <a:r>
              <a:rPr lang="en-AU" dirty="0"/>
              <a:t>Position</a:t>
            </a:r>
          </a:p>
        </p:txBody>
      </p:sp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C436E85A-C3E7-4E50-BDF9-5A8A6ADEAA83}"/>
              </a:ext>
            </a:extLst>
          </p:cNvPr>
          <p:cNvSpPr txBox="1">
            <a:spLocks/>
          </p:cNvSpPr>
          <p:nvPr/>
        </p:nvSpPr>
        <p:spPr>
          <a:xfrm>
            <a:off x="537021" y="3013095"/>
            <a:ext cx="10353762" cy="171297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>
              <a:buFont typeface="Wingdings 2" charset="2"/>
              <a:buNone/>
            </a:pPr>
            <a:r>
              <a:rPr lang="en-AU" sz="2800" dirty="0">
                <a:effectLst/>
              </a:rPr>
              <a:t>“A</a:t>
            </a:r>
            <a:r>
              <a:rPr lang="en-AU" sz="2800" dirty="0">
                <a:solidFill>
                  <a:srgbClr val="FF0000"/>
                </a:solidFill>
                <a:effectLst/>
              </a:rPr>
              <a:t>p</a:t>
            </a:r>
            <a:r>
              <a:rPr lang="en-AU" sz="2800" dirty="0">
                <a:effectLst/>
              </a:rPr>
              <a:t>parently n</a:t>
            </a:r>
            <a:r>
              <a:rPr lang="en-AU" sz="2800" dirty="0">
                <a:solidFill>
                  <a:srgbClr val="FF0000"/>
                </a:solidFill>
                <a:effectLst/>
              </a:rPr>
              <a:t>e</a:t>
            </a:r>
            <a:r>
              <a:rPr lang="en-AU" sz="2800" dirty="0">
                <a:effectLst/>
              </a:rPr>
              <a:t>utral's p</a:t>
            </a:r>
            <a:r>
              <a:rPr lang="en-AU" sz="2800" dirty="0">
                <a:solidFill>
                  <a:srgbClr val="FF0000"/>
                </a:solidFill>
                <a:effectLst/>
              </a:rPr>
              <a:t>r</a:t>
            </a:r>
            <a:r>
              <a:rPr lang="en-AU" sz="2800" dirty="0">
                <a:effectLst/>
              </a:rPr>
              <a:t>otest i</a:t>
            </a:r>
            <a:r>
              <a:rPr lang="en-AU" sz="2800" dirty="0">
                <a:solidFill>
                  <a:srgbClr val="FF0000"/>
                </a:solidFill>
                <a:effectLst/>
              </a:rPr>
              <a:t>s</a:t>
            </a:r>
            <a:r>
              <a:rPr lang="en-AU" sz="2800" dirty="0">
                <a:effectLst/>
              </a:rPr>
              <a:t> t</a:t>
            </a:r>
            <a:r>
              <a:rPr lang="en-AU" sz="2800" dirty="0">
                <a:solidFill>
                  <a:srgbClr val="FF0000"/>
                </a:solidFill>
                <a:effectLst/>
              </a:rPr>
              <a:t>h</a:t>
            </a:r>
            <a:r>
              <a:rPr lang="en-AU" sz="2800" dirty="0">
                <a:effectLst/>
              </a:rPr>
              <a:t>oroughly d</a:t>
            </a:r>
            <a:r>
              <a:rPr lang="en-AU" sz="2800" dirty="0">
                <a:solidFill>
                  <a:srgbClr val="FF0000"/>
                </a:solidFill>
                <a:effectLst/>
              </a:rPr>
              <a:t>i</a:t>
            </a:r>
            <a:r>
              <a:rPr lang="en-AU" sz="2800" dirty="0">
                <a:effectLst/>
              </a:rPr>
              <a:t>scounted A</a:t>
            </a:r>
            <a:r>
              <a:rPr lang="en-AU" sz="2800" dirty="0">
                <a:solidFill>
                  <a:srgbClr val="FF0000"/>
                </a:solidFill>
                <a:effectLst/>
              </a:rPr>
              <a:t>n</a:t>
            </a:r>
            <a:r>
              <a:rPr lang="en-AU" sz="2800" dirty="0">
                <a:effectLst/>
              </a:rPr>
              <a:t>d i</a:t>
            </a:r>
            <a:r>
              <a:rPr lang="en-AU" sz="2800" dirty="0">
                <a:solidFill>
                  <a:srgbClr val="FF0000"/>
                </a:solidFill>
                <a:effectLst/>
              </a:rPr>
              <a:t>g</a:t>
            </a:r>
            <a:r>
              <a:rPr lang="en-AU" sz="2800" dirty="0">
                <a:effectLst/>
              </a:rPr>
              <a:t>nored. </a:t>
            </a:r>
            <a:r>
              <a:rPr lang="en-AU" sz="2800" dirty="0" err="1">
                <a:effectLst/>
              </a:rPr>
              <a:t>I</a:t>
            </a:r>
            <a:r>
              <a:rPr lang="en-AU" sz="2800" dirty="0" err="1">
                <a:solidFill>
                  <a:srgbClr val="FF0000"/>
                </a:solidFill>
                <a:effectLst/>
              </a:rPr>
              <a:t>s</a:t>
            </a:r>
            <a:r>
              <a:rPr lang="en-AU" sz="2800" dirty="0" err="1">
                <a:effectLst/>
              </a:rPr>
              <a:t>man</a:t>
            </a:r>
            <a:r>
              <a:rPr lang="en-AU" sz="2800" dirty="0">
                <a:effectLst/>
              </a:rPr>
              <a:t> h</a:t>
            </a:r>
            <a:r>
              <a:rPr lang="en-AU" sz="2800" dirty="0">
                <a:solidFill>
                  <a:srgbClr val="FF0000"/>
                </a:solidFill>
                <a:effectLst/>
              </a:rPr>
              <a:t>a</a:t>
            </a:r>
            <a:r>
              <a:rPr lang="en-AU" sz="2800" dirty="0">
                <a:effectLst/>
              </a:rPr>
              <a:t>rd h</a:t>
            </a:r>
            <a:r>
              <a:rPr lang="en-AU" sz="2800" dirty="0">
                <a:solidFill>
                  <a:srgbClr val="FF0000"/>
                </a:solidFill>
                <a:effectLst/>
              </a:rPr>
              <a:t>i</a:t>
            </a:r>
            <a:r>
              <a:rPr lang="en-AU" sz="2800" dirty="0">
                <a:effectLst/>
              </a:rPr>
              <a:t>t. B</a:t>
            </a:r>
            <a:r>
              <a:rPr lang="en-AU" sz="2800" dirty="0">
                <a:solidFill>
                  <a:srgbClr val="FF0000"/>
                </a:solidFill>
                <a:effectLst/>
              </a:rPr>
              <a:t>l</a:t>
            </a:r>
            <a:r>
              <a:rPr lang="en-AU" sz="2800" dirty="0">
                <a:effectLst/>
              </a:rPr>
              <a:t>ockade i</a:t>
            </a:r>
            <a:r>
              <a:rPr lang="en-AU" sz="2800" dirty="0">
                <a:solidFill>
                  <a:srgbClr val="FF0000"/>
                </a:solidFill>
                <a:effectLst/>
              </a:rPr>
              <a:t>s</a:t>
            </a:r>
            <a:r>
              <a:rPr lang="en-AU" sz="2800" dirty="0">
                <a:effectLst/>
              </a:rPr>
              <a:t>sue a</a:t>
            </a:r>
            <a:r>
              <a:rPr lang="en-AU" sz="2800" dirty="0">
                <a:solidFill>
                  <a:srgbClr val="FF0000"/>
                </a:solidFill>
                <a:effectLst/>
              </a:rPr>
              <a:t>f</a:t>
            </a:r>
            <a:r>
              <a:rPr lang="en-AU" sz="2800" dirty="0">
                <a:effectLst/>
              </a:rPr>
              <a:t>fects P</a:t>
            </a:r>
            <a:r>
              <a:rPr lang="en-AU" sz="2800" dirty="0">
                <a:solidFill>
                  <a:srgbClr val="FF0000"/>
                </a:solidFill>
                <a:effectLst/>
              </a:rPr>
              <a:t>r</a:t>
            </a:r>
            <a:r>
              <a:rPr lang="en-AU" sz="2800" dirty="0">
                <a:effectLst/>
              </a:rPr>
              <a:t>etext f</a:t>
            </a:r>
            <a:r>
              <a:rPr lang="en-AU" sz="2800" dirty="0">
                <a:solidFill>
                  <a:srgbClr val="FF0000"/>
                </a:solidFill>
                <a:effectLst/>
              </a:rPr>
              <a:t>o</a:t>
            </a:r>
            <a:r>
              <a:rPr lang="en-AU" sz="2800" dirty="0">
                <a:effectLst/>
              </a:rPr>
              <a:t>r e</a:t>
            </a:r>
            <a:r>
              <a:rPr lang="en-AU" sz="2800" dirty="0">
                <a:solidFill>
                  <a:srgbClr val="FF0000"/>
                </a:solidFill>
                <a:effectLst/>
              </a:rPr>
              <a:t>m</a:t>
            </a:r>
            <a:r>
              <a:rPr lang="en-AU" sz="2800" dirty="0">
                <a:effectLst/>
              </a:rPr>
              <a:t>bargo o</a:t>
            </a:r>
            <a:r>
              <a:rPr lang="en-AU" sz="2800" dirty="0">
                <a:solidFill>
                  <a:srgbClr val="FF0000"/>
                </a:solidFill>
                <a:effectLst/>
              </a:rPr>
              <a:t>n</a:t>
            </a:r>
            <a:r>
              <a:rPr lang="en-AU" sz="2800" dirty="0">
                <a:effectLst/>
              </a:rPr>
              <a:t> b</a:t>
            </a:r>
            <a:r>
              <a:rPr lang="en-AU" sz="2800" dirty="0">
                <a:solidFill>
                  <a:srgbClr val="FF0000"/>
                </a:solidFill>
                <a:effectLst/>
              </a:rPr>
              <a:t>y</a:t>
            </a:r>
            <a:r>
              <a:rPr lang="en-AU" sz="2800" dirty="0">
                <a:effectLst/>
              </a:rPr>
              <a:t> p</a:t>
            </a:r>
            <a:r>
              <a:rPr lang="en-AU" sz="2800" dirty="0">
                <a:solidFill>
                  <a:srgbClr val="FF0000"/>
                </a:solidFill>
                <a:effectLst/>
              </a:rPr>
              <a:t>r</a:t>
            </a:r>
            <a:r>
              <a:rPr lang="en-AU" sz="2800" dirty="0">
                <a:effectLst/>
              </a:rPr>
              <a:t>oducts, e</a:t>
            </a:r>
            <a:r>
              <a:rPr lang="en-AU" sz="2800" dirty="0">
                <a:solidFill>
                  <a:srgbClr val="FF0000"/>
                </a:solidFill>
                <a:effectLst/>
              </a:rPr>
              <a:t>j</a:t>
            </a:r>
            <a:r>
              <a:rPr lang="en-AU" sz="2800" dirty="0">
                <a:effectLst/>
              </a:rPr>
              <a:t>ecting </a:t>
            </a:r>
            <a:r>
              <a:rPr lang="en-AU" sz="2800" dirty="0" err="1">
                <a:effectLst/>
              </a:rPr>
              <a:t>s</a:t>
            </a:r>
            <a:r>
              <a:rPr lang="en-AU" sz="2800" dirty="0" err="1">
                <a:solidFill>
                  <a:srgbClr val="FF0000"/>
                </a:solidFill>
                <a:effectLst/>
              </a:rPr>
              <a:t>u</a:t>
            </a:r>
            <a:r>
              <a:rPr lang="en-AU" sz="2800" dirty="0" err="1">
                <a:effectLst/>
              </a:rPr>
              <a:t>ets</a:t>
            </a:r>
            <a:r>
              <a:rPr lang="en-AU" sz="2800" dirty="0">
                <a:effectLst/>
              </a:rPr>
              <a:t> a</a:t>
            </a:r>
            <a:r>
              <a:rPr lang="en-AU" sz="2800" dirty="0">
                <a:solidFill>
                  <a:srgbClr val="FF0000"/>
                </a:solidFill>
                <a:effectLst/>
              </a:rPr>
              <a:t>n</a:t>
            </a:r>
            <a:r>
              <a:rPr lang="en-AU" sz="2800" dirty="0">
                <a:effectLst/>
              </a:rPr>
              <a:t>d V</a:t>
            </a:r>
            <a:r>
              <a:rPr lang="en-AU" sz="2800" dirty="0">
                <a:solidFill>
                  <a:srgbClr val="FF0000"/>
                </a:solidFill>
                <a:effectLst/>
              </a:rPr>
              <a:t>e</a:t>
            </a:r>
            <a:r>
              <a:rPr lang="en-AU" sz="2800" dirty="0">
                <a:effectLst/>
              </a:rPr>
              <a:t>getable o</a:t>
            </a:r>
            <a:r>
              <a:rPr lang="en-AU" sz="2800" dirty="0">
                <a:solidFill>
                  <a:srgbClr val="FF0000"/>
                </a:solidFill>
                <a:effectLst/>
              </a:rPr>
              <a:t>i</a:t>
            </a:r>
            <a:r>
              <a:rPr lang="en-AU" sz="2800" dirty="0">
                <a:effectLst/>
              </a:rPr>
              <a:t>ls.”</a:t>
            </a:r>
          </a:p>
          <a:p>
            <a:pPr marL="36900" indent="0">
              <a:buFont typeface="Wingdings 2" charset="2"/>
              <a:buNone/>
            </a:pPr>
            <a:r>
              <a:rPr lang="en-AU" sz="2800" dirty="0">
                <a:effectLst/>
              </a:rPr>
              <a:t>-&gt;</a:t>
            </a:r>
            <a:r>
              <a:rPr lang="en-AU" sz="2800" b="1" dirty="0">
                <a:effectLst/>
              </a:rPr>
              <a:t> </a:t>
            </a:r>
            <a:r>
              <a:rPr lang="en-AU" sz="2800" b="1" dirty="0">
                <a:solidFill>
                  <a:srgbClr val="FF0000"/>
                </a:solidFill>
                <a:effectLst/>
              </a:rPr>
              <a:t>PERSHING SAILS FROM NY R JUNE I</a:t>
            </a:r>
            <a:endParaRPr lang="en-AU" sz="2800" dirty="0">
              <a:solidFill>
                <a:srgbClr val="FF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459497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20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411705" y="63873"/>
            <a:ext cx="9479078" cy="856506"/>
          </a:xfrm>
        </p:spPr>
        <p:txBody>
          <a:bodyPr/>
          <a:lstStyle/>
          <a:p>
            <a:r>
              <a:rPr lang="en-AU" dirty="0"/>
              <a:t>Position with A Key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147C78A-8CF9-4C75-9FE2-109865BE83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6417" y="2234239"/>
            <a:ext cx="6459165" cy="3766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4044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21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411705" y="63873"/>
            <a:ext cx="9479078" cy="856506"/>
          </a:xfrm>
        </p:spPr>
        <p:txBody>
          <a:bodyPr/>
          <a:lstStyle/>
          <a:p>
            <a:r>
              <a:rPr lang="en-AU" dirty="0"/>
              <a:t>Position with A Key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147C78A-8CF9-4C75-9FE2-109865BE83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6417" y="2234239"/>
            <a:ext cx="6459165" cy="376651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5DBFC06-AA80-4AC5-9B3D-70FE5C37A1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0460" y="1274858"/>
            <a:ext cx="4129777" cy="53351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BFCDD7F-77E9-4BB0-BA45-3631162B44F9}"/>
              </a:ext>
            </a:extLst>
          </p:cNvPr>
          <p:cNvSpPr txBox="1"/>
          <p:nvPr/>
        </p:nvSpPr>
        <p:spPr>
          <a:xfrm>
            <a:off x="2866417" y="1285150"/>
            <a:ext cx="11413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/>
              <a:t>Key</a:t>
            </a:r>
            <a:endParaRPr lang="en-AU" sz="2400" b="1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EF1310C-E732-4259-986E-1B08D7AB82E5}"/>
              </a:ext>
            </a:extLst>
          </p:cNvPr>
          <p:cNvCxnSpPr>
            <a:cxnSpLocks/>
            <a:stCxn id="17" idx="3"/>
            <a:endCxn id="16" idx="1"/>
          </p:cNvCxnSpPr>
          <p:nvPr/>
        </p:nvCxnSpPr>
        <p:spPr>
          <a:xfrm flipV="1">
            <a:off x="4007787" y="1541614"/>
            <a:ext cx="522673" cy="5146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13671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22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525940" y="63873"/>
            <a:ext cx="7341960" cy="856506"/>
          </a:xfrm>
        </p:spPr>
        <p:txBody>
          <a:bodyPr/>
          <a:lstStyle/>
          <a:p>
            <a:r>
              <a:rPr lang="en-AU" dirty="0"/>
              <a:t>Position with A Key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5A371BB-3C69-4933-AACD-E6FC4D56C5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0460" y="1274858"/>
            <a:ext cx="4129777" cy="53351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D4587CE-5797-490A-97CB-17503A1B0F04}"/>
              </a:ext>
            </a:extLst>
          </p:cNvPr>
          <p:cNvSpPr txBox="1"/>
          <p:nvPr/>
        </p:nvSpPr>
        <p:spPr>
          <a:xfrm>
            <a:off x="2866417" y="1285150"/>
            <a:ext cx="11413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/>
              <a:t>Key</a:t>
            </a:r>
            <a:endParaRPr lang="en-AU" sz="2400" b="1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2698EFB-607A-4C01-ADF8-E1FA7B335F53}"/>
              </a:ext>
            </a:extLst>
          </p:cNvPr>
          <p:cNvCxnSpPr>
            <a:cxnSpLocks/>
            <a:stCxn id="11" idx="3"/>
            <a:endCxn id="10" idx="1"/>
          </p:cNvCxnSpPr>
          <p:nvPr/>
        </p:nvCxnSpPr>
        <p:spPr>
          <a:xfrm flipV="1">
            <a:off x="4007787" y="1541614"/>
            <a:ext cx="522673" cy="5146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CC856E6-7AA6-4ED3-A7AC-C28C8CFCC358}"/>
              </a:ext>
            </a:extLst>
          </p:cNvPr>
          <p:cNvSpPr txBox="1"/>
          <p:nvPr/>
        </p:nvSpPr>
        <p:spPr>
          <a:xfrm>
            <a:off x="524269" y="3956156"/>
            <a:ext cx="2264498" cy="461665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2400">
                <a:solidFill>
                  <a:srgbClr val="FF0000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AU" dirty="0"/>
              <a:t>10 lines in total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E38394D-3F46-4F00-B745-160357C9BB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6417" y="2234239"/>
            <a:ext cx="6459165" cy="3766510"/>
          </a:xfrm>
          <a:prstGeom prst="rect">
            <a:avLst/>
          </a:prstGeom>
        </p:spPr>
      </p:pic>
      <p:sp>
        <p:nvSpPr>
          <p:cNvPr id="6" name="Left Brace 5">
            <a:extLst>
              <a:ext uri="{FF2B5EF4-FFF2-40B4-BE49-F238E27FC236}">
                <a16:creationId xmlns:a16="http://schemas.microsoft.com/office/drawing/2014/main" id="{624B764D-41B7-46A9-9E96-0BC388D3DE9B}"/>
              </a:ext>
            </a:extLst>
          </p:cNvPr>
          <p:cNvSpPr/>
          <p:nvPr/>
        </p:nvSpPr>
        <p:spPr>
          <a:xfrm>
            <a:off x="2711116" y="2550695"/>
            <a:ext cx="513347" cy="3272589"/>
          </a:xfrm>
          <a:prstGeom prst="lef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AD21B29-4410-4CF4-9D29-2A98E1F87F85}"/>
              </a:ext>
            </a:extLst>
          </p:cNvPr>
          <p:cNvSpPr txBox="1"/>
          <p:nvPr/>
        </p:nvSpPr>
        <p:spPr>
          <a:xfrm>
            <a:off x="9413122" y="1317234"/>
            <a:ext cx="2264498" cy="461665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2400">
                <a:solidFill>
                  <a:srgbClr val="FF0000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AU" dirty="0"/>
              <a:t>10 pairs in total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E558C09-F347-4D11-8C79-6E230A50B3AB}"/>
              </a:ext>
            </a:extLst>
          </p:cNvPr>
          <p:cNvCxnSpPr>
            <a:cxnSpLocks/>
            <a:stCxn id="10" idx="3"/>
            <a:endCxn id="17" idx="1"/>
          </p:cNvCxnSpPr>
          <p:nvPr/>
        </p:nvCxnSpPr>
        <p:spPr>
          <a:xfrm>
            <a:off x="8660237" y="1541614"/>
            <a:ext cx="752885" cy="6453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19479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23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1" name="Title 3">
            <a:extLst>
              <a:ext uri="{FF2B5EF4-FFF2-40B4-BE49-F238E27FC236}">
                <a16:creationId xmlns:a16="http://schemas.microsoft.com/office/drawing/2014/main" id="{0931D4E5-8B78-46A0-B3DD-AE06643DD883}"/>
              </a:ext>
            </a:extLst>
          </p:cNvPr>
          <p:cNvSpPr txBox="1">
            <a:spLocks/>
          </p:cNvSpPr>
          <p:nvPr/>
        </p:nvSpPr>
        <p:spPr>
          <a:xfrm>
            <a:off x="2525940" y="63873"/>
            <a:ext cx="7341960" cy="856506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dirty="0"/>
              <a:t>Position with A Key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7C0A12C-F8ED-4117-B25E-175D8A8AEB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3715" y="2035807"/>
            <a:ext cx="6243644" cy="396494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E5A0DDA-0ABE-4191-B83B-DA8AF8402B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6881" y="1140772"/>
            <a:ext cx="4129777" cy="53351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F8F5198-F201-40EA-B052-ACE9EFA82AD6}"/>
              </a:ext>
            </a:extLst>
          </p:cNvPr>
          <p:cNvSpPr txBox="1"/>
          <p:nvPr/>
        </p:nvSpPr>
        <p:spPr>
          <a:xfrm>
            <a:off x="1502838" y="1151064"/>
            <a:ext cx="11413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/>
              <a:t>Key</a:t>
            </a:r>
            <a:endParaRPr lang="en-AU" sz="2400" b="1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7109C31-C9D7-42BF-BD5E-DFBCA7595261}"/>
              </a:ext>
            </a:extLst>
          </p:cNvPr>
          <p:cNvCxnSpPr>
            <a:cxnSpLocks/>
            <a:stCxn id="15" idx="3"/>
            <a:endCxn id="14" idx="1"/>
          </p:cNvCxnSpPr>
          <p:nvPr/>
        </p:nvCxnSpPr>
        <p:spPr>
          <a:xfrm flipV="1">
            <a:off x="2644208" y="1407528"/>
            <a:ext cx="522673" cy="5146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ontent Placeholder 1">
            <a:extLst>
              <a:ext uri="{FF2B5EF4-FFF2-40B4-BE49-F238E27FC236}">
                <a16:creationId xmlns:a16="http://schemas.microsoft.com/office/drawing/2014/main" id="{E75468D9-9866-4D1B-8940-9DE1FD85A241}"/>
              </a:ext>
            </a:extLst>
          </p:cNvPr>
          <p:cNvSpPr txBox="1">
            <a:spLocks/>
          </p:cNvSpPr>
          <p:nvPr/>
        </p:nvSpPr>
        <p:spPr>
          <a:xfrm>
            <a:off x="7796790" y="3457074"/>
            <a:ext cx="2951421" cy="67658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>
              <a:buFont typeface="Wingdings 2" charset="2"/>
              <a:buNone/>
            </a:pPr>
            <a:r>
              <a:rPr lang="en-AU" sz="2800" dirty="0">
                <a:effectLst/>
              </a:rPr>
              <a:t>-&gt;</a:t>
            </a:r>
            <a:r>
              <a:rPr lang="en-AU" sz="2800" b="1" dirty="0">
                <a:effectLst/>
              </a:rPr>
              <a:t> </a:t>
            </a:r>
            <a:r>
              <a:rPr lang="en-AU" sz="2800" b="1" dirty="0">
                <a:solidFill>
                  <a:srgbClr val="FF0000"/>
                </a:solidFill>
                <a:effectLst/>
              </a:rPr>
              <a:t>meet at dawn</a:t>
            </a:r>
            <a:endParaRPr lang="en-AU" sz="2800" dirty="0">
              <a:solidFill>
                <a:srgbClr val="FF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1232012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86256" y="1390650"/>
            <a:ext cx="10353762" cy="3714749"/>
          </a:xfrm>
        </p:spPr>
        <p:txBody>
          <a:bodyPr>
            <a:normAutofit/>
          </a:bodyPr>
          <a:lstStyle/>
          <a:p>
            <a:pPr lvl="1"/>
            <a:r>
              <a:rPr lang="en-US" sz="2800" dirty="0"/>
              <a:t>Alignment: The alignment of certain letters or words within a text can be used to hide a secret message</a:t>
            </a:r>
          </a:p>
          <a:p>
            <a:pPr lvl="1"/>
            <a:r>
              <a:rPr lang="en-US" sz="2800" dirty="0"/>
              <a:t>Font: The font itself can be used to hide a secret message. </a:t>
            </a:r>
          </a:p>
          <a:p>
            <a:pPr lvl="1"/>
            <a:r>
              <a:rPr lang="en-AU" sz="2800" dirty="0"/>
              <a:t>Position: </a:t>
            </a:r>
            <a:r>
              <a:rPr lang="en-US" sz="2800" dirty="0"/>
              <a:t>The position of letters or words within a text can be used to hide a secret message. </a:t>
            </a:r>
          </a:p>
          <a:p>
            <a:pPr lvl="1"/>
            <a:r>
              <a:rPr lang="en-US" sz="2800" dirty="0">
                <a:solidFill>
                  <a:srgbClr val="FF0000"/>
                </a:solidFill>
              </a:rPr>
              <a:t>White Space</a:t>
            </a:r>
            <a:r>
              <a:rPr lang="en-US" sz="2800" dirty="0"/>
              <a:t>: The blank spaces or unused areas within a text are used to hide a secret message. </a:t>
            </a:r>
          </a:p>
          <a:p>
            <a:pPr marL="450000" lvl="1" indent="0">
              <a:buNone/>
            </a:pPr>
            <a:endParaRPr lang="en-US" sz="28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24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19119" y="205154"/>
            <a:ext cx="10353762" cy="1060938"/>
          </a:xfrm>
        </p:spPr>
        <p:txBody>
          <a:bodyPr/>
          <a:lstStyle/>
          <a:p>
            <a:r>
              <a:rPr lang="en-AU" dirty="0"/>
              <a:t>Steganography</a:t>
            </a:r>
          </a:p>
        </p:txBody>
      </p:sp>
    </p:spTree>
    <p:extLst>
      <p:ext uri="{BB962C8B-B14F-4D97-AF65-F5344CB8AC3E}">
        <p14:creationId xmlns:p14="http://schemas.microsoft.com/office/powerpoint/2010/main" val="9485025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25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309237" y="347116"/>
            <a:ext cx="7573526" cy="926316"/>
          </a:xfrm>
        </p:spPr>
        <p:txBody>
          <a:bodyPr/>
          <a:lstStyle/>
          <a:p>
            <a:r>
              <a:rPr lang="en-AU" dirty="0"/>
              <a:t>White Space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5736" y="1657720"/>
            <a:ext cx="3936437" cy="34163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AU" sz="2400" dirty="0"/>
              <a:t>This sentence.</a:t>
            </a:r>
          </a:p>
          <a:p>
            <a:r>
              <a:rPr lang="en-AU" sz="2400" dirty="0"/>
              <a:t>To be seen or not.</a:t>
            </a:r>
          </a:p>
          <a:p>
            <a:r>
              <a:rPr lang="en-AU" sz="2400" dirty="0"/>
              <a:t>Regardless of the nature.</a:t>
            </a:r>
          </a:p>
          <a:p>
            <a:r>
              <a:rPr lang="en-AU" sz="2400" dirty="0"/>
              <a:t>One cannot decide.</a:t>
            </a:r>
          </a:p>
          <a:p>
            <a:r>
              <a:rPr lang="en-AU" sz="2400" dirty="0"/>
              <a:t>What to do, what not to do.</a:t>
            </a:r>
          </a:p>
          <a:p>
            <a:r>
              <a:rPr lang="en-AU" sz="2400" dirty="0"/>
              <a:t>Hence, it could be argued.</a:t>
            </a:r>
          </a:p>
          <a:p>
            <a:r>
              <a:rPr lang="en-AU" sz="2400" dirty="0"/>
              <a:t>Nevertheless, useless.</a:t>
            </a:r>
          </a:p>
          <a:p>
            <a:r>
              <a:rPr lang="en-AU" sz="2400" dirty="0"/>
              <a:t>Only time will tell.</a:t>
            </a:r>
          </a:p>
          <a:p>
            <a:r>
              <a:rPr lang="en-AU" sz="2400" dirty="0"/>
              <a:t>Again, tomorrow.</a:t>
            </a:r>
          </a:p>
        </p:txBody>
      </p:sp>
    </p:spTree>
    <p:extLst>
      <p:ext uri="{BB962C8B-B14F-4D97-AF65-F5344CB8AC3E}">
        <p14:creationId xmlns:p14="http://schemas.microsoft.com/office/powerpoint/2010/main" val="39485666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26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258490" y="296790"/>
            <a:ext cx="7573526" cy="926316"/>
          </a:xfrm>
        </p:spPr>
        <p:txBody>
          <a:bodyPr/>
          <a:lstStyle/>
          <a:p>
            <a:r>
              <a:rPr lang="en-AU" dirty="0"/>
              <a:t>White Space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5736" y="1657720"/>
            <a:ext cx="3936437" cy="34163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AU" sz="2400" dirty="0"/>
              <a:t>This sentence.</a:t>
            </a:r>
          </a:p>
          <a:p>
            <a:r>
              <a:rPr lang="en-AU" sz="2400" dirty="0"/>
              <a:t>To be seen or not.</a:t>
            </a:r>
          </a:p>
          <a:p>
            <a:r>
              <a:rPr lang="en-AU" sz="2400" dirty="0"/>
              <a:t>Regardless of the nature.</a:t>
            </a:r>
          </a:p>
          <a:p>
            <a:r>
              <a:rPr lang="en-AU" sz="2400" dirty="0"/>
              <a:t>One cannot decide.</a:t>
            </a:r>
          </a:p>
          <a:p>
            <a:r>
              <a:rPr lang="en-AU" sz="2400" dirty="0"/>
              <a:t>What to do, what not to do.</a:t>
            </a:r>
          </a:p>
          <a:p>
            <a:r>
              <a:rPr lang="en-AU" sz="2400" dirty="0"/>
              <a:t>Hence, it could be argued.</a:t>
            </a:r>
          </a:p>
          <a:p>
            <a:r>
              <a:rPr lang="en-AU" sz="2400" dirty="0"/>
              <a:t>Nevertheless, useless.</a:t>
            </a:r>
          </a:p>
          <a:p>
            <a:r>
              <a:rPr lang="en-AU" sz="2400" dirty="0"/>
              <a:t>Only time will tell.</a:t>
            </a:r>
          </a:p>
          <a:p>
            <a:r>
              <a:rPr lang="en-AU" sz="2400" dirty="0"/>
              <a:t>Again, tomorrow.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59203" y="1554737"/>
            <a:ext cx="4224469" cy="364840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773782" y="968632"/>
            <a:ext cx="30861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White spaces</a:t>
            </a:r>
          </a:p>
        </p:txBody>
      </p:sp>
      <p:cxnSp>
        <p:nvCxnSpPr>
          <p:cNvPr id="14" name="Straight Arrow Connector 13"/>
          <p:cNvCxnSpPr>
            <a:cxnSpLocks/>
            <a:stCxn id="12" idx="2"/>
          </p:cNvCxnSpPr>
          <p:nvPr/>
        </p:nvCxnSpPr>
        <p:spPr>
          <a:xfrm flipH="1">
            <a:off x="8773782" y="1430297"/>
            <a:ext cx="1543067" cy="796514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cxnSpLocks/>
            <a:stCxn id="12" idx="2"/>
          </p:cNvCxnSpPr>
          <p:nvPr/>
        </p:nvCxnSpPr>
        <p:spPr>
          <a:xfrm flipH="1">
            <a:off x="8999621" y="1430297"/>
            <a:ext cx="1317228" cy="1473324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cxnSpLocks/>
            <a:stCxn id="12" idx="2"/>
          </p:cNvCxnSpPr>
          <p:nvPr/>
        </p:nvCxnSpPr>
        <p:spPr>
          <a:xfrm flipH="1">
            <a:off x="8773782" y="1430297"/>
            <a:ext cx="1543067" cy="2997324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12" idx="2"/>
          </p:cNvCxnSpPr>
          <p:nvPr/>
        </p:nvCxnSpPr>
        <p:spPr>
          <a:xfrm flipH="1">
            <a:off x="9832016" y="1430297"/>
            <a:ext cx="484833" cy="2236674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cxnSpLocks/>
            <a:stCxn id="12" idx="2"/>
          </p:cNvCxnSpPr>
          <p:nvPr/>
        </p:nvCxnSpPr>
        <p:spPr>
          <a:xfrm flipH="1">
            <a:off x="8325853" y="1430297"/>
            <a:ext cx="1990996" cy="413645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C151CFE-84BC-4C9C-949D-E9A543EDDDDC}"/>
              </a:ext>
            </a:extLst>
          </p:cNvPr>
          <p:cNvCxnSpPr>
            <a:cxnSpLocks/>
            <a:stCxn id="12" idx="2"/>
          </p:cNvCxnSpPr>
          <p:nvPr/>
        </p:nvCxnSpPr>
        <p:spPr>
          <a:xfrm flipH="1">
            <a:off x="8773782" y="1430297"/>
            <a:ext cx="1543067" cy="335025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9324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27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500906" y="305123"/>
            <a:ext cx="7573526" cy="926316"/>
          </a:xfrm>
        </p:spPr>
        <p:txBody>
          <a:bodyPr/>
          <a:lstStyle/>
          <a:p>
            <a:r>
              <a:rPr lang="en-AU" dirty="0"/>
              <a:t>White Space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87752" y="2140842"/>
            <a:ext cx="4224469" cy="364840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402331" y="1554737"/>
            <a:ext cx="30861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White spaces</a:t>
            </a:r>
          </a:p>
        </p:txBody>
      </p:sp>
      <p:cxnSp>
        <p:nvCxnSpPr>
          <p:cNvPr id="14" name="Straight Arrow Connector 13"/>
          <p:cNvCxnSpPr>
            <a:cxnSpLocks/>
            <a:stCxn id="12" idx="2"/>
          </p:cNvCxnSpPr>
          <p:nvPr/>
        </p:nvCxnSpPr>
        <p:spPr>
          <a:xfrm flipH="1">
            <a:off x="3402331" y="2016402"/>
            <a:ext cx="1543067" cy="796514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cxnSpLocks/>
            <a:stCxn id="12" idx="2"/>
          </p:cNvCxnSpPr>
          <p:nvPr/>
        </p:nvCxnSpPr>
        <p:spPr>
          <a:xfrm flipH="1">
            <a:off x="3628170" y="2016402"/>
            <a:ext cx="1317228" cy="1473324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cxnSpLocks/>
            <a:stCxn id="12" idx="2"/>
          </p:cNvCxnSpPr>
          <p:nvPr/>
        </p:nvCxnSpPr>
        <p:spPr>
          <a:xfrm flipH="1">
            <a:off x="3402331" y="2016402"/>
            <a:ext cx="1543067" cy="2997324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12" idx="2"/>
          </p:cNvCxnSpPr>
          <p:nvPr/>
        </p:nvCxnSpPr>
        <p:spPr>
          <a:xfrm flipH="1">
            <a:off x="4460565" y="2016402"/>
            <a:ext cx="484833" cy="2236674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cxnSpLocks/>
            <a:stCxn id="12" idx="2"/>
          </p:cNvCxnSpPr>
          <p:nvPr/>
        </p:nvCxnSpPr>
        <p:spPr>
          <a:xfrm flipH="1">
            <a:off x="2954402" y="2016402"/>
            <a:ext cx="1990996" cy="413645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C151CFE-84BC-4C9C-949D-E9A543EDDDDC}"/>
              </a:ext>
            </a:extLst>
          </p:cNvPr>
          <p:cNvCxnSpPr>
            <a:cxnSpLocks/>
            <a:stCxn id="12" idx="2"/>
          </p:cNvCxnSpPr>
          <p:nvPr/>
        </p:nvCxnSpPr>
        <p:spPr>
          <a:xfrm flipH="1">
            <a:off x="3402331" y="2016402"/>
            <a:ext cx="1543067" cy="335025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1">
            <a:extLst>
              <a:ext uri="{FF2B5EF4-FFF2-40B4-BE49-F238E27FC236}">
                <a16:creationId xmlns:a16="http://schemas.microsoft.com/office/drawing/2014/main" id="{76C1D083-9BB3-4269-ADAE-1337701ACF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3326" y="2140842"/>
            <a:ext cx="6237199" cy="2700758"/>
          </a:xfrm>
        </p:spPr>
        <p:txBody>
          <a:bodyPr>
            <a:normAutofit/>
          </a:bodyPr>
          <a:lstStyle/>
          <a:p>
            <a:r>
              <a:rPr lang="en-AU" sz="2400" dirty="0">
                <a:effectLst/>
              </a:rPr>
              <a:t>Encode </a:t>
            </a:r>
            <a:r>
              <a:rPr lang="en-AU" sz="2400" dirty="0">
                <a:solidFill>
                  <a:srgbClr val="FF0000"/>
                </a:solidFill>
                <a:effectLst/>
              </a:rPr>
              <a:t>1s</a:t>
            </a:r>
            <a:r>
              <a:rPr lang="en-AU" sz="2400" dirty="0">
                <a:effectLst/>
              </a:rPr>
              <a:t> and </a:t>
            </a:r>
            <a:r>
              <a:rPr lang="en-AU" sz="2400" dirty="0">
                <a:solidFill>
                  <a:srgbClr val="FF0000"/>
                </a:solidFill>
                <a:effectLst/>
              </a:rPr>
              <a:t>0s</a:t>
            </a:r>
            <a:r>
              <a:rPr lang="en-AU" sz="2400" dirty="0">
                <a:effectLst/>
              </a:rPr>
              <a:t> by the number of </a:t>
            </a:r>
            <a:r>
              <a:rPr lang="en-AU" sz="2400" dirty="0">
                <a:solidFill>
                  <a:srgbClr val="FF0000"/>
                </a:solidFill>
                <a:effectLst/>
              </a:rPr>
              <a:t>white spaces</a:t>
            </a:r>
            <a:r>
              <a:rPr lang="en-AU" sz="2400" dirty="0">
                <a:effectLst/>
              </a:rPr>
              <a:t> at the end of each line. </a:t>
            </a:r>
          </a:p>
          <a:p>
            <a:pPr lvl="1"/>
            <a:r>
              <a:rPr lang="en-AU" sz="2400" dirty="0">
                <a:effectLst/>
              </a:rPr>
              <a:t>no space denotes 0 </a:t>
            </a:r>
          </a:p>
          <a:p>
            <a:pPr lvl="1"/>
            <a:r>
              <a:rPr lang="en-AU" sz="2400" dirty="0">
                <a:effectLst/>
              </a:rPr>
              <a:t>extra space denotes 1</a:t>
            </a:r>
          </a:p>
        </p:txBody>
      </p:sp>
      <p:sp>
        <p:nvSpPr>
          <p:cNvPr id="16" name="Content Placeholder 1">
            <a:extLst>
              <a:ext uri="{FF2B5EF4-FFF2-40B4-BE49-F238E27FC236}">
                <a16:creationId xmlns:a16="http://schemas.microsoft.com/office/drawing/2014/main" id="{E01E97DC-7A9F-46CE-A6EE-0A3E12B73C07}"/>
              </a:ext>
            </a:extLst>
          </p:cNvPr>
          <p:cNvSpPr txBox="1">
            <a:spLocks/>
          </p:cNvSpPr>
          <p:nvPr/>
        </p:nvSpPr>
        <p:spPr>
          <a:xfrm>
            <a:off x="5393326" y="4744585"/>
            <a:ext cx="5497831" cy="67658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>
              <a:buFont typeface="Wingdings 2" charset="2"/>
              <a:buNone/>
            </a:pPr>
            <a:r>
              <a:rPr lang="en-AU" sz="2800" dirty="0">
                <a:effectLst/>
              </a:rPr>
              <a:t>-&gt;</a:t>
            </a:r>
            <a:r>
              <a:rPr lang="en-AU" sz="2800" b="1" dirty="0">
                <a:effectLst/>
              </a:rPr>
              <a:t> </a:t>
            </a:r>
            <a:r>
              <a:rPr lang="en-AU" sz="2400" dirty="0">
                <a:solidFill>
                  <a:srgbClr val="FF0000"/>
                </a:solidFill>
                <a:effectLst/>
              </a:rPr>
              <a:t>110101011 </a:t>
            </a:r>
          </a:p>
        </p:txBody>
      </p:sp>
    </p:spTree>
    <p:extLst>
      <p:ext uri="{BB962C8B-B14F-4D97-AF65-F5344CB8AC3E}">
        <p14:creationId xmlns:p14="http://schemas.microsoft.com/office/powerpoint/2010/main" val="33339340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1F018A-FD8B-4DBD-91A8-B6A88766ED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151" y="444472"/>
            <a:ext cx="11615439" cy="4809208"/>
          </a:xfrm>
        </p:spPr>
        <p:txBody>
          <a:bodyPr>
            <a:normAutofit/>
          </a:bodyPr>
          <a:lstStyle/>
          <a:p>
            <a:pPr marL="36900" indent="0">
              <a:buNone/>
            </a:pPr>
            <a:endParaRPr lang="en-AU" sz="2800" dirty="0"/>
          </a:p>
          <a:p>
            <a:r>
              <a:rPr lang="en-AU" sz="2800" dirty="0"/>
              <a:t>What are the main differences between position with key and white space?</a:t>
            </a:r>
          </a:p>
          <a:p>
            <a:pPr lvl="2"/>
            <a:endParaRPr lang="en-AU" sz="2600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5392045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1F018A-FD8B-4DBD-91A8-B6A88766ED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151" y="444472"/>
            <a:ext cx="11615439" cy="4809208"/>
          </a:xfrm>
        </p:spPr>
        <p:txBody>
          <a:bodyPr>
            <a:normAutofit/>
          </a:bodyPr>
          <a:lstStyle/>
          <a:p>
            <a:pPr marL="36900" indent="0">
              <a:buNone/>
            </a:pPr>
            <a:endParaRPr lang="en-AU" sz="2800" dirty="0"/>
          </a:p>
          <a:p>
            <a:r>
              <a:rPr lang="en-AU" sz="2800" dirty="0"/>
              <a:t>What are the main differences between position with key and white space?</a:t>
            </a:r>
          </a:p>
          <a:p>
            <a:pPr lvl="1"/>
            <a:r>
              <a:rPr lang="en-AU" sz="2800" dirty="0"/>
              <a:t>For position w/ key, a key specifies the positions of secrets. The secrets are from the original text. The file size does not change.</a:t>
            </a:r>
          </a:p>
          <a:p>
            <a:pPr lvl="1"/>
            <a:r>
              <a:rPr lang="en-AU" sz="2800" dirty="0"/>
              <a:t>For white space, blank spaces or unused areas are used for hiding secrets. The file size does change.</a:t>
            </a:r>
          </a:p>
          <a:p>
            <a:pPr lvl="1"/>
            <a:endParaRPr lang="en-AU" sz="2800" dirty="0"/>
          </a:p>
          <a:p>
            <a:pPr lvl="1"/>
            <a:endParaRPr lang="en-AU" sz="2600" dirty="0"/>
          </a:p>
          <a:p>
            <a:pPr lvl="2"/>
            <a:endParaRPr lang="en-AU" sz="2600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3415649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09600" y="1087471"/>
            <a:ext cx="10972800" cy="3769792"/>
          </a:xfrm>
        </p:spPr>
        <p:txBody>
          <a:bodyPr>
            <a:normAutofit/>
          </a:bodyPr>
          <a:lstStyle/>
          <a:p>
            <a:r>
              <a:rPr lang="en-AU" sz="2800" dirty="0"/>
              <a:t>Demo</a:t>
            </a:r>
          </a:p>
          <a:p>
            <a:pPr lvl="1"/>
            <a:r>
              <a:rPr lang="en-AU" sz="2600" dirty="0"/>
              <a:t>Download:</a:t>
            </a:r>
          </a:p>
          <a:p>
            <a:pPr lvl="2"/>
            <a:r>
              <a:rPr lang="en-AU" sz="2400" dirty="0"/>
              <a:t>Find steg_demo.zip here: https://github.com/uwacyber/cits1003/tree/2022s1/cits1003-labs/files</a:t>
            </a:r>
          </a:p>
          <a:p>
            <a:pPr lvl="1"/>
            <a:r>
              <a:rPr lang="en-AU" sz="2600" dirty="0"/>
              <a:t>Either host OS or VM is fine</a:t>
            </a:r>
          </a:p>
          <a:p>
            <a:pPr lvl="1"/>
            <a:r>
              <a:rPr lang="en-AU" sz="2600" dirty="0"/>
              <a:t>Python 3 installed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30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19119" y="131729"/>
            <a:ext cx="10353762" cy="955742"/>
          </a:xfrm>
        </p:spPr>
        <p:txBody>
          <a:bodyPr/>
          <a:lstStyle/>
          <a:p>
            <a:r>
              <a:rPr lang="en-AU" dirty="0"/>
              <a:t>White Space</a:t>
            </a:r>
          </a:p>
        </p:txBody>
      </p:sp>
    </p:spTree>
    <p:extLst>
      <p:ext uri="{BB962C8B-B14F-4D97-AF65-F5344CB8AC3E}">
        <p14:creationId xmlns:p14="http://schemas.microsoft.com/office/powerpoint/2010/main" val="38558100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74C25-2D5A-48BC-9315-DB95C4804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8174" y="22058"/>
            <a:ext cx="10353762" cy="972553"/>
          </a:xfrm>
        </p:spPr>
        <p:txBody>
          <a:bodyPr/>
          <a:lstStyle/>
          <a:p>
            <a:r>
              <a:rPr lang="en-AU" dirty="0"/>
              <a:t>Text Steganography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1F018A-FD8B-4DBD-91A8-B6A88766ED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9205" y="1279358"/>
            <a:ext cx="10353762" cy="3714749"/>
          </a:xfrm>
        </p:spPr>
        <p:txBody>
          <a:bodyPr/>
          <a:lstStyle/>
          <a:p>
            <a:r>
              <a:rPr lang="en-AU" sz="2800" dirty="0"/>
              <a:t>How difficult/easy is it to detect text steganography?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6797821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74C25-2D5A-48BC-9315-DB95C4804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8174" y="22058"/>
            <a:ext cx="10353762" cy="972553"/>
          </a:xfrm>
        </p:spPr>
        <p:txBody>
          <a:bodyPr/>
          <a:lstStyle/>
          <a:p>
            <a:r>
              <a:rPr lang="en-AU" dirty="0"/>
              <a:t>Text Steganography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1F018A-FD8B-4DBD-91A8-B6A88766ED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9204" y="1571625"/>
            <a:ext cx="10885761" cy="3714749"/>
          </a:xfrm>
        </p:spPr>
        <p:txBody>
          <a:bodyPr/>
          <a:lstStyle/>
          <a:p>
            <a:r>
              <a:rPr lang="en-AU" sz="2800" dirty="0"/>
              <a:t>How difficult/easy is it to detect text steganography?</a:t>
            </a:r>
          </a:p>
          <a:p>
            <a:pPr lvl="1"/>
            <a:r>
              <a:rPr lang="en-AU" sz="2800" dirty="0"/>
              <a:t>If it is easy, we assume the text steganography techniques are already known to us. 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7326201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74C25-2D5A-48BC-9315-DB95C4804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8174" y="22058"/>
            <a:ext cx="10353762" cy="972553"/>
          </a:xfrm>
        </p:spPr>
        <p:txBody>
          <a:bodyPr/>
          <a:lstStyle/>
          <a:p>
            <a:r>
              <a:rPr lang="en-AU" dirty="0"/>
              <a:t>Text Steganography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1F018A-FD8B-4DBD-91A8-B6A88766ED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9204" y="1571625"/>
            <a:ext cx="10885761" cy="3714749"/>
          </a:xfrm>
        </p:spPr>
        <p:txBody>
          <a:bodyPr/>
          <a:lstStyle/>
          <a:p>
            <a:r>
              <a:rPr lang="en-AU" sz="2800" dirty="0"/>
              <a:t>How difficult/easy is it to detect text steganography?</a:t>
            </a:r>
          </a:p>
          <a:p>
            <a:pPr lvl="1"/>
            <a:r>
              <a:rPr lang="en-AU" sz="2800" dirty="0"/>
              <a:t>If it is easy, we assume the text steganography techniques are already known to us. </a:t>
            </a:r>
          </a:p>
          <a:p>
            <a:pPr lvl="1"/>
            <a:r>
              <a:rPr lang="en-AU" sz="2800" dirty="0"/>
              <a:t>If it is difficult, we can assume it is hard to know the techniques in practice.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5439078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1984" y="1452839"/>
            <a:ext cx="5767291" cy="4328583"/>
          </a:xfr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34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055103" y="0"/>
            <a:ext cx="10353762" cy="1257300"/>
          </a:xfrm>
        </p:spPr>
        <p:txBody>
          <a:bodyPr/>
          <a:lstStyle/>
          <a:p>
            <a:r>
              <a:rPr lang="en-AU" dirty="0"/>
              <a:t>Image Steganography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796" y="1452839"/>
            <a:ext cx="5815204" cy="4364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923129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86256" y="1390650"/>
            <a:ext cx="10353762" cy="3714749"/>
          </a:xfrm>
        </p:spPr>
        <p:txBody>
          <a:bodyPr>
            <a:normAutofit/>
          </a:bodyPr>
          <a:lstStyle/>
          <a:p>
            <a:pPr lvl="1"/>
            <a:r>
              <a:rPr lang="en-AU" sz="2800" dirty="0"/>
              <a:t>Image Steganography</a:t>
            </a:r>
          </a:p>
          <a:p>
            <a:pPr lvl="2"/>
            <a:r>
              <a:rPr lang="en-AU" sz="2800" dirty="0"/>
              <a:t>e.g., LSB (Least Significant Bit), PVD (Pixel-Value Differencing)</a:t>
            </a:r>
          </a:p>
          <a:p>
            <a:pPr marL="810000" lvl="2" indent="0">
              <a:buNone/>
            </a:pPr>
            <a:endParaRPr lang="en-AU" sz="2800" dirty="0"/>
          </a:p>
          <a:p>
            <a:pPr lvl="1"/>
            <a:r>
              <a:rPr lang="en-AU" sz="2800" dirty="0"/>
              <a:t>Demo</a:t>
            </a:r>
          </a:p>
          <a:p>
            <a:pPr lvl="2"/>
            <a:r>
              <a:rPr lang="en-AU" sz="2800" dirty="0"/>
              <a:t>LSB</a:t>
            </a:r>
          </a:p>
          <a:p>
            <a:pPr marL="810000" lvl="2" indent="0">
              <a:buNone/>
            </a:pPr>
            <a:endParaRPr lang="en-AU" sz="28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35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19119" y="205154"/>
            <a:ext cx="10353762" cy="1060938"/>
          </a:xfrm>
        </p:spPr>
        <p:txBody>
          <a:bodyPr/>
          <a:lstStyle/>
          <a:p>
            <a:r>
              <a:rPr lang="en-AU" dirty="0"/>
              <a:t>Steganography</a:t>
            </a:r>
          </a:p>
        </p:txBody>
      </p:sp>
    </p:spTree>
    <p:extLst>
      <p:ext uri="{BB962C8B-B14F-4D97-AF65-F5344CB8AC3E}">
        <p14:creationId xmlns:p14="http://schemas.microsoft.com/office/powerpoint/2010/main" val="412809555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86256" y="1390650"/>
            <a:ext cx="10353762" cy="2170697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LSB</a:t>
            </a:r>
            <a:r>
              <a:rPr lang="en-US" sz="2800" dirty="0"/>
              <a:t>: LSB of each pixel is replaced with a bit of the secret message to be hidden. </a:t>
            </a:r>
            <a:endParaRPr lang="en-AU" sz="2800" dirty="0"/>
          </a:p>
          <a:p>
            <a:endParaRPr lang="en-AU" sz="16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36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19119" y="205154"/>
            <a:ext cx="10353762" cy="1060938"/>
          </a:xfrm>
        </p:spPr>
        <p:txBody>
          <a:bodyPr/>
          <a:lstStyle/>
          <a:p>
            <a:r>
              <a:rPr lang="en-AU" dirty="0"/>
              <a:t>Steganography</a:t>
            </a:r>
          </a:p>
        </p:txBody>
      </p:sp>
    </p:spTree>
    <p:extLst>
      <p:ext uri="{BB962C8B-B14F-4D97-AF65-F5344CB8AC3E}">
        <p14:creationId xmlns:p14="http://schemas.microsoft.com/office/powerpoint/2010/main" val="184301453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86256" y="1219200"/>
            <a:ext cx="11477498" cy="4267200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rgbClr val="FF0000"/>
                </a:solidFill>
                <a:effectLst/>
              </a:rPr>
              <a:t>RGB</a:t>
            </a:r>
            <a:r>
              <a:rPr lang="en-US" sz="2800" dirty="0">
                <a:effectLst/>
              </a:rPr>
              <a:t>: stands for Red, Green, and Blue. It is a color model to represent colors in digital images and on computer screens. In this model, each color is represented by 8 bits (0-255). </a:t>
            </a:r>
          </a:p>
          <a:p>
            <a:pPr lvl="1"/>
            <a:r>
              <a:rPr lang="en-US" sz="2600" dirty="0">
                <a:effectLst/>
              </a:rPr>
              <a:t>0000 0000 -&gt; 0</a:t>
            </a:r>
          </a:p>
          <a:p>
            <a:pPr lvl="1"/>
            <a:r>
              <a:rPr lang="en-US" sz="2600" dirty="0">
                <a:effectLst/>
              </a:rPr>
              <a:t>1111 1111 -&gt; 255</a:t>
            </a:r>
          </a:p>
          <a:p>
            <a:r>
              <a:rPr lang="en-US" sz="2800" dirty="0">
                <a:solidFill>
                  <a:srgbClr val="FF0000"/>
                </a:solidFill>
                <a:effectLst/>
              </a:rPr>
              <a:t>Pixel</a:t>
            </a:r>
            <a:r>
              <a:rPr lang="en-US" sz="2800" dirty="0">
                <a:effectLst/>
              </a:rPr>
              <a:t>: is the smallest unit of an RGB image. It has an RGB (3 colors) value and a location in an image. Its 3 colors are determined by its RGB value. </a:t>
            </a:r>
          </a:p>
          <a:p>
            <a:endParaRPr lang="en-AU" sz="16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37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74739" y="-38343"/>
            <a:ext cx="10353762" cy="1060938"/>
          </a:xfrm>
        </p:spPr>
        <p:txBody>
          <a:bodyPr/>
          <a:lstStyle/>
          <a:p>
            <a:r>
              <a:rPr lang="en-AU" dirty="0">
                <a:effectLst/>
              </a:rPr>
              <a:t>LSB</a:t>
            </a:r>
          </a:p>
        </p:txBody>
      </p:sp>
    </p:spTree>
    <p:extLst>
      <p:ext uri="{BB962C8B-B14F-4D97-AF65-F5344CB8AC3E}">
        <p14:creationId xmlns:p14="http://schemas.microsoft.com/office/powerpoint/2010/main" val="271471711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86256" y="1219200"/>
            <a:ext cx="11159340" cy="4555958"/>
          </a:xfrm>
        </p:spPr>
        <p:txBody>
          <a:bodyPr>
            <a:normAutofit/>
          </a:bodyPr>
          <a:lstStyle/>
          <a:p>
            <a:r>
              <a:rPr lang="en-US" sz="2800" dirty="0">
                <a:effectLst/>
              </a:rPr>
              <a:t>RGB: stands for Red, Green, and Blue. It is a color model to represent colors in digital images and on computer screens. In this model, each color is represented by 8 bits. </a:t>
            </a:r>
          </a:p>
          <a:p>
            <a:r>
              <a:rPr lang="en-US" sz="2800" dirty="0">
                <a:effectLst/>
              </a:rPr>
              <a:t>Pixel: is the smallest unit of an image. It has a specific color in an image. Its color is determined by its RGB values. </a:t>
            </a:r>
          </a:p>
          <a:p>
            <a:r>
              <a:rPr lang="en-US" sz="2800" dirty="0">
                <a:solidFill>
                  <a:srgbClr val="FF0000"/>
                </a:solidFill>
              </a:rPr>
              <a:t>LSB</a:t>
            </a:r>
            <a:r>
              <a:rPr lang="en-US" sz="2800" dirty="0"/>
              <a:t>: embeds 3 secret bits per pixel in an RGB image. </a:t>
            </a:r>
            <a:r>
              <a:rPr lang="en-US" sz="2800" dirty="0">
                <a:solidFill>
                  <a:srgbClr val="FF0000"/>
                </a:solidFill>
              </a:rPr>
              <a:t>Why 3 bits?</a:t>
            </a:r>
          </a:p>
          <a:p>
            <a:pPr marL="450000" lvl="1" indent="0">
              <a:buNone/>
            </a:pPr>
            <a:r>
              <a:rPr lang="en-US" sz="2600" dirty="0"/>
              <a:t>  </a:t>
            </a:r>
            <a:endParaRPr lang="en-AU" sz="2600" dirty="0"/>
          </a:p>
          <a:p>
            <a:endParaRPr lang="en-US" sz="2800" dirty="0">
              <a:effectLst/>
            </a:endParaRPr>
          </a:p>
          <a:p>
            <a:endParaRPr lang="en-AU" sz="16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38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74739" y="-38343"/>
            <a:ext cx="10353762" cy="1060938"/>
          </a:xfrm>
        </p:spPr>
        <p:txBody>
          <a:bodyPr/>
          <a:lstStyle/>
          <a:p>
            <a:r>
              <a:rPr lang="en-AU" dirty="0">
                <a:effectLst/>
              </a:rPr>
              <a:t>LSB</a:t>
            </a:r>
          </a:p>
        </p:txBody>
      </p:sp>
    </p:spTree>
    <p:extLst>
      <p:ext uri="{BB962C8B-B14F-4D97-AF65-F5344CB8AC3E}">
        <p14:creationId xmlns:p14="http://schemas.microsoft.com/office/powerpoint/2010/main" val="209467253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53237" y="1151021"/>
            <a:ext cx="11485526" cy="4555958"/>
          </a:xfrm>
        </p:spPr>
        <p:txBody>
          <a:bodyPr>
            <a:normAutofit/>
          </a:bodyPr>
          <a:lstStyle/>
          <a:p>
            <a:r>
              <a:rPr lang="en-US" sz="2800" dirty="0">
                <a:effectLst/>
              </a:rPr>
              <a:t>RGB: stands for Red, Green, and Blue. It is a color model to represent colors in digital images and on computer screens. In this model, each color is represented by 8 bits. </a:t>
            </a:r>
          </a:p>
          <a:p>
            <a:r>
              <a:rPr lang="en-US" sz="2800" dirty="0">
                <a:effectLst/>
              </a:rPr>
              <a:t>Pixel: is the smallest unit of an image. It has a specific color in an image. Its color is determined by its RGB values. </a:t>
            </a:r>
          </a:p>
          <a:p>
            <a:r>
              <a:rPr lang="en-US" sz="2800" dirty="0"/>
              <a:t>LSB: embeds three secret bits per pixel in an RGB image. </a:t>
            </a:r>
            <a:r>
              <a:rPr lang="en-US" sz="2800" dirty="0">
                <a:solidFill>
                  <a:srgbClr val="FF0000"/>
                </a:solidFill>
              </a:rPr>
              <a:t>Why 3 bits?</a:t>
            </a:r>
          </a:p>
          <a:p>
            <a:pPr lvl="1"/>
            <a:r>
              <a:rPr lang="en-US" sz="2800" dirty="0">
                <a:effectLst/>
              </a:rPr>
              <a:t>A pixel has an RGB value of (X, Y, Z). X, Y, and Z are respectively represented by 8 bits and LSB of each 8 bits can be modified. </a:t>
            </a:r>
          </a:p>
          <a:p>
            <a:pPr lvl="1"/>
            <a:endParaRPr lang="en-AU" sz="2600" dirty="0"/>
          </a:p>
          <a:p>
            <a:endParaRPr lang="en-US" sz="2800" dirty="0">
              <a:effectLst/>
            </a:endParaRPr>
          </a:p>
          <a:p>
            <a:endParaRPr lang="en-AU" sz="16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39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74739" y="-38343"/>
            <a:ext cx="10353762" cy="1060938"/>
          </a:xfrm>
        </p:spPr>
        <p:txBody>
          <a:bodyPr/>
          <a:lstStyle/>
          <a:p>
            <a:r>
              <a:rPr lang="en-AU" dirty="0">
                <a:effectLst/>
              </a:rPr>
              <a:t>LSB</a:t>
            </a:r>
          </a:p>
        </p:txBody>
      </p:sp>
    </p:spTree>
    <p:extLst>
      <p:ext uri="{BB962C8B-B14F-4D97-AF65-F5344CB8AC3E}">
        <p14:creationId xmlns:p14="http://schemas.microsoft.com/office/powerpoint/2010/main" val="249694519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913794" y="1268877"/>
            <a:ext cx="10353762" cy="3714749"/>
          </a:xfrm>
        </p:spPr>
        <p:txBody>
          <a:bodyPr>
            <a:normAutofit/>
          </a:bodyPr>
          <a:lstStyle/>
          <a:p>
            <a:r>
              <a:rPr lang="en-AU" sz="2667" dirty="0"/>
              <a:t>Given the following 3 RGB values</a:t>
            </a:r>
          </a:p>
          <a:p>
            <a:endParaRPr lang="en-AU" sz="2667" dirty="0"/>
          </a:p>
          <a:p>
            <a:endParaRPr lang="en-AU" sz="2667" dirty="0"/>
          </a:p>
          <a:p>
            <a:endParaRPr lang="en-AU" sz="2667" dirty="0"/>
          </a:p>
          <a:p>
            <a:r>
              <a:rPr lang="en-AU" sz="2667" dirty="0"/>
              <a:t>A secret bit stream of 101 101 101 needs to be hidden. How many LSBs will be changed at least? </a:t>
            </a:r>
          </a:p>
          <a:p>
            <a:endParaRPr lang="en-AU" sz="2667" dirty="0"/>
          </a:p>
          <a:p>
            <a:endParaRPr lang="en-AU" sz="2667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40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025461" y="154777"/>
            <a:ext cx="10353762" cy="936051"/>
          </a:xfrm>
        </p:spPr>
        <p:txBody>
          <a:bodyPr/>
          <a:lstStyle/>
          <a:p>
            <a:r>
              <a:rPr lang="en-AU" dirty="0"/>
              <a:t>LSB</a:t>
            </a:r>
          </a:p>
        </p:txBody>
      </p:sp>
      <p:sp>
        <p:nvSpPr>
          <p:cNvPr id="5" name="Rectangle 4"/>
          <p:cNvSpPr/>
          <p:nvPr/>
        </p:nvSpPr>
        <p:spPr>
          <a:xfrm>
            <a:off x="3058649" y="2060598"/>
            <a:ext cx="6096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dirty="0">
                <a:latin typeface="Courier New" panose="02070309020205020404" pitchFamily="49" charset="0"/>
              </a:rPr>
              <a:t>10010101 00001101 11001001 10010110 00001111 11001010 10011111 00010000 11001011 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53563502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913794" y="828481"/>
            <a:ext cx="10353762" cy="5172268"/>
          </a:xfrm>
        </p:spPr>
        <p:txBody>
          <a:bodyPr>
            <a:normAutofit lnSpcReduction="10000"/>
          </a:bodyPr>
          <a:lstStyle/>
          <a:p>
            <a:r>
              <a:rPr lang="en-AU" sz="2667" dirty="0"/>
              <a:t>Given the following 3 RGB values</a:t>
            </a:r>
          </a:p>
          <a:p>
            <a:endParaRPr lang="en-AU" sz="2667" dirty="0"/>
          </a:p>
          <a:p>
            <a:pPr marL="36900" indent="0">
              <a:buNone/>
            </a:pPr>
            <a:endParaRPr lang="en-AU" sz="2667" dirty="0"/>
          </a:p>
          <a:p>
            <a:r>
              <a:rPr lang="en-AU" sz="2667" dirty="0"/>
              <a:t>A secret bit stream of 101 101 101 needs to be hidden. How many LSBs will be changed at least? </a:t>
            </a:r>
          </a:p>
          <a:p>
            <a:endParaRPr lang="en-AU" sz="2667" dirty="0"/>
          </a:p>
          <a:p>
            <a:endParaRPr lang="en-AU" sz="2667" dirty="0"/>
          </a:p>
          <a:p>
            <a:endParaRPr lang="en-AU" sz="2667" dirty="0"/>
          </a:p>
          <a:p>
            <a:r>
              <a:rPr lang="en-AU" sz="2800" dirty="0"/>
              <a:t>Can we use MSB for image steganography</a:t>
            </a:r>
            <a:r>
              <a:rPr lang="en-AU" sz="2667" dirty="0"/>
              <a:t>? Why or Why not?</a:t>
            </a:r>
          </a:p>
          <a:p>
            <a:endParaRPr lang="en-AU" sz="2667" dirty="0"/>
          </a:p>
          <a:p>
            <a:endParaRPr lang="en-AU" sz="2667" dirty="0"/>
          </a:p>
          <a:p>
            <a:endParaRPr lang="en-AU" sz="2667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41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025461" y="0"/>
            <a:ext cx="10353762" cy="936051"/>
          </a:xfrm>
        </p:spPr>
        <p:txBody>
          <a:bodyPr/>
          <a:lstStyle/>
          <a:p>
            <a:r>
              <a:rPr lang="en-AU" dirty="0"/>
              <a:t>LSB</a:t>
            </a:r>
          </a:p>
        </p:txBody>
      </p:sp>
      <p:sp>
        <p:nvSpPr>
          <p:cNvPr id="5" name="Rectangle 4"/>
          <p:cNvSpPr/>
          <p:nvPr/>
        </p:nvSpPr>
        <p:spPr>
          <a:xfrm>
            <a:off x="3330805" y="1314722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U" sz="2400" dirty="0">
                <a:latin typeface="Courier New" panose="02070309020205020404" pitchFamily="49" charset="0"/>
              </a:rPr>
              <a:t>10010101 00001101 11001001 10010110 00001111 11001010 10011111 00010000 11001011 </a:t>
            </a:r>
            <a:endParaRPr lang="en-AU" sz="24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D269045-1A53-476E-99CA-F48C838AD451}"/>
              </a:ext>
            </a:extLst>
          </p:cNvPr>
          <p:cNvSpPr/>
          <p:nvPr/>
        </p:nvSpPr>
        <p:spPr>
          <a:xfrm>
            <a:off x="3330805" y="3438579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U" sz="2400" dirty="0">
                <a:latin typeface="Courier New" panose="02070309020205020404" pitchFamily="49" charset="0"/>
              </a:rPr>
              <a:t>10010101 0000110</a:t>
            </a:r>
            <a:r>
              <a:rPr lang="en-AU" sz="2400" dirty="0">
                <a:solidFill>
                  <a:srgbClr val="FF0000"/>
                </a:solidFill>
                <a:latin typeface="Courier New" panose="02070309020205020404" pitchFamily="49" charset="0"/>
              </a:rPr>
              <a:t>0</a:t>
            </a:r>
            <a:r>
              <a:rPr lang="en-AU" sz="2400" dirty="0">
                <a:latin typeface="Courier New" panose="02070309020205020404" pitchFamily="49" charset="0"/>
              </a:rPr>
              <a:t> 11001001 1001011</a:t>
            </a:r>
            <a:r>
              <a:rPr lang="en-AU" sz="2400" dirty="0">
                <a:solidFill>
                  <a:srgbClr val="FF0000"/>
                </a:solidFill>
                <a:latin typeface="Courier New" panose="02070309020205020404" pitchFamily="49" charset="0"/>
              </a:rPr>
              <a:t>1</a:t>
            </a:r>
            <a:r>
              <a:rPr lang="en-AU" sz="2400" dirty="0">
                <a:latin typeface="Courier New" panose="02070309020205020404" pitchFamily="49" charset="0"/>
              </a:rPr>
              <a:t> 0000111</a:t>
            </a:r>
            <a:r>
              <a:rPr lang="en-AU" sz="2400" dirty="0">
                <a:solidFill>
                  <a:srgbClr val="FF0000"/>
                </a:solidFill>
                <a:latin typeface="Courier New" panose="02070309020205020404" pitchFamily="49" charset="0"/>
              </a:rPr>
              <a:t>0</a:t>
            </a:r>
            <a:r>
              <a:rPr lang="en-AU" sz="2400" dirty="0">
                <a:latin typeface="Courier New" panose="02070309020205020404" pitchFamily="49" charset="0"/>
              </a:rPr>
              <a:t> 1100101</a:t>
            </a:r>
            <a:r>
              <a:rPr lang="en-AU" sz="2400" dirty="0">
                <a:solidFill>
                  <a:srgbClr val="FF0000"/>
                </a:solidFill>
                <a:latin typeface="Courier New" panose="02070309020205020404" pitchFamily="49" charset="0"/>
              </a:rPr>
              <a:t>1</a:t>
            </a:r>
            <a:r>
              <a:rPr lang="en-AU" sz="2400" dirty="0">
                <a:latin typeface="Courier New" panose="02070309020205020404" pitchFamily="49" charset="0"/>
              </a:rPr>
              <a:t> 10011111 00010000 11001011 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257739379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282717" y="894472"/>
            <a:ext cx="3364751" cy="719853"/>
          </a:xfrm>
        </p:spPr>
        <p:txBody>
          <a:bodyPr>
            <a:normAutofit/>
          </a:bodyPr>
          <a:lstStyle/>
          <a:p>
            <a:pPr marL="36900" indent="0">
              <a:buNone/>
            </a:pPr>
            <a:endParaRPr lang="en-AU" sz="2400" dirty="0"/>
          </a:p>
          <a:p>
            <a:endParaRPr lang="en-AU" sz="2667" dirty="0"/>
          </a:p>
          <a:p>
            <a:endParaRPr lang="en-AU" sz="2667" dirty="0"/>
          </a:p>
          <a:p>
            <a:endParaRPr lang="en-AU" sz="2667" dirty="0"/>
          </a:p>
          <a:p>
            <a:endParaRPr lang="en-AU" sz="2667" dirty="0"/>
          </a:p>
          <a:p>
            <a:endParaRPr lang="en-AU" sz="2667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42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24444" y="24100"/>
            <a:ext cx="10353762" cy="936051"/>
          </a:xfrm>
        </p:spPr>
        <p:txBody>
          <a:bodyPr/>
          <a:lstStyle/>
          <a:p>
            <a:r>
              <a:rPr lang="en-AU" dirty="0"/>
              <a:t>LSB</a:t>
            </a:r>
          </a:p>
        </p:txBody>
      </p:sp>
      <p:sp>
        <p:nvSpPr>
          <p:cNvPr id="5" name="Rectangle 4"/>
          <p:cNvSpPr/>
          <p:nvPr/>
        </p:nvSpPr>
        <p:spPr>
          <a:xfrm>
            <a:off x="4317954" y="2051503"/>
            <a:ext cx="51822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dirty="0">
                <a:latin typeface="Courier New" panose="02070309020205020404" pitchFamily="49" charset="0"/>
              </a:rPr>
              <a:t>10010101 00001101 01001001</a:t>
            </a:r>
            <a:endParaRPr lang="en-AU" sz="24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6E84787-74B5-4D0F-B315-C714F6152E48}"/>
              </a:ext>
            </a:extLst>
          </p:cNvPr>
          <p:cNvSpPr/>
          <p:nvPr/>
        </p:nvSpPr>
        <p:spPr>
          <a:xfrm>
            <a:off x="1282717" y="3554164"/>
            <a:ext cx="51822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dirty="0">
                <a:latin typeface="Courier New" panose="02070309020205020404" pitchFamily="49" charset="0"/>
              </a:rPr>
              <a:t>10010101 </a:t>
            </a:r>
            <a:r>
              <a:rPr lang="en-AU" sz="2400" dirty="0">
                <a:solidFill>
                  <a:srgbClr val="FF0000"/>
                </a:solidFill>
                <a:latin typeface="Courier New" panose="02070309020205020404" pitchFamily="49" charset="0"/>
              </a:rPr>
              <a:t>1</a:t>
            </a:r>
            <a:r>
              <a:rPr lang="en-AU" sz="2400" dirty="0">
                <a:latin typeface="Courier New" panose="02070309020205020404" pitchFamily="49" charset="0"/>
              </a:rPr>
              <a:t>0001101 01001001</a:t>
            </a:r>
            <a:endParaRPr lang="en-AU" sz="2400" dirty="0"/>
          </a:p>
        </p:txBody>
      </p:sp>
      <p:sp>
        <p:nvSpPr>
          <p:cNvPr id="9" name="Content Placeholder 1">
            <a:extLst>
              <a:ext uri="{FF2B5EF4-FFF2-40B4-BE49-F238E27FC236}">
                <a16:creationId xmlns:a16="http://schemas.microsoft.com/office/drawing/2014/main" id="{6E19FCD7-FF68-4C22-A93B-240A270B5B7B}"/>
              </a:ext>
            </a:extLst>
          </p:cNvPr>
          <p:cNvSpPr txBox="1">
            <a:spLocks/>
          </p:cNvSpPr>
          <p:nvPr/>
        </p:nvSpPr>
        <p:spPr>
          <a:xfrm>
            <a:off x="1991197" y="1767245"/>
            <a:ext cx="2326757" cy="1044813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 algn="ctr">
              <a:buNone/>
            </a:pPr>
            <a:r>
              <a:rPr lang="en-AU" sz="2600" dirty="0"/>
              <a:t> One RGB value </a:t>
            </a:r>
          </a:p>
          <a:p>
            <a:pPr marL="36900" indent="0" algn="ctr">
              <a:buNone/>
            </a:pPr>
            <a:r>
              <a:rPr lang="en-AU" sz="2600" dirty="0"/>
              <a:t>(149, 13, 73)</a:t>
            </a:r>
            <a:endParaRPr lang="en-AU" sz="2667" dirty="0"/>
          </a:p>
          <a:p>
            <a:endParaRPr lang="en-AU" sz="2667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62BAEF4-3649-40FB-9454-D48D7EBE3C67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 flipH="1">
            <a:off x="3873843" y="2513168"/>
            <a:ext cx="3035237" cy="1040996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1">
            <a:extLst>
              <a:ext uri="{FF2B5EF4-FFF2-40B4-BE49-F238E27FC236}">
                <a16:creationId xmlns:a16="http://schemas.microsoft.com/office/drawing/2014/main" id="{38CEB691-A15D-4B14-9A8F-450ACFA58842}"/>
              </a:ext>
            </a:extLst>
          </p:cNvPr>
          <p:cNvSpPr txBox="1">
            <a:spLocks/>
          </p:cNvSpPr>
          <p:nvPr/>
        </p:nvSpPr>
        <p:spPr>
          <a:xfrm>
            <a:off x="4125274" y="2783206"/>
            <a:ext cx="1044388" cy="719853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>
              <a:buFont typeface="Wingdings 2" charset="2"/>
              <a:buNone/>
            </a:pPr>
            <a:r>
              <a:rPr lang="en-AU" sz="2400" dirty="0"/>
              <a:t>MSB</a:t>
            </a:r>
          </a:p>
          <a:p>
            <a:endParaRPr lang="en-AU" sz="2667" dirty="0"/>
          </a:p>
          <a:p>
            <a:endParaRPr lang="en-AU" sz="2667" dirty="0"/>
          </a:p>
          <a:p>
            <a:endParaRPr lang="en-AU" sz="2667" dirty="0"/>
          </a:p>
          <a:p>
            <a:endParaRPr lang="en-AU" sz="2667" dirty="0"/>
          </a:p>
          <a:p>
            <a:endParaRPr lang="en-AU" sz="2667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0D7F1D8-536C-4BF8-8FE8-695718992055}"/>
              </a:ext>
            </a:extLst>
          </p:cNvPr>
          <p:cNvSpPr/>
          <p:nvPr/>
        </p:nvSpPr>
        <p:spPr>
          <a:xfrm>
            <a:off x="6720990" y="3568816"/>
            <a:ext cx="51822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dirty="0">
                <a:latin typeface="Courier New" panose="02070309020205020404" pitchFamily="49" charset="0"/>
              </a:rPr>
              <a:t>10010101 00001101 0100100</a:t>
            </a:r>
            <a:r>
              <a:rPr lang="en-AU" sz="2400" dirty="0">
                <a:solidFill>
                  <a:srgbClr val="FF0000"/>
                </a:solidFill>
                <a:latin typeface="Courier New" panose="02070309020205020404" pitchFamily="49" charset="0"/>
              </a:rPr>
              <a:t>0</a:t>
            </a:r>
            <a:endParaRPr lang="en-AU" sz="2400" dirty="0">
              <a:solidFill>
                <a:srgbClr val="FF0000"/>
              </a:solidFill>
            </a:endParaRPr>
          </a:p>
        </p:txBody>
      </p:sp>
      <p:sp>
        <p:nvSpPr>
          <p:cNvPr id="18" name="Content Placeholder 1">
            <a:extLst>
              <a:ext uri="{FF2B5EF4-FFF2-40B4-BE49-F238E27FC236}">
                <a16:creationId xmlns:a16="http://schemas.microsoft.com/office/drawing/2014/main" id="{B908B05D-639B-4C28-BC59-880615D21E02}"/>
              </a:ext>
            </a:extLst>
          </p:cNvPr>
          <p:cNvSpPr txBox="1">
            <a:spLocks/>
          </p:cNvSpPr>
          <p:nvPr/>
        </p:nvSpPr>
        <p:spPr>
          <a:xfrm>
            <a:off x="1282717" y="906163"/>
            <a:ext cx="10353762" cy="57147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AU" sz="2400" dirty="0"/>
              <a:t>110 needs to be hidden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E933314-6E4A-4060-B503-0D569F0752E1}"/>
              </a:ext>
            </a:extLst>
          </p:cNvPr>
          <p:cNvCxnSpPr>
            <a:cxnSpLocks/>
            <a:stCxn id="5" idx="2"/>
            <a:endCxn id="17" idx="0"/>
          </p:cNvCxnSpPr>
          <p:nvPr/>
        </p:nvCxnSpPr>
        <p:spPr>
          <a:xfrm>
            <a:off x="6909080" y="2513168"/>
            <a:ext cx="2403036" cy="1055648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ontent Placeholder 1">
            <a:extLst>
              <a:ext uri="{FF2B5EF4-FFF2-40B4-BE49-F238E27FC236}">
                <a16:creationId xmlns:a16="http://schemas.microsoft.com/office/drawing/2014/main" id="{0B62CB39-33A9-4241-8A7C-5FB5EBE988EF}"/>
              </a:ext>
            </a:extLst>
          </p:cNvPr>
          <p:cNvSpPr txBox="1">
            <a:spLocks/>
          </p:cNvSpPr>
          <p:nvPr/>
        </p:nvSpPr>
        <p:spPr>
          <a:xfrm>
            <a:off x="8271832" y="2673640"/>
            <a:ext cx="1044388" cy="719853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>
              <a:buFont typeface="Wingdings 2" charset="2"/>
              <a:buNone/>
            </a:pPr>
            <a:r>
              <a:rPr lang="en-AU" sz="2400" dirty="0"/>
              <a:t>LSB</a:t>
            </a:r>
          </a:p>
          <a:p>
            <a:endParaRPr lang="en-AU" sz="2667" dirty="0"/>
          </a:p>
          <a:p>
            <a:endParaRPr lang="en-AU" sz="2667" dirty="0"/>
          </a:p>
          <a:p>
            <a:endParaRPr lang="en-AU" sz="2667" dirty="0"/>
          </a:p>
          <a:p>
            <a:endParaRPr lang="en-AU" sz="2667" dirty="0"/>
          </a:p>
          <a:p>
            <a:endParaRPr lang="en-AU" sz="2667" dirty="0"/>
          </a:p>
        </p:txBody>
      </p:sp>
      <p:sp>
        <p:nvSpPr>
          <p:cNvPr id="26" name="Content Placeholder 1">
            <a:extLst>
              <a:ext uri="{FF2B5EF4-FFF2-40B4-BE49-F238E27FC236}">
                <a16:creationId xmlns:a16="http://schemas.microsoft.com/office/drawing/2014/main" id="{F2D9A04B-9329-4357-93D5-D0E398793D8B}"/>
              </a:ext>
            </a:extLst>
          </p:cNvPr>
          <p:cNvSpPr txBox="1">
            <a:spLocks/>
          </p:cNvSpPr>
          <p:nvPr/>
        </p:nvSpPr>
        <p:spPr>
          <a:xfrm>
            <a:off x="2323164" y="4362579"/>
            <a:ext cx="2553636" cy="1044813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 fontScale="85000" lnSpcReduction="10000"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 algn="ctr">
              <a:buNone/>
            </a:pPr>
            <a:r>
              <a:rPr lang="en-AU" sz="2600" dirty="0"/>
              <a:t>(149, </a:t>
            </a:r>
            <a:r>
              <a:rPr lang="en-AU" sz="2600" dirty="0">
                <a:solidFill>
                  <a:srgbClr val="FF0000"/>
                </a:solidFill>
              </a:rPr>
              <a:t>141</a:t>
            </a:r>
            <a:r>
              <a:rPr lang="en-AU" sz="2600" dirty="0"/>
              <a:t>, 73)</a:t>
            </a:r>
          </a:p>
          <a:p>
            <a:pPr marL="36900" indent="0" algn="ctr">
              <a:buNone/>
            </a:pPr>
            <a:r>
              <a:rPr lang="en-AU" sz="2600" dirty="0"/>
              <a:t>Changed RGB value </a:t>
            </a:r>
            <a:endParaRPr lang="en-AU" sz="2667" dirty="0"/>
          </a:p>
          <a:p>
            <a:endParaRPr lang="en-AU" sz="2667" dirty="0"/>
          </a:p>
        </p:txBody>
      </p:sp>
      <p:sp>
        <p:nvSpPr>
          <p:cNvPr id="27" name="Content Placeholder 1">
            <a:extLst>
              <a:ext uri="{FF2B5EF4-FFF2-40B4-BE49-F238E27FC236}">
                <a16:creationId xmlns:a16="http://schemas.microsoft.com/office/drawing/2014/main" id="{CFB71745-33E9-4238-96DE-007009CDEB9B}"/>
              </a:ext>
            </a:extLst>
          </p:cNvPr>
          <p:cNvSpPr txBox="1">
            <a:spLocks/>
          </p:cNvSpPr>
          <p:nvPr/>
        </p:nvSpPr>
        <p:spPr>
          <a:xfrm>
            <a:off x="7883720" y="4362578"/>
            <a:ext cx="2553635" cy="1297412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 fontScale="85000" lnSpcReduction="10000"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 algn="ctr">
              <a:buNone/>
            </a:pPr>
            <a:r>
              <a:rPr lang="en-AU" sz="2600" dirty="0"/>
              <a:t>(149, 13, </a:t>
            </a:r>
            <a:r>
              <a:rPr lang="en-AU" sz="2600" dirty="0">
                <a:solidFill>
                  <a:srgbClr val="FF0000"/>
                </a:solidFill>
              </a:rPr>
              <a:t>72</a:t>
            </a:r>
            <a:r>
              <a:rPr lang="en-AU" sz="2600" dirty="0"/>
              <a:t>)</a:t>
            </a:r>
          </a:p>
          <a:p>
            <a:pPr marL="36900" indent="0" algn="ctr">
              <a:buNone/>
            </a:pPr>
            <a:r>
              <a:rPr lang="en-AU" sz="2600" dirty="0"/>
              <a:t>Changed RGB value </a:t>
            </a:r>
          </a:p>
          <a:p>
            <a:endParaRPr lang="en-AU" sz="2400" dirty="0"/>
          </a:p>
          <a:p>
            <a:endParaRPr lang="en-AU" sz="2667" dirty="0"/>
          </a:p>
          <a:p>
            <a:endParaRPr lang="en-AU" sz="2667" dirty="0"/>
          </a:p>
          <a:p>
            <a:endParaRPr lang="en-AU" sz="2667" dirty="0"/>
          </a:p>
        </p:txBody>
      </p:sp>
    </p:spTree>
    <p:extLst>
      <p:ext uri="{BB962C8B-B14F-4D97-AF65-F5344CB8AC3E}">
        <p14:creationId xmlns:p14="http://schemas.microsoft.com/office/powerpoint/2010/main" val="118702846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3C1074D-F94D-45F8-9281-D638DA1ACA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5373" y="1110588"/>
            <a:ext cx="1464557" cy="1373022"/>
          </a:xfrm>
          <a:prstGeom prst="rect">
            <a:avLst/>
          </a:prstGeom>
        </p:spPr>
      </p:pic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FF6BC657-9AA2-4A96-AC1C-CF74B9650F94}"/>
              </a:ext>
            </a:extLst>
          </p:cNvPr>
          <p:cNvSpPr txBox="1">
            <a:spLocks/>
          </p:cNvSpPr>
          <p:nvPr/>
        </p:nvSpPr>
        <p:spPr>
          <a:xfrm>
            <a:off x="2527910" y="1438797"/>
            <a:ext cx="2326757" cy="1044813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 algn="ctr">
              <a:buNone/>
            </a:pPr>
            <a:r>
              <a:rPr lang="en-AU" sz="2600" dirty="0"/>
              <a:t> One RGB value </a:t>
            </a:r>
          </a:p>
          <a:p>
            <a:pPr marL="36900" indent="0" algn="ctr">
              <a:buNone/>
            </a:pPr>
            <a:r>
              <a:rPr lang="en-AU" sz="2600" dirty="0"/>
              <a:t>(149, 13, 73)</a:t>
            </a:r>
            <a:endParaRPr lang="en-AU" sz="2667" dirty="0"/>
          </a:p>
          <a:p>
            <a:endParaRPr lang="en-AU" sz="2667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9CE4EA1-A01F-4398-849C-CB365CD542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0110" y="3523774"/>
            <a:ext cx="1464557" cy="1373022"/>
          </a:xfrm>
          <a:prstGeom prst="rect">
            <a:avLst/>
          </a:prstGeom>
        </p:spPr>
      </p:pic>
      <p:sp>
        <p:nvSpPr>
          <p:cNvPr id="9" name="Content Placeholder 1">
            <a:extLst>
              <a:ext uri="{FF2B5EF4-FFF2-40B4-BE49-F238E27FC236}">
                <a16:creationId xmlns:a16="http://schemas.microsoft.com/office/drawing/2014/main" id="{9B8EA8AF-C863-4954-90A7-34E27B99C98D}"/>
              </a:ext>
            </a:extLst>
          </p:cNvPr>
          <p:cNvSpPr txBox="1">
            <a:spLocks/>
          </p:cNvSpPr>
          <p:nvPr/>
        </p:nvSpPr>
        <p:spPr>
          <a:xfrm>
            <a:off x="2845570" y="5098706"/>
            <a:ext cx="2553636" cy="1044813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 fontScale="85000" lnSpcReduction="10000"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 algn="ctr">
              <a:buNone/>
            </a:pPr>
            <a:r>
              <a:rPr lang="en-AU" sz="2600" dirty="0"/>
              <a:t>Changed RGB value </a:t>
            </a:r>
          </a:p>
          <a:p>
            <a:pPr marL="36900" indent="0" algn="ctr">
              <a:buNone/>
            </a:pPr>
            <a:r>
              <a:rPr lang="en-AU" sz="2600" dirty="0"/>
              <a:t>(149, </a:t>
            </a:r>
            <a:r>
              <a:rPr lang="en-AU" sz="2600" dirty="0">
                <a:solidFill>
                  <a:srgbClr val="FF0000"/>
                </a:solidFill>
              </a:rPr>
              <a:t>141</a:t>
            </a:r>
            <a:r>
              <a:rPr lang="en-AU" sz="2600" dirty="0"/>
              <a:t>, 73)</a:t>
            </a:r>
          </a:p>
          <a:p>
            <a:endParaRPr lang="en-AU" sz="2667" dirty="0"/>
          </a:p>
        </p:txBody>
      </p:sp>
      <p:sp>
        <p:nvSpPr>
          <p:cNvPr id="10" name="Content Placeholder 1">
            <a:extLst>
              <a:ext uri="{FF2B5EF4-FFF2-40B4-BE49-F238E27FC236}">
                <a16:creationId xmlns:a16="http://schemas.microsoft.com/office/drawing/2014/main" id="{E0B01413-6533-4398-9F63-3FB6CFE24164}"/>
              </a:ext>
            </a:extLst>
          </p:cNvPr>
          <p:cNvSpPr txBox="1">
            <a:spLocks/>
          </p:cNvSpPr>
          <p:nvPr/>
        </p:nvSpPr>
        <p:spPr>
          <a:xfrm>
            <a:off x="6442813" y="5098706"/>
            <a:ext cx="2553635" cy="1297412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 fontScale="85000" lnSpcReduction="10000"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9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7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5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 algn="ctr">
              <a:buNone/>
            </a:pPr>
            <a:r>
              <a:rPr lang="en-AU" sz="2600" dirty="0"/>
              <a:t>Changed RGB value </a:t>
            </a:r>
          </a:p>
          <a:p>
            <a:pPr marL="36900" indent="0" algn="ctr">
              <a:buNone/>
            </a:pPr>
            <a:r>
              <a:rPr lang="en-AU" sz="2600" dirty="0"/>
              <a:t>(149, 13, </a:t>
            </a:r>
            <a:r>
              <a:rPr lang="en-AU" sz="2600" dirty="0">
                <a:solidFill>
                  <a:srgbClr val="FF0000"/>
                </a:solidFill>
              </a:rPr>
              <a:t>72</a:t>
            </a:r>
            <a:r>
              <a:rPr lang="en-AU" sz="2600" dirty="0"/>
              <a:t>)</a:t>
            </a:r>
            <a:endParaRPr lang="en-AU" sz="2667" dirty="0"/>
          </a:p>
          <a:p>
            <a:endParaRPr lang="en-AU" sz="2667" dirty="0"/>
          </a:p>
          <a:p>
            <a:endParaRPr lang="en-AU" sz="2667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C645EA0-3431-42A3-9BC1-449B9E7A01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7351" y="3523774"/>
            <a:ext cx="1464557" cy="1373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15735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09600" y="1544104"/>
            <a:ext cx="10972800" cy="3769792"/>
          </a:xfrm>
        </p:spPr>
        <p:txBody>
          <a:bodyPr>
            <a:normAutofit/>
          </a:bodyPr>
          <a:lstStyle/>
          <a:p>
            <a:r>
              <a:rPr lang="en-AU" sz="2800" dirty="0"/>
              <a:t>Demo</a:t>
            </a:r>
          </a:p>
          <a:p>
            <a:pPr lvl="1"/>
            <a:r>
              <a:rPr lang="en-AU" sz="2600" dirty="0"/>
              <a:t>Either host OS or VM is fine</a:t>
            </a:r>
          </a:p>
          <a:p>
            <a:pPr lvl="1"/>
            <a:r>
              <a:rPr lang="en-AU" sz="2600" dirty="0"/>
              <a:t>Python 3 and </a:t>
            </a:r>
            <a:r>
              <a:rPr lang="en-US" sz="2600" dirty="0"/>
              <a:t>Python Pillow library </a:t>
            </a:r>
            <a:r>
              <a:rPr lang="en-AU" sz="2600" dirty="0"/>
              <a:t>installed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44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F8FB6D77-CE21-429D-831F-34E2F98C5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244936"/>
            <a:ext cx="10353762" cy="955742"/>
          </a:xfrm>
        </p:spPr>
        <p:txBody>
          <a:bodyPr/>
          <a:lstStyle/>
          <a:p>
            <a:r>
              <a:rPr lang="en-AU" dirty="0"/>
              <a:t>LSB</a:t>
            </a:r>
          </a:p>
        </p:txBody>
      </p:sp>
    </p:spTree>
    <p:extLst>
      <p:ext uri="{BB962C8B-B14F-4D97-AF65-F5344CB8AC3E}">
        <p14:creationId xmlns:p14="http://schemas.microsoft.com/office/powerpoint/2010/main" val="242694767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86255" y="1390650"/>
            <a:ext cx="8975459" cy="2724150"/>
          </a:xfrm>
        </p:spPr>
        <p:txBody>
          <a:bodyPr>
            <a:normAutofit lnSpcReduction="10000"/>
          </a:bodyPr>
          <a:lstStyle/>
          <a:p>
            <a:r>
              <a:rPr lang="en-US" sz="2800" dirty="0"/>
              <a:t>LSB: LSB of each pixel is replaced with a bit of the secret message to be hidden. </a:t>
            </a:r>
          </a:p>
          <a:p>
            <a:endParaRPr lang="en-US" sz="2800" dirty="0"/>
          </a:p>
          <a:p>
            <a:r>
              <a:rPr lang="en-US" sz="2800" dirty="0">
                <a:solidFill>
                  <a:srgbClr val="FF0000"/>
                </a:solidFill>
              </a:rPr>
              <a:t>PVD</a:t>
            </a:r>
            <a:r>
              <a:rPr lang="en-AU" sz="2800" dirty="0"/>
              <a:t>:</a:t>
            </a:r>
            <a:r>
              <a:rPr lang="zh-CN" altLang="en-US" sz="2800" dirty="0"/>
              <a:t> </a:t>
            </a:r>
            <a:r>
              <a:rPr lang="en-AU" altLang="zh-CN" sz="2800" dirty="0"/>
              <a:t>modifies </a:t>
            </a:r>
            <a:r>
              <a:rPr lang="en-US" altLang="zh-CN" sz="2800" dirty="0"/>
              <a:t>a pair</a:t>
            </a:r>
            <a:r>
              <a:rPr lang="en-US" sz="2800" dirty="0"/>
              <a:t> of two adjacent pixels' values at one time to hide secret bits.</a:t>
            </a:r>
            <a:endParaRPr lang="en-AU" sz="2800" dirty="0"/>
          </a:p>
          <a:p>
            <a:endParaRPr lang="en-AU" sz="16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45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19119" y="205154"/>
            <a:ext cx="10353762" cy="1060938"/>
          </a:xfrm>
        </p:spPr>
        <p:txBody>
          <a:bodyPr/>
          <a:lstStyle/>
          <a:p>
            <a:r>
              <a:rPr lang="en-AU" dirty="0"/>
              <a:t>Steganography</a:t>
            </a:r>
          </a:p>
        </p:txBody>
      </p:sp>
    </p:spTree>
    <p:extLst>
      <p:ext uri="{BB962C8B-B14F-4D97-AF65-F5344CB8AC3E}">
        <p14:creationId xmlns:p14="http://schemas.microsoft.com/office/powerpoint/2010/main" val="230944031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53237" y="830179"/>
            <a:ext cx="11485526" cy="4257636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rgbClr val="FF0000"/>
                </a:solidFill>
                <a:effectLst/>
              </a:rPr>
              <a:t>Greyscale Image</a:t>
            </a:r>
            <a:r>
              <a:rPr lang="en-US" sz="2800" dirty="0">
                <a:effectLst/>
              </a:rPr>
              <a:t>: made up of pixels, where each pixel stores intensity, ranging from black to white. The intensity value is represented using 8 bits (0 to 255) or 16 bits (0 to 65,535).</a:t>
            </a:r>
          </a:p>
          <a:p>
            <a:pPr lvl="1"/>
            <a:r>
              <a:rPr lang="en-AU" sz="2400" dirty="0"/>
              <a:t>0000 0000 0000 0000</a:t>
            </a:r>
          </a:p>
          <a:p>
            <a:pPr lvl="1"/>
            <a:r>
              <a:rPr lang="en-AU" sz="2400" dirty="0"/>
              <a:t>1111 1111 1111 1111</a:t>
            </a:r>
          </a:p>
          <a:p>
            <a:endParaRPr lang="en-US" sz="2800" dirty="0">
              <a:effectLst/>
            </a:endParaRPr>
          </a:p>
          <a:p>
            <a:endParaRPr lang="en-AU" sz="16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46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74739" y="-38343"/>
            <a:ext cx="10353762" cy="868522"/>
          </a:xfrm>
        </p:spPr>
        <p:txBody>
          <a:bodyPr/>
          <a:lstStyle/>
          <a:p>
            <a:r>
              <a:rPr lang="en-AU" dirty="0">
                <a:effectLst/>
              </a:rPr>
              <a:t>PVD</a:t>
            </a:r>
          </a:p>
        </p:txBody>
      </p:sp>
    </p:spTree>
    <p:extLst>
      <p:ext uri="{BB962C8B-B14F-4D97-AF65-F5344CB8AC3E}">
        <p14:creationId xmlns:p14="http://schemas.microsoft.com/office/powerpoint/2010/main" val="283271513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47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88865" y="142841"/>
            <a:ext cx="10353762" cy="868522"/>
          </a:xfrm>
        </p:spPr>
        <p:txBody>
          <a:bodyPr/>
          <a:lstStyle/>
          <a:p>
            <a:r>
              <a:rPr lang="en-AU" dirty="0">
                <a:effectLst/>
              </a:rPr>
              <a:t>PVD</a:t>
            </a:r>
          </a:p>
        </p:txBody>
      </p:sp>
      <p:graphicFrame>
        <p:nvGraphicFramePr>
          <p:cNvPr id="10" name="Table 7">
            <a:extLst>
              <a:ext uri="{FF2B5EF4-FFF2-40B4-BE49-F238E27FC236}">
                <a16:creationId xmlns:a16="http://schemas.microsoft.com/office/drawing/2014/main" id="{86750A8F-96A1-4B28-A503-FBA5CD3470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592112"/>
              </p:ext>
            </p:extLst>
          </p:nvPr>
        </p:nvGraphicFramePr>
        <p:xfrm>
          <a:off x="936171" y="1847791"/>
          <a:ext cx="9753600" cy="671324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478972">
                  <a:extLst>
                    <a:ext uri="{9D8B030D-6E8A-4147-A177-3AD203B41FA5}">
                      <a16:colId xmlns:a16="http://schemas.microsoft.com/office/drawing/2014/main" val="3133869188"/>
                    </a:ext>
                  </a:extLst>
                </a:gridCol>
                <a:gridCol w="544286">
                  <a:extLst>
                    <a:ext uri="{9D8B030D-6E8A-4147-A177-3AD203B41FA5}">
                      <a16:colId xmlns:a16="http://schemas.microsoft.com/office/drawing/2014/main" val="3263741895"/>
                    </a:ext>
                  </a:extLst>
                </a:gridCol>
                <a:gridCol w="957942">
                  <a:extLst>
                    <a:ext uri="{9D8B030D-6E8A-4147-A177-3AD203B41FA5}">
                      <a16:colId xmlns:a16="http://schemas.microsoft.com/office/drawing/2014/main" val="3123715097"/>
                    </a:ext>
                  </a:extLst>
                </a:gridCol>
                <a:gridCol w="1480458">
                  <a:extLst>
                    <a:ext uri="{9D8B030D-6E8A-4147-A177-3AD203B41FA5}">
                      <a16:colId xmlns:a16="http://schemas.microsoft.com/office/drawing/2014/main" val="2598819947"/>
                    </a:ext>
                  </a:extLst>
                </a:gridCol>
                <a:gridCol w="2569028">
                  <a:extLst>
                    <a:ext uri="{9D8B030D-6E8A-4147-A177-3AD203B41FA5}">
                      <a16:colId xmlns:a16="http://schemas.microsoft.com/office/drawing/2014/main" val="2781054927"/>
                    </a:ext>
                  </a:extLst>
                </a:gridCol>
                <a:gridCol w="3722914">
                  <a:extLst>
                    <a:ext uri="{9D8B030D-6E8A-4147-A177-3AD203B41FA5}">
                      <a16:colId xmlns:a16="http://schemas.microsoft.com/office/drawing/2014/main" val="1075959579"/>
                    </a:ext>
                  </a:extLst>
                </a:gridCol>
              </a:tblGrid>
              <a:tr h="671324">
                <a:tc>
                  <a:txBody>
                    <a:bodyPr/>
                    <a:lstStyle/>
                    <a:p>
                      <a:pPr algn="ctr"/>
                      <a:r>
                        <a:rPr lang="en-AU" sz="2800" dirty="0"/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dirty="0"/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dirty="0"/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dirty="0"/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dirty="0" err="1"/>
                        <a:t>i</a:t>
                      </a:r>
                      <a:endParaRPr lang="en-AU" sz="2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dirty="0"/>
                        <a:t>n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8510103"/>
                  </a:ext>
                </a:extLst>
              </a:tr>
            </a:tbl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047F91A6-796A-4659-AA37-D00E861A97F9}"/>
              </a:ext>
            </a:extLst>
          </p:cNvPr>
          <p:cNvSpPr/>
          <p:nvPr/>
        </p:nvSpPr>
        <p:spPr>
          <a:xfrm>
            <a:off x="505374" y="1199158"/>
            <a:ext cx="966982" cy="5747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3200" dirty="0"/>
              <a:t>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7F4AA10-1B0E-41D1-91CA-C0F31711E870}"/>
              </a:ext>
            </a:extLst>
          </p:cNvPr>
          <p:cNvSpPr/>
          <p:nvPr/>
        </p:nvSpPr>
        <p:spPr>
          <a:xfrm>
            <a:off x="9819754" y="1196528"/>
            <a:ext cx="1237036" cy="5747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3200" dirty="0">
                <a:latin typeface="Cambria Math" panose="02040503050406030204" pitchFamily="18" charset="0"/>
                <a:ea typeface="Cambria Math" panose="02040503050406030204" pitchFamily="18" charset="0"/>
              </a:rPr>
              <a:t>255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14C1B483-CD00-4589-BC32-30D1258F6BDC}"/>
                  </a:ext>
                </a:extLst>
              </p:cNvPr>
              <p:cNvSpPr/>
              <p:nvPr/>
            </p:nvSpPr>
            <p:spPr>
              <a:xfrm>
                <a:off x="5036362" y="2440692"/>
                <a:ext cx="1301256" cy="66616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3200" i="1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32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AU" sz="32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AU" sz="3200" baseline="-25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14C1B483-CD00-4589-BC32-30D1258F6BD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6362" y="2440692"/>
                <a:ext cx="1301256" cy="6661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C1F18B2F-29C6-404D-A478-E9D33DE229C1}"/>
                  </a:ext>
                </a:extLst>
              </p:cNvPr>
              <p:cNvSpPr/>
              <p:nvPr/>
            </p:nvSpPr>
            <p:spPr>
              <a:xfrm>
                <a:off x="4068063" y="1248753"/>
                <a:ext cx="966982" cy="57472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320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3200" i="1">
                              <a:effectLst/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AU" sz="3200" i="1">
                              <a:effectLst/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AU" sz="3200" baseline="-25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C1F18B2F-29C6-404D-A478-E9D33DE229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8063" y="1248753"/>
                <a:ext cx="966982" cy="57472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99A1C19E-89A3-4831-991F-F3E32F2E9285}"/>
                  </a:ext>
                </a:extLst>
              </p:cNvPr>
              <p:cNvSpPr/>
              <p:nvPr/>
            </p:nvSpPr>
            <p:spPr>
              <a:xfrm>
                <a:off x="6387691" y="1199158"/>
                <a:ext cx="966982" cy="57472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320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3200" i="1">
                              <a:effectLst/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AU" sz="3200" i="1">
                              <a:effectLst/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AU" sz="3200" baseline="-25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99A1C19E-89A3-4831-991F-F3E32F2E92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7691" y="1199158"/>
                <a:ext cx="966982" cy="57472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7823375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48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88865" y="142841"/>
            <a:ext cx="10353762" cy="868522"/>
          </a:xfrm>
        </p:spPr>
        <p:txBody>
          <a:bodyPr/>
          <a:lstStyle/>
          <a:p>
            <a:r>
              <a:rPr lang="en-AU" dirty="0">
                <a:effectLst/>
              </a:rPr>
              <a:t>PVD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itle 3">
                <a:extLst>
                  <a:ext uri="{FF2B5EF4-FFF2-40B4-BE49-F238E27FC236}">
                    <a16:creationId xmlns:a16="http://schemas.microsoft.com/office/drawing/2014/main" id="{03B0EBD0-85AC-4560-BD0E-4CFD5FE30A1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36171" y="3643373"/>
                <a:ext cx="6836229" cy="868522"/>
              </a:xfrm>
              <a:prstGeom prst="rect">
                <a:avLst/>
              </a:prstGeom>
              <a:effectLst>
                <a:outerShdw blurRad="25400" dir="17880000">
                  <a:srgbClr val="000000">
                    <a:alpha val="46000"/>
                  </a:srgbClr>
                </a:outerShdw>
              </a:effectLst>
            </p:spPr>
            <p:txBody>
              <a:bodyPr vert="horz" lIns="91440" tIns="45720" rIns="91440" bIns="45720" rtlCol="0" anchor="ctr">
                <a:normAutofit/>
              </a:bodyPr>
              <a:lstStyle>
                <a:lvl1pPr algn="ctr" defTabSz="4572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0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j-lt"/>
                    <a:ea typeface="+mj-ea"/>
                    <a:cs typeface="Trebuchet MS"/>
                  </a:defRPr>
                </a:lvl1pPr>
                <a:lvl2pPr eaLnBrk="1" hangingPunct="1">
                  <a:defRPr>
                    <a:solidFill>
                      <a:schemeClr val="tx2"/>
                    </a:solidFill>
                  </a:defRPr>
                </a:lvl2pPr>
                <a:lvl3pPr eaLnBrk="1" hangingPunct="1">
                  <a:defRPr>
                    <a:solidFill>
                      <a:schemeClr val="tx2"/>
                    </a:solidFill>
                  </a:defRPr>
                </a:lvl3pPr>
                <a:lvl4pPr eaLnBrk="1" hangingPunct="1">
                  <a:defRPr>
                    <a:solidFill>
                      <a:schemeClr val="tx2"/>
                    </a:solidFill>
                  </a:defRPr>
                </a:lvl4pPr>
                <a:lvl5pPr eaLnBrk="1" hangingPunct="1">
                  <a:defRPr>
                    <a:solidFill>
                      <a:schemeClr val="tx2"/>
                    </a:solidFill>
                  </a:defRPr>
                </a:lvl5pPr>
                <a:lvl6pPr eaLnBrk="1" hangingPunct="1">
                  <a:defRPr>
                    <a:solidFill>
                      <a:schemeClr val="tx2"/>
                    </a:solidFill>
                  </a:defRPr>
                </a:lvl6pPr>
                <a:lvl7pPr eaLnBrk="1" hangingPunct="1">
                  <a:defRPr>
                    <a:solidFill>
                      <a:schemeClr val="tx2"/>
                    </a:solidFill>
                  </a:defRPr>
                </a:lvl7pPr>
                <a:lvl8pPr eaLnBrk="1" hangingPunct="1">
                  <a:defRPr>
                    <a:solidFill>
                      <a:schemeClr val="tx2"/>
                    </a:solidFill>
                  </a:defRPr>
                </a:lvl8pPr>
                <a:lvl9pPr eaLnBrk="1" hangingPunct="1">
                  <a:defRPr>
                    <a:solidFill>
                      <a:schemeClr val="tx2"/>
                    </a:solidFill>
                  </a:defRPr>
                </a:lvl9pPr>
              </a:lstStyle>
              <a:p>
                <a:pPr algn="l"/>
                <a:r>
                  <a:rPr lang="en-AU" sz="3200" dirty="0">
                    <a:effectLst/>
                    <a:latin typeface="+mn-lt"/>
                  </a:rPr>
                  <a:t>What are the values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320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3200" i="1">
                            <a:effectLst/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AU" sz="3200" b="0" i="1" smtClean="0">
                            <a:effectLst/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AU" sz="3200" dirty="0">
                    <a:effectLst/>
                    <a:latin typeface="+mn-lt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32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3200" i="1">
                            <a:effectLst/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AU" sz="3200" b="0" i="1" smtClean="0">
                            <a:effectLst/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AU" sz="3200" dirty="0">
                    <a:effectLst/>
                    <a:latin typeface="+mn-lt"/>
                  </a:rPr>
                  <a:t>? </a:t>
                </a:r>
              </a:p>
            </p:txBody>
          </p:sp>
        </mc:Choice>
        <mc:Fallback xmlns="">
          <p:sp>
            <p:nvSpPr>
              <p:cNvPr id="10" name="Title 3">
                <a:extLst>
                  <a:ext uri="{FF2B5EF4-FFF2-40B4-BE49-F238E27FC236}">
                    <a16:creationId xmlns:a16="http://schemas.microsoft.com/office/drawing/2014/main" id="{03B0EBD0-85AC-4560-BD0E-4CFD5FE30A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171" y="3643373"/>
                <a:ext cx="6836229" cy="86852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effectLst>
                <a:outerShdw blurRad="25400" dir="17880000">
                  <a:srgbClr val="000000">
                    <a:alpha val="46000"/>
                  </a:srgbClr>
                </a:outerShdw>
              </a:effectLst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1" name="Table 7">
            <a:extLst>
              <a:ext uri="{FF2B5EF4-FFF2-40B4-BE49-F238E27FC236}">
                <a16:creationId xmlns:a16="http://schemas.microsoft.com/office/drawing/2014/main" id="{6FE22156-867C-4C2F-9CF3-B92B8D5062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592112"/>
              </p:ext>
            </p:extLst>
          </p:nvPr>
        </p:nvGraphicFramePr>
        <p:xfrm>
          <a:off x="936171" y="1847791"/>
          <a:ext cx="9753600" cy="671324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478972">
                  <a:extLst>
                    <a:ext uri="{9D8B030D-6E8A-4147-A177-3AD203B41FA5}">
                      <a16:colId xmlns:a16="http://schemas.microsoft.com/office/drawing/2014/main" val="3133869188"/>
                    </a:ext>
                  </a:extLst>
                </a:gridCol>
                <a:gridCol w="544286">
                  <a:extLst>
                    <a:ext uri="{9D8B030D-6E8A-4147-A177-3AD203B41FA5}">
                      <a16:colId xmlns:a16="http://schemas.microsoft.com/office/drawing/2014/main" val="3263741895"/>
                    </a:ext>
                  </a:extLst>
                </a:gridCol>
                <a:gridCol w="957942">
                  <a:extLst>
                    <a:ext uri="{9D8B030D-6E8A-4147-A177-3AD203B41FA5}">
                      <a16:colId xmlns:a16="http://schemas.microsoft.com/office/drawing/2014/main" val="3123715097"/>
                    </a:ext>
                  </a:extLst>
                </a:gridCol>
                <a:gridCol w="1480458">
                  <a:extLst>
                    <a:ext uri="{9D8B030D-6E8A-4147-A177-3AD203B41FA5}">
                      <a16:colId xmlns:a16="http://schemas.microsoft.com/office/drawing/2014/main" val="2598819947"/>
                    </a:ext>
                  </a:extLst>
                </a:gridCol>
                <a:gridCol w="2569028">
                  <a:extLst>
                    <a:ext uri="{9D8B030D-6E8A-4147-A177-3AD203B41FA5}">
                      <a16:colId xmlns:a16="http://schemas.microsoft.com/office/drawing/2014/main" val="2781054927"/>
                    </a:ext>
                  </a:extLst>
                </a:gridCol>
                <a:gridCol w="3722914">
                  <a:extLst>
                    <a:ext uri="{9D8B030D-6E8A-4147-A177-3AD203B41FA5}">
                      <a16:colId xmlns:a16="http://schemas.microsoft.com/office/drawing/2014/main" val="1075959579"/>
                    </a:ext>
                  </a:extLst>
                </a:gridCol>
              </a:tblGrid>
              <a:tr h="671324">
                <a:tc>
                  <a:txBody>
                    <a:bodyPr/>
                    <a:lstStyle/>
                    <a:p>
                      <a:pPr algn="ctr"/>
                      <a:r>
                        <a:rPr lang="en-AU" sz="2800" dirty="0"/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dirty="0"/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dirty="0"/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dirty="0"/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dirty="0" err="1"/>
                        <a:t>i</a:t>
                      </a:r>
                      <a:endParaRPr lang="en-AU" sz="2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dirty="0"/>
                        <a:t>n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8510103"/>
                  </a:ext>
                </a:extLst>
              </a:tr>
            </a:tbl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57C717B0-A79A-43D2-AD17-171CCC947F36}"/>
              </a:ext>
            </a:extLst>
          </p:cNvPr>
          <p:cNvSpPr/>
          <p:nvPr/>
        </p:nvSpPr>
        <p:spPr>
          <a:xfrm>
            <a:off x="505374" y="1199158"/>
            <a:ext cx="966982" cy="5747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3200" dirty="0"/>
              <a:t>0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27E1287-96DD-4789-9545-1C01AE5C1687}"/>
              </a:ext>
            </a:extLst>
          </p:cNvPr>
          <p:cNvSpPr/>
          <p:nvPr/>
        </p:nvSpPr>
        <p:spPr>
          <a:xfrm>
            <a:off x="9819754" y="1196528"/>
            <a:ext cx="1237036" cy="5747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3200" dirty="0">
                <a:latin typeface="Cambria Math" panose="02040503050406030204" pitchFamily="18" charset="0"/>
                <a:ea typeface="Cambria Math" panose="02040503050406030204" pitchFamily="18" charset="0"/>
              </a:rPr>
              <a:t>255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1EAB9586-F945-436C-861E-A2EE18FCDDF9}"/>
                  </a:ext>
                </a:extLst>
              </p:cNvPr>
              <p:cNvSpPr/>
              <p:nvPr/>
            </p:nvSpPr>
            <p:spPr>
              <a:xfrm>
                <a:off x="5036362" y="2440692"/>
                <a:ext cx="1301256" cy="66616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3200" i="1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32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AU" sz="32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AU" sz="3200" baseline="-25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1EAB9586-F945-436C-861E-A2EE18FCDD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6362" y="2440692"/>
                <a:ext cx="1301256" cy="6661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DCBDA9DF-2A10-447B-B975-B969C0CB74BC}"/>
                  </a:ext>
                </a:extLst>
              </p:cNvPr>
              <p:cNvSpPr/>
              <p:nvPr/>
            </p:nvSpPr>
            <p:spPr>
              <a:xfrm>
                <a:off x="4068063" y="1248753"/>
                <a:ext cx="966982" cy="57472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320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3200" i="1">
                              <a:effectLst/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AU" sz="3200" i="1">
                              <a:effectLst/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AU" sz="3200" baseline="-25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DCBDA9DF-2A10-447B-B975-B969C0CB74B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8063" y="1248753"/>
                <a:ext cx="966982" cy="57472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AAB3EC1A-3F92-42DF-85BF-447B83A9E33F}"/>
                  </a:ext>
                </a:extLst>
              </p:cNvPr>
              <p:cNvSpPr/>
              <p:nvPr/>
            </p:nvSpPr>
            <p:spPr>
              <a:xfrm>
                <a:off x="6387691" y="1199158"/>
                <a:ext cx="966982" cy="57472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320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3200" i="1">
                              <a:effectLst/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AU" sz="3200" i="1">
                              <a:effectLst/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AU" sz="3200" baseline="-25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AAB3EC1A-3F92-42DF-85BF-447B83A9E33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7691" y="1199158"/>
                <a:ext cx="966982" cy="57472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1351986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49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88865" y="142841"/>
            <a:ext cx="10353762" cy="868522"/>
          </a:xfrm>
        </p:spPr>
        <p:txBody>
          <a:bodyPr/>
          <a:lstStyle/>
          <a:p>
            <a:r>
              <a:rPr lang="en-AU" dirty="0">
                <a:effectLst/>
              </a:rPr>
              <a:t>PVD</a:t>
            </a: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E543D091-60DB-4D2D-990A-30381EF636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3586100"/>
              </p:ext>
            </p:extLst>
          </p:nvPr>
        </p:nvGraphicFramePr>
        <p:xfrm>
          <a:off x="936171" y="1847791"/>
          <a:ext cx="9753600" cy="671324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478972">
                  <a:extLst>
                    <a:ext uri="{9D8B030D-6E8A-4147-A177-3AD203B41FA5}">
                      <a16:colId xmlns:a16="http://schemas.microsoft.com/office/drawing/2014/main" val="3133869188"/>
                    </a:ext>
                  </a:extLst>
                </a:gridCol>
                <a:gridCol w="544286">
                  <a:extLst>
                    <a:ext uri="{9D8B030D-6E8A-4147-A177-3AD203B41FA5}">
                      <a16:colId xmlns:a16="http://schemas.microsoft.com/office/drawing/2014/main" val="3263741895"/>
                    </a:ext>
                  </a:extLst>
                </a:gridCol>
                <a:gridCol w="957942">
                  <a:extLst>
                    <a:ext uri="{9D8B030D-6E8A-4147-A177-3AD203B41FA5}">
                      <a16:colId xmlns:a16="http://schemas.microsoft.com/office/drawing/2014/main" val="3123715097"/>
                    </a:ext>
                  </a:extLst>
                </a:gridCol>
                <a:gridCol w="1480458">
                  <a:extLst>
                    <a:ext uri="{9D8B030D-6E8A-4147-A177-3AD203B41FA5}">
                      <a16:colId xmlns:a16="http://schemas.microsoft.com/office/drawing/2014/main" val="2598819947"/>
                    </a:ext>
                  </a:extLst>
                </a:gridCol>
                <a:gridCol w="2569028">
                  <a:extLst>
                    <a:ext uri="{9D8B030D-6E8A-4147-A177-3AD203B41FA5}">
                      <a16:colId xmlns:a16="http://schemas.microsoft.com/office/drawing/2014/main" val="2781054927"/>
                    </a:ext>
                  </a:extLst>
                </a:gridCol>
                <a:gridCol w="3722914">
                  <a:extLst>
                    <a:ext uri="{9D8B030D-6E8A-4147-A177-3AD203B41FA5}">
                      <a16:colId xmlns:a16="http://schemas.microsoft.com/office/drawing/2014/main" val="1075959579"/>
                    </a:ext>
                  </a:extLst>
                </a:gridCol>
              </a:tblGrid>
              <a:tr h="671324">
                <a:tc>
                  <a:txBody>
                    <a:bodyPr/>
                    <a:lstStyle/>
                    <a:p>
                      <a:pPr algn="ctr"/>
                      <a:r>
                        <a:rPr lang="en-AU" sz="2800" dirty="0"/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dirty="0"/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dirty="0"/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dirty="0"/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dirty="0" err="1"/>
                        <a:t>i</a:t>
                      </a:r>
                      <a:endParaRPr lang="en-AU" sz="2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dirty="0"/>
                        <a:t>n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8510103"/>
                  </a:ext>
                </a:extLst>
              </a:tr>
            </a:tbl>
          </a:graphicData>
        </a:graphic>
      </p:graphicFrame>
      <p:sp>
        <p:nvSpPr>
          <p:cNvPr id="16" name="Rectangle 15">
            <a:extLst>
              <a:ext uri="{FF2B5EF4-FFF2-40B4-BE49-F238E27FC236}">
                <a16:creationId xmlns:a16="http://schemas.microsoft.com/office/drawing/2014/main" id="{E9AC7856-93BA-479D-9E81-A730563998C1}"/>
              </a:ext>
            </a:extLst>
          </p:cNvPr>
          <p:cNvSpPr/>
          <p:nvPr/>
        </p:nvSpPr>
        <p:spPr>
          <a:xfrm>
            <a:off x="505374" y="1199158"/>
            <a:ext cx="966982" cy="5747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3200" dirty="0"/>
              <a:t>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3415140-7EAB-40CE-9091-8539F6E05BCE}"/>
              </a:ext>
            </a:extLst>
          </p:cNvPr>
          <p:cNvSpPr/>
          <p:nvPr/>
        </p:nvSpPr>
        <p:spPr>
          <a:xfrm>
            <a:off x="9819754" y="1196528"/>
            <a:ext cx="1237036" cy="5747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3200" dirty="0">
                <a:latin typeface="Cambria Math" panose="02040503050406030204" pitchFamily="18" charset="0"/>
                <a:ea typeface="Cambria Math" panose="02040503050406030204" pitchFamily="18" charset="0"/>
              </a:rPr>
              <a:t>255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D95F0A1D-7B0B-4581-AB95-DCD3D85CE114}"/>
                  </a:ext>
                </a:extLst>
              </p:cNvPr>
              <p:cNvSpPr/>
              <p:nvPr/>
            </p:nvSpPr>
            <p:spPr>
              <a:xfrm>
                <a:off x="5036362" y="2440692"/>
                <a:ext cx="1301256" cy="66616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3200" i="1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32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AU" sz="32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AU" sz="3200" baseline="-25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D95F0A1D-7B0B-4581-AB95-DCD3D85CE11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6362" y="2440692"/>
                <a:ext cx="1301256" cy="6661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36481263-EC28-43AB-96F7-49BC1E50CBB6}"/>
                  </a:ext>
                </a:extLst>
              </p:cNvPr>
              <p:cNvSpPr/>
              <p:nvPr/>
            </p:nvSpPr>
            <p:spPr>
              <a:xfrm>
                <a:off x="4068063" y="1248753"/>
                <a:ext cx="966982" cy="57472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320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3200" i="1">
                              <a:effectLst/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AU" sz="3200" i="1">
                              <a:effectLst/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AU" sz="3200" baseline="-25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36481263-EC28-43AB-96F7-49BC1E50CBB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8063" y="1248753"/>
                <a:ext cx="966982" cy="57472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E89A4C23-93AF-4906-94A6-4C528E26BCDD}"/>
                  </a:ext>
                </a:extLst>
              </p:cNvPr>
              <p:cNvSpPr/>
              <p:nvPr/>
            </p:nvSpPr>
            <p:spPr>
              <a:xfrm>
                <a:off x="6387691" y="1199158"/>
                <a:ext cx="966982" cy="57472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320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3200" i="1">
                              <a:effectLst/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AU" sz="3200" i="1">
                              <a:effectLst/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AU" sz="3200" baseline="-25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E89A4C23-93AF-4906-94A6-4C528E26BCD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7691" y="1199158"/>
                <a:ext cx="966982" cy="57472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1">
                <a:extLst>
                  <a:ext uri="{FF2B5EF4-FFF2-40B4-BE49-F238E27FC236}">
                    <a16:creationId xmlns:a16="http://schemas.microsoft.com/office/drawing/2014/main" id="{0423B8FA-1143-4F4C-9A29-C231E039099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09903" y="3485230"/>
                <a:ext cx="9326726" cy="2173612"/>
              </a:xfrm>
              <a:prstGeom prst="rect">
                <a:avLst/>
              </a:prstGeom>
              <a:noFill/>
              <a:effectLst/>
            </p:spPr>
            <p:txBody>
              <a:bodyPr vert="horz" lIns="91440" tIns="45720" rIns="91440" bIns="45720" rtlCol="0" anchor="t">
                <a:normAutofit/>
              </a:bodyPr>
              <a:lstStyle>
                <a:lvl1pPr marL="342900" indent="-306000" algn="l" defTabSz="457200" rtl="0" eaLnBrk="1" latinLnBrk="0" hangingPunct="1">
                  <a:lnSpc>
                    <a:spcPct val="110000"/>
                  </a:lnSpc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21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1pPr>
                <a:lvl2pPr marL="720000" indent="-270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"/>
                  <a:defRPr sz="19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2pPr>
                <a:lvl3pPr marL="1026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7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3pPr>
                <a:lvl4pPr marL="1386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"/>
                  <a:defRPr sz="15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4pPr>
                <a:lvl5pPr marL="1674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5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5pPr>
                <a:lvl6pPr marL="20146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6pPr>
                <a:lvl7pPr marL="24018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7pPr>
                <a:lvl8pPr marL="2789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8pPr>
                <a:lvl9pPr marL="31062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sz="280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AU" sz="2800" i="1">
                        <a:effectLst/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AU" sz="28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AU" sz="2800" i="1">
                        <a:effectLst/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AU" sz="28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AU" sz="2800" i="1">
                        <a:effectLst/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en-AU" sz="2800" baseline="30000" dirty="0">
                  <a:solidFill>
                    <a:schemeClr val="lt1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AU" sz="2800" i="1">
                        <a:effectLst/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AU" sz="2800" i="1">
                        <a:effectLst/>
                        <a:latin typeface="Cambria Math" panose="02040503050406030204" pitchFamily="18" charset="0"/>
                      </a:rPr>
                      <m:t>= </m:t>
                    </m:r>
                    <m:func>
                      <m:funcPr>
                        <m:ctrlPr>
                          <a:rPr lang="en-AU" sz="2800" i="1">
                            <a:effectLst/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AU" sz="28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AU" sz="2800">
                                <a:effectLst/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AU" sz="2800" i="1">
                                <a:effectLst/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d>
                          <m:dPr>
                            <m:ctrlPr>
                              <a:rPr lang="en-AU" sz="28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AU" sz="2800" i="1"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AU" sz="2800" i="1">
                                    <a:effectLst/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  <m:sub>
                                <m:r>
                                  <a:rPr lang="en-AU" sz="2800" i="1">
                                    <a:effectLst/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AU" sz="2800" i="1">
                                <a:effectLst/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AU" sz="2800" i="1"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AU" sz="2800" i="1">
                                    <a:effectLst/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e>
                              <m:sub>
                                <m:r>
                                  <a:rPr lang="en-AU" sz="2800" i="1">
                                    <a:effectLst/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AU" sz="2800" i="1">
                                <a:effectLst/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e>
                    </m:func>
                  </m:oMath>
                </a14:m>
                <a:endParaRPr lang="en-AU" sz="2800" dirty="0">
                  <a:effectLst/>
                </a:endParaRPr>
              </a:p>
              <a:p>
                <a:pPr marL="36900" indent="0">
                  <a:buNone/>
                </a:pPr>
                <a:endParaRPr lang="en-AU" sz="3200" baseline="30000" dirty="0">
                  <a:solidFill>
                    <a:schemeClr val="lt1"/>
                  </a:solidFill>
                </a:endParaRPr>
              </a:p>
            </p:txBody>
          </p:sp>
        </mc:Choice>
        <mc:Fallback xmlns="">
          <p:sp>
            <p:nvSpPr>
              <p:cNvPr id="11" name="Content Placeholder 1">
                <a:extLst>
                  <a:ext uri="{FF2B5EF4-FFF2-40B4-BE49-F238E27FC236}">
                    <a16:creationId xmlns:a16="http://schemas.microsoft.com/office/drawing/2014/main" id="{0423B8FA-1143-4F4C-9A29-C231E03909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903" y="3485230"/>
                <a:ext cx="9326726" cy="217361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effectLst/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561911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50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74739" y="-38343"/>
            <a:ext cx="10353762" cy="868522"/>
          </a:xfrm>
        </p:spPr>
        <p:txBody>
          <a:bodyPr/>
          <a:lstStyle/>
          <a:p>
            <a:r>
              <a:rPr lang="en-AU" dirty="0">
                <a:effectLst/>
              </a:rPr>
              <a:t>PVD</a:t>
            </a: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E543D091-60DB-4D2D-990A-30381EF63682}"/>
              </a:ext>
            </a:extLst>
          </p:cNvPr>
          <p:cNvGraphicFramePr>
            <a:graphicFrameLocks noGrp="1"/>
          </p:cNvGraphicFramePr>
          <p:nvPr/>
        </p:nvGraphicFramePr>
        <p:xfrm>
          <a:off x="936171" y="2109043"/>
          <a:ext cx="9753600" cy="671324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478972">
                  <a:extLst>
                    <a:ext uri="{9D8B030D-6E8A-4147-A177-3AD203B41FA5}">
                      <a16:colId xmlns:a16="http://schemas.microsoft.com/office/drawing/2014/main" val="3133869188"/>
                    </a:ext>
                  </a:extLst>
                </a:gridCol>
                <a:gridCol w="544286">
                  <a:extLst>
                    <a:ext uri="{9D8B030D-6E8A-4147-A177-3AD203B41FA5}">
                      <a16:colId xmlns:a16="http://schemas.microsoft.com/office/drawing/2014/main" val="3263741895"/>
                    </a:ext>
                  </a:extLst>
                </a:gridCol>
                <a:gridCol w="957942">
                  <a:extLst>
                    <a:ext uri="{9D8B030D-6E8A-4147-A177-3AD203B41FA5}">
                      <a16:colId xmlns:a16="http://schemas.microsoft.com/office/drawing/2014/main" val="3123715097"/>
                    </a:ext>
                  </a:extLst>
                </a:gridCol>
                <a:gridCol w="1480458">
                  <a:extLst>
                    <a:ext uri="{9D8B030D-6E8A-4147-A177-3AD203B41FA5}">
                      <a16:colId xmlns:a16="http://schemas.microsoft.com/office/drawing/2014/main" val="2598819947"/>
                    </a:ext>
                  </a:extLst>
                </a:gridCol>
                <a:gridCol w="2569028">
                  <a:extLst>
                    <a:ext uri="{9D8B030D-6E8A-4147-A177-3AD203B41FA5}">
                      <a16:colId xmlns:a16="http://schemas.microsoft.com/office/drawing/2014/main" val="2781054927"/>
                    </a:ext>
                  </a:extLst>
                </a:gridCol>
                <a:gridCol w="3722914">
                  <a:extLst>
                    <a:ext uri="{9D8B030D-6E8A-4147-A177-3AD203B41FA5}">
                      <a16:colId xmlns:a16="http://schemas.microsoft.com/office/drawing/2014/main" val="1075959579"/>
                    </a:ext>
                  </a:extLst>
                </a:gridCol>
              </a:tblGrid>
              <a:tr h="671324"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8510103"/>
                  </a:ext>
                </a:extLst>
              </a:tr>
            </a:tbl>
          </a:graphicData>
        </a:graphic>
      </p:graphicFrame>
      <p:sp>
        <p:nvSpPr>
          <p:cNvPr id="11" name="Left Brace 10">
            <a:extLst>
              <a:ext uri="{FF2B5EF4-FFF2-40B4-BE49-F238E27FC236}">
                <a16:creationId xmlns:a16="http://schemas.microsoft.com/office/drawing/2014/main" id="{2FA81788-18BB-41A4-B140-B26F3E8B9569}"/>
              </a:ext>
            </a:extLst>
          </p:cNvPr>
          <p:cNvSpPr/>
          <p:nvPr/>
        </p:nvSpPr>
        <p:spPr>
          <a:xfrm rot="16200000">
            <a:off x="980830" y="2797051"/>
            <a:ext cx="387016" cy="494386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Left Brace 11">
            <a:extLst>
              <a:ext uri="{FF2B5EF4-FFF2-40B4-BE49-F238E27FC236}">
                <a16:creationId xmlns:a16="http://schemas.microsoft.com/office/drawing/2014/main" id="{DFFFB5E7-B372-45E9-9D55-A3E5AD3A6CC9}"/>
              </a:ext>
            </a:extLst>
          </p:cNvPr>
          <p:cNvSpPr/>
          <p:nvPr/>
        </p:nvSpPr>
        <p:spPr>
          <a:xfrm rot="16200000">
            <a:off x="1494805" y="2771069"/>
            <a:ext cx="371441" cy="530768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EDDF177-2647-4B07-A989-7ACCCFB7DCA5}"/>
              </a:ext>
            </a:extLst>
          </p:cNvPr>
          <p:cNvSpPr/>
          <p:nvPr/>
        </p:nvSpPr>
        <p:spPr>
          <a:xfrm>
            <a:off x="687655" y="3264578"/>
            <a:ext cx="966982" cy="5747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8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EAAB11E-31D6-4D30-8899-080B01D6787C}"/>
              </a:ext>
            </a:extLst>
          </p:cNvPr>
          <p:cNvSpPr/>
          <p:nvPr/>
        </p:nvSpPr>
        <p:spPr>
          <a:xfrm>
            <a:off x="1924139" y="3264577"/>
            <a:ext cx="966982" cy="5747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16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9AC7856-93BA-479D-9E81-A730563998C1}"/>
              </a:ext>
            </a:extLst>
          </p:cNvPr>
          <p:cNvSpPr/>
          <p:nvPr/>
        </p:nvSpPr>
        <p:spPr>
          <a:xfrm>
            <a:off x="462768" y="1601328"/>
            <a:ext cx="966982" cy="5747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3415140-7EAB-40CE-9091-8539F6E05BCE}"/>
              </a:ext>
            </a:extLst>
          </p:cNvPr>
          <p:cNvSpPr/>
          <p:nvPr/>
        </p:nvSpPr>
        <p:spPr>
          <a:xfrm>
            <a:off x="10161519" y="1553097"/>
            <a:ext cx="966982" cy="5747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255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46E32D3-FE4E-4DD8-9DE3-BF8AB07394F2}"/>
              </a:ext>
            </a:extLst>
          </p:cNvPr>
          <p:cNvSpPr/>
          <p:nvPr/>
        </p:nvSpPr>
        <p:spPr>
          <a:xfrm>
            <a:off x="3200887" y="3264576"/>
            <a:ext cx="966982" cy="5747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32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409F7C1-BBAC-44C2-B25A-06C4F6446D9D}"/>
              </a:ext>
            </a:extLst>
          </p:cNvPr>
          <p:cNvSpPr/>
          <p:nvPr/>
        </p:nvSpPr>
        <p:spPr>
          <a:xfrm>
            <a:off x="1192926" y="3264578"/>
            <a:ext cx="966982" cy="5747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8</a:t>
            </a:r>
          </a:p>
        </p:txBody>
      </p:sp>
      <p:sp>
        <p:nvSpPr>
          <p:cNvPr id="21" name="Left Brace 20">
            <a:extLst>
              <a:ext uri="{FF2B5EF4-FFF2-40B4-BE49-F238E27FC236}">
                <a16:creationId xmlns:a16="http://schemas.microsoft.com/office/drawing/2014/main" id="{3B4F790D-D3C7-4BD6-B300-4E2312DCD8E1}"/>
              </a:ext>
            </a:extLst>
          </p:cNvPr>
          <p:cNvSpPr/>
          <p:nvPr/>
        </p:nvSpPr>
        <p:spPr>
          <a:xfrm rot="16200000">
            <a:off x="2221528" y="2560465"/>
            <a:ext cx="387588" cy="966983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2" name="Left Brace 21">
            <a:extLst>
              <a:ext uri="{FF2B5EF4-FFF2-40B4-BE49-F238E27FC236}">
                <a16:creationId xmlns:a16="http://schemas.microsoft.com/office/drawing/2014/main" id="{C5260275-12E7-4D21-8518-6D36AC9C0C3E}"/>
              </a:ext>
            </a:extLst>
          </p:cNvPr>
          <p:cNvSpPr/>
          <p:nvPr/>
        </p:nvSpPr>
        <p:spPr>
          <a:xfrm rot="16200000">
            <a:off x="3440546" y="2308430"/>
            <a:ext cx="415552" cy="1499013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E046FE0-4D3E-4AA8-9A3F-425B3F6D38AE}"/>
              </a:ext>
            </a:extLst>
          </p:cNvPr>
          <p:cNvSpPr/>
          <p:nvPr/>
        </p:nvSpPr>
        <p:spPr>
          <a:xfrm>
            <a:off x="4833251" y="3237752"/>
            <a:ext cx="1667530" cy="5747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64 = 2</a:t>
            </a:r>
            <a:r>
              <a:rPr lang="en-AU" sz="2800" baseline="30000" dirty="0"/>
              <a:t>^6</a:t>
            </a:r>
          </a:p>
        </p:txBody>
      </p:sp>
      <p:sp>
        <p:nvSpPr>
          <p:cNvPr id="24" name="Left Brace 23">
            <a:extLst>
              <a:ext uri="{FF2B5EF4-FFF2-40B4-BE49-F238E27FC236}">
                <a16:creationId xmlns:a16="http://schemas.microsoft.com/office/drawing/2014/main" id="{16251F26-7F9B-4DB2-82C8-C1A469002155}"/>
              </a:ext>
            </a:extLst>
          </p:cNvPr>
          <p:cNvSpPr/>
          <p:nvPr/>
        </p:nvSpPr>
        <p:spPr>
          <a:xfrm rot="16200000">
            <a:off x="5478437" y="1777870"/>
            <a:ext cx="415552" cy="2561295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5" name="Left Brace 24">
            <a:extLst>
              <a:ext uri="{FF2B5EF4-FFF2-40B4-BE49-F238E27FC236}">
                <a16:creationId xmlns:a16="http://schemas.microsoft.com/office/drawing/2014/main" id="{2D0E8649-0347-44C2-87A1-75D7211FD6CD}"/>
              </a:ext>
            </a:extLst>
          </p:cNvPr>
          <p:cNvSpPr/>
          <p:nvPr/>
        </p:nvSpPr>
        <p:spPr>
          <a:xfrm rot="16200000">
            <a:off x="8620542" y="1197061"/>
            <a:ext cx="415552" cy="3722911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746F2B5-A956-415F-B4B3-51565FAA829F}"/>
              </a:ext>
            </a:extLst>
          </p:cNvPr>
          <p:cNvSpPr/>
          <p:nvPr/>
        </p:nvSpPr>
        <p:spPr>
          <a:xfrm>
            <a:off x="8344827" y="3237752"/>
            <a:ext cx="966982" cy="5747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128</a:t>
            </a:r>
          </a:p>
        </p:txBody>
      </p:sp>
    </p:spTree>
    <p:extLst>
      <p:ext uri="{BB962C8B-B14F-4D97-AF65-F5344CB8AC3E}">
        <p14:creationId xmlns:p14="http://schemas.microsoft.com/office/powerpoint/2010/main" val="376088593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51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88865" y="142841"/>
            <a:ext cx="10353762" cy="868522"/>
          </a:xfrm>
        </p:spPr>
        <p:txBody>
          <a:bodyPr/>
          <a:lstStyle/>
          <a:p>
            <a:r>
              <a:rPr lang="en-AU" dirty="0">
                <a:effectLst/>
              </a:rPr>
              <a:t>PVD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1">
                <a:extLst>
                  <a:ext uri="{FF2B5EF4-FFF2-40B4-BE49-F238E27FC236}">
                    <a16:creationId xmlns:a16="http://schemas.microsoft.com/office/drawing/2014/main" id="{0423B8FA-1143-4F4C-9A29-C231E039099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09903" y="3485230"/>
                <a:ext cx="6148098" cy="912131"/>
              </a:xfrm>
              <a:prstGeom prst="rect">
                <a:avLst/>
              </a:prstGeom>
              <a:effectLst>
                <a:outerShdw blurRad="25400" dir="17880000">
                  <a:srgbClr val="000000">
                    <a:alpha val="46000"/>
                  </a:srgbClr>
                </a:outerShdw>
              </a:effectLst>
            </p:spPr>
            <p:txBody>
              <a:bodyPr vert="horz" lIns="91440" tIns="45720" rIns="91440" bIns="45720" rtlCol="0" anchor="t">
                <a:normAutofit/>
              </a:bodyPr>
              <a:lstStyle>
                <a:lvl1pPr marL="342900" indent="-306000" algn="l" defTabSz="457200" rtl="0" eaLnBrk="1" latinLnBrk="0" hangingPunct="1">
                  <a:lnSpc>
                    <a:spcPct val="110000"/>
                  </a:lnSpc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21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1pPr>
                <a:lvl2pPr marL="720000" indent="-270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"/>
                  <a:defRPr sz="19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2pPr>
                <a:lvl3pPr marL="1026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7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3pPr>
                <a:lvl4pPr marL="1386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"/>
                  <a:defRPr sz="15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4pPr>
                <a:lvl5pPr marL="1674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5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5pPr>
                <a:lvl6pPr marL="20146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6pPr>
                <a:lvl7pPr marL="24018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7pPr>
                <a:lvl8pPr marL="2789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8pPr>
                <a:lvl9pPr marL="31062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AU" sz="2800" dirty="0"/>
                  <a:t>A pair of grey pixel values: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AU" sz="2800" b="0" kern="1200" baseline="-25000" dirty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+1</m:t>
                        </m:r>
                      </m:sub>
                    </m:sSub>
                  </m:oMath>
                </a14:m>
                <a:endParaRPr lang="en-AU" sz="2400" b="0" kern="1200" baseline="-25000" dirty="0">
                  <a:solidFill>
                    <a:schemeClr val="lt1"/>
                  </a:solidFill>
                  <a:latin typeface="+mn-lt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1" name="Content Placeholder 1">
                <a:extLst>
                  <a:ext uri="{FF2B5EF4-FFF2-40B4-BE49-F238E27FC236}">
                    <a16:creationId xmlns:a16="http://schemas.microsoft.com/office/drawing/2014/main" id="{0423B8FA-1143-4F4C-9A29-C231E03909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903" y="3485230"/>
                <a:ext cx="6148098" cy="9121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effectLst>
                <a:outerShdw blurRad="25400" dir="17880000">
                  <a:srgbClr val="000000">
                    <a:alpha val="46000"/>
                  </a:srgbClr>
                </a:outerShdw>
              </a:effectLst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4">
                <a:extLst>
                  <a:ext uri="{FF2B5EF4-FFF2-40B4-BE49-F238E27FC236}">
                    <a16:creationId xmlns:a16="http://schemas.microsoft.com/office/drawing/2014/main" id="{468CBA4A-6F5C-4CF4-BCC9-5755A15E313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34335898"/>
                  </p:ext>
                </p:extLst>
              </p:nvPr>
            </p:nvGraphicFramePr>
            <p:xfrm>
              <a:off x="1907213" y="4479170"/>
              <a:ext cx="3426788" cy="145479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56697">
                      <a:extLst>
                        <a:ext uri="{9D8B030D-6E8A-4147-A177-3AD203B41FA5}">
                          <a16:colId xmlns:a16="http://schemas.microsoft.com/office/drawing/2014/main" val="1225754246"/>
                        </a:ext>
                      </a:extLst>
                    </a:gridCol>
                    <a:gridCol w="856697">
                      <a:extLst>
                        <a:ext uri="{9D8B030D-6E8A-4147-A177-3AD203B41FA5}">
                          <a16:colId xmlns:a16="http://schemas.microsoft.com/office/drawing/2014/main" val="1866791954"/>
                        </a:ext>
                      </a:extLst>
                    </a:gridCol>
                    <a:gridCol w="856697">
                      <a:extLst>
                        <a:ext uri="{9D8B030D-6E8A-4147-A177-3AD203B41FA5}">
                          <a16:colId xmlns:a16="http://schemas.microsoft.com/office/drawing/2014/main" val="3090548080"/>
                        </a:ext>
                      </a:extLst>
                    </a:gridCol>
                    <a:gridCol w="856697">
                      <a:extLst>
                        <a:ext uri="{9D8B030D-6E8A-4147-A177-3AD203B41FA5}">
                          <a16:colId xmlns:a16="http://schemas.microsoft.com/office/drawing/2014/main" val="1412354845"/>
                        </a:ext>
                      </a:extLst>
                    </a:gridCol>
                  </a:tblGrid>
                  <a:tr h="28905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AU" sz="280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2800" i="1">
                                        <a:effectLst/>
                                        <a:latin typeface="Cambria Math" panose="02040503050406030204" pitchFamily="18" charset="0"/>
                                        <a:ea typeface="DengXia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lang="en-AU" sz="2800" i="1">
                                        <a:effectLst/>
                                        <a:latin typeface="Cambria Math" panose="02040503050406030204" pitchFamily="18" charset="0"/>
                                        <a:ea typeface="DengXia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AU" sz="2800" b="0" kern="1200" baseline="-25000" dirty="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AU" sz="280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AU" sz="2800" i="1">
                                        <a:effectLst/>
                                        <a:latin typeface="Cambria Math" panose="02040503050406030204" pitchFamily="18" charset="0"/>
                                        <a:ea typeface="DengXia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lang="en-AU" sz="2800" i="1">
                                        <a:effectLst/>
                                        <a:latin typeface="Cambria Math" panose="02040503050406030204" pitchFamily="18" charset="0"/>
                                        <a:ea typeface="DengXia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𝑗</m:t>
                                    </m:r>
                                    <m:r>
                                      <a:rPr lang="en-AU" sz="2800" i="1">
                                        <a:effectLst/>
                                        <a:latin typeface="Cambria Math" panose="02040503050406030204" pitchFamily="18" charset="0"/>
                                        <a:ea typeface="DengXia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AU" sz="2800" b="0" kern="1200" baseline="-25000" dirty="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14018511"/>
                      </a:ext>
                    </a:extLst>
                  </a:tr>
                  <a:tr h="462390"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51545641"/>
                      </a:ext>
                    </a:extLst>
                  </a:tr>
                  <a:tr h="439893"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6442011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4">
                <a:extLst>
                  <a:ext uri="{FF2B5EF4-FFF2-40B4-BE49-F238E27FC236}">
                    <a16:creationId xmlns:a16="http://schemas.microsoft.com/office/drawing/2014/main" id="{468CBA4A-6F5C-4CF4-BCC9-5755A15E313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34335898"/>
                  </p:ext>
                </p:extLst>
              </p:nvPr>
            </p:nvGraphicFramePr>
            <p:xfrm>
              <a:off x="1907213" y="4479170"/>
              <a:ext cx="3426788" cy="145479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56697">
                      <a:extLst>
                        <a:ext uri="{9D8B030D-6E8A-4147-A177-3AD203B41FA5}">
                          <a16:colId xmlns:a16="http://schemas.microsoft.com/office/drawing/2014/main" val="1225754246"/>
                        </a:ext>
                      </a:extLst>
                    </a:gridCol>
                    <a:gridCol w="856697">
                      <a:extLst>
                        <a:ext uri="{9D8B030D-6E8A-4147-A177-3AD203B41FA5}">
                          <a16:colId xmlns:a16="http://schemas.microsoft.com/office/drawing/2014/main" val="1866791954"/>
                        </a:ext>
                      </a:extLst>
                    </a:gridCol>
                    <a:gridCol w="856697">
                      <a:extLst>
                        <a:ext uri="{9D8B030D-6E8A-4147-A177-3AD203B41FA5}">
                          <a16:colId xmlns:a16="http://schemas.microsoft.com/office/drawing/2014/main" val="3090548080"/>
                        </a:ext>
                      </a:extLst>
                    </a:gridCol>
                    <a:gridCol w="856697">
                      <a:extLst>
                        <a:ext uri="{9D8B030D-6E8A-4147-A177-3AD203B41FA5}">
                          <a16:colId xmlns:a16="http://schemas.microsoft.com/office/drawing/2014/main" val="1412354845"/>
                        </a:ext>
                      </a:extLst>
                    </a:gridCol>
                  </a:tblGrid>
                  <a:tr h="55251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709" t="-1099" r="-302837" b="-1659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709" t="-1099" r="-202837" b="-1659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14018511"/>
                      </a:ext>
                    </a:extLst>
                  </a:tr>
                  <a:tr h="462390"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51545641"/>
                      </a:ext>
                    </a:extLst>
                  </a:tr>
                  <a:tr h="439893"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6442011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B32F9D35-694C-40DE-B39D-4D3F3192D515}"/>
              </a:ext>
            </a:extLst>
          </p:cNvPr>
          <p:cNvSpPr/>
          <p:nvPr/>
        </p:nvSpPr>
        <p:spPr>
          <a:xfrm>
            <a:off x="2705925" y="5897812"/>
            <a:ext cx="1822531" cy="6661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Grey Image</a:t>
            </a:r>
            <a:endParaRPr lang="en-AU" sz="2800" baseline="-25000" dirty="0"/>
          </a:p>
        </p:txBody>
      </p:sp>
      <p:graphicFrame>
        <p:nvGraphicFramePr>
          <p:cNvPr id="14" name="Table 7">
            <a:extLst>
              <a:ext uri="{FF2B5EF4-FFF2-40B4-BE49-F238E27FC236}">
                <a16:creationId xmlns:a16="http://schemas.microsoft.com/office/drawing/2014/main" id="{B6ADACF9-9BFE-40DE-B182-B82312B671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9493235"/>
              </p:ext>
            </p:extLst>
          </p:nvPr>
        </p:nvGraphicFramePr>
        <p:xfrm>
          <a:off x="936171" y="1847791"/>
          <a:ext cx="9753600" cy="671324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478972">
                  <a:extLst>
                    <a:ext uri="{9D8B030D-6E8A-4147-A177-3AD203B41FA5}">
                      <a16:colId xmlns:a16="http://schemas.microsoft.com/office/drawing/2014/main" val="3133869188"/>
                    </a:ext>
                  </a:extLst>
                </a:gridCol>
                <a:gridCol w="544286">
                  <a:extLst>
                    <a:ext uri="{9D8B030D-6E8A-4147-A177-3AD203B41FA5}">
                      <a16:colId xmlns:a16="http://schemas.microsoft.com/office/drawing/2014/main" val="3263741895"/>
                    </a:ext>
                  </a:extLst>
                </a:gridCol>
                <a:gridCol w="957942">
                  <a:extLst>
                    <a:ext uri="{9D8B030D-6E8A-4147-A177-3AD203B41FA5}">
                      <a16:colId xmlns:a16="http://schemas.microsoft.com/office/drawing/2014/main" val="3123715097"/>
                    </a:ext>
                  </a:extLst>
                </a:gridCol>
                <a:gridCol w="1480458">
                  <a:extLst>
                    <a:ext uri="{9D8B030D-6E8A-4147-A177-3AD203B41FA5}">
                      <a16:colId xmlns:a16="http://schemas.microsoft.com/office/drawing/2014/main" val="2598819947"/>
                    </a:ext>
                  </a:extLst>
                </a:gridCol>
                <a:gridCol w="2569028">
                  <a:extLst>
                    <a:ext uri="{9D8B030D-6E8A-4147-A177-3AD203B41FA5}">
                      <a16:colId xmlns:a16="http://schemas.microsoft.com/office/drawing/2014/main" val="2781054927"/>
                    </a:ext>
                  </a:extLst>
                </a:gridCol>
                <a:gridCol w="3722914">
                  <a:extLst>
                    <a:ext uri="{9D8B030D-6E8A-4147-A177-3AD203B41FA5}">
                      <a16:colId xmlns:a16="http://schemas.microsoft.com/office/drawing/2014/main" val="1075959579"/>
                    </a:ext>
                  </a:extLst>
                </a:gridCol>
              </a:tblGrid>
              <a:tr h="671324">
                <a:tc>
                  <a:txBody>
                    <a:bodyPr/>
                    <a:lstStyle/>
                    <a:p>
                      <a:pPr algn="ctr"/>
                      <a:r>
                        <a:rPr lang="en-AU" sz="2800" dirty="0"/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dirty="0"/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dirty="0"/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dirty="0"/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dirty="0" err="1"/>
                        <a:t>i</a:t>
                      </a:r>
                      <a:endParaRPr lang="en-AU" sz="2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dirty="0"/>
                        <a:t>n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8510103"/>
                  </a:ext>
                </a:extLst>
              </a:tr>
            </a:tbl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1819D0B5-0ACB-4499-84BC-F4FC8A1F359C}"/>
              </a:ext>
            </a:extLst>
          </p:cNvPr>
          <p:cNvSpPr/>
          <p:nvPr/>
        </p:nvSpPr>
        <p:spPr>
          <a:xfrm>
            <a:off x="505374" y="1199158"/>
            <a:ext cx="966982" cy="5747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3200" dirty="0"/>
              <a:t>0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3157C5E-88D4-46EE-BDA4-9B7DCDC8FE20}"/>
              </a:ext>
            </a:extLst>
          </p:cNvPr>
          <p:cNvSpPr/>
          <p:nvPr/>
        </p:nvSpPr>
        <p:spPr>
          <a:xfrm>
            <a:off x="9819754" y="1196528"/>
            <a:ext cx="1237036" cy="5747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3200" dirty="0">
                <a:latin typeface="Cambria Math" panose="02040503050406030204" pitchFamily="18" charset="0"/>
                <a:ea typeface="Cambria Math" panose="02040503050406030204" pitchFamily="18" charset="0"/>
              </a:rPr>
              <a:t>255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A0D6024E-1E00-4118-B854-188941985BF2}"/>
                  </a:ext>
                </a:extLst>
              </p:cNvPr>
              <p:cNvSpPr/>
              <p:nvPr/>
            </p:nvSpPr>
            <p:spPr>
              <a:xfrm>
                <a:off x="5036362" y="2440692"/>
                <a:ext cx="1301256" cy="66616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3200" i="1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32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AU" sz="32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AU" sz="3200" baseline="-25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A0D6024E-1E00-4118-B854-188941985BF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6362" y="2440692"/>
                <a:ext cx="1301256" cy="6661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5F398709-1F1F-43AE-B465-6E20117A88A8}"/>
                  </a:ext>
                </a:extLst>
              </p:cNvPr>
              <p:cNvSpPr/>
              <p:nvPr/>
            </p:nvSpPr>
            <p:spPr>
              <a:xfrm>
                <a:off x="4068063" y="1248753"/>
                <a:ext cx="966982" cy="57472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320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3200" i="1">
                              <a:effectLst/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AU" sz="3200" i="1">
                              <a:effectLst/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AU" sz="3200" baseline="-25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5F398709-1F1F-43AE-B465-6E20117A88A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8063" y="1248753"/>
                <a:ext cx="966982" cy="57472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6BCE4067-8260-419B-B8FA-D798A8114EA6}"/>
                  </a:ext>
                </a:extLst>
              </p:cNvPr>
              <p:cNvSpPr/>
              <p:nvPr/>
            </p:nvSpPr>
            <p:spPr>
              <a:xfrm>
                <a:off x="6387691" y="1199158"/>
                <a:ext cx="966982" cy="57472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320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3200" i="1">
                              <a:effectLst/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AU" sz="3200" i="1">
                              <a:effectLst/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AU" sz="3200" baseline="-25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6BCE4067-8260-419B-B8FA-D798A8114EA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7691" y="1199158"/>
                <a:ext cx="966982" cy="57472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4030987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52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88865" y="142841"/>
            <a:ext cx="10353762" cy="868522"/>
          </a:xfrm>
        </p:spPr>
        <p:txBody>
          <a:bodyPr/>
          <a:lstStyle/>
          <a:p>
            <a:r>
              <a:rPr lang="en-AU" dirty="0">
                <a:effectLst/>
              </a:rPr>
              <a:t>PVD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1">
                <a:extLst>
                  <a:ext uri="{FF2B5EF4-FFF2-40B4-BE49-F238E27FC236}">
                    <a16:creationId xmlns:a16="http://schemas.microsoft.com/office/drawing/2014/main" id="{0423B8FA-1143-4F4C-9A29-C231E039099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09902" y="3485229"/>
                <a:ext cx="11092238" cy="2515520"/>
              </a:xfrm>
              <a:prstGeom prst="rect">
                <a:avLst/>
              </a:prstGeom>
              <a:effectLst>
                <a:outerShdw blurRad="25400" dir="17880000">
                  <a:srgbClr val="000000">
                    <a:alpha val="46000"/>
                  </a:srgbClr>
                </a:outerShdw>
              </a:effectLst>
            </p:spPr>
            <p:txBody>
              <a:bodyPr vert="horz" lIns="91440" tIns="45720" rIns="91440" bIns="45720" rtlCol="0" anchor="t">
                <a:normAutofit/>
              </a:bodyPr>
              <a:lstStyle>
                <a:lvl1pPr marL="342900" indent="-306000" algn="l" defTabSz="457200" rtl="0" eaLnBrk="1" latinLnBrk="0" hangingPunct="1">
                  <a:lnSpc>
                    <a:spcPct val="110000"/>
                  </a:lnSpc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21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1pPr>
                <a:lvl2pPr marL="720000" indent="-270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"/>
                  <a:defRPr sz="19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2pPr>
                <a:lvl3pPr marL="1026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7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3pPr>
                <a:lvl4pPr marL="1386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"/>
                  <a:defRPr sz="15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4pPr>
                <a:lvl5pPr marL="1674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5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5pPr>
                <a:lvl6pPr marL="20146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6pPr>
                <a:lvl7pPr marL="24018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7pPr>
                <a:lvl8pPr marL="2789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8pPr>
                <a:lvl9pPr marL="31062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AU" sz="3200" dirty="0"/>
                  <a:t>A pair of grey pixel values: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320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32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AU" sz="32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AU" sz="3200" b="0" kern="1200" baseline="-25000" dirty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32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32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AU" sz="32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en-AU" sz="32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+1</m:t>
                        </m:r>
                      </m:sub>
                    </m:sSub>
                  </m:oMath>
                </a14:m>
                <a:endParaRPr lang="en-AU" sz="3200" b="0" kern="1200" baseline="-25000" dirty="0">
                  <a:solidFill>
                    <a:schemeClr val="lt1"/>
                  </a:solidFill>
                  <a:latin typeface="+mn-lt"/>
                  <a:ea typeface="+mn-ea"/>
                  <a:cs typeface="+mn-cs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320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32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  <m:sub>
                        <m:r>
                          <a:rPr lang="en-AU" sz="32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AU" sz="32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AU" sz="32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32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AU" sz="32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en-AU" sz="32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+1</m:t>
                        </m:r>
                      </m:sub>
                    </m:sSub>
                    <m:r>
                      <a:rPr lang="en-AU" sz="32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en-AU" sz="32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32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AU" sz="32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AU" sz="3200" baseline="-25000" dirty="0"/>
                  <a:t>,</a:t>
                </a:r>
                <a:r>
                  <a:rPr lang="zh-CN" altLang="en-US" sz="3200" baseline="-25000" dirty="0"/>
                  <a:t> </a:t>
                </a:r>
                <a:r>
                  <a:rPr lang="en-AU" altLang="zh-CN" sz="3200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32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3200" b="0" i="1" smtClean="0">
                            <a:effectLst/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AU" sz="32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  <m:sub>
                        <m:r>
                          <a:rPr lang="en-AU" sz="32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AU" sz="3200" b="0" i="1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|</m:t>
                    </m:r>
                    <m:r>
                      <a:rPr lang="en-AU" sz="32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AU" altLang="zh-CN" sz="3200" dirty="0"/>
                  <a:t>is within [0, 255]</a:t>
                </a:r>
              </a:p>
              <a:p>
                <a:r>
                  <a:rPr lang="en-AU" sz="3200" dirty="0"/>
                  <a:t>More specifically,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32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3200" i="1">
                            <a:effectLst/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AU" sz="32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  <m:sub>
                        <m:r>
                          <a:rPr lang="en-AU" sz="32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AU" sz="32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|</m:t>
                    </m:r>
                  </m:oMath>
                </a14:m>
                <a:r>
                  <a:rPr lang="en-AU" sz="3200" dirty="0"/>
                  <a:t> falls within a sub-range, denoted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32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32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AU" sz="32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AU" sz="3200" dirty="0"/>
                  <a:t> </a:t>
                </a:r>
              </a:p>
            </p:txBody>
          </p:sp>
        </mc:Choice>
        <mc:Fallback xmlns="">
          <p:sp>
            <p:nvSpPr>
              <p:cNvPr id="11" name="Content Placeholder 1">
                <a:extLst>
                  <a:ext uri="{FF2B5EF4-FFF2-40B4-BE49-F238E27FC236}">
                    <a16:creationId xmlns:a16="http://schemas.microsoft.com/office/drawing/2014/main" id="{0423B8FA-1143-4F4C-9A29-C231E03909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902" y="3485229"/>
                <a:ext cx="11092238" cy="25155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effectLst>
                <a:outerShdw blurRad="25400" dir="17880000">
                  <a:srgbClr val="000000">
                    <a:alpha val="46000"/>
                  </a:srgbClr>
                </a:outerShdw>
              </a:effectLst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4" name="Table 7">
            <a:extLst>
              <a:ext uri="{FF2B5EF4-FFF2-40B4-BE49-F238E27FC236}">
                <a16:creationId xmlns:a16="http://schemas.microsoft.com/office/drawing/2014/main" id="{E2162BEE-F4CA-4B4C-B890-738CD08519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0419947"/>
              </p:ext>
            </p:extLst>
          </p:nvPr>
        </p:nvGraphicFramePr>
        <p:xfrm>
          <a:off x="936171" y="1847791"/>
          <a:ext cx="9753600" cy="671324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478972">
                  <a:extLst>
                    <a:ext uri="{9D8B030D-6E8A-4147-A177-3AD203B41FA5}">
                      <a16:colId xmlns:a16="http://schemas.microsoft.com/office/drawing/2014/main" val="3133869188"/>
                    </a:ext>
                  </a:extLst>
                </a:gridCol>
                <a:gridCol w="544286">
                  <a:extLst>
                    <a:ext uri="{9D8B030D-6E8A-4147-A177-3AD203B41FA5}">
                      <a16:colId xmlns:a16="http://schemas.microsoft.com/office/drawing/2014/main" val="3263741895"/>
                    </a:ext>
                  </a:extLst>
                </a:gridCol>
                <a:gridCol w="957942">
                  <a:extLst>
                    <a:ext uri="{9D8B030D-6E8A-4147-A177-3AD203B41FA5}">
                      <a16:colId xmlns:a16="http://schemas.microsoft.com/office/drawing/2014/main" val="3123715097"/>
                    </a:ext>
                  </a:extLst>
                </a:gridCol>
                <a:gridCol w="1480458">
                  <a:extLst>
                    <a:ext uri="{9D8B030D-6E8A-4147-A177-3AD203B41FA5}">
                      <a16:colId xmlns:a16="http://schemas.microsoft.com/office/drawing/2014/main" val="2598819947"/>
                    </a:ext>
                  </a:extLst>
                </a:gridCol>
                <a:gridCol w="2569028">
                  <a:extLst>
                    <a:ext uri="{9D8B030D-6E8A-4147-A177-3AD203B41FA5}">
                      <a16:colId xmlns:a16="http://schemas.microsoft.com/office/drawing/2014/main" val="2781054927"/>
                    </a:ext>
                  </a:extLst>
                </a:gridCol>
                <a:gridCol w="3722914">
                  <a:extLst>
                    <a:ext uri="{9D8B030D-6E8A-4147-A177-3AD203B41FA5}">
                      <a16:colId xmlns:a16="http://schemas.microsoft.com/office/drawing/2014/main" val="1075959579"/>
                    </a:ext>
                  </a:extLst>
                </a:gridCol>
              </a:tblGrid>
              <a:tr h="671324">
                <a:tc>
                  <a:txBody>
                    <a:bodyPr/>
                    <a:lstStyle/>
                    <a:p>
                      <a:pPr algn="ctr"/>
                      <a:r>
                        <a:rPr lang="en-AU" sz="2800" dirty="0"/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dirty="0"/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dirty="0"/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dirty="0"/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dirty="0" err="1"/>
                        <a:t>i</a:t>
                      </a:r>
                      <a:endParaRPr lang="en-AU" sz="2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dirty="0"/>
                        <a:t>n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8510103"/>
                  </a:ext>
                </a:extLst>
              </a:tr>
            </a:tbl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F47AE285-8703-40C5-932B-27F58D61ABF1}"/>
              </a:ext>
            </a:extLst>
          </p:cNvPr>
          <p:cNvSpPr/>
          <p:nvPr/>
        </p:nvSpPr>
        <p:spPr>
          <a:xfrm>
            <a:off x="505374" y="1199158"/>
            <a:ext cx="966982" cy="5747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3200" dirty="0"/>
              <a:t>0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14F4524-F381-4694-B2F2-35682BED28EB}"/>
              </a:ext>
            </a:extLst>
          </p:cNvPr>
          <p:cNvSpPr/>
          <p:nvPr/>
        </p:nvSpPr>
        <p:spPr>
          <a:xfrm>
            <a:off x="9819754" y="1196528"/>
            <a:ext cx="1237036" cy="5747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3200" dirty="0">
                <a:latin typeface="Cambria Math" panose="02040503050406030204" pitchFamily="18" charset="0"/>
                <a:ea typeface="Cambria Math" panose="02040503050406030204" pitchFamily="18" charset="0"/>
              </a:rPr>
              <a:t>255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BDFAE104-9074-460B-B297-B56D07D70545}"/>
                  </a:ext>
                </a:extLst>
              </p:cNvPr>
              <p:cNvSpPr/>
              <p:nvPr/>
            </p:nvSpPr>
            <p:spPr>
              <a:xfrm>
                <a:off x="5036362" y="2440692"/>
                <a:ext cx="1301256" cy="66616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3200" i="1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32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AU" sz="32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AU" sz="3200" baseline="-25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BDFAE104-9074-460B-B297-B56D07D7054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6362" y="2440692"/>
                <a:ext cx="1301256" cy="6661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21EC2B59-3B8B-4CD7-9E64-FF7B3178CB3F}"/>
                  </a:ext>
                </a:extLst>
              </p:cNvPr>
              <p:cNvSpPr/>
              <p:nvPr/>
            </p:nvSpPr>
            <p:spPr>
              <a:xfrm>
                <a:off x="4068063" y="1248753"/>
                <a:ext cx="966982" cy="57472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320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3200" i="1">
                              <a:effectLst/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AU" sz="3200" i="1">
                              <a:effectLst/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AU" sz="3200" baseline="-25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21EC2B59-3B8B-4CD7-9E64-FF7B3178CB3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8063" y="1248753"/>
                <a:ext cx="966982" cy="57472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62027824-6B6B-42AB-98BE-335AE63AFB63}"/>
                  </a:ext>
                </a:extLst>
              </p:cNvPr>
              <p:cNvSpPr/>
              <p:nvPr/>
            </p:nvSpPr>
            <p:spPr>
              <a:xfrm>
                <a:off x="6387691" y="1199158"/>
                <a:ext cx="966982" cy="57472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320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3200" i="1">
                              <a:effectLst/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AU" sz="3200" i="1">
                              <a:effectLst/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AU" sz="3200" baseline="-25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62027824-6B6B-42AB-98BE-335AE63AFB6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7691" y="1199158"/>
                <a:ext cx="966982" cy="57472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7989857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10551333" y="5758156"/>
            <a:ext cx="753545" cy="365125"/>
          </a:xfrm>
        </p:spPr>
        <p:txBody>
          <a:bodyPr/>
          <a:lstStyle/>
          <a:p>
            <a:fld id="{55670E94-029C-4BA8-8D44-FBB339E4924F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53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986415" y="19240"/>
            <a:ext cx="7653111" cy="708644"/>
          </a:xfrm>
        </p:spPr>
        <p:txBody>
          <a:bodyPr/>
          <a:lstStyle/>
          <a:p>
            <a:r>
              <a:rPr lang="en-AU" dirty="0">
                <a:effectLst/>
              </a:rPr>
              <a:t>PVD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1">
                <a:extLst>
                  <a:ext uri="{FF2B5EF4-FFF2-40B4-BE49-F238E27FC236}">
                    <a16:creationId xmlns:a16="http://schemas.microsoft.com/office/drawing/2014/main" id="{0423B8FA-1143-4F4C-9A29-C231E039099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14806" y="2693874"/>
                <a:ext cx="8273496" cy="1992446"/>
              </a:xfrm>
              <a:prstGeom prst="rect">
                <a:avLst/>
              </a:prstGeom>
              <a:effectLst>
                <a:outerShdw blurRad="25400" dir="17880000">
                  <a:srgbClr val="000000">
                    <a:alpha val="46000"/>
                  </a:srgbClr>
                </a:outerShdw>
              </a:effectLst>
            </p:spPr>
            <p:txBody>
              <a:bodyPr vert="horz" lIns="91440" tIns="45720" rIns="91440" bIns="45720" rtlCol="0" anchor="t">
                <a:normAutofit/>
              </a:bodyPr>
              <a:lstStyle>
                <a:lvl1pPr marL="342900" indent="-306000" algn="l" defTabSz="457200" rtl="0" eaLnBrk="1" latinLnBrk="0" hangingPunct="1">
                  <a:lnSpc>
                    <a:spcPct val="110000"/>
                  </a:lnSpc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21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1pPr>
                <a:lvl2pPr marL="720000" indent="-270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"/>
                  <a:defRPr sz="19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2pPr>
                <a:lvl3pPr marL="1026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7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3pPr>
                <a:lvl4pPr marL="1386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"/>
                  <a:defRPr sz="15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4pPr>
                <a:lvl5pPr marL="1674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5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5pPr>
                <a:lvl6pPr marL="20146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6pPr>
                <a:lvl7pPr marL="24018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7pPr>
                <a:lvl8pPr marL="2789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8pPr>
                <a:lvl9pPr marL="31062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AU" sz="2800" dirty="0"/>
                  <a:t>A pair of grey pixel values: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AU" sz="2800" b="0" kern="1200" baseline="-25000" dirty="0">
                    <a:solidFill>
                      <a:schemeClr val="lt1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+1</m:t>
                        </m:r>
                      </m:sub>
                    </m:sSub>
                  </m:oMath>
                </a14:m>
                <a:endParaRPr lang="en-AU" sz="2800" b="0" kern="1200" baseline="-25000" dirty="0">
                  <a:solidFill>
                    <a:schemeClr val="lt1"/>
                  </a:solidFill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  <m:sub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AU" sz="28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AU" sz="28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+1</m:t>
                        </m:r>
                      </m:sub>
                    </m:sSub>
                    <m:r>
                      <a:rPr lang="en-AU" sz="28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en-AU" sz="28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AU" sz="2800" baseline="-25000" dirty="0"/>
                  <a:t>,</a:t>
                </a:r>
                <a:r>
                  <a:rPr lang="zh-CN" altLang="en-US" sz="2800" baseline="-25000" dirty="0"/>
                  <a:t> </a:t>
                </a:r>
                <a:r>
                  <a:rPr lang="en-AU" altLang="zh-CN" sz="2800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 b="0" i="1" smtClean="0">
                            <a:effectLst/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  <m:sub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AU" sz="2800" b="0" i="1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|</m:t>
                    </m:r>
                    <m:r>
                      <a:rPr lang="en-AU" sz="28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AU" altLang="zh-CN" sz="2800" dirty="0"/>
                  <a:t>is within [0, 255]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  <m:sub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AU" sz="28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|</m:t>
                    </m:r>
                    <m:r>
                      <a:rPr lang="en-AU" sz="2800" b="0" i="1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AU" sz="2800" dirty="0"/>
                  <a:t>falls within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AU" sz="2800" dirty="0"/>
                  <a:t>:</a:t>
                </a:r>
              </a:p>
            </p:txBody>
          </p:sp>
        </mc:Choice>
        <mc:Fallback xmlns="">
          <p:sp>
            <p:nvSpPr>
              <p:cNvPr id="11" name="Content Placeholder 1">
                <a:extLst>
                  <a:ext uri="{FF2B5EF4-FFF2-40B4-BE49-F238E27FC236}">
                    <a16:creationId xmlns:a16="http://schemas.microsoft.com/office/drawing/2014/main" id="{0423B8FA-1143-4F4C-9A29-C231E03909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806" y="2693874"/>
                <a:ext cx="8273496" cy="199244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effectLst>
                <a:outerShdw blurRad="25400" dir="17880000">
                  <a:srgbClr val="000000">
                    <a:alpha val="46000"/>
                  </a:srgbClr>
                </a:outerShdw>
              </a:effectLst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4" name="Table 7">
            <a:extLst>
              <a:ext uri="{FF2B5EF4-FFF2-40B4-BE49-F238E27FC236}">
                <a16:creationId xmlns:a16="http://schemas.microsoft.com/office/drawing/2014/main" id="{E2162BEE-F4CA-4B4C-B890-738CD08519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7883390"/>
              </p:ext>
            </p:extLst>
          </p:nvPr>
        </p:nvGraphicFramePr>
        <p:xfrm>
          <a:off x="569152" y="1450425"/>
          <a:ext cx="9753600" cy="671324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478972">
                  <a:extLst>
                    <a:ext uri="{9D8B030D-6E8A-4147-A177-3AD203B41FA5}">
                      <a16:colId xmlns:a16="http://schemas.microsoft.com/office/drawing/2014/main" val="3133869188"/>
                    </a:ext>
                  </a:extLst>
                </a:gridCol>
                <a:gridCol w="544286">
                  <a:extLst>
                    <a:ext uri="{9D8B030D-6E8A-4147-A177-3AD203B41FA5}">
                      <a16:colId xmlns:a16="http://schemas.microsoft.com/office/drawing/2014/main" val="3263741895"/>
                    </a:ext>
                  </a:extLst>
                </a:gridCol>
                <a:gridCol w="957942">
                  <a:extLst>
                    <a:ext uri="{9D8B030D-6E8A-4147-A177-3AD203B41FA5}">
                      <a16:colId xmlns:a16="http://schemas.microsoft.com/office/drawing/2014/main" val="3123715097"/>
                    </a:ext>
                  </a:extLst>
                </a:gridCol>
                <a:gridCol w="1480458">
                  <a:extLst>
                    <a:ext uri="{9D8B030D-6E8A-4147-A177-3AD203B41FA5}">
                      <a16:colId xmlns:a16="http://schemas.microsoft.com/office/drawing/2014/main" val="2598819947"/>
                    </a:ext>
                  </a:extLst>
                </a:gridCol>
                <a:gridCol w="2569028">
                  <a:extLst>
                    <a:ext uri="{9D8B030D-6E8A-4147-A177-3AD203B41FA5}">
                      <a16:colId xmlns:a16="http://schemas.microsoft.com/office/drawing/2014/main" val="2781054927"/>
                    </a:ext>
                  </a:extLst>
                </a:gridCol>
                <a:gridCol w="3722914">
                  <a:extLst>
                    <a:ext uri="{9D8B030D-6E8A-4147-A177-3AD203B41FA5}">
                      <a16:colId xmlns:a16="http://schemas.microsoft.com/office/drawing/2014/main" val="1075959579"/>
                    </a:ext>
                  </a:extLst>
                </a:gridCol>
              </a:tblGrid>
              <a:tr h="671324">
                <a:tc>
                  <a:txBody>
                    <a:bodyPr/>
                    <a:lstStyle/>
                    <a:p>
                      <a:pPr algn="ctr"/>
                      <a:r>
                        <a:rPr lang="en-AU" sz="2800" dirty="0"/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dirty="0"/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dirty="0"/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dirty="0"/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dirty="0" err="1"/>
                        <a:t>i</a:t>
                      </a:r>
                      <a:endParaRPr lang="en-AU" sz="2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800" dirty="0"/>
                        <a:t>n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8510103"/>
                  </a:ext>
                </a:extLst>
              </a:tr>
            </a:tbl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F47AE285-8703-40C5-932B-27F58D61ABF1}"/>
              </a:ext>
            </a:extLst>
          </p:cNvPr>
          <p:cNvSpPr/>
          <p:nvPr/>
        </p:nvSpPr>
        <p:spPr>
          <a:xfrm>
            <a:off x="138355" y="876436"/>
            <a:ext cx="966982" cy="5747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/>
              <a:t>0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14F4524-F381-4694-B2F2-35682BED28EB}"/>
              </a:ext>
            </a:extLst>
          </p:cNvPr>
          <p:cNvSpPr/>
          <p:nvPr/>
        </p:nvSpPr>
        <p:spPr>
          <a:xfrm>
            <a:off x="9452735" y="799162"/>
            <a:ext cx="1237036" cy="5747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255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BDFAE104-9074-460B-B297-B56D07D70545}"/>
                  </a:ext>
                </a:extLst>
              </p:cNvPr>
              <p:cNvSpPr/>
              <p:nvPr/>
            </p:nvSpPr>
            <p:spPr>
              <a:xfrm>
                <a:off x="4757516" y="2043326"/>
                <a:ext cx="1301256" cy="66616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2800" i="1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AU" sz="2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AU" sz="2800" baseline="-25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BDFAE104-9074-460B-B297-B56D07D7054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7516" y="2043326"/>
                <a:ext cx="1301256" cy="6661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21EC2B59-3B8B-4CD7-9E64-FF7B3178CB3F}"/>
                  </a:ext>
                </a:extLst>
              </p:cNvPr>
              <p:cNvSpPr/>
              <p:nvPr/>
            </p:nvSpPr>
            <p:spPr>
              <a:xfrm>
                <a:off x="3701044" y="851387"/>
                <a:ext cx="966982" cy="57472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280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800" i="1">
                              <a:effectLst/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AU" sz="2800" i="1">
                              <a:effectLst/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AU" sz="2800" baseline="-25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21EC2B59-3B8B-4CD7-9E64-FF7B3178CB3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1044" y="851387"/>
                <a:ext cx="966982" cy="57472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62027824-6B6B-42AB-98BE-335AE63AFB63}"/>
                  </a:ext>
                </a:extLst>
              </p:cNvPr>
              <p:cNvSpPr/>
              <p:nvPr/>
            </p:nvSpPr>
            <p:spPr>
              <a:xfrm>
                <a:off x="6020672" y="801792"/>
                <a:ext cx="966982" cy="57472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2800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AU" sz="2800" i="1">
                              <a:effectLst/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AU" sz="2800" i="1">
                              <a:effectLst/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AU" sz="2800" baseline="-25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62027824-6B6B-42AB-98BE-335AE63AFB6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0672" y="801792"/>
                <a:ext cx="966982" cy="57472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C33E2CE6-DB72-49A8-A408-8F2C2626C8E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5374" y="4980121"/>
            <a:ext cx="4305901" cy="114316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ontent Placeholder 1">
                <a:extLst>
                  <a:ext uri="{FF2B5EF4-FFF2-40B4-BE49-F238E27FC236}">
                    <a16:creationId xmlns:a16="http://schemas.microsoft.com/office/drawing/2014/main" id="{9D131AC1-E467-40B2-9049-70A4DB712EF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845888" y="4686320"/>
                <a:ext cx="7288988" cy="1924030"/>
              </a:xfrm>
              <a:prstGeom prst="rect">
                <a:avLst/>
              </a:prstGeom>
              <a:effectLst>
                <a:outerShdw blurRad="25400" dir="17880000">
                  <a:srgbClr val="000000">
                    <a:alpha val="46000"/>
                  </a:srgbClr>
                </a:outerShdw>
              </a:effectLst>
            </p:spPr>
            <p:txBody>
              <a:bodyPr vert="horz" lIns="91440" tIns="45720" rIns="91440" bIns="45720" rtlCol="0" anchor="t">
                <a:noAutofit/>
              </a:bodyPr>
              <a:lstStyle>
                <a:lvl1pPr marL="342900" indent="-306000" algn="l" defTabSz="457200" rtl="0" eaLnBrk="1" latinLnBrk="0" hangingPunct="1">
                  <a:lnSpc>
                    <a:spcPct val="110000"/>
                  </a:lnSpc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21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1pPr>
                <a:lvl2pPr marL="720000" indent="-270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"/>
                  <a:defRPr sz="19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2pPr>
                <a:lvl3pPr marL="1026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7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3pPr>
                <a:lvl4pPr marL="1386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"/>
                  <a:defRPr sz="15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4pPr>
                <a:lvl5pPr marL="1674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5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5pPr>
                <a:lvl6pPr marL="20146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6pPr>
                <a:lvl7pPr marL="24018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7pPr>
                <a:lvl8pPr marL="2789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8pPr>
                <a:lvl9pPr marL="31062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240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i="1">
                            <a:effectLst/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AU" sz="2400" i="1"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AU" sz="24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 is the lower boundary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4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AU" sz="24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AU" sz="2400" dirty="0">
                  <a:effectLst/>
                  <a:latin typeface="Cambria Math" panose="02040503050406030204" pitchFamily="18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2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AU" sz="2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AU" sz="24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2400" dirty="0"/>
                  <a:t> </a:t>
                </a:r>
                <a:r>
                  <a:rPr lang="en-US" sz="2400" dirty="0">
                    <a:effectLst/>
                  </a:rPr>
                  <a:t>is the equivalent decimal value of</a:t>
                </a:r>
                <a14:m>
                  <m:oMath xmlns:m="http://schemas.openxmlformats.org/officeDocument/2006/math">
                    <m:r>
                      <a:rPr lang="en-AU" sz="2400" b="0" i="0" smtClean="0">
                        <a:effectLst/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400" i="1">
                        <a:effectLst/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>
                    <a:effectLst/>
                  </a:rPr>
                  <a:t> secret bits that can be embedded into this pair of pixels </a:t>
                </a:r>
              </a:p>
              <a:p>
                <a14:m>
                  <m:oMath xmlns:m="http://schemas.openxmlformats.org/officeDocument/2006/math">
                    <m:r>
                      <a:rPr lang="en-AU" sz="2400" i="1" smtClean="0">
                        <a:effectLst/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AU" sz="2400" i="1" smtClean="0">
                        <a:effectLst/>
                        <a:latin typeface="Cambria Math" panose="02040503050406030204" pitchFamily="18" charset="0"/>
                      </a:rPr>
                      <m:t>= </m:t>
                    </m:r>
                    <m:func>
                      <m:funcPr>
                        <m:ctrlPr>
                          <a:rPr lang="en-AU" sz="2400" i="1">
                            <a:effectLst/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AU" sz="24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AU" sz="2400">
                                <a:effectLst/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AU" sz="2400" i="1">
                                <a:effectLst/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d>
                          <m:dPr>
                            <m:ctrlPr>
                              <a:rPr lang="en-AU" sz="24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AU" sz="2400" i="1"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AU" sz="2400" i="1">
                                    <a:effectLst/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  <m:sub>
                                <m:r>
                                  <a:rPr lang="en-AU" sz="2400" i="1">
                                    <a:effectLst/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AU" sz="2400" i="1">
                                <a:effectLst/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AU" sz="2400" i="1"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AU" sz="2400" i="1">
                                    <a:effectLst/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e>
                              <m:sub>
                                <m:r>
                                  <a:rPr lang="en-AU" sz="2400" i="1">
                                    <a:effectLst/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AU" sz="2400" i="1">
                                <a:effectLst/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e>
                    </m:func>
                  </m:oMath>
                </a14:m>
                <a:endParaRPr lang="en-AU" sz="2400" dirty="0">
                  <a:effectLst/>
                </a:endParaRPr>
              </a:p>
            </p:txBody>
          </p:sp>
        </mc:Choice>
        <mc:Fallback xmlns="">
          <p:sp>
            <p:nvSpPr>
              <p:cNvPr id="22" name="Content Placeholder 1">
                <a:extLst>
                  <a:ext uri="{FF2B5EF4-FFF2-40B4-BE49-F238E27FC236}">
                    <a16:creationId xmlns:a16="http://schemas.microsoft.com/office/drawing/2014/main" id="{9D131AC1-E467-40B2-9049-70A4DB712E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5888" y="4686320"/>
                <a:ext cx="7288988" cy="192403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effectLst>
                <a:outerShdw blurRad="25400" dir="17880000">
                  <a:srgbClr val="000000">
                    <a:alpha val="46000"/>
                  </a:srgbClr>
                </a:outerShdw>
              </a:effectLst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4FF18727-C930-4992-B33B-B75BF05DD22D}"/>
                  </a:ext>
                </a:extLst>
              </p:cNvPr>
              <p:cNvSpPr/>
              <p:nvPr/>
            </p:nvSpPr>
            <p:spPr>
              <a:xfrm>
                <a:off x="3581053" y="5279221"/>
                <a:ext cx="420885" cy="36245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𝑗</m:t>
                      </m:r>
                    </m:oMath>
                  </m:oMathPara>
                </a14:m>
                <a:endParaRPr lang="en-AU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4FF18727-C930-4992-B33B-B75BF05DD22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1053" y="5279221"/>
                <a:ext cx="420885" cy="3624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2694964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88865" y="-4637"/>
            <a:ext cx="10353762" cy="868522"/>
          </a:xfrm>
        </p:spPr>
        <p:txBody>
          <a:bodyPr/>
          <a:lstStyle/>
          <a:p>
            <a:r>
              <a:rPr lang="en-AU" dirty="0">
                <a:effectLst/>
              </a:rPr>
              <a:t>PVD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1">
                <a:extLst>
                  <a:ext uri="{FF2B5EF4-FFF2-40B4-BE49-F238E27FC236}">
                    <a16:creationId xmlns:a16="http://schemas.microsoft.com/office/drawing/2014/main" id="{E5C45541-D93A-4FB3-A102-C582866D3A9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9240" y="863885"/>
                <a:ext cx="5528760" cy="2195160"/>
              </a:xfrm>
              <a:prstGeom prst="rect">
                <a:avLst/>
              </a:prstGeom>
              <a:effectLst>
                <a:outerShdw blurRad="25400" dir="17880000">
                  <a:srgbClr val="000000">
                    <a:alpha val="46000"/>
                  </a:srgbClr>
                </a:outerShdw>
              </a:effectLst>
            </p:spPr>
            <p:txBody>
              <a:bodyPr vert="horz" lIns="91440" tIns="45720" rIns="91440" bIns="45720" rtlCol="0" anchor="t">
                <a:normAutofit fontScale="92500" lnSpcReduction="10000"/>
              </a:bodyPr>
              <a:lstStyle>
                <a:lvl1pPr marL="342900" indent="-306000" algn="l" defTabSz="457200" rtl="0" eaLnBrk="1" latinLnBrk="0" hangingPunct="1">
                  <a:lnSpc>
                    <a:spcPct val="110000"/>
                  </a:lnSpc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21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1pPr>
                <a:lvl2pPr marL="720000" indent="-270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"/>
                  <a:defRPr sz="19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2pPr>
                <a:lvl3pPr marL="1026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7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3pPr>
                <a:lvl4pPr marL="1386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"/>
                  <a:defRPr sz="15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4pPr>
                <a:lvl5pPr marL="1674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5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5pPr>
                <a:lvl6pPr marL="20146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6pPr>
                <a:lvl7pPr marL="24018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7pPr>
                <a:lvl8pPr marL="2789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8pPr>
                <a:lvl9pPr marL="31062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AU" sz="2800" dirty="0"/>
                  <a:t>A pair of grey pixel values: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AU" sz="2800" b="0" kern="1200" baseline="-25000" dirty="0">
                    <a:solidFill>
                      <a:schemeClr val="lt1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AU" sz="280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AU" sz="280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AU" sz="2800" b="0" i="0" smtClean="0"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r>
                  <a:rPr lang="en-AU" sz="2800" b="0" i="0" dirty="0"/>
                  <a:t>Here they are 50, 65.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  <m:sub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AU" sz="28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AU" sz="28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+1</m:t>
                        </m:r>
                      </m:sub>
                    </m:sSub>
                    <m:r>
                      <a:rPr lang="en-AU" sz="28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en-AU" sz="28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AU" altLang="zh-CN" sz="2800" dirty="0"/>
                  <a:t>. 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  <m:sub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AU" altLang="zh-CN" sz="2800" dirty="0"/>
                  <a:t> is 15.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  <m:sub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AU" sz="2800" dirty="0"/>
                  <a:t> falls within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AU" sz="2800" dirty="0"/>
                  <a:t> (8, 23):</a:t>
                </a:r>
              </a:p>
            </p:txBody>
          </p:sp>
        </mc:Choice>
        <mc:Fallback xmlns="">
          <p:sp>
            <p:nvSpPr>
              <p:cNvPr id="9" name="Content Placeholder 1">
                <a:extLst>
                  <a:ext uri="{FF2B5EF4-FFF2-40B4-BE49-F238E27FC236}">
                    <a16:creationId xmlns:a16="http://schemas.microsoft.com/office/drawing/2014/main" id="{E5C45541-D93A-4FB3-A102-C582866D3A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40" y="863885"/>
                <a:ext cx="5528760" cy="21951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effectLst>
                <a:outerShdw blurRad="25400" dir="17880000">
                  <a:srgbClr val="000000">
                    <a:alpha val="46000"/>
                  </a:srgbClr>
                </a:outerShdw>
              </a:effectLst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66715411-DA38-4F65-9AD8-09963392B0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2445" y="863885"/>
            <a:ext cx="6195554" cy="3745883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7B1C4799-1CFE-46B8-9D48-894085516C6C}"/>
              </a:ext>
            </a:extLst>
          </p:cNvPr>
          <p:cNvSpPr/>
          <p:nvPr/>
        </p:nvSpPr>
        <p:spPr>
          <a:xfrm>
            <a:off x="9195758" y="863885"/>
            <a:ext cx="2454555" cy="158601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82E54D9-A213-4C58-8B0D-37CAC9CA7864}"/>
              </a:ext>
            </a:extLst>
          </p:cNvPr>
          <p:cNvSpPr/>
          <p:nvPr/>
        </p:nvSpPr>
        <p:spPr>
          <a:xfrm>
            <a:off x="9195758" y="1333500"/>
            <a:ext cx="2416454" cy="307459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9260945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88865" y="-4637"/>
            <a:ext cx="10353762" cy="868522"/>
          </a:xfrm>
        </p:spPr>
        <p:txBody>
          <a:bodyPr/>
          <a:lstStyle/>
          <a:p>
            <a:r>
              <a:rPr lang="en-AU" dirty="0">
                <a:effectLst/>
              </a:rPr>
              <a:t>PVD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1">
                <a:extLst>
                  <a:ext uri="{FF2B5EF4-FFF2-40B4-BE49-F238E27FC236}">
                    <a16:creationId xmlns:a16="http://schemas.microsoft.com/office/drawing/2014/main" id="{E5C45541-D93A-4FB3-A102-C582866D3A9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9240" y="863885"/>
                <a:ext cx="5528760" cy="2195160"/>
              </a:xfrm>
              <a:prstGeom prst="rect">
                <a:avLst/>
              </a:prstGeom>
              <a:effectLst>
                <a:outerShdw blurRad="25400" dir="17880000">
                  <a:srgbClr val="000000">
                    <a:alpha val="46000"/>
                  </a:srgbClr>
                </a:outerShdw>
              </a:effectLst>
            </p:spPr>
            <p:txBody>
              <a:bodyPr vert="horz" lIns="91440" tIns="45720" rIns="91440" bIns="45720" rtlCol="0" anchor="t">
                <a:normAutofit fontScale="92500" lnSpcReduction="10000"/>
              </a:bodyPr>
              <a:lstStyle>
                <a:lvl1pPr marL="342900" indent="-306000" algn="l" defTabSz="457200" rtl="0" eaLnBrk="1" latinLnBrk="0" hangingPunct="1">
                  <a:lnSpc>
                    <a:spcPct val="110000"/>
                  </a:lnSpc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21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1pPr>
                <a:lvl2pPr marL="720000" indent="-270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"/>
                  <a:defRPr sz="19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2pPr>
                <a:lvl3pPr marL="1026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7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3pPr>
                <a:lvl4pPr marL="1386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"/>
                  <a:defRPr sz="15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4pPr>
                <a:lvl5pPr marL="1674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5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5pPr>
                <a:lvl6pPr marL="20146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6pPr>
                <a:lvl7pPr marL="24018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7pPr>
                <a:lvl8pPr marL="2789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8pPr>
                <a:lvl9pPr marL="31062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AU" sz="2800" dirty="0"/>
                  <a:t>A pair of grey pixel values: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AU" sz="2800" b="0" kern="1200" baseline="-25000" dirty="0">
                    <a:solidFill>
                      <a:schemeClr val="lt1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AU" sz="280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AU" sz="280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AU" sz="2800" b="0" i="0" smtClean="0"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r>
                  <a:rPr lang="en-AU" sz="2800" b="0" i="0" dirty="0"/>
                  <a:t>Here they are 50, 65.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  <m:sub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AU" sz="28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AU" sz="28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+1</m:t>
                        </m:r>
                      </m:sub>
                    </m:sSub>
                    <m:r>
                      <a:rPr lang="en-AU" sz="28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en-AU" sz="28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AU" altLang="zh-CN" sz="2800" dirty="0"/>
                  <a:t>. 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  <m:sub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AU" altLang="zh-CN" sz="2800" dirty="0"/>
                  <a:t> is 15.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  <m:sub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AU" sz="2800" dirty="0"/>
                  <a:t> falls within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AU" sz="2800" dirty="0"/>
                  <a:t> (8, 23):</a:t>
                </a:r>
              </a:p>
            </p:txBody>
          </p:sp>
        </mc:Choice>
        <mc:Fallback xmlns="">
          <p:sp>
            <p:nvSpPr>
              <p:cNvPr id="9" name="Content Placeholder 1">
                <a:extLst>
                  <a:ext uri="{FF2B5EF4-FFF2-40B4-BE49-F238E27FC236}">
                    <a16:creationId xmlns:a16="http://schemas.microsoft.com/office/drawing/2014/main" id="{E5C45541-D93A-4FB3-A102-C582866D3A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40" y="863885"/>
                <a:ext cx="5528760" cy="21951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effectLst>
                <a:outerShdw blurRad="25400" dir="17880000">
                  <a:srgbClr val="000000">
                    <a:alpha val="46000"/>
                  </a:srgbClr>
                </a:outerShdw>
              </a:effectLst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3514D84F-E859-4D06-8B4F-1632D9F071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779" y="3227376"/>
            <a:ext cx="4305901" cy="114316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1">
                <a:extLst>
                  <a:ext uri="{FF2B5EF4-FFF2-40B4-BE49-F238E27FC236}">
                    <a16:creationId xmlns:a16="http://schemas.microsoft.com/office/drawing/2014/main" id="{4B74B8EA-4DA4-433E-90CD-B2865A69B2F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9239" y="4609768"/>
                <a:ext cx="11591073" cy="1853505"/>
              </a:xfrm>
              <a:prstGeom prst="rect">
                <a:avLst/>
              </a:prstGeom>
              <a:effectLst>
                <a:outerShdw blurRad="25400" dir="17880000">
                  <a:srgbClr val="000000">
                    <a:alpha val="46000"/>
                  </a:srgbClr>
                </a:outerShdw>
              </a:effectLst>
            </p:spPr>
            <p:txBody>
              <a:bodyPr vert="horz" lIns="91440" tIns="45720" rIns="91440" bIns="45720" rtlCol="0" anchor="t">
                <a:normAutofit/>
              </a:bodyPr>
              <a:lstStyle>
                <a:lvl1pPr marL="342900" indent="-306000" algn="l" defTabSz="457200" rtl="0" eaLnBrk="1" latinLnBrk="0" hangingPunct="1">
                  <a:lnSpc>
                    <a:spcPct val="110000"/>
                  </a:lnSpc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21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1pPr>
                <a:lvl2pPr marL="720000" indent="-270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"/>
                  <a:defRPr sz="19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2pPr>
                <a:lvl3pPr marL="1026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7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3pPr>
                <a:lvl4pPr marL="1386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"/>
                  <a:defRPr sz="15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4pPr>
                <a:lvl5pPr marL="1674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5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5pPr>
                <a:lvl6pPr marL="20146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6pPr>
                <a:lvl7pPr marL="24018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7pPr>
                <a:lvl8pPr marL="2789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8pPr>
                <a:lvl9pPr marL="31062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260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AU" sz="2600" i="1" dirty="0">
                    <a:effectLst/>
                    <a:latin typeface="Cambria Math" panose="02040503050406030204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en-AU" sz="26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is the lower boundary of </a:t>
                </a:r>
                <a14:m>
                  <m:oMath xmlns:m="http://schemas.openxmlformats.org/officeDocument/2006/math">
                    <m:r>
                      <a:rPr lang="en-AU" sz="2600" b="0" i="0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AU" sz="260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AU" sz="2600" i="1" dirty="0">
                    <a:effectLst/>
                    <a:latin typeface="Cambria Math" panose="02040503050406030204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. </a:t>
                </a:r>
                <a:r>
                  <a:rPr lang="en-AU" sz="26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AU" sz="2600" i="1">
                        <a:effectLst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sz="26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is 8.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2600" i="1" smtClean="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2600" dirty="0"/>
                  <a:t> is the equivalent decimal value of </a:t>
                </a:r>
                <a14:m>
                  <m:oMath xmlns:m="http://schemas.openxmlformats.org/officeDocument/2006/math">
                    <m:r>
                      <a:rPr lang="en-AU" sz="2600" i="1">
                        <a:effectLst/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600" dirty="0"/>
                  <a:t> secret bits that can be embedded for this pair of pixels. Here </a:t>
                </a:r>
                <a14:m>
                  <m:oMath xmlns:m="http://schemas.openxmlformats.org/officeDocument/2006/math">
                    <m:r>
                      <a:rPr lang="en-AU" sz="2600" i="1">
                        <a:effectLst/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600" dirty="0"/>
                  <a:t> decided by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AU" sz="26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AU" sz="2600">
                                <a:effectLst/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AU" sz="2600" i="1">
                                <a:effectLst/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d>
                          <m:dPr>
                            <m:ctrlPr>
                              <a:rPr lang="en-AU" sz="26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AU" sz="2600" b="0" i="1" smtClean="0">
                                <a:effectLst/>
                                <a:latin typeface="Cambria Math" panose="02040503050406030204" pitchFamily="18" charset="0"/>
                              </a:rPr>
                              <m:t>23−8</m:t>
                            </m:r>
                            <m:r>
                              <a:rPr lang="en-AU" sz="2600" i="1">
                                <a:effectLst/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e>
                    </m:func>
                  </m:oMath>
                </a14:m>
                <a:r>
                  <a:rPr lang="en-US" sz="2600" dirty="0"/>
                  <a:t> is 4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6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2600" dirty="0"/>
                  <a:t> is 10. </a:t>
                </a:r>
                <a:endParaRPr lang="en-AU" sz="2600" dirty="0"/>
              </a:p>
            </p:txBody>
          </p:sp>
        </mc:Choice>
        <mc:Fallback xmlns="">
          <p:sp>
            <p:nvSpPr>
              <p:cNvPr id="11" name="Content Placeholder 1">
                <a:extLst>
                  <a:ext uri="{FF2B5EF4-FFF2-40B4-BE49-F238E27FC236}">
                    <a16:creationId xmlns:a16="http://schemas.microsoft.com/office/drawing/2014/main" id="{4B74B8EA-4DA4-433E-90CD-B2865A69B2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39" y="4609768"/>
                <a:ext cx="11591073" cy="185350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effectLst>
                <a:outerShdw blurRad="25400" dir="17880000">
                  <a:srgbClr val="000000">
                    <a:alpha val="46000"/>
                  </a:srgbClr>
                </a:outerShdw>
              </a:effectLst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66715411-DA38-4F65-9AD8-09963392B09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2445" y="863885"/>
            <a:ext cx="6195554" cy="3745883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7B1C4799-1CFE-46B8-9D48-894085516C6C}"/>
              </a:ext>
            </a:extLst>
          </p:cNvPr>
          <p:cNvSpPr/>
          <p:nvPr/>
        </p:nvSpPr>
        <p:spPr>
          <a:xfrm>
            <a:off x="9195758" y="863885"/>
            <a:ext cx="2454555" cy="158601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F1DB5B98-F053-44B2-9ED0-11D67A0C4071}"/>
                  </a:ext>
                </a:extLst>
              </p:cNvPr>
              <p:cNvSpPr/>
              <p:nvPr/>
            </p:nvSpPr>
            <p:spPr>
              <a:xfrm>
                <a:off x="3276253" y="3526621"/>
                <a:ext cx="420885" cy="36245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𝑗</m:t>
                      </m:r>
                    </m:oMath>
                  </m:oMathPara>
                </a14:m>
                <a:endParaRPr lang="en-AU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F1DB5B98-F053-44B2-9ED0-11D67A0C407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253" y="3526621"/>
                <a:ext cx="420885" cy="3624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Oval 11">
            <a:extLst>
              <a:ext uri="{FF2B5EF4-FFF2-40B4-BE49-F238E27FC236}">
                <a16:creationId xmlns:a16="http://schemas.microsoft.com/office/drawing/2014/main" id="{BFF4C609-5EAD-4244-B2BB-CFF8174F7BD8}"/>
              </a:ext>
            </a:extLst>
          </p:cNvPr>
          <p:cNvSpPr/>
          <p:nvPr/>
        </p:nvSpPr>
        <p:spPr>
          <a:xfrm>
            <a:off x="8715984" y="1732407"/>
            <a:ext cx="680936" cy="71749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35CE382-DF82-4654-88F9-B6362BDECFA6}"/>
              </a:ext>
            </a:extLst>
          </p:cNvPr>
          <p:cNvSpPr/>
          <p:nvPr/>
        </p:nvSpPr>
        <p:spPr>
          <a:xfrm>
            <a:off x="8715984" y="3029901"/>
            <a:ext cx="680936" cy="71749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1104307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88865" y="-4637"/>
            <a:ext cx="10353762" cy="868522"/>
          </a:xfrm>
        </p:spPr>
        <p:txBody>
          <a:bodyPr/>
          <a:lstStyle/>
          <a:p>
            <a:r>
              <a:rPr lang="en-AU" dirty="0">
                <a:effectLst/>
              </a:rPr>
              <a:t>PVD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1">
                <a:extLst>
                  <a:ext uri="{FF2B5EF4-FFF2-40B4-BE49-F238E27FC236}">
                    <a16:creationId xmlns:a16="http://schemas.microsoft.com/office/drawing/2014/main" id="{E5C45541-D93A-4FB3-A102-C582866D3A9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9240" y="863885"/>
                <a:ext cx="5528760" cy="2195160"/>
              </a:xfrm>
              <a:prstGeom prst="rect">
                <a:avLst/>
              </a:prstGeom>
              <a:effectLst>
                <a:outerShdw blurRad="25400" dir="17880000">
                  <a:srgbClr val="000000">
                    <a:alpha val="46000"/>
                  </a:srgbClr>
                </a:outerShdw>
              </a:effectLst>
            </p:spPr>
            <p:txBody>
              <a:bodyPr vert="horz" lIns="91440" tIns="45720" rIns="91440" bIns="45720" rtlCol="0" anchor="t">
                <a:normAutofit fontScale="92500" lnSpcReduction="10000"/>
              </a:bodyPr>
              <a:lstStyle>
                <a:lvl1pPr marL="342900" indent="-306000" algn="l" defTabSz="457200" rtl="0" eaLnBrk="1" latinLnBrk="0" hangingPunct="1">
                  <a:lnSpc>
                    <a:spcPct val="110000"/>
                  </a:lnSpc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21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1pPr>
                <a:lvl2pPr marL="720000" indent="-270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"/>
                  <a:defRPr sz="19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2pPr>
                <a:lvl3pPr marL="1026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7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3pPr>
                <a:lvl4pPr marL="1386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"/>
                  <a:defRPr sz="15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4pPr>
                <a:lvl5pPr marL="1674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5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5pPr>
                <a:lvl6pPr marL="20146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6pPr>
                <a:lvl7pPr marL="24018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7pPr>
                <a:lvl8pPr marL="2789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8pPr>
                <a:lvl9pPr marL="31062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AU" sz="2800" dirty="0"/>
                  <a:t>A pair of grey pixel values: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AU" sz="2800" b="0" kern="1200" baseline="-25000" dirty="0">
                    <a:solidFill>
                      <a:schemeClr val="lt1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AU" sz="280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AU" sz="280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AU" sz="2800" b="0" i="0" smtClean="0"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r>
                  <a:rPr lang="en-AU" sz="2800" b="0" i="0" dirty="0"/>
                  <a:t>Here they are 50, 65.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  <m:sub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AU" sz="28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AU" sz="28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+1</m:t>
                        </m:r>
                      </m:sub>
                    </m:sSub>
                    <m:r>
                      <a:rPr lang="en-AU" sz="28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en-AU" sz="28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AU" altLang="zh-CN" sz="2800" dirty="0"/>
                  <a:t>. 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  <m:sub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AU" altLang="zh-CN" sz="2800" dirty="0"/>
                  <a:t> is 15.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  <m:sub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AU" sz="2800" dirty="0"/>
                  <a:t> falls within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AU" sz="2800" dirty="0"/>
                  <a:t> (8, 23):</a:t>
                </a:r>
              </a:p>
            </p:txBody>
          </p:sp>
        </mc:Choice>
        <mc:Fallback xmlns="">
          <p:sp>
            <p:nvSpPr>
              <p:cNvPr id="9" name="Content Placeholder 1">
                <a:extLst>
                  <a:ext uri="{FF2B5EF4-FFF2-40B4-BE49-F238E27FC236}">
                    <a16:creationId xmlns:a16="http://schemas.microsoft.com/office/drawing/2014/main" id="{E5C45541-D93A-4FB3-A102-C582866D3A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40" y="863885"/>
                <a:ext cx="5528760" cy="21951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effectLst>
                <a:outerShdw blurRad="25400" dir="17880000">
                  <a:srgbClr val="000000">
                    <a:alpha val="46000"/>
                  </a:srgbClr>
                </a:outerShdw>
              </a:effectLst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3514D84F-E859-4D06-8B4F-1632D9F071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779" y="3227376"/>
            <a:ext cx="4305901" cy="114316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1">
                <a:extLst>
                  <a:ext uri="{FF2B5EF4-FFF2-40B4-BE49-F238E27FC236}">
                    <a16:creationId xmlns:a16="http://schemas.microsoft.com/office/drawing/2014/main" id="{4B74B8EA-4DA4-433E-90CD-B2865A69B2F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9239" y="4609768"/>
                <a:ext cx="11591073" cy="1853505"/>
              </a:xfrm>
              <a:prstGeom prst="rect">
                <a:avLst/>
              </a:prstGeom>
              <a:effectLst>
                <a:outerShdw blurRad="25400" dir="17880000">
                  <a:srgbClr val="000000">
                    <a:alpha val="46000"/>
                  </a:srgbClr>
                </a:outerShdw>
              </a:effectLst>
            </p:spPr>
            <p:txBody>
              <a:bodyPr vert="horz" lIns="91440" tIns="45720" rIns="91440" bIns="45720" rtlCol="0" anchor="t">
                <a:normAutofit/>
              </a:bodyPr>
              <a:lstStyle>
                <a:lvl1pPr marL="342900" indent="-306000" algn="l" defTabSz="457200" rtl="0" eaLnBrk="1" latinLnBrk="0" hangingPunct="1">
                  <a:lnSpc>
                    <a:spcPct val="110000"/>
                  </a:lnSpc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21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1pPr>
                <a:lvl2pPr marL="720000" indent="-270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"/>
                  <a:defRPr sz="19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2pPr>
                <a:lvl3pPr marL="1026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7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3pPr>
                <a:lvl4pPr marL="1386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"/>
                  <a:defRPr sz="15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4pPr>
                <a:lvl5pPr marL="1674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5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5pPr>
                <a:lvl6pPr marL="20146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6pPr>
                <a:lvl7pPr marL="24018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7pPr>
                <a:lvl8pPr marL="2789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8pPr>
                <a:lvl9pPr marL="31062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260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AU" sz="2600" i="1" dirty="0">
                    <a:effectLst/>
                    <a:latin typeface="Cambria Math" panose="02040503050406030204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en-AU" sz="26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is the lower boundary of </a:t>
                </a:r>
                <a14:m>
                  <m:oMath xmlns:m="http://schemas.openxmlformats.org/officeDocument/2006/math">
                    <m:r>
                      <a:rPr lang="en-AU" sz="2600" b="0" i="0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AU" sz="260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AU" sz="2600" i="1" dirty="0">
                    <a:effectLst/>
                    <a:latin typeface="Cambria Math" panose="02040503050406030204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. </a:t>
                </a:r>
                <a:r>
                  <a:rPr lang="en-AU" sz="26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AU" sz="2600" i="1">
                        <a:effectLst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sz="26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is 8.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2600" i="1" smtClean="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2600" dirty="0"/>
                  <a:t> is the equivalent decimal value of </a:t>
                </a:r>
                <a14:m>
                  <m:oMath xmlns:m="http://schemas.openxmlformats.org/officeDocument/2006/math">
                    <m:r>
                      <a:rPr lang="en-AU" sz="2600" i="1">
                        <a:effectLst/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600" dirty="0"/>
                  <a:t> secret bits that can be embedded for this pair of pixels. Here </a:t>
                </a:r>
                <a14:m>
                  <m:oMath xmlns:m="http://schemas.openxmlformats.org/officeDocument/2006/math">
                    <m:r>
                      <a:rPr lang="en-AU" sz="2600" i="1">
                        <a:effectLst/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600" dirty="0"/>
                  <a:t> (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AU" sz="26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AU" sz="2600">
                                <a:effectLst/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AU" sz="2600" i="1">
                                <a:effectLst/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d>
                          <m:dPr>
                            <m:ctrlPr>
                              <a:rPr lang="en-AU" sz="26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AU" sz="2600" b="0" i="1" smtClean="0">
                                <a:effectLst/>
                                <a:latin typeface="Cambria Math" panose="02040503050406030204" pitchFamily="18" charset="0"/>
                              </a:rPr>
                              <m:t>23−8</m:t>
                            </m:r>
                            <m:r>
                              <a:rPr lang="en-AU" sz="2600" i="1">
                                <a:effectLst/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e>
                    </m:func>
                  </m:oMath>
                </a14:m>
                <a:r>
                  <a:rPr lang="en-US" sz="2600" dirty="0"/>
                  <a:t>) is 4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6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2600" dirty="0"/>
                  <a:t> is 10. </a:t>
                </a:r>
                <a:endParaRPr lang="en-AU" sz="2600" dirty="0"/>
              </a:p>
            </p:txBody>
          </p:sp>
        </mc:Choice>
        <mc:Fallback xmlns="">
          <p:sp>
            <p:nvSpPr>
              <p:cNvPr id="11" name="Content Placeholder 1">
                <a:extLst>
                  <a:ext uri="{FF2B5EF4-FFF2-40B4-BE49-F238E27FC236}">
                    <a16:creationId xmlns:a16="http://schemas.microsoft.com/office/drawing/2014/main" id="{4B74B8EA-4DA4-433E-90CD-B2865A69B2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39" y="4609768"/>
                <a:ext cx="11591073" cy="185350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effectLst>
                <a:outerShdw blurRad="25400" dir="17880000">
                  <a:srgbClr val="000000">
                    <a:alpha val="46000"/>
                  </a:srgbClr>
                </a:outerShdw>
              </a:effectLst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66715411-DA38-4F65-9AD8-09963392B09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2445" y="863885"/>
            <a:ext cx="6195554" cy="3745883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7B1C4799-1CFE-46B8-9D48-894085516C6C}"/>
              </a:ext>
            </a:extLst>
          </p:cNvPr>
          <p:cNvSpPr/>
          <p:nvPr/>
        </p:nvSpPr>
        <p:spPr>
          <a:xfrm>
            <a:off x="9195758" y="863885"/>
            <a:ext cx="2454555" cy="158601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F1DB5B98-F053-44B2-9ED0-11D67A0C4071}"/>
                  </a:ext>
                </a:extLst>
              </p:cNvPr>
              <p:cNvSpPr/>
              <p:nvPr/>
            </p:nvSpPr>
            <p:spPr>
              <a:xfrm>
                <a:off x="3276253" y="3526621"/>
                <a:ext cx="420885" cy="36245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𝑗</m:t>
                      </m:r>
                    </m:oMath>
                  </m:oMathPara>
                </a14:m>
                <a:endParaRPr lang="en-AU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F1DB5B98-F053-44B2-9ED0-11D67A0C407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253" y="3526621"/>
                <a:ext cx="420885" cy="3624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Oval 1">
            <a:extLst>
              <a:ext uri="{FF2B5EF4-FFF2-40B4-BE49-F238E27FC236}">
                <a16:creationId xmlns:a16="http://schemas.microsoft.com/office/drawing/2014/main" id="{7A492B25-033B-44D5-BD08-7846F71A4A25}"/>
              </a:ext>
            </a:extLst>
          </p:cNvPr>
          <p:cNvSpPr/>
          <p:nvPr/>
        </p:nvSpPr>
        <p:spPr>
          <a:xfrm>
            <a:off x="8715984" y="1732407"/>
            <a:ext cx="680936" cy="71749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9DB1C78-BF78-49DD-A232-B61351E35343}"/>
              </a:ext>
            </a:extLst>
          </p:cNvPr>
          <p:cNvSpPr/>
          <p:nvPr/>
        </p:nvSpPr>
        <p:spPr>
          <a:xfrm>
            <a:off x="10237886" y="3059045"/>
            <a:ext cx="680936" cy="71749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A48A14A4-8DBB-469C-8502-48974C0D1B44}"/>
              </a:ext>
            </a:extLst>
          </p:cNvPr>
          <p:cNvSpPr/>
          <p:nvPr/>
        </p:nvSpPr>
        <p:spPr>
          <a:xfrm>
            <a:off x="9943749" y="2330387"/>
            <a:ext cx="680936" cy="71749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6678749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88865" y="0"/>
            <a:ext cx="10353762" cy="868522"/>
          </a:xfrm>
        </p:spPr>
        <p:txBody>
          <a:bodyPr/>
          <a:lstStyle/>
          <a:p>
            <a:r>
              <a:rPr lang="en-AU" dirty="0">
                <a:effectLst/>
              </a:rPr>
              <a:t>PVD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B958285-EC24-4788-B582-8D72D5749F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646" y="1089369"/>
            <a:ext cx="7440063" cy="177189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ontent Placeholder 1">
                <a:extLst>
                  <a:ext uri="{FF2B5EF4-FFF2-40B4-BE49-F238E27FC236}">
                    <a16:creationId xmlns:a16="http://schemas.microsoft.com/office/drawing/2014/main" id="{B0F549B3-050B-4BB7-8898-249610E7B1E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93766" y="3077099"/>
                <a:ext cx="6125091" cy="2246741"/>
              </a:xfrm>
              <a:prstGeom prst="rect">
                <a:avLst/>
              </a:prstGeom>
              <a:effectLst>
                <a:outerShdw blurRad="25400" dir="17880000">
                  <a:srgbClr val="000000">
                    <a:alpha val="46000"/>
                  </a:srgbClr>
                </a:outerShdw>
              </a:effectLst>
            </p:spPr>
            <p:txBody>
              <a:bodyPr vert="horz" lIns="91440" tIns="45720" rIns="91440" bIns="45720" rtlCol="0" anchor="t">
                <a:normAutofit/>
              </a:bodyPr>
              <a:lstStyle>
                <a:lvl1pPr marL="342900" indent="-306000" algn="l" defTabSz="457200" rtl="0" eaLnBrk="1" latinLnBrk="0" hangingPunct="1">
                  <a:lnSpc>
                    <a:spcPct val="110000"/>
                  </a:lnSpc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21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1pPr>
                <a:lvl2pPr marL="720000" indent="-270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"/>
                  <a:defRPr sz="19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2pPr>
                <a:lvl3pPr marL="1026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7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3pPr>
                <a:lvl4pPr marL="1386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"/>
                  <a:defRPr sz="15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4pPr>
                <a:lvl5pPr marL="1674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5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5pPr>
                <a:lvl6pPr marL="20146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6pPr>
                <a:lvl7pPr marL="24018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7pPr>
                <a:lvl8pPr marL="2789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8pPr>
                <a:lvl9pPr marL="31062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260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AU" sz="2600" i="1">
                        <a:effectLst/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AU" sz="26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AU" sz="2600" i="1">
                                <a:effectLst/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AU" sz="2600" i="1">
                                <a:effectLst/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en-AU" sz="2600" i="1">
                                <a:effectLst/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 − </m:t>
                        </m:r>
                        <m:sSub>
                          <m:sSubPr>
                            <m:ctrlPr>
                              <a:rPr lang="en-AU" sz="26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600" i="1">
                                <a:effectLst/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AU" sz="2600" i="1">
                                <a:effectLst/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AU" sz="2600" i="1">
                        <a:effectLst/>
                        <a:latin typeface="Cambria Math" panose="02040503050406030204" pitchFamily="18" charset="0"/>
                      </a:rPr>
                      <m:t> / 2</m:t>
                    </m:r>
                  </m:oMath>
                </a14:m>
                <a:endParaRPr lang="en-AU" sz="2600" i="1" dirty="0">
                  <a:effectLst/>
                  <a:latin typeface="Cambria Math" panose="02040503050406030204" pitchFamily="18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AU" sz="26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600" i="1">
                                <a:effectLst/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AU" sz="2600" i="1">
                                <a:effectLst/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AU" sz="2600" b="0" i="0" smtClean="0">
                        <a:effectLst/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AU" sz="2600" b="0" i="0" smtClean="0">
                        <a:effectLst/>
                        <a:latin typeface="Cambria Math" panose="02040503050406030204" pitchFamily="18" charset="0"/>
                      </a:rPr>
                      <m:t>rounding</m:t>
                    </m:r>
                    <m:r>
                      <a:rPr lang="en-AU" sz="2600" b="0" i="0" smtClean="0">
                        <a:effectLst/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AU" sz="2600" b="0" i="0" smtClean="0">
                        <a:effectLst/>
                        <a:latin typeface="Cambria Math" panose="02040503050406030204" pitchFamily="18" charset="0"/>
                      </a:rPr>
                      <m:t>up</m:t>
                    </m:r>
                    <m:r>
                      <a:rPr lang="en-AU" sz="2600" b="0" i="0" smtClean="0">
                        <a:effectLst/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n-AU" sz="2600" dirty="0">
                  <a:effectLst/>
                </a:endParaRPr>
              </a:p>
              <a:p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en-AU" sz="2600" i="1" smtClean="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AU" sz="2600" i="1"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AU" sz="2600" i="1"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AU" sz="2600" i="1"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AU" sz="2600" b="0" i="1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AU" sz="2600" b="0" i="0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rounding</m:t>
                    </m:r>
                    <m:r>
                      <a:rPr lang="en-AU" sz="2600" b="0" i="0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AU" sz="2600" b="0" i="0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down</m:t>
                    </m:r>
                    <m:r>
                      <a:rPr lang="en-AU" sz="2600" b="0" i="0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 </m:t>
                    </m:r>
                    <m:sSub>
                      <m:sSubPr>
                        <m:ctrlP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n-AU" sz="2600" dirty="0">
                  <a:effectLst/>
                  <a:latin typeface="Calibri" panose="020F050202020403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Content Placeholder 1">
                <a:extLst>
                  <a:ext uri="{FF2B5EF4-FFF2-40B4-BE49-F238E27FC236}">
                    <a16:creationId xmlns:a16="http://schemas.microsoft.com/office/drawing/2014/main" id="{B0F549B3-050B-4BB7-8898-249610E7B1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766" y="3077099"/>
                <a:ext cx="6125091" cy="224674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effectLst>
                <a:outerShdw blurRad="25400" dir="17880000">
                  <a:srgbClr val="000000">
                    <a:alpha val="46000"/>
                  </a:srgbClr>
                </a:outerShdw>
              </a:effectLst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0714078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88865" y="0"/>
            <a:ext cx="10353762" cy="868522"/>
          </a:xfrm>
        </p:spPr>
        <p:txBody>
          <a:bodyPr/>
          <a:lstStyle/>
          <a:p>
            <a:r>
              <a:rPr lang="en-AU" dirty="0">
                <a:effectLst/>
              </a:rPr>
              <a:t>PVD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B958285-EC24-4788-B582-8D72D5749F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552" y="782194"/>
            <a:ext cx="5817448" cy="177189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ontent Placeholder 1">
                <a:extLst>
                  <a:ext uri="{FF2B5EF4-FFF2-40B4-BE49-F238E27FC236}">
                    <a16:creationId xmlns:a16="http://schemas.microsoft.com/office/drawing/2014/main" id="{B0F549B3-050B-4BB7-8898-249610E7B1E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48770" y="2792619"/>
                <a:ext cx="6638892" cy="3283186"/>
              </a:xfrm>
              <a:prstGeom prst="rect">
                <a:avLst/>
              </a:prstGeom>
              <a:effectLst>
                <a:outerShdw blurRad="25400" dir="17880000">
                  <a:srgbClr val="000000">
                    <a:alpha val="46000"/>
                  </a:srgbClr>
                </a:outerShdw>
              </a:effectLst>
            </p:spPr>
            <p:txBody>
              <a:bodyPr vert="horz" lIns="91440" tIns="45720" rIns="91440" bIns="45720" rtlCol="0" anchor="t">
                <a:normAutofit lnSpcReduction="10000"/>
              </a:bodyPr>
              <a:lstStyle>
                <a:lvl1pPr marL="342900" indent="-306000" algn="l" defTabSz="457200" rtl="0" eaLnBrk="1" latinLnBrk="0" hangingPunct="1">
                  <a:lnSpc>
                    <a:spcPct val="110000"/>
                  </a:lnSpc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21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1pPr>
                <a:lvl2pPr marL="720000" indent="-270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"/>
                  <a:defRPr sz="19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2pPr>
                <a:lvl3pPr marL="1026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7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3pPr>
                <a:lvl4pPr marL="1386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"/>
                  <a:defRPr sz="15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4pPr>
                <a:lvl5pPr marL="1674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5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5pPr>
                <a:lvl6pPr marL="20146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6pPr>
                <a:lvl7pPr marL="24018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7pPr>
                <a:lvl8pPr marL="2789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8pPr>
                <a:lvl9pPr marL="31062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260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AU" sz="2600" i="1" dirty="0">
                    <a:effectLst/>
                    <a:latin typeface="Cambria Math" panose="02040503050406030204" pitchFamily="18" charset="0"/>
                  </a:rPr>
                  <a:t> </a:t>
                </a:r>
                <a:r>
                  <a:rPr lang="en-AU" sz="2600" dirty="0">
                    <a:effectLst/>
                  </a:rPr>
                  <a:t>is 15, and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AU" sz="2600" i="1">
                        <a:effectLst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sz="2600" dirty="0">
                    <a:effectLst/>
                  </a:rPr>
                  <a:t>is 18.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sz="260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AU" sz="2600" i="1">
                        <a:effectLst/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AU" sz="26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AU" sz="2600" i="1">
                                <a:effectLst/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AU" sz="2600" i="1">
                                <a:effectLst/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en-AU" sz="2600" i="1">
                                <a:effectLst/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 − </m:t>
                        </m:r>
                        <m:sSub>
                          <m:sSubPr>
                            <m:ctrlPr>
                              <a:rPr lang="en-AU" sz="26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600" i="1">
                                <a:effectLst/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AU" sz="2600" i="1">
                                <a:effectLst/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AU" sz="2600" i="1">
                        <a:effectLst/>
                        <a:latin typeface="Cambria Math" panose="02040503050406030204" pitchFamily="18" charset="0"/>
                      </a:rPr>
                      <m:t> / 2</m:t>
                    </m:r>
                  </m:oMath>
                </a14:m>
                <a:r>
                  <a:rPr lang="en-AU" sz="2600" i="1" dirty="0">
                    <a:effectLst/>
                    <a:latin typeface="Cambria Math" panose="02040503050406030204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.</a:t>
                </a:r>
              </a:p>
              <a:p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AU" sz="26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600" i="1">
                                <a:effectLst/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AU" sz="2600" i="1">
                                <a:effectLst/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AU" sz="2600" b="0" i="0" smtClean="0">
                        <a:effectLst/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AU" sz="2600" b="0" i="0" smtClean="0">
                        <a:effectLst/>
                        <a:latin typeface="Cambria Math" panose="02040503050406030204" pitchFamily="18" charset="0"/>
                      </a:rPr>
                      <m:t>rounding</m:t>
                    </m:r>
                    <m:r>
                      <a:rPr lang="en-AU" sz="2600" b="0" i="0" smtClean="0">
                        <a:effectLst/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AU" sz="2600" b="0" i="0" smtClean="0">
                        <a:effectLst/>
                        <a:latin typeface="Cambria Math" panose="02040503050406030204" pitchFamily="18" charset="0"/>
                      </a:rPr>
                      <m:t>up</m:t>
                    </m:r>
                    <m:r>
                      <a:rPr lang="en-AU" sz="2600" b="0" i="0" smtClean="0">
                        <a:effectLst/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AU" sz="2600" b="0" i="1" smtClean="0">
                        <a:effectLst/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r>
                  <a:rPr lang="en-AU" sz="2600" dirty="0">
                    <a:effectLst/>
                  </a:rPr>
                  <a:t>Here, 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AU" sz="2600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AU" sz="2600" i="1">
                                <a:effectLst/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AU" sz="2600" i="1">
                                <a:effectLst/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r>
                  <a:rPr lang="en-AU" sz="2600" dirty="0">
                    <a:effectLst/>
                  </a:rPr>
                  <a:t> is 2.</a:t>
                </a:r>
              </a:p>
              <a:p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en-AU" sz="2600" i="1" smtClean="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AU" sz="2600" i="1"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AU" sz="2600" i="1"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AU" sz="2600" i="1"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AU" sz="2600" b="0" i="1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AU" sz="2600" b="0" i="0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rounding</m:t>
                    </m:r>
                    <m:r>
                      <a:rPr lang="en-AU" sz="2600" b="0" i="0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AU" sz="2600" b="0" i="0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down</m:t>
                    </m:r>
                    <m:r>
                      <a:rPr lang="en-AU" sz="2600" b="0" i="0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 </m:t>
                    </m:r>
                    <m:sSub>
                      <m:sSubPr>
                        <m:ctrlP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AU" sz="2600" b="0" i="0" smtClean="0">
                        <a:effectLst/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AU" sz="26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en-AU" sz="2600" dirty="0">
                    <a:effectLst/>
                  </a:rPr>
                  <a:t>Here,</a:t>
                </a:r>
                <a:r>
                  <a:rPr lang="en-AU" sz="26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en-AU" sz="26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AU" sz="2600" i="1"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AU" sz="2600" i="1"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AU" sz="2600" i="1">
                                <a:effectLst/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r>
                  <a:rPr lang="en-AU" sz="2600" dirty="0">
                    <a:effectLst/>
                    <a:latin typeface="Calibri" panose="020F0502020204030204" pitchFamily="34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en-AU" sz="2600" dirty="0">
                    <a:effectLst/>
                  </a:rPr>
                  <a:t>is 1.</a:t>
                </a:r>
              </a:p>
              <a:p>
                <a:r>
                  <a:rPr lang="en-AU" sz="2600" dirty="0">
                    <a:effectLst/>
                  </a:rPr>
                  <a:t>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AU" sz="2600" dirty="0">
                    <a:effectLst/>
                  </a:rPr>
                  <a:t> (15) is odd,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AU" sz="2600" i="1" smtClean="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  <m:sup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bSup>
                    <m:r>
                      <a:rPr lang="en-AU" sz="2600" b="0" i="0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AU" sz="2600" dirty="0">
                    <a:effectLst/>
                  </a:rPr>
                  <a:t>is 48 and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AU" sz="2600" dirty="0">
                    <a:effectLst/>
                  </a:rPr>
                  <a:t> is 66.</a:t>
                </a:r>
              </a:p>
              <a:p>
                <a:endParaRPr lang="en-AU" sz="2600" dirty="0">
                  <a:effectLst/>
                </a:endParaRPr>
              </a:p>
              <a:p>
                <a:endParaRPr lang="en-AU" sz="2600" dirty="0">
                  <a:effectLst/>
                </a:endParaRPr>
              </a:p>
            </p:txBody>
          </p:sp>
        </mc:Choice>
        <mc:Fallback xmlns="">
          <p:sp>
            <p:nvSpPr>
              <p:cNvPr id="16" name="Content Placeholder 1">
                <a:extLst>
                  <a:ext uri="{FF2B5EF4-FFF2-40B4-BE49-F238E27FC236}">
                    <a16:creationId xmlns:a16="http://schemas.microsoft.com/office/drawing/2014/main" id="{B0F549B3-050B-4BB7-8898-249610E7B1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770" y="2792619"/>
                <a:ext cx="6638892" cy="32831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effectLst>
                <a:outerShdw blurRad="25400" dir="17880000">
                  <a:srgbClr val="000000">
                    <a:alpha val="46000"/>
                  </a:srgbClr>
                </a:outerShdw>
              </a:effectLst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3E09A064-E9FB-445C-81C5-94D2A8EA2A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3861" y="782195"/>
            <a:ext cx="5639587" cy="4033646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D8906163-FC93-4139-881E-BD78F230D1C7}"/>
              </a:ext>
            </a:extLst>
          </p:cNvPr>
          <p:cNvSpPr/>
          <p:nvPr/>
        </p:nvSpPr>
        <p:spPr>
          <a:xfrm>
            <a:off x="9396920" y="1139756"/>
            <a:ext cx="1709230" cy="86852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2645002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88865" y="0"/>
            <a:ext cx="10353762" cy="868522"/>
          </a:xfrm>
        </p:spPr>
        <p:txBody>
          <a:bodyPr/>
          <a:lstStyle/>
          <a:p>
            <a:r>
              <a:rPr lang="en-AU" dirty="0">
                <a:effectLst/>
              </a:rPr>
              <a:t>PVD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1">
                <a:extLst>
                  <a:ext uri="{FF2B5EF4-FFF2-40B4-BE49-F238E27FC236}">
                    <a16:creationId xmlns:a16="http://schemas.microsoft.com/office/drawing/2014/main" id="{21CA52AC-F6E1-46A5-9DEC-534B3BE73C3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73402" y="1069383"/>
                <a:ext cx="9302443" cy="4578556"/>
              </a:xfrm>
              <a:prstGeom prst="rect">
                <a:avLst/>
              </a:prstGeom>
              <a:effectLst>
                <a:outerShdw blurRad="25400" dir="17880000">
                  <a:srgbClr val="000000">
                    <a:alpha val="46000"/>
                  </a:srgbClr>
                </a:outerShdw>
              </a:effectLst>
            </p:spPr>
            <p:txBody>
              <a:bodyPr vert="horz" lIns="91440" tIns="45720" rIns="91440" bIns="45720" rtlCol="0" anchor="t">
                <a:normAutofit/>
              </a:bodyPr>
              <a:lstStyle>
                <a:lvl1pPr marL="342900" indent="-306000" algn="l" defTabSz="457200" rtl="0" eaLnBrk="1" latinLnBrk="0" hangingPunct="1">
                  <a:lnSpc>
                    <a:spcPct val="110000"/>
                  </a:lnSpc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21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1pPr>
                <a:lvl2pPr marL="720000" indent="-270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"/>
                  <a:defRPr sz="19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2pPr>
                <a:lvl3pPr marL="1026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7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3pPr>
                <a:lvl4pPr marL="1386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"/>
                  <a:defRPr sz="15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4pPr>
                <a:lvl5pPr marL="1674000" indent="-2160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5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5pPr>
                <a:lvl6pPr marL="20146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6pPr>
                <a:lvl7pPr marL="24018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7pPr>
                <a:lvl8pPr marL="2789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8pPr>
                <a:lvl9pPr marL="31062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tx2"/>
                  </a:buClr>
                  <a:buSzPct val="70000"/>
                  <a:buFont typeface="Wingdings 2" charset="2"/>
                  <a:buChar char=""/>
                  <a:defRPr sz="1400" kern="1200">
                    <a:ln>
                      <a:solidFill>
                        <a:schemeClr val="bg1">
                          <a:lumMod val="75000"/>
                          <a:lumOff val="25000"/>
                          <a:alpha val="10000"/>
                        </a:schemeClr>
                      </a:solidFill>
                    </a:ln>
                    <a:solidFill>
                      <a:schemeClr val="tx2"/>
                    </a:solidFill>
                    <a:effectLst>
                      <a:outerShdw blurRad="9525" dist="25400" dir="14640000" algn="tl" rotWithShape="0">
                        <a:schemeClr val="bg1">
                          <a:alpha val="30000"/>
                        </a:schemeClr>
                      </a:outerShdw>
                    </a:effectLst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AU" sz="2800" dirty="0"/>
                  <a:t>To extract the secret value: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 smtClean="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AU" sz="28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AU" sz="2800" dirty="0"/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AU" sz="2600" i="1" smtClean="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  <m:sup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bSup>
                    <m:r>
                      <a:rPr lang="en-AU" sz="2600" b="0" i="0" smtClean="0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AU" sz="2600" dirty="0">
                    <a:effectLst/>
                  </a:rPr>
                  <a:t>is 48 and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AU" sz="2600" dirty="0">
                    <a:effectLst/>
                  </a:rPr>
                  <a:t> is 66.</a:t>
                </a:r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AU" sz="260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AU" sz="2600" dirty="0">
                    <a:effectLst/>
                  </a:rPr>
                  <a:t> = 18, i.e., 66 – 48.</a:t>
                </a:r>
              </a:p>
              <a:p>
                <a:pPr lvl="1"/>
                <a:r>
                  <a:rPr lang="en-AU" sz="2600" dirty="0">
                    <a:effectLst/>
                  </a:rPr>
                  <a:t>As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AU" sz="2600" i="1">
                        <a:effectLst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sz="2600" dirty="0">
                    <a:effectLst/>
                  </a:rPr>
                  <a:t>falls within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6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AU" sz="2600" dirty="0"/>
                  <a:t> (8, 23),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60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AU" sz="2600" i="1" dirty="0">
                    <a:effectLst/>
                    <a:latin typeface="Cambria Math" panose="02040503050406030204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en-AU" sz="26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is the lower boundary of </a:t>
                </a:r>
                <a14:m>
                  <m:oMath xmlns:m="http://schemas.openxmlformats.org/officeDocument/2006/math">
                    <m:r>
                      <a:rPr lang="en-AU" sz="2600" b="0" i="0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AU" sz="2600" i="1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AU" sz="26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AU" sz="2600" dirty="0">
                    <a:effectLst/>
                    <a:ea typeface="DengXian" panose="02010600030101010101" pitchFamily="2" charset="-122"/>
                    <a:cs typeface="Times New Roman" panose="02020603050405020304" pitchFamily="18" charset="0"/>
                  </a:rPr>
                  <a:t>, i.e., 8.</a:t>
                </a:r>
              </a:p>
              <a:p>
                <a:pPr lvl="1"/>
                <a:r>
                  <a:rPr lang="en-AU" sz="2600" dirty="0">
                    <a:solidFill>
                      <a:srgbClr val="FF0000"/>
                    </a:solidFill>
                  </a:rPr>
                  <a:t>Which equation from the formula should be used? Top or bottom?</a:t>
                </a:r>
              </a:p>
              <a:p>
                <a:pPr lvl="1"/>
                <a:endParaRPr lang="en-AU" sz="2600" dirty="0"/>
              </a:p>
            </p:txBody>
          </p:sp>
        </mc:Choice>
        <mc:Fallback xmlns="">
          <p:sp>
            <p:nvSpPr>
              <p:cNvPr id="6" name="Content Placeholder 1">
                <a:extLst>
                  <a:ext uri="{FF2B5EF4-FFF2-40B4-BE49-F238E27FC236}">
                    <a16:creationId xmlns:a16="http://schemas.microsoft.com/office/drawing/2014/main" id="{21CA52AC-F6E1-46A5-9DEC-534B3BE73C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402" y="1069383"/>
                <a:ext cx="9302443" cy="457855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effectLst>
                <a:outerShdw blurRad="25400" dir="17880000">
                  <a:srgbClr val="000000">
                    <a:alpha val="46000"/>
                  </a:srgbClr>
                </a:outerShdw>
              </a:effectLst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B9171A74-8533-436B-88F4-5ED12B138F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3487" y="1118611"/>
            <a:ext cx="4305901" cy="114316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79563144-E736-4BDB-BF73-4CC87BC4F53A}"/>
                  </a:ext>
                </a:extLst>
              </p:cNvPr>
              <p:cNvSpPr/>
              <p:nvPr/>
            </p:nvSpPr>
            <p:spPr>
              <a:xfrm>
                <a:off x="9014113" y="1431723"/>
                <a:ext cx="420885" cy="36245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𝑗</m:t>
                      </m:r>
                    </m:oMath>
                  </m:oMathPara>
                </a14:m>
                <a:endParaRPr lang="en-AU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79563144-E736-4BDB-BF73-4CC87BC4F5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4113" y="1431723"/>
                <a:ext cx="420885" cy="3624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AB5391D4-6772-41B0-BBBD-F3519ECA9D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69388" y="1118611"/>
            <a:ext cx="895475" cy="35819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993FEFD-41BE-487F-AC41-E5FE7E36E9A7}"/>
              </a:ext>
            </a:extLst>
          </p:cNvPr>
          <p:cNvSpPr/>
          <p:nvPr/>
        </p:nvSpPr>
        <p:spPr>
          <a:xfrm>
            <a:off x="10269388" y="2261771"/>
            <a:ext cx="143748" cy="159655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332B355-ECD7-4015-9522-79E9CA77074B}"/>
              </a:ext>
            </a:extLst>
          </p:cNvPr>
          <p:cNvSpPr/>
          <p:nvPr/>
        </p:nvSpPr>
        <p:spPr>
          <a:xfrm>
            <a:off x="10906811" y="2425959"/>
            <a:ext cx="258051" cy="10030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3649806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F5FEA-3F77-4D4C-AB72-975660139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54142"/>
            <a:ext cx="10353762" cy="1012659"/>
          </a:xfrm>
        </p:spPr>
        <p:txBody>
          <a:bodyPr/>
          <a:lstStyle/>
          <a:p>
            <a:r>
              <a:rPr lang="en-AU" dirty="0"/>
              <a:t>Image Steganography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798BBB-DCDF-406A-8C96-973EF97757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1573" y="1066801"/>
            <a:ext cx="11278205" cy="4604083"/>
          </a:xfrm>
        </p:spPr>
        <p:txBody>
          <a:bodyPr>
            <a:normAutofit/>
          </a:bodyPr>
          <a:lstStyle/>
          <a:p>
            <a:r>
              <a:rPr lang="en-AU" sz="2800" dirty="0"/>
              <a:t>How difficult/easy is it to detect image steganography?</a:t>
            </a:r>
          </a:p>
        </p:txBody>
      </p:sp>
    </p:spTree>
    <p:extLst>
      <p:ext uri="{BB962C8B-B14F-4D97-AF65-F5344CB8AC3E}">
        <p14:creationId xmlns:p14="http://schemas.microsoft.com/office/powerpoint/2010/main" val="385474576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74C25-2D5A-48BC-9315-DB95C4804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8174" y="22058"/>
            <a:ext cx="10353762" cy="972553"/>
          </a:xfrm>
        </p:spPr>
        <p:txBody>
          <a:bodyPr/>
          <a:lstStyle/>
          <a:p>
            <a:r>
              <a:rPr lang="en-AU" dirty="0"/>
              <a:t>Image Steganography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1F018A-FD8B-4DBD-91A8-B6A88766ED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9204" y="1205865"/>
            <a:ext cx="10885761" cy="3714749"/>
          </a:xfrm>
        </p:spPr>
        <p:txBody>
          <a:bodyPr/>
          <a:lstStyle/>
          <a:p>
            <a:r>
              <a:rPr lang="en-AU" sz="2800" dirty="0"/>
              <a:t>How difficult/easy is it to detect image steganography?</a:t>
            </a:r>
          </a:p>
          <a:p>
            <a:pPr lvl="1"/>
            <a:r>
              <a:rPr lang="en-AU" sz="2800" dirty="0"/>
              <a:t>What if it is easy? </a:t>
            </a:r>
          </a:p>
          <a:p>
            <a:pPr lvl="1"/>
            <a:r>
              <a:rPr lang="en-AU" sz="2800" dirty="0"/>
              <a:t>What if it is difficult?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3231350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AnalogousFromDarkSeedLeftStep">
      <a:dk1>
        <a:srgbClr val="000000"/>
      </a:dk1>
      <a:lt1>
        <a:srgbClr val="FFFFFF"/>
      </a:lt1>
      <a:dk2>
        <a:srgbClr val="243541"/>
      </a:dk2>
      <a:lt2>
        <a:srgbClr val="E4E8E2"/>
      </a:lt2>
      <a:accent1>
        <a:srgbClr val="A629E7"/>
      </a:accent1>
      <a:accent2>
        <a:srgbClr val="6640DC"/>
      </a:accent2>
      <a:accent3>
        <a:srgbClr val="2F4FE7"/>
      </a:accent3>
      <a:accent4>
        <a:srgbClr val="1787D5"/>
      </a:accent4>
      <a:accent5>
        <a:srgbClr val="20B6B5"/>
      </a:accent5>
      <a:accent6>
        <a:srgbClr val="14B973"/>
      </a:accent6>
      <a:hlink>
        <a:srgbClr val="358E9F"/>
      </a:hlink>
      <a:folHlink>
        <a:srgbClr val="7F7F7F"/>
      </a:folHlink>
    </a:clrScheme>
    <a:fontScheme name="Slate">
      <a:majorFont>
        <a:latin typeface="Georgia Pro Cond Ligh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Speak Pro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VTI" id="{35C4A07C-0176-4A32-9BCB-B016516853F0}" vid="{9B70D35C-BCA8-4715-BB49-8BE54A7FC0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NoStarch</Template>
  <TotalTime>0</TotalTime>
  <Words>2238</Words>
  <Application>Microsoft Office PowerPoint</Application>
  <PresentationFormat>Widescreen</PresentationFormat>
  <Paragraphs>470</Paragraphs>
  <Slides>61</Slides>
  <Notes>61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69" baseType="lpstr">
      <vt:lpstr>Calibri</vt:lpstr>
      <vt:lpstr>Cambria Math</vt:lpstr>
      <vt:lpstr>Courier New</vt:lpstr>
      <vt:lpstr>Georgia Pro Cond Light</vt:lpstr>
      <vt:lpstr>Speak Pro</vt:lpstr>
      <vt:lpstr>Wingdings</vt:lpstr>
      <vt:lpstr>Wingdings 2</vt:lpstr>
      <vt:lpstr>SlateVTI</vt:lpstr>
      <vt:lpstr>CITS1003 Introduction to Cybersecurity [A] Digital Forensics exercises</vt:lpstr>
      <vt:lpstr>PowerPoint Presentation</vt:lpstr>
      <vt:lpstr>PowerPoint Presentation</vt:lpstr>
      <vt:lpstr>PowerPoint Presentation</vt:lpstr>
      <vt:lpstr>Stegosystem</vt:lpstr>
      <vt:lpstr>Steganography</vt:lpstr>
      <vt:lpstr>Stegosystem with Cryptography</vt:lpstr>
      <vt:lpstr>Steganography</vt:lpstr>
      <vt:lpstr>Steganography</vt:lpstr>
      <vt:lpstr>Alignment</vt:lpstr>
      <vt:lpstr>Alignment</vt:lpstr>
      <vt:lpstr>Steganography</vt:lpstr>
      <vt:lpstr>Font</vt:lpstr>
      <vt:lpstr>Font</vt:lpstr>
      <vt:lpstr>Steganography</vt:lpstr>
      <vt:lpstr>Position</vt:lpstr>
      <vt:lpstr>Position</vt:lpstr>
      <vt:lpstr>Position</vt:lpstr>
      <vt:lpstr>Position</vt:lpstr>
      <vt:lpstr>Position with A Key</vt:lpstr>
      <vt:lpstr>Position with A Key</vt:lpstr>
      <vt:lpstr>Position with A Key</vt:lpstr>
      <vt:lpstr>PowerPoint Presentation</vt:lpstr>
      <vt:lpstr>Steganography</vt:lpstr>
      <vt:lpstr>White Space</vt:lpstr>
      <vt:lpstr>White Space</vt:lpstr>
      <vt:lpstr>White Space</vt:lpstr>
      <vt:lpstr>PowerPoint Presentation</vt:lpstr>
      <vt:lpstr>PowerPoint Presentation</vt:lpstr>
      <vt:lpstr>White Space</vt:lpstr>
      <vt:lpstr>Text Steganography</vt:lpstr>
      <vt:lpstr>Text Steganography</vt:lpstr>
      <vt:lpstr>Text Steganography</vt:lpstr>
      <vt:lpstr>Image Steganography</vt:lpstr>
      <vt:lpstr>Steganography</vt:lpstr>
      <vt:lpstr>Steganography</vt:lpstr>
      <vt:lpstr>LSB</vt:lpstr>
      <vt:lpstr>LSB</vt:lpstr>
      <vt:lpstr>LSB</vt:lpstr>
      <vt:lpstr>LSB</vt:lpstr>
      <vt:lpstr>LSB</vt:lpstr>
      <vt:lpstr>LSB</vt:lpstr>
      <vt:lpstr>PowerPoint Presentation</vt:lpstr>
      <vt:lpstr>LSB</vt:lpstr>
      <vt:lpstr>Steganography</vt:lpstr>
      <vt:lpstr>PVD</vt:lpstr>
      <vt:lpstr>PVD</vt:lpstr>
      <vt:lpstr>PVD</vt:lpstr>
      <vt:lpstr>PVD</vt:lpstr>
      <vt:lpstr>PVD</vt:lpstr>
      <vt:lpstr>PVD</vt:lpstr>
      <vt:lpstr>PVD</vt:lpstr>
      <vt:lpstr>PVD</vt:lpstr>
      <vt:lpstr>PVD</vt:lpstr>
      <vt:lpstr>PVD</vt:lpstr>
      <vt:lpstr>PVD</vt:lpstr>
      <vt:lpstr>PVD</vt:lpstr>
      <vt:lpstr>PVD</vt:lpstr>
      <vt:lpstr>PVD</vt:lpstr>
      <vt:lpstr>Image Steganography</vt:lpstr>
      <vt:lpstr>Image Steganography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2026-05-04T03:13:35Z</dcterms:created>
  <dcterms:modified xsi:type="dcterms:W3CDTF">2026-05-04T03:14:00Z</dcterms:modified>
</cp:coreProperties>
</file>