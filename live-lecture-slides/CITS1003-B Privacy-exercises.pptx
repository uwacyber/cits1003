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763" r:id="rId1"/>
  </p:sldMasterIdLst>
  <p:notesMasterIdLst>
    <p:notesMasterId r:id="rId69"/>
  </p:notesMasterIdLst>
  <p:sldIdLst>
    <p:sldId id="256" r:id="rId2"/>
    <p:sldId id="257" r:id="rId3"/>
    <p:sldId id="438" r:id="rId4"/>
    <p:sldId id="258" r:id="rId5"/>
    <p:sldId id="444" r:id="rId6"/>
    <p:sldId id="445" r:id="rId7"/>
    <p:sldId id="440" r:id="rId8"/>
    <p:sldId id="446" r:id="rId9"/>
    <p:sldId id="447" r:id="rId10"/>
    <p:sldId id="524" r:id="rId11"/>
    <p:sldId id="573" r:id="rId12"/>
    <p:sldId id="576" r:id="rId13"/>
    <p:sldId id="525" r:id="rId14"/>
    <p:sldId id="259" r:id="rId15"/>
    <p:sldId id="545" r:id="rId16"/>
    <p:sldId id="265" r:id="rId17"/>
    <p:sldId id="266" r:id="rId18"/>
    <p:sldId id="529" r:id="rId19"/>
    <p:sldId id="528" r:id="rId20"/>
    <p:sldId id="532" r:id="rId21"/>
    <p:sldId id="533" r:id="rId22"/>
    <p:sldId id="534" r:id="rId23"/>
    <p:sldId id="530" r:id="rId24"/>
    <p:sldId id="531" r:id="rId25"/>
    <p:sldId id="569" r:id="rId26"/>
    <p:sldId id="535" r:id="rId27"/>
    <p:sldId id="536" r:id="rId28"/>
    <p:sldId id="267" r:id="rId29"/>
    <p:sldId id="537" r:id="rId30"/>
    <p:sldId id="538" r:id="rId31"/>
    <p:sldId id="539" r:id="rId32"/>
    <p:sldId id="540" r:id="rId33"/>
    <p:sldId id="541" r:id="rId34"/>
    <p:sldId id="261" r:id="rId35"/>
    <p:sldId id="549" r:id="rId36"/>
    <p:sldId id="548" r:id="rId37"/>
    <p:sldId id="554" r:id="rId38"/>
    <p:sldId id="418" r:id="rId39"/>
    <p:sldId id="557" r:id="rId40"/>
    <p:sldId id="551" r:id="rId41"/>
    <p:sldId id="552" r:id="rId42"/>
    <p:sldId id="574" r:id="rId43"/>
    <p:sldId id="542" r:id="rId44"/>
    <p:sldId id="544" r:id="rId45"/>
    <p:sldId id="577" r:id="rId46"/>
    <p:sldId id="555" r:id="rId47"/>
    <p:sldId id="572" r:id="rId48"/>
    <p:sldId id="271" r:id="rId49"/>
    <p:sldId id="566" r:id="rId50"/>
    <p:sldId id="565" r:id="rId51"/>
    <p:sldId id="564" r:id="rId52"/>
    <p:sldId id="274" r:id="rId53"/>
    <p:sldId id="275" r:id="rId54"/>
    <p:sldId id="276" r:id="rId55"/>
    <p:sldId id="317" r:id="rId56"/>
    <p:sldId id="567" r:id="rId57"/>
    <p:sldId id="318" r:id="rId58"/>
    <p:sldId id="584" r:id="rId59"/>
    <p:sldId id="571" r:id="rId60"/>
    <p:sldId id="585" r:id="rId61"/>
    <p:sldId id="586" r:id="rId62"/>
    <p:sldId id="592" r:id="rId63"/>
    <p:sldId id="591" r:id="rId64"/>
    <p:sldId id="589" r:id="rId65"/>
    <p:sldId id="587" r:id="rId66"/>
    <p:sldId id="588" r:id="rId67"/>
    <p:sldId id="590"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985" autoAdjust="0"/>
    <p:restoredTop sz="74953" autoAdjust="0"/>
  </p:normalViewPr>
  <p:slideViewPr>
    <p:cSldViewPr snapToGrid="0" snapToObjects="1">
      <p:cViewPr varScale="1">
        <p:scale>
          <a:sx n="53" d="100"/>
          <a:sy n="53" d="100"/>
        </p:scale>
        <p:origin x="93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6D7260-B7E4-B548-BD1F-84ED14536037}" type="datetimeFigureOut">
              <a:rPr lang="en-AU" smtClean="0"/>
              <a:t>11/05/2026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030C05-EF6C-9847-8923-580D76870F8E}" type="slidenum">
              <a:rPr lang="en-AU" smtClean="0"/>
              <a:t>‹#›</a:t>
            </a:fld>
            <a:endParaRPr lang="en-AU"/>
          </a:p>
        </p:txBody>
      </p:sp>
    </p:spTree>
    <p:extLst>
      <p:ext uri="{BB962C8B-B14F-4D97-AF65-F5344CB8AC3E}">
        <p14:creationId xmlns:p14="http://schemas.microsoft.com/office/powerpoint/2010/main" val="2063409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1</a:t>
            </a:fld>
            <a:endParaRPr lang="en-AU"/>
          </a:p>
        </p:txBody>
      </p:sp>
    </p:spTree>
    <p:extLst>
      <p:ext uri="{BB962C8B-B14F-4D97-AF65-F5344CB8AC3E}">
        <p14:creationId xmlns:p14="http://schemas.microsoft.com/office/powerpoint/2010/main" val="59884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a:t>
            </a:fld>
            <a:endParaRPr lang="en-AU"/>
          </a:p>
        </p:txBody>
      </p:sp>
    </p:spTree>
    <p:extLst>
      <p:ext uri="{BB962C8B-B14F-4D97-AF65-F5344CB8AC3E}">
        <p14:creationId xmlns:p14="http://schemas.microsoft.com/office/powerpoint/2010/main" val="716632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a:t>
            </a:fld>
            <a:endParaRPr lang="en-AU"/>
          </a:p>
        </p:txBody>
      </p:sp>
    </p:spTree>
    <p:extLst>
      <p:ext uri="{BB962C8B-B14F-4D97-AF65-F5344CB8AC3E}">
        <p14:creationId xmlns:p14="http://schemas.microsoft.com/office/powerpoint/2010/main" val="18337595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a:t>
            </a:fld>
            <a:endParaRPr lang="en-AU"/>
          </a:p>
        </p:txBody>
      </p:sp>
    </p:spTree>
    <p:extLst>
      <p:ext uri="{BB962C8B-B14F-4D97-AF65-F5344CB8AC3E}">
        <p14:creationId xmlns:p14="http://schemas.microsoft.com/office/powerpoint/2010/main" val="38568200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a:t>
            </a:fld>
            <a:endParaRPr lang="en-AU"/>
          </a:p>
        </p:txBody>
      </p:sp>
    </p:spTree>
    <p:extLst>
      <p:ext uri="{BB962C8B-B14F-4D97-AF65-F5344CB8AC3E}">
        <p14:creationId xmlns:p14="http://schemas.microsoft.com/office/powerpoint/2010/main" val="36547435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a:t>
            </a:fld>
            <a:endParaRPr lang="en-AU"/>
          </a:p>
        </p:txBody>
      </p:sp>
    </p:spTree>
    <p:extLst>
      <p:ext uri="{BB962C8B-B14F-4D97-AF65-F5344CB8AC3E}">
        <p14:creationId xmlns:p14="http://schemas.microsoft.com/office/powerpoint/2010/main" val="75741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7</a:t>
            </a:fld>
            <a:endParaRPr lang="en-AU"/>
          </a:p>
        </p:txBody>
      </p:sp>
    </p:spTree>
    <p:extLst>
      <p:ext uri="{BB962C8B-B14F-4D97-AF65-F5344CB8AC3E}">
        <p14:creationId xmlns:p14="http://schemas.microsoft.com/office/powerpoint/2010/main" val="318785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8</a:t>
            </a:fld>
            <a:endParaRPr lang="en-AU"/>
          </a:p>
        </p:txBody>
      </p:sp>
    </p:spTree>
    <p:extLst>
      <p:ext uri="{BB962C8B-B14F-4D97-AF65-F5344CB8AC3E}">
        <p14:creationId xmlns:p14="http://schemas.microsoft.com/office/powerpoint/2010/main" val="951072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9</a:t>
            </a:fld>
            <a:endParaRPr lang="en-AU"/>
          </a:p>
        </p:txBody>
      </p:sp>
    </p:spTree>
    <p:extLst>
      <p:ext uri="{BB962C8B-B14F-4D97-AF65-F5344CB8AC3E}">
        <p14:creationId xmlns:p14="http://schemas.microsoft.com/office/powerpoint/2010/main" val="24358642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10</a:t>
            </a:fld>
            <a:endParaRPr lang="en-AU"/>
          </a:p>
        </p:txBody>
      </p:sp>
    </p:spTree>
    <p:extLst>
      <p:ext uri="{BB962C8B-B14F-4D97-AF65-F5344CB8AC3E}">
        <p14:creationId xmlns:p14="http://schemas.microsoft.com/office/powerpoint/2010/main" val="15434044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11</a:t>
            </a:fld>
            <a:endParaRPr lang="en-AU"/>
          </a:p>
        </p:txBody>
      </p:sp>
    </p:spTree>
    <p:extLst>
      <p:ext uri="{BB962C8B-B14F-4D97-AF65-F5344CB8AC3E}">
        <p14:creationId xmlns:p14="http://schemas.microsoft.com/office/powerpoint/2010/main" val="40458697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12</a:t>
            </a:fld>
            <a:endParaRPr lang="en-AU"/>
          </a:p>
        </p:txBody>
      </p:sp>
    </p:spTree>
    <p:extLst>
      <p:ext uri="{BB962C8B-B14F-4D97-AF65-F5344CB8AC3E}">
        <p14:creationId xmlns:p14="http://schemas.microsoft.com/office/powerpoint/2010/main" val="28683561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13</a:t>
            </a:fld>
            <a:endParaRPr lang="en-AU"/>
          </a:p>
        </p:txBody>
      </p:sp>
    </p:spTree>
    <p:extLst>
      <p:ext uri="{BB962C8B-B14F-4D97-AF65-F5344CB8AC3E}">
        <p14:creationId xmlns:p14="http://schemas.microsoft.com/office/powerpoint/2010/main" val="1093318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14</a:t>
            </a:fld>
            <a:endParaRPr lang="en-AU"/>
          </a:p>
        </p:txBody>
      </p:sp>
    </p:spTree>
    <p:extLst>
      <p:ext uri="{BB962C8B-B14F-4D97-AF65-F5344CB8AC3E}">
        <p14:creationId xmlns:p14="http://schemas.microsoft.com/office/powerpoint/2010/main" val="1880362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15</a:t>
            </a:fld>
            <a:endParaRPr lang="en-AU"/>
          </a:p>
        </p:txBody>
      </p:sp>
    </p:spTree>
    <p:extLst>
      <p:ext uri="{BB962C8B-B14F-4D97-AF65-F5344CB8AC3E}">
        <p14:creationId xmlns:p14="http://schemas.microsoft.com/office/powerpoint/2010/main" val="908819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16</a:t>
            </a:fld>
            <a:endParaRPr lang="en-AU"/>
          </a:p>
        </p:txBody>
      </p:sp>
    </p:spTree>
    <p:extLst>
      <p:ext uri="{BB962C8B-B14F-4D97-AF65-F5344CB8AC3E}">
        <p14:creationId xmlns:p14="http://schemas.microsoft.com/office/powerpoint/2010/main" val="29894110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17</a:t>
            </a:fld>
            <a:endParaRPr lang="en-AU"/>
          </a:p>
        </p:txBody>
      </p:sp>
    </p:spTree>
    <p:extLst>
      <p:ext uri="{BB962C8B-B14F-4D97-AF65-F5344CB8AC3E}">
        <p14:creationId xmlns:p14="http://schemas.microsoft.com/office/powerpoint/2010/main" val="10108014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18</a:t>
            </a:fld>
            <a:endParaRPr lang="en-AU"/>
          </a:p>
        </p:txBody>
      </p:sp>
    </p:spTree>
    <p:extLst>
      <p:ext uri="{BB962C8B-B14F-4D97-AF65-F5344CB8AC3E}">
        <p14:creationId xmlns:p14="http://schemas.microsoft.com/office/powerpoint/2010/main" val="17667957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19</a:t>
            </a:fld>
            <a:endParaRPr lang="en-AU"/>
          </a:p>
        </p:txBody>
      </p:sp>
    </p:spTree>
    <p:extLst>
      <p:ext uri="{BB962C8B-B14F-4D97-AF65-F5344CB8AC3E}">
        <p14:creationId xmlns:p14="http://schemas.microsoft.com/office/powerpoint/2010/main" val="11635374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20</a:t>
            </a:fld>
            <a:endParaRPr lang="en-AU"/>
          </a:p>
        </p:txBody>
      </p:sp>
    </p:spTree>
    <p:extLst>
      <p:ext uri="{BB962C8B-B14F-4D97-AF65-F5344CB8AC3E}">
        <p14:creationId xmlns:p14="http://schemas.microsoft.com/office/powerpoint/2010/main" val="19087943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21</a:t>
            </a:fld>
            <a:endParaRPr lang="en-AU"/>
          </a:p>
        </p:txBody>
      </p:sp>
    </p:spTree>
    <p:extLst>
      <p:ext uri="{BB962C8B-B14F-4D97-AF65-F5344CB8AC3E}">
        <p14:creationId xmlns:p14="http://schemas.microsoft.com/office/powerpoint/2010/main" val="22467896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22</a:t>
            </a:fld>
            <a:endParaRPr lang="en-AU"/>
          </a:p>
        </p:txBody>
      </p:sp>
    </p:spTree>
    <p:extLst>
      <p:ext uri="{BB962C8B-B14F-4D97-AF65-F5344CB8AC3E}">
        <p14:creationId xmlns:p14="http://schemas.microsoft.com/office/powerpoint/2010/main" val="2308558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23</a:t>
            </a:fld>
            <a:endParaRPr lang="en-AU"/>
          </a:p>
        </p:txBody>
      </p:sp>
    </p:spTree>
    <p:extLst>
      <p:ext uri="{BB962C8B-B14F-4D97-AF65-F5344CB8AC3E}">
        <p14:creationId xmlns:p14="http://schemas.microsoft.com/office/powerpoint/2010/main" val="7607065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24</a:t>
            </a:fld>
            <a:endParaRPr lang="en-AU"/>
          </a:p>
        </p:txBody>
      </p:sp>
    </p:spTree>
    <p:extLst>
      <p:ext uri="{BB962C8B-B14F-4D97-AF65-F5344CB8AC3E}">
        <p14:creationId xmlns:p14="http://schemas.microsoft.com/office/powerpoint/2010/main" val="12384741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25</a:t>
            </a:fld>
            <a:endParaRPr lang="en-AU"/>
          </a:p>
        </p:txBody>
      </p:sp>
    </p:spTree>
    <p:extLst>
      <p:ext uri="{BB962C8B-B14F-4D97-AF65-F5344CB8AC3E}">
        <p14:creationId xmlns:p14="http://schemas.microsoft.com/office/powerpoint/2010/main" val="29890245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26</a:t>
            </a:fld>
            <a:endParaRPr lang="en-AU"/>
          </a:p>
        </p:txBody>
      </p:sp>
    </p:spTree>
    <p:extLst>
      <p:ext uri="{BB962C8B-B14F-4D97-AF65-F5344CB8AC3E}">
        <p14:creationId xmlns:p14="http://schemas.microsoft.com/office/powerpoint/2010/main" val="34373697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27</a:t>
            </a:fld>
            <a:endParaRPr lang="en-AU"/>
          </a:p>
        </p:txBody>
      </p:sp>
    </p:spTree>
    <p:extLst>
      <p:ext uri="{BB962C8B-B14F-4D97-AF65-F5344CB8AC3E}">
        <p14:creationId xmlns:p14="http://schemas.microsoft.com/office/powerpoint/2010/main" val="20802173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28</a:t>
            </a:fld>
            <a:endParaRPr lang="en-AU"/>
          </a:p>
        </p:txBody>
      </p:sp>
    </p:spTree>
    <p:extLst>
      <p:ext uri="{BB962C8B-B14F-4D97-AF65-F5344CB8AC3E}">
        <p14:creationId xmlns:p14="http://schemas.microsoft.com/office/powerpoint/2010/main" val="19494025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29</a:t>
            </a:fld>
            <a:endParaRPr lang="en-AU"/>
          </a:p>
        </p:txBody>
      </p:sp>
    </p:spTree>
    <p:extLst>
      <p:ext uri="{BB962C8B-B14F-4D97-AF65-F5344CB8AC3E}">
        <p14:creationId xmlns:p14="http://schemas.microsoft.com/office/powerpoint/2010/main" val="37314177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30</a:t>
            </a:fld>
            <a:endParaRPr lang="en-AU"/>
          </a:p>
        </p:txBody>
      </p:sp>
    </p:spTree>
    <p:extLst>
      <p:ext uri="{BB962C8B-B14F-4D97-AF65-F5344CB8AC3E}">
        <p14:creationId xmlns:p14="http://schemas.microsoft.com/office/powerpoint/2010/main" val="18995440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31</a:t>
            </a:fld>
            <a:endParaRPr lang="en-AU"/>
          </a:p>
        </p:txBody>
      </p:sp>
    </p:spTree>
    <p:extLst>
      <p:ext uri="{BB962C8B-B14F-4D97-AF65-F5344CB8AC3E}">
        <p14:creationId xmlns:p14="http://schemas.microsoft.com/office/powerpoint/2010/main" val="38463861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32</a:t>
            </a:fld>
            <a:endParaRPr lang="en-AU"/>
          </a:p>
        </p:txBody>
      </p:sp>
    </p:spTree>
    <p:extLst>
      <p:ext uri="{BB962C8B-B14F-4D97-AF65-F5344CB8AC3E}">
        <p14:creationId xmlns:p14="http://schemas.microsoft.com/office/powerpoint/2010/main" val="23386622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33</a:t>
            </a:fld>
            <a:endParaRPr lang="en-AU"/>
          </a:p>
        </p:txBody>
      </p:sp>
    </p:spTree>
    <p:extLst>
      <p:ext uri="{BB962C8B-B14F-4D97-AF65-F5344CB8AC3E}">
        <p14:creationId xmlns:p14="http://schemas.microsoft.com/office/powerpoint/2010/main" val="36126175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34</a:t>
            </a:fld>
            <a:endParaRPr lang="en-AU"/>
          </a:p>
        </p:txBody>
      </p:sp>
    </p:spTree>
    <p:extLst>
      <p:ext uri="{BB962C8B-B14F-4D97-AF65-F5344CB8AC3E}">
        <p14:creationId xmlns:p14="http://schemas.microsoft.com/office/powerpoint/2010/main" val="25800131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35</a:t>
            </a:fld>
            <a:endParaRPr lang="en-AU"/>
          </a:p>
        </p:txBody>
      </p:sp>
    </p:spTree>
    <p:extLst>
      <p:ext uri="{BB962C8B-B14F-4D97-AF65-F5344CB8AC3E}">
        <p14:creationId xmlns:p14="http://schemas.microsoft.com/office/powerpoint/2010/main" val="42689835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36</a:t>
            </a:fld>
            <a:endParaRPr lang="en-AU"/>
          </a:p>
        </p:txBody>
      </p:sp>
    </p:spTree>
    <p:extLst>
      <p:ext uri="{BB962C8B-B14F-4D97-AF65-F5344CB8AC3E}">
        <p14:creationId xmlns:p14="http://schemas.microsoft.com/office/powerpoint/2010/main" val="13610403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37</a:t>
            </a:fld>
            <a:endParaRPr lang="en-AU"/>
          </a:p>
        </p:txBody>
      </p:sp>
    </p:spTree>
    <p:extLst>
      <p:ext uri="{BB962C8B-B14F-4D97-AF65-F5344CB8AC3E}">
        <p14:creationId xmlns:p14="http://schemas.microsoft.com/office/powerpoint/2010/main" val="27786444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94C3088D-F300-4D15-B8E0-972016C40E3C}" type="slidenum">
              <a:rPr lang="en-AU" smtClean="0"/>
              <a:t>38</a:t>
            </a:fld>
            <a:endParaRPr lang="en-AU" dirty="0"/>
          </a:p>
        </p:txBody>
      </p:sp>
    </p:spTree>
    <p:extLst>
      <p:ext uri="{BB962C8B-B14F-4D97-AF65-F5344CB8AC3E}">
        <p14:creationId xmlns:p14="http://schemas.microsoft.com/office/powerpoint/2010/main" val="36451360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94C3088D-F300-4D15-B8E0-972016C40E3C}" type="slidenum">
              <a:rPr lang="en-AU" smtClean="0"/>
              <a:t>39</a:t>
            </a:fld>
            <a:endParaRPr lang="en-AU" dirty="0"/>
          </a:p>
        </p:txBody>
      </p:sp>
    </p:spTree>
    <p:extLst>
      <p:ext uri="{BB962C8B-B14F-4D97-AF65-F5344CB8AC3E}">
        <p14:creationId xmlns:p14="http://schemas.microsoft.com/office/powerpoint/2010/main" val="33637297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40</a:t>
            </a:fld>
            <a:endParaRPr lang="en-AU"/>
          </a:p>
        </p:txBody>
      </p:sp>
    </p:spTree>
    <p:extLst>
      <p:ext uri="{BB962C8B-B14F-4D97-AF65-F5344CB8AC3E}">
        <p14:creationId xmlns:p14="http://schemas.microsoft.com/office/powerpoint/2010/main" val="10574363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41</a:t>
            </a:fld>
            <a:endParaRPr lang="en-AU"/>
          </a:p>
        </p:txBody>
      </p:sp>
    </p:spTree>
    <p:extLst>
      <p:ext uri="{BB962C8B-B14F-4D97-AF65-F5344CB8AC3E}">
        <p14:creationId xmlns:p14="http://schemas.microsoft.com/office/powerpoint/2010/main" val="74541093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42</a:t>
            </a:fld>
            <a:endParaRPr lang="en-AU"/>
          </a:p>
        </p:txBody>
      </p:sp>
    </p:spTree>
    <p:extLst>
      <p:ext uri="{BB962C8B-B14F-4D97-AF65-F5344CB8AC3E}">
        <p14:creationId xmlns:p14="http://schemas.microsoft.com/office/powerpoint/2010/main" val="19312577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43</a:t>
            </a:fld>
            <a:endParaRPr lang="en-AU"/>
          </a:p>
        </p:txBody>
      </p:sp>
    </p:spTree>
    <p:extLst>
      <p:ext uri="{BB962C8B-B14F-4D97-AF65-F5344CB8AC3E}">
        <p14:creationId xmlns:p14="http://schemas.microsoft.com/office/powerpoint/2010/main" val="179413911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44</a:t>
            </a:fld>
            <a:endParaRPr lang="en-AU"/>
          </a:p>
        </p:txBody>
      </p:sp>
    </p:spTree>
    <p:extLst>
      <p:ext uri="{BB962C8B-B14F-4D97-AF65-F5344CB8AC3E}">
        <p14:creationId xmlns:p14="http://schemas.microsoft.com/office/powerpoint/2010/main" val="15176236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45</a:t>
            </a:fld>
            <a:endParaRPr lang="en-AU"/>
          </a:p>
        </p:txBody>
      </p:sp>
    </p:spTree>
    <p:extLst>
      <p:ext uri="{BB962C8B-B14F-4D97-AF65-F5344CB8AC3E}">
        <p14:creationId xmlns:p14="http://schemas.microsoft.com/office/powerpoint/2010/main" val="270434813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46</a:t>
            </a:fld>
            <a:endParaRPr lang="en-AU"/>
          </a:p>
        </p:txBody>
      </p:sp>
    </p:spTree>
    <p:extLst>
      <p:ext uri="{BB962C8B-B14F-4D97-AF65-F5344CB8AC3E}">
        <p14:creationId xmlns:p14="http://schemas.microsoft.com/office/powerpoint/2010/main" val="34920319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47</a:t>
            </a:fld>
            <a:endParaRPr lang="en-AU"/>
          </a:p>
        </p:txBody>
      </p:sp>
    </p:spTree>
    <p:extLst>
      <p:ext uri="{BB962C8B-B14F-4D97-AF65-F5344CB8AC3E}">
        <p14:creationId xmlns:p14="http://schemas.microsoft.com/office/powerpoint/2010/main" val="2168920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幻灯片编号占位符 3"/>
          <p:cNvSpPr>
            <a:spLocks noGrp="1"/>
          </p:cNvSpPr>
          <p:nvPr>
            <p:ph type="sldNum" sz="quarter" idx="10"/>
          </p:nvPr>
        </p:nvSpPr>
        <p:spPr/>
        <p:txBody>
          <a:bodyPr/>
          <a:lstStyle/>
          <a:p>
            <a:fld id="{D906AB83-A9BE-45DA-B7AF-45B94295F4B6}" type="slidenum">
              <a:rPr lang="en-AU" smtClean="0"/>
              <a:t>48</a:t>
            </a:fld>
            <a:endParaRPr lang="en-AU"/>
          </a:p>
        </p:txBody>
      </p:sp>
    </p:spTree>
    <p:extLst>
      <p:ext uri="{BB962C8B-B14F-4D97-AF65-F5344CB8AC3E}">
        <p14:creationId xmlns:p14="http://schemas.microsoft.com/office/powerpoint/2010/main" val="419404752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幻灯片编号占位符 3"/>
          <p:cNvSpPr>
            <a:spLocks noGrp="1"/>
          </p:cNvSpPr>
          <p:nvPr>
            <p:ph type="sldNum" sz="quarter" idx="10"/>
          </p:nvPr>
        </p:nvSpPr>
        <p:spPr/>
        <p:txBody>
          <a:bodyPr/>
          <a:lstStyle/>
          <a:p>
            <a:fld id="{D906AB83-A9BE-45DA-B7AF-45B94295F4B6}" type="slidenum">
              <a:rPr lang="en-AU" smtClean="0"/>
              <a:t>49</a:t>
            </a:fld>
            <a:endParaRPr lang="en-AU"/>
          </a:p>
        </p:txBody>
      </p:sp>
    </p:spTree>
    <p:extLst>
      <p:ext uri="{BB962C8B-B14F-4D97-AF65-F5344CB8AC3E}">
        <p14:creationId xmlns:p14="http://schemas.microsoft.com/office/powerpoint/2010/main" val="254535627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幻灯片编号占位符 3"/>
          <p:cNvSpPr>
            <a:spLocks noGrp="1"/>
          </p:cNvSpPr>
          <p:nvPr>
            <p:ph type="sldNum" sz="quarter" idx="10"/>
          </p:nvPr>
        </p:nvSpPr>
        <p:spPr/>
        <p:txBody>
          <a:bodyPr/>
          <a:lstStyle/>
          <a:p>
            <a:fld id="{D906AB83-A9BE-45DA-B7AF-45B94295F4B6}" type="slidenum">
              <a:rPr lang="en-AU" smtClean="0"/>
              <a:t>50</a:t>
            </a:fld>
            <a:endParaRPr lang="en-AU"/>
          </a:p>
        </p:txBody>
      </p:sp>
    </p:spTree>
    <p:extLst>
      <p:ext uri="{BB962C8B-B14F-4D97-AF65-F5344CB8AC3E}">
        <p14:creationId xmlns:p14="http://schemas.microsoft.com/office/powerpoint/2010/main" val="258125230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幻灯片编号占位符 3"/>
          <p:cNvSpPr>
            <a:spLocks noGrp="1"/>
          </p:cNvSpPr>
          <p:nvPr>
            <p:ph type="sldNum" sz="quarter" idx="10"/>
          </p:nvPr>
        </p:nvSpPr>
        <p:spPr/>
        <p:txBody>
          <a:bodyPr/>
          <a:lstStyle/>
          <a:p>
            <a:fld id="{D906AB83-A9BE-45DA-B7AF-45B94295F4B6}" type="slidenum">
              <a:rPr lang="en-AU" smtClean="0"/>
              <a:t>51</a:t>
            </a:fld>
            <a:endParaRPr lang="en-AU"/>
          </a:p>
        </p:txBody>
      </p:sp>
    </p:spTree>
    <p:extLst>
      <p:ext uri="{BB962C8B-B14F-4D97-AF65-F5344CB8AC3E}">
        <p14:creationId xmlns:p14="http://schemas.microsoft.com/office/powerpoint/2010/main" val="310605372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AU" dirty="0"/>
          </a:p>
        </p:txBody>
      </p:sp>
      <p:sp>
        <p:nvSpPr>
          <p:cNvPr id="4" name="Slide Number Placeholder 3"/>
          <p:cNvSpPr>
            <a:spLocks noGrp="1"/>
          </p:cNvSpPr>
          <p:nvPr>
            <p:ph type="sldNum" sz="quarter" idx="10"/>
          </p:nvPr>
        </p:nvSpPr>
        <p:spPr/>
        <p:txBody>
          <a:bodyPr/>
          <a:lstStyle/>
          <a:p>
            <a:fld id="{D906AB83-A9BE-45DA-B7AF-45B94295F4B6}" type="slidenum">
              <a:rPr lang="en-AU" smtClean="0"/>
              <a:t>52</a:t>
            </a:fld>
            <a:endParaRPr lang="en-AU"/>
          </a:p>
        </p:txBody>
      </p:sp>
    </p:spTree>
    <p:extLst>
      <p:ext uri="{BB962C8B-B14F-4D97-AF65-F5344CB8AC3E}">
        <p14:creationId xmlns:p14="http://schemas.microsoft.com/office/powerpoint/2010/main" val="90404596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D906AB83-A9BE-45DA-B7AF-45B94295F4B6}" type="slidenum">
              <a:rPr lang="en-AU" smtClean="0"/>
              <a:t>53</a:t>
            </a:fld>
            <a:endParaRPr lang="en-AU"/>
          </a:p>
        </p:txBody>
      </p:sp>
    </p:spTree>
    <p:extLst>
      <p:ext uri="{BB962C8B-B14F-4D97-AF65-F5344CB8AC3E}">
        <p14:creationId xmlns:p14="http://schemas.microsoft.com/office/powerpoint/2010/main" val="78597352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D906AB83-A9BE-45DA-B7AF-45B94295F4B6}" type="slidenum">
              <a:rPr lang="en-AU" smtClean="0"/>
              <a:t>54</a:t>
            </a:fld>
            <a:endParaRPr lang="en-AU"/>
          </a:p>
        </p:txBody>
      </p:sp>
    </p:spTree>
    <p:extLst>
      <p:ext uri="{BB962C8B-B14F-4D97-AF65-F5344CB8AC3E}">
        <p14:creationId xmlns:p14="http://schemas.microsoft.com/office/powerpoint/2010/main" val="77979549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D906AB83-A9BE-45DA-B7AF-45B94295F4B6}" type="slidenum">
              <a:rPr lang="en-AU" smtClean="0"/>
              <a:t>55</a:t>
            </a:fld>
            <a:endParaRPr lang="en-AU"/>
          </a:p>
        </p:txBody>
      </p:sp>
    </p:spTree>
    <p:extLst>
      <p:ext uri="{BB962C8B-B14F-4D97-AF65-F5344CB8AC3E}">
        <p14:creationId xmlns:p14="http://schemas.microsoft.com/office/powerpoint/2010/main" val="314523726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D906AB83-A9BE-45DA-B7AF-45B94295F4B6}" type="slidenum">
              <a:rPr lang="en-AU" smtClean="0"/>
              <a:t>56</a:t>
            </a:fld>
            <a:endParaRPr lang="en-AU"/>
          </a:p>
        </p:txBody>
      </p:sp>
    </p:spTree>
    <p:extLst>
      <p:ext uri="{BB962C8B-B14F-4D97-AF65-F5344CB8AC3E}">
        <p14:creationId xmlns:p14="http://schemas.microsoft.com/office/powerpoint/2010/main" val="74854432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D906AB83-A9BE-45DA-B7AF-45B94295F4B6}" type="slidenum">
              <a:rPr lang="en-AU" smtClean="0"/>
              <a:t>57</a:t>
            </a:fld>
            <a:endParaRPr lang="en-AU"/>
          </a:p>
        </p:txBody>
      </p:sp>
    </p:spTree>
    <p:extLst>
      <p:ext uri="{BB962C8B-B14F-4D97-AF65-F5344CB8AC3E}">
        <p14:creationId xmlns:p14="http://schemas.microsoft.com/office/powerpoint/2010/main" val="64470589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58</a:t>
            </a:fld>
            <a:endParaRPr lang="en-AU"/>
          </a:p>
        </p:txBody>
      </p:sp>
    </p:spTree>
    <p:extLst>
      <p:ext uri="{BB962C8B-B14F-4D97-AF65-F5344CB8AC3E}">
        <p14:creationId xmlns:p14="http://schemas.microsoft.com/office/powerpoint/2010/main" val="12248505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D906AB83-A9BE-45DA-B7AF-45B94295F4B6}" type="slidenum">
              <a:rPr lang="en-AU" smtClean="0"/>
              <a:t>59</a:t>
            </a:fld>
            <a:endParaRPr lang="en-AU"/>
          </a:p>
        </p:txBody>
      </p:sp>
    </p:spTree>
    <p:extLst>
      <p:ext uri="{BB962C8B-B14F-4D97-AF65-F5344CB8AC3E}">
        <p14:creationId xmlns:p14="http://schemas.microsoft.com/office/powerpoint/2010/main" val="427590196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60</a:t>
            </a:fld>
            <a:endParaRPr lang="en-AU"/>
          </a:p>
        </p:txBody>
      </p:sp>
    </p:spTree>
    <p:extLst>
      <p:ext uri="{BB962C8B-B14F-4D97-AF65-F5344CB8AC3E}">
        <p14:creationId xmlns:p14="http://schemas.microsoft.com/office/powerpoint/2010/main" val="24213852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61</a:t>
            </a:fld>
            <a:endParaRPr lang="en-AU"/>
          </a:p>
        </p:txBody>
      </p:sp>
    </p:spTree>
    <p:extLst>
      <p:ext uri="{BB962C8B-B14F-4D97-AF65-F5344CB8AC3E}">
        <p14:creationId xmlns:p14="http://schemas.microsoft.com/office/powerpoint/2010/main" val="372812361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None/>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62</a:t>
            </a:fld>
            <a:endParaRPr lang="en-AU"/>
          </a:p>
        </p:txBody>
      </p:sp>
    </p:spTree>
    <p:extLst>
      <p:ext uri="{BB962C8B-B14F-4D97-AF65-F5344CB8AC3E}">
        <p14:creationId xmlns:p14="http://schemas.microsoft.com/office/powerpoint/2010/main" val="57529858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None/>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63</a:t>
            </a:fld>
            <a:endParaRPr lang="en-AU"/>
          </a:p>
        </p:txBody>
      </p:sp>
    </p:spTree>
    <p:extLst>
      <p:ext uri="{BB962C8B-B14F-4D97-AF65-F5344CB8AC3E}">
        <p14:creationId xmlns:p14="http://schemas.microsoft.com/office/powerpoint/2010/main" val="204265566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64</a:t>
            </a:fld>
            <a:endParaRPr lang="en-AU"/>
          </a:p>
        </p:txBody>
      </p:sp>
    </p:spTree>
    <p:extLst>
      <p:ext uri="{BB962C8B-B14F-4D97-AF65-F5344CB8AC3E}">
        <p14:creationId xmlns:p14="http://schemas.microsoft.com/office/powerpoint/2010/main" val="59879872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65</a:t>
            </a:fld>
            <a:endParaRPr lang="en-AU"/>
          </a:p>
        </p:txBody>
      </p:sp>
    </p:spTree>
    <p:extLst>
      <p:ext uri="{BB962C8B-B14F-4D97-AF65-F5344CB8AC3E}">
        <p14:creationId xmlns:p14="http://schemas.microsoft.com/office/powerpoint/2010/main" val="222145227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66</a:t>
            </a:fld>
            <a:endParaRPr lang="en-AU"/>
          </a:p>
        </p:txBody>
      </p:sp>
    </p:spTree>
    <p:extLst>
      <p:ext uri="{BB962C8B-B14F-4D97-AF65-F5344CB8AC3E}">
        <p14:creationId xmlns:p14="http://schemas.microsoft.com/office/powerpoint/2010/main" val="29226084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67</a:t>
            </a:fld>
            <a:endParaRPr lang="en-AU"/>
          </a:p>
        </p:txBody>
      </p:sp>
    </p:spTree>
    <p:extLst>
      <p:ext uri="{BB962C8B-B14F-4D97-AF65-F5344CB8AC3E}">
        <p14:creationId xmlns:p14="http://schemas.microsoft.com/office/powerpoint/2010/main" val="997708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5/11/2026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535090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5/11/2026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69118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5/11/2026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559894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5/11/2026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22988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49343D99-809A-49C0-96E5-4250D0B498EE}" type="datetime1">
              <a:rPr lang="en-US" smtClean="0"/>
              <a:t>5/11/2026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91553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5/11/2026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3296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5/11/2026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98986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5/11/2026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434586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5/11/2026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17793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5/11/2026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5171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5/11/2026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2354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5/11/2026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372291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5/11/2026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534648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5/11/2026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59530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5/11/2026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15711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5/11/2026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185967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5/11/2026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6992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5/11/2026</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586398981"/>
      </p:ext>
    </p:extLst>
  </p:cSld>
  <p:clrMap bg1="dk1" tx1="lt1" bg2="dk2" tx2="lt2" accent1="accent1" accent2="accent2" accent3="accent3" accent4="accent4" accent5="accent5" accent6="accent6" hlink="hlink" folHlink="folHlink"/>
  <p:sldLayoutIdLst>
    <p:sldLayoutId id="2147483760" r:id="rId1"/>
    <p:sldLayoutId id="2147483761" r:id="rId2"/>
    <p:sldLayoutId id="2147483762" r:id="rId3"/>
    <p:sldLayoutId id="2147483746" r:id="rId4"/>
    <p:sldLayoutId id="2147483747" r:id="rId5"/>
    <p:sldLayoutId id="2147483748" r:id="rId6"/>
    <p:sldLayoutId id="2147483749" r:id="rId7"/>
    <p:sldLayoutId id="2147483750" r:id="rId8"/>
    <p:sldLayoutId id="2147483751" r:id="rId9"/>
    <p:sldLayoutId id="2147483752" r:id="rId10"/>
    <p:sldLayoutId id="2147483759" r:id="rId11"/>
    <p:sldLayoutId id="2147483753" r:id="rId12"/>
    <p:sldLayoutId id="2147483754" r:id="rId13"/>
    <p:sldLayoutId id="2147483755" r:id="rId14"/>
    <p:sldLayoutId id="2147483756" r:id="rId15"/>
    <p:sldLayoutId id="2147483757" r:id="rId16"/>
    <p:sldLayoutId id="2147483758" r:id="rId17"/>
  </p:sldLayoutIdLst>
  <p:hf sldNum="0" hdr="0" ftr="0" dt="0"/>
  <p:txStyles>
    <p:title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00.png"/></Relationships>
</file>

<file path=ppt/slides/_rels/slide3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8.jpeg"/><Relationship Id="rId7"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6.jpg"/><Relationship Id="rId5" Type="http://schemas.openxmlformats.org/officeDocument/2006/relationships/image" Target="../media/image23.png"/><Relationship Id="rId10" Type="http://schemas.openxmlformats.org/officeDocument/2006/relationships/image" Target="../media/image25.png"/><Relationship Id="rId4" Type="http://schemas.openxmlformats.org/officeDocument/2006/relationships/image" Target="../media/image22.png"/><Relationship Id="rId9" Type="http://schemas.openxmlformats.org/officeDocument/2006/relationships/image" Target="../media/image250.png"/></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8E16CA-BF32-4E68-AAAF-189A3408C6C8}"/>
              </a:ext>
            </a:extLst>
          </p:cNvPr>
          <p:cNvPicPr>
            <a:picLocks noChangeAspect="1"/>
          </p:cNvPicPr>
          <p:nvPr/>
        </p:nvPicPr>
        <p:blipFill rotWithShape="1">
          <a:blip r:embed="rId4"/>
          <a:srcRect t="13986" b="1744"/>
          <a:stretch/>
        </p:blipFill>
        <p:spPr>
          <a:xfrm>
            <a:off x="20" y="10"/>
            <a:ext cx="12191980" cy="6857990"/>
          </a:xfrm>
          <a:prstGeom prst="rect">
            <a:avLst/>
          </a:prstGeom>
        </p:spPr>
      </p:pic>
      <p:sp useBgFill="1">
        <p:nvSpPr>
          <p:cNvPr id="14" name="Freeform 5">
            <a:extLst>
              <a:ext uri="{FF2B5EF4-FFF2-40B4-BE49-F238E27FC236}">
                <a16:creationId xmlns:a16="http://schemas.microsoft.com/office/drawing/2014/main" id="{608EAA06-5488-416B-B2B2-E552130110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271651" y="1762886"/>
            <a:ext cx="7656919" cy="3332229"/>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A7F2B5DE-6445-CC49-9F8E-7C9072991AF6}"/>
              </a:ext>
            </a:extLst>
          </p:cNvPr>
          <p:cNvSpPr>
            <a:spLocks noGrp="1"/>
          </p:cNvSpPr>
          <p:nvPr>
            <p:ph type="ctrTitle"/>
          </p:nvPr>
        </p:nvSpPr>
        <p:spPr>
          <a:xfrm>
            <a:off x="2480733" y="2514599"/>
            <a:ext cx="7219954" cy="1828801"/>
          </a:xfrm>
        </p:spPr>
        <p:txBody>
          <a:bodyPr>
            <a:normAutofit fontScale="90000"/>
          </a:bodyPr>
          <a:lstStyle/>
          <a:p>
            <a:r>
              <a:rPr lang="en-US" sz="4800" dirty="0"/>
              <a:t>CITS1003 Introduction to Cybersecurity</a:t>
            </a:r>
            <a:br>
              <a:rPr lang="en-US" sz="4800" dirty="0"/>
            </a:br>
            <a:r>
              <a:rPr lang="en-US" sz="4800" dirty="0"/>
              <a:t>[B] Cyber Law and </a:t>
            </a:r>
            <a:br>
              <a:rPr lang="en-US" sz="4800" dirty="0"/>
            </a:br>
            <a:r>
              <a:rPr lang="en-US" sz="4800" dirty="0"/>
              <a:t>CI &amp; CPS exercises</a:t>
            </a:r>
          </a:p>
        </p:txBody>
      </p:sp>
      <p:sp>
        <p:nvSpPr>
          <p:cNvPr id="3" name="Subtitle 2">
            <a:extLst>
              <a:ext uri="{FF2B5EF4-FFF2-40B4-BE49-F238E27FC236}">
                <a16:creationId xmlns:a16="http://schemas.microsoft.com/office/drawing/2014/main" id="{1804B053-88E2-6F47-B5CB-F0B21DD687A8}"/>
              </a:ext>
            </a:extLst>
          </p:cNvPr>
          <p:cNvSpPr>
            <a:spLocks noGrp="1"/>
          </p:cNvSpPr>
          <p:nvPr>
            <p:ph type="subTitle" idx="1"/>
          </p:nvPr>
        </p:nvSpPr>
        <p:spPr>
          <a:xfrm>
            <a:off x="2480733" y="4438710"/>
            <a:ext cx="7219954" cy="650933"/>
          </a:xfrm>
        </p:spPr>
        <p:txBody>
          <a:bodyPr>
            <a:normAutofit/>
          </a:bodyPr>
          <a:lstStyle/>
          <a:p>
            <a:r>
              <a:rPr lang="en-US" dirty="0">
                <a:solidFill>
                  <a:srgbClr val="20D1FF"/>
                </a:solidFill>
              </a:rPr>
              <a:t>Dr </a:t>
            </a:r>
            <a:r>
              <a:rPr lang="en-US" dirty="0" err="1">
                <a:solidFill>
                  <a:srgbClr val="20D1FF"/>
                </a:solidFill>
              </a:rPr>
              <a:t>Zhi</a:t>
            </a:r>
            <a:r>
              <a:rPr lang="en-US" dirty="0">
                <a:solidFill>
                  <a:srgbClr val="20D1FF"/>
                </a:solidFill>
              </a:rPr>
              <a:t> Zhang</a:t>
            </a:r>
          </a:p>
        </p:txBody>
      </p:sp>
    </p:spTree>
    <p:extLst>
      <p:ext uri="{BB962C8B-B14F-4D97-AF65-F5344CB8AC3E}">
        <p14:creationId xmlns:p14="http://schemas.microsoft.com/office/powerpoint/2010/main" val="1077586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66B94F-5307-4CF7-8CA1-4D0D8666FF1A}"/>
              </a:ext>
            </a:extLst>
          </p:cNvPr>
          <p:cNvSpPr>
            <a:spLocks noGrp="1"/>
          </p:cNvSpPr>
          <p:nvPr>
            <p:ph idx="1"/>
          </p:nvPr>
        </p:nvSpPr>
        <p:spPr>
          <a:xfrm>
            <a:off x="913795" y="841248"/>
            <a:ext cx="10353762" cy="5559551"/>
          </a:xfrm>
        </p:spPr>
        <p:txBody>
          <a:bodyPr>
            <a:normAutofit/>
          </a:bodyPr>
          <a:lstStyle/>
          <a:p>
            <a:r>
              <a:rPr lang="en-AU" sz="2800" dirty="0"/>
              <a:t>Privacy preserving </a:t>
            </a:r>
          </a:p>
          <a:p>
            <a:pPr lvl="1"/>
            <a:r>
              <a:rPr lang="en-AU" sz="2800" dirty="0"/>
              <a:t>Secure Multi-Party Computation (SMPC)</a:t>
            </a:r>
          </a:p>
          <a:p>
            <a:pPr lvl="1"/>
            <a:r>
              <a:rPr lang="en-AU" sz="2800" dirty="0"/>
              <a:t>Homomorphic Encryption (HE)</a:t>
            </a:r>
          </a:p>
          <a:p>
            <a:pPr lvl="1"/>
            <a:r>
              <a:rPr lang="en-AU" sz="2800" dirty="0"/>
              <a:t>Differential Privacy (DP)</a:t>
            </a:r>
          </a:p>
          <a:p>
            <a:r>
              <a:rPr lang="en-AU" altLang="zh-CN" sz="2800" dirty="0"/>
              <a:t>Software-induced hardware vulnerability: </a:t>
            </a:r>
            <a:r>
              <a:rPr lang="en-AU" altLang="zh-CN" sz="2800" dirty="0" err="1"/>
              <a:t>Rowhammer</a:t>
            </a:r>
            <a:endParaRPr lang="en-AU" altLang="zh-CN" sz="2800" dirty="0"/>
          </a:p>
          <a:p>
            <a:pPr lvl="1"/>
            <a:r>
              <a:rPr lang="en-AU" sz="2600" dirty="0" err="1"/>
              <a:t>Rowhammer</a:t>
            </a:r>
            <a:r>
              <a:rPr lang="en-AU" sz="2600" dirty="0"/>
              <a:t> against DP</a:t>
            </a:r>
          </a:p>
        </p:txBody>
      </p:sp>
    </p:spTree>
    <p:extLst>
      <p:ext uri="{BB962C8B-B14F-4D97-AF65-F5344CB8AC3E}">
        <p14:creationId xmlns:p14="http://schemas.microsoft.com/office/powerpoint/2010/main" val="3447974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06419-9688-4E6E-91B3-405817B0A902}"/>
              </a:ext>
            </a:extLst>
          </p:cNvPr>
          <p:cNvSpPr>
            <a:spLocks noGrp="1"/>
          </p:cNvSpPr>
          <p:nvPr>
            <p:ph type="title"/>
          </p:nvPr>
        </p:nvSpPr>
        <p:spPr>
          <a:xfrm>
            <a:off x="734181" y="54430"/>
            <a:ext cx="10353762" cy="827314"/>
          </a:xfrm>
        </p:spPr>
        <p:txBody>
          <a:bodyPr/>
          <a:lstStyle/>
          <a:p>
            <a:r>
              <a:rPr lang="en-AU" dirty="0"/>
              <a:t>What is privacy</a:t>
            </a:r>
          </a:p>
        </p:txBody>
      </p:sp>
      <p:sp>
        <p:nvSpPr>
          <p:cNvPr id="3" name="Content Placeholder 2">
            <a:extLst>
              <a:ext uri="{FF2B5EF4-FFF2-40B4-BE49-F238E27FC236}">
                <a16:creationId xmlns:a16="http://schemas.microsoft.com/office/drawing/2014/main" id="{DD9E5344-939D-4389-AA3E-8709118DCB67}"/>
              </a:ext>
            </a:extLst>
          </p:cNvPr>
          <p:cNvSpPr>
            <a:spLocks noGrp="1"/>
          </p:cNvSpPr>
          <p:nvPr>
            <p:ph idx="1"/>
          </p:nvPr>
        </p:nvSpPr>
        <p:spPr>
          <a:xfrm>
            <a:off x="650119" y="1191986"/>
            <a:ext cx="10891762" cy="1338943"/>
          </a:xfrm>
        </p:spPr>
        <p:txBody>
          <a:bodyPr>
            <a:normAutofit/>
          </a:bodyPr>
          <a:lstStyle/>
          <a:p>
            <a:r>
              <a:rPr lang="en-US" sz="2800" dirty="0">
                <a:ea typeface="+mj-ea"/>
              </a:rPr>
              <a:t>Privacy refers to the ability of individuals to control the access and use of their personal information (e.g., name, phone number, </a:t>
            </a:r>
            <a:r>
              <a:rPr lang="en-US" sz="2800" dirty="0" err="1">
                <a:ea typeface="+mj-ea"/>
              </a:rPr>
              <a:t>etc</a:t>
            </a:r>
            <a:r>
              <a:rPr lang="en-US" sz="2800" dirty="0">
                <a:ea typeface="+mj-ea"/>
              </a:rPr>
              <a:t>). </a:t>
            </a:r>
          </a:p>
        </p:txBody>
      </p:sp>
    </p:spTree>
    <p:extLst>
      <p:ext uri="{BB962C8B-B14F-4D97-AF65-F5344CB8AC3E}">
        <p14:creationId xmlns:p14="http://schemas.microsoft.com/office/powerpoint/2010/main" val="780240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06419-9688-4E6E-91B3-405817B0A902}"/>
              </a:ext>
            </a:extLst>
          </p:cNvPr>
          <p:cNvSpPr>
            <a:spLocks noGrp="1"/>
          </p:cNvSpPr>
          <p:nvPr>
            <p:ph type="title"/>
          </p:nvPr>
        </p:nvSpPr>
        <p:spPr>
          <a:xfrm>
            <a:off x="1084490" y="21167"/>
            <a:ext cx="10353762" cy="966258"/>
          </a:xfrm>
        </p:spPr>
        <p:txBody>
          <a:bodyPr/>
          <a:lstStyle/>
          <a:p>
            <a:r>
              <a:rPr lang="en-AU" dirty="0"/>
              <a:t>What is Privacy</a:t>
            </a:r>
          </a:p>
        </p:txBody>
      </p:sp>
      <p:pic>
        <p:nvPicPr>
          <p:cNvPr id="1026" name="Picture 2" descr="Costco Undercuts Harvey Norman By Hundreds On CE – channelnews">
            <a:extLst>
              <a:ext uri="{FF2B5EF4-FFF2-40B4-BE49-F238E27FC236}">
                <a16:creationId xmlns:a16="http://schemas.microsoft.com/office/drawing/2014/main" id="{7617C8A3-5D1F-4DC5-84F0-A5726B2599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4529" y="2157947"/>
            <a:ext cx="3690862" cy="226398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The Most Quotable Sayings From Alice in Wonderland | Disney Quotes">
            <a:extLst>
              <a:ext uri="{FF2B5EF4-FFF2-40B4-BE49-F238E27FC236}">
                <a16:creationId xmlns:a16="http://schemas.microsoft.com/office/drawing/2014/main" id="{27AAF303-A3E3-4B42-8F2A-9AEF47C64F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747125" y="2157946"/>
            <a:ext cx="1971043" cy="209042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44275B8-994E-4E79-9134-640576070D50}"/>
              </a:ext>
            </a:extLst>
          </p:cNvPr>
          <p:cNvSpPr txBox="1"/>
          <p:nvPr/>
        </p:nvSpPr>
        <p:spPr>
          <a:xfrm>
            <a:off x="1245065" y="4160315"/>
            <a:ext cx="1244600" cy="523220"/>
          </a:xfrm>
          <a:prstGeom prst="rect">
            <a:avLst/>
          </a:prstGeom>
          <a:noFill/>
        </p:spPr>
        <p:txBody>
          <a:bodyPr wrap="square">
            <a:spAutoFit/>
          </a:bodyPr>
          <a:lstStyle/>
          <a:p>
            <a:pPr algn="ctr"/>
            <a:r>
              <a:rPr lang="en-AU" sz="2800" dirty="0"/>
              <a:t>Alice</a:t>
            </a:r>
            <a:endParaRPr lang="en-AU" dirty="0"/>
          </a:p>
        </p:txBody>
      </p:sp>
      <p:cxnSp>
        <p:nvCxnSpPr>
          <p:cNvPr id="6" name="Straight Arrow Connector 5">
            <a:extLst>
              <a:ext uri="{FF2B5EF4-FFF2-40B4-BE49-F238E27FC236}">
                <a16:creationId xmlns:a16="http://schemas.microsoft.com/office/drawing/2014/main" id="{529E1DAE-CF3B-4AD1-A355-19601B86335E}"/>
              </a:ext>
            </a:extLst>
          </p:cNvPr>
          <p:cNvCxnSpPr>
            <a:cxnSpLocks/>
          </p:cNvCxnSpPr>
          <p:nvPr/>
        </p:nvCxnSpPr>
        <p:spPr>
          <a:xfrm>
            <a:off x="3149600" y="3203161"/>
            <a:ext cx="43688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A2DEE5E-01BE-4DD0-B2F0-CBE2470D398F}"/>
              </a:ext>
            </a:extLst>
          </p:cNvPr>
          <p:cNvSpPr/>
          <p:nvPr/>
        </p:nvSpPr>
        <p:spPr>
          <a:xfrm>
            <a:off x="3149600" y="1862667"/>
            <a:ext cx="4148667"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dirty="0"/>
              <a:t>provides personal information</a:t>
            </a:r>
          </a:p>
          <a:p>
            <a:pPr algn="ctr"/>
            <a:r>
              <a:rPr lang="en-AU" sz="2400" dirty="0"/>
              <a:t>to sign up for a membership</a:t>
            </a:r>
          </a:p>
        </p:txBody>
      </p:sp>
      <p:sp>
        <p:nvSpPr>
          <p:cNvPr id="8" name="Rectangle 7">
            <a:extLst>
              <a:ext uri="{FF2B5EF4-FFF2-40B4-BE49-F238E27FC236}">
                <a16:creationId xmlns:a16="http://schemas.microsoft.com/office/drawing/2014/main" id="{786CE592-D867-44DF-A4A4-2A5110F6E786}"/>
              </a:ext>
            </a:extLst>
          </p:cNvPr>
          <p:cNvSpPr/>
          <p:nvPr/>
        </p:nvSpPr>
        <p:spPr>
          <a:xfrm>
            <a:off x="7695626" y="5051250"/>
            <a:ext cx="4148667"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dirty="0"/>
              <a:t>Why does Costco collect users’ private data?</a:t>
            </a:r>
          </a:p>
        </p:txBody>
      </p:sp>
      <p:cxnSp>
        <p:nvCxnSpPr>
          <p:cNvPr id="9" name="Straight Arrow Connector 8">
            <a:extLst>
              <a:ext uri="{FF2B5EF4-FFF2-40B4-BE49-F238E27FC236}">
                <a16:creationId xmlns:a16="http://schemas.microsoft.com/office/drawing/2014/main" id="{5E706F9D-FBDA-46DE-A63F-F740CA905589}"/>
              </a:ext>
            </a:extLst>
          </p:cNvPr>
          <p:cNvCxnSpPr>
            <a:cxnSpLocks/>
            <a:stCxn id="1026" idx="2"/>
            <a:endCxn id="8" idx="0"/>
          </p:cNvCxnSpPr>
          <p:nvPr/>
        </p:nvCxnSpPr>
        <p:spPr>
          <a:xfrm>
            <a:off x="9769960" y="4421927"/>
            <a:ext cx="0" cy="62932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2107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06419-9688-4E6E-91B3-405817B0A902}"/>
              </a:ext>
            </a:extLst>
          </p:cNvPr>
          <p:cNvSpPr>
            <a:spLocks noGrp="1"/>
          </p:cNvSpPr>
          <p:nvPr>
            <p:ph type="title"/>
          </p:nvPr>
        </p:nvSpPr>
        <p:spPr>
          <a:xfrm>
            <a:off x="1084490" y="21167"/>
            <a:ext cx="10353762" cy="966258"/>
          </a:xfrm>
        </p:spPr>
        <p:txBody>
          <a:bodyPr/>
          <a:lstStyle/>
          <a:p>
            <a:r>
              <a:rPr lang="en-AU" dirty="0"/>
              <a:t>What is Privacy</a:t>
            </a:r>
          </a:p>
        </p:txBody>
      </p:sp>
      <p:pic>
        <p:nvPicPr>
          <p:cNvPr id="1026" name="Picture 2" descr="Costco Undercuts Harvey Norman By Hundreds On CE – channelnews">
            <a:extLst>
              <a:ext uri="{FF2B5EF4-FFF2-40B4-BE49-F238E27FC236}">
                <a16:creationId xmlns:a16="http://schemas.microsoft.com/office/drawing/2014/main" id="{7617C8A3-5D1F-4DC5-84F0-A5726B2599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223" y="1373444"/>
            <a:ext cx="2739333" cy="163521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The Most Quotable Sayings From Alice in Wonderland | Disney Quotes">
            <a:extLst>
              <a:ext uri="{FF2B5EF4-FFF2-40B4-BE49-F238E27FC236}">
                <a16:creationId xmlns:a16="http://schemas.microsoft.com/office/drawing/2014/main" id="{27AAF303-A3E3-4B42-8F2A-9AEF47C64F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589599" y="3069778"/>
            <a:ext cx="1709691" cy="1371134"/>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44275B8-994E-4E79-9134-640576070D50}"/>
              </a:ext>
            </a:extLst>
          </p:cNvPr>
          <p:cNvSpPr txBox="1"/>
          <p:nvPr/>
        </p:nvSpPr>
        <p:spPr>
          <a:xfrm>
            <a:off x="3405613" y="1582784"/>
            <a:ext cx="4148667" cy="523220"/>
          </a:xfrm>
          <a:prstGeom prst="rect">
            <a:avLst/>
          </a:prstGeom>
          <a:noFill/>
        </p:spPr>
        <p:txBody>
          <a:bodyPr wrap="square">
            <a:spAutoFit/>
          </a:bodyPr>
          <a:lstStyle/>
          <a:p>
            <a:pPr algn="ctr"/>
            <a:r>
              <a:rPr lang="en-AU" sz="2800" dirty="0"/>
              <a:t>provide users’ data</a:t>
            </a:r>
            <a:endParaRPr lang="en-AU" dirty="0"/>
          </a:p>
        </p:txBody>
      </p:sp>
      <p:cxnSp>
        <p:nvCxnSpPr>
          <p:cNvPr id="6" name="Straight Arrow Connector 5">
            <a:extLst>
              <a:ext uri="{FF2B5EF4-FFF2-40B4-BE49-F238E27FC236}">
                <a16:creationId xmlns:a16="http://schemas.microsoft.com/office/drawing/2014/main" id="{529E1DAE-CF3B-4AD1-A355-19601B86335E}"/>
              </a:ext>
            </a:extLst>
          </p:cNvPr>
          <p:cNvCxnSpPr>
            <a:cxnSpLocks/>
          </p:cNvCxnSpPr>
          <p:nvPr/>
        </p:nvCxnSpPr>
        <p:spPr>
          <a:xfrm>
            <a:off x="3704532" y="2191803"/>
            <a:ext cx="3677921"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A2DEE5E-01BE-4DD0-B2F0-CBE2470D398F}"/>
              </a:ext>
            </a:extLst>
          </p:cNvPr>
          <p:cNvSpPr/>
          <p:nvPr/>
        </p:nvSpPr>
        <p:spPr>
          <a:xfrm>
            <a:off x="7192280" y="4181907"/>
            <a:ext cx="3677921" cy="9685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dirty="0"/>
              <a:t>e.g., her favourite items</a:t>
            </a:r>
          </a:p>
        </p:txBody>
      </p:sp>
      <p:sp>
        <p:nvSpPr>
          <p:cNvPr id="8" name="Rectangle 7">
            <a:extLst>
              <a:ext uri="{FF2B5EF4-FFF2-40B4-BE49-F238E27FC236}">
                <a16:creationId xmlns:a16="http://schemas.microsoft.com/office/drawing/2014/main" id="{BD2BA2E6-1E5B-4EDC-804A-97D8F5C0B4D9}"/>
              </a:ext>
            </a:extLst>
          </p:cNvPr>
          <p:cNvSpPr/>
          <p:nvPr/>
        </p:nvSpPr>
        <p:spPr>
          <a:xfrm>
            <a:off x="7554280" y="1434791"/>
            <a:ext cx="2537987" cy="151402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t>Model Training</a:t>
            </a:r>
          </a:p>
        </p:txBody>
      </p:sp>
      <p:sp>
        <p:nvSpPr>
          <p:cNvPr id="18" name="Rectangle 17">
            <a:extLst>
              <a:ext uri="{FF2B5EF4-FFF2-40B4-BE49-F238E27FC236}">
                <a16:creationId xmlns:a16="http://schemas.microsoft.com/office/drawing/2014/main" id="{CEE9925B-06A8-4D15-A9F8-B0871F57C8A4}"/>
              </a:ext>
            </a:extLst>
          </p:cNvPr>
          <p:cNvSpPr/>
          <p:nvPr/>
        </p:nvSpPr>
        <p:spPr>
          <a:xfrm>
            <a:off x="813224" y="3942904"/>
            <a:ext cx="2739333" cy="151402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t>Well-trained</a:t>
            </a:r>
          </a:p>
          <a:p>
            <a:pPr algn="ctr"/>
            <a:r>
              <a:rPr lang="en-AU" sz="2800" dirty="0"/>
              <a:t>Model</a:t>
            </a:r>
          </a:p>
        </p:txBody>
      </p:sp>
      <p:cxnSp>
        <p:nvCxnSpPr>
          <p:cNvPr id="19" name="Straight Arrow Connector 18">
            <a:extLst>
              <a:ext uri="{FF2B5EF4-FFF2-40B4-BE49-F238E27FC236}">
                <a16:creationId xmlns:a16="http://schemas.microsoft.com/office/drawing/2014/main" id="{78B4939F-BF56-4E49-AD7A-F52BC0847350}"/>
              </a:ext>
            </a:extLst>
          </p:cNvPr>
          <p:cNvCxnSpPr>
            <a:cxnSpLocks/>
          </p:cNvCxnSpPr>
          <p:nvPr/>
        </p:nvCxnSpPr>
        <p:spPr>
          <a:xfrm>
            <a:off x="3704532" y="4699916"/>
            <a:ext cx="3677921"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6953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06419-9688-4E6E-91B3-405817B0A902}"/>
              </a:ext>
            </a:extLst>
          </p:cNvPr>
          <p:cNvSpPr>
            <a:spLocks noGrp="1"/>
          </p:cNvSpPr>
          <p:nvPr>
            <p:ph type="title"/>
          </p:nvPr>
        </p:nvSpPr>
        <p:spPr>
          <a:xfrm>
            <a:off x="1084490" y="21167"/>
            <a:ext cx="10353762" cy="966258"/>
          </a:xfrm>
        </p:spPr>
        <p:txBody>
          <a:bodyPr/>
          <a:lstStyle/>
          <a:p>
            <a:r>
              <a:rPr lang="en-AU" dirty="0"/>
              <a:t>What is Privacy Preserving</a:t>
            </a:r>
          </a:p>
        </p:txBody>
      </p:sp>
      <p:pic>
        <p:nvPicPr>
          <p:cNvPr id="1026" name="Picture 2" descr="Costco Undercuts Harvey Norman By Hundreds On CE – channelnews">
            <a:extLst>
              <a:ext uri="{FF2B5EF4-FFF2-40B4-BE49-F238E27FC236}">
                <a16:creationId xmlns:a16="http://schemas.microsoft.com/office/drawing/2014/main" id="{7617C8A3-5D1F-4DC5-84F0-A5726B2599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223" y="1373444"/>
            <a:ext cx="2739333" cy="163521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44275B8-994E-4E79-9134-640576070D50}"/>
              </a:ext>
            </a:extLst>
          </p:cNvPr>
          <p:cNvSpPr txBox="1"/>
          <p:nvPr/>
        </p:nvSpPr>
        <p:spPr>
          <a:xfrm>
            <a:off x="4021667" y="1237696"/>
            <a:ext cx="4148667" cy="954107"/>
          </a:xfrm>
          <a:prstGeom prst="rect">
            <a:avLst/>
          </a:prstGeom>
          <a:noFill/>
        </p:spPr>
        <p:txBody>
          <a:bodyPr wrap="square">
            <a:spAutoFit/>
          </a:bodyPr>
          <a:lstStyle/>
          <a:p>
            <a:pPr algn="ctr"/>
            <a:r>
              <a:rPr lang="en-AU" sz="2800" dirty="0"/>
              <a:t>provide </a:t>
            </a:r>
            <a:r>
              <a:rPr lang="en-AU" sz="2800" dirty="0">
                <a:solidFill>
                  <a:srgbClr val="FF0000"/>
                </a:solidFill>
              </a:rPr>
              <a:t>anonymized</a:t>
            </a:r>
            <a:r>
              <a:rPr lang="en-AU" sz="2800" dirty="0"/>
              <a:t> </a:t>
            </a:r>
          </a:p>
          <a:p>
            <a:pPr algn="ctr"/>
            <a:r>
              <a:rPr lang="en-AU" sz="2800" dirty="0"/>
              <a:t>users’ data</a:t>
            </a:r>
            <a:endParaRPr lang="en-AU" dirty="0"/>
          </a:p>
        </p:txBody>
      </p:sp>
      <p:cxnSp>
        <p:nvCxnSpPr>
          <p:cNvPr id="6" name="Straight Arrow Connector 5">
            <a:extLst>
              <a:ext uri="{FF2B5EF4-FFF2-40B4-BE49-F238E27FC236}">
                <a16:creationId xmlns:a16="http://schemas.microsoft.com/office/drawing/2014/main" id="{529E1DAE-CF3B-4AD1-A355-19601B86335E}"/>
              </a:ext>
            </a:extLst>
          </p:cNvPr>
          <p:cNvCxnSpPr>
            <a:cxnSpLocks/>
          </p:cNvCxnSpPr>
          <p:nvPr/>
        </p:nvCxnSpPr>
        <p:spPr>
          <a:xfrm flipV="1">
            <a:off x="3779679" y="2191049"/>
            <a:ext cx="4632644" cy="75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BD2BA2E6-1E5B-4EDC-804A-97D8F5C0B4D9}"/>
              </a:ext>
            </a:extLst>
          </p:cNvPr>
          <p:cNvSpPr/>
          <p:nvPr/>
        </p:nvSpPr>
        <p:spPr>
          <a:xfrm>
            <a:off x="8639446" y="1434791"/>
            <a:ext cx="2537987" cy="151402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t>Model Training</a:t>
            </a:r>
          </a:p>
        </p:txBody>
      </p:sp>
    </p:spTree>
    <p:extLst>
      <p:ext uri="{BB962C8B-B14F-4D97-AF65-F5344CB8AC3E}">
        <p14:creationId xmlns:p14="http://schemas.microsoft.com/office/powerpoint/2010/main" val="2867893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9E5344-939D-4389-AA3E-8709118DCB67}"/>
              </a:ext>
            </a:extLst>
          </p:cNvPr>
          <p:cNvSpPr>
            <a:spLocks noGrp="1"/>
          </p:cNvSpPr>
          <p:nvPr>
            <p:ph idx="1"/>
          </p:nvPr>
        </p:nvSpPr>
        <p:spPr>
          <a:xfrm>
            <a:off x="650119" y="1191986"/>
            <a:ext cx="10891762" cy="2237014"/>
          </a:xfrm>
        </p:spPr>
        <p:txBody>
          <a:bodyPr>
            <a:normAutofit/>
          </a:bodyPr>
          <a:lstStyle/>
          <a:p>
            <a:r>
              <a:rPr lang="en-US" sz="2800" dirty="0">
                <a:ea typeface="+mj-ea"/>
              </a:rPr>
              <a:t>Privacy preserving </a:t>
            </a:r>
          </a:p>
          <a:p>
            <a:pPr lvl="1"/>
            <a:r>
              <a:rPr lang="en-US" sz="2800" dirty="0">
                <a:ea typeface="+mj-ea"/>
              </a:rPr>
              <a:t>protects data from being disclosed to unauthorized parties</a:t>
            </a:r>
          </a:p>
          <a:p>
            <a:pPr lvl="1"/>
            <a:r>
              <a:rPr lang="en-US" sz="2800" dirty="0">
                <a:ea typeface="+mj-ea"/>
              </a:rPr>
              <a:t>enables the collection and analysis of data</a:t>
            </a:r>
            <a:endParaRPr lang="en-AU" sz="2800" dirty="0">
              <a:ea typeface="+mj-ea"/>
            </a:endParaRPr>
          </a:p>
        </p:txBody>
      </p:sp>
      <p:sp>
        <p:nvSpPr>
          <p:cNvPr id="6" name="Title 1">
            <a:extLst>
              <a:ext uri="{FF2B5EF4-FFF2-40B4-BE49-F238E27FC236}">
                <a16:creationId xmlns:a16="http://schemas.microsoft.com/office/drawing/2014/main" id="{6CC0209C-BB32-4594-BE7A-2BFC959299CB}"/>
              </a:ext>
            </a:extLst>
          </p:cNvPr>
          <p:cNvSpPr>
            <a:spLocks noGrp="1"/>
          </p:cNvSpPr>
          <p:nvPr>
            <p:ph type="title"/>
          </p:nvPr>
        </p:nvSpPr>
        <p:spPr>
          <a:xfrm>
            <a:off x="1084490" y="21167"/>
            <a:ext cx="10353762" cy="966258"/>
          </a:xfrm>
        </p:spPr>
        <p:txBody>
          <a:bodyPr/>
          <a:lstStyle/>
          <a:p>
            <a:r>
              <a:rPr lang="en-AU" dirty="0"/>
              <a:t>What is Privacy Preserving</a:t>
            </a:r>
          </a:p>
        </p:txBody>
      </p:sp>
    </p:spTree>
    <p:extLst>
      <p:ext uri="{BB962C8B-B14F-4D97-AF65-F5344CB8AC3E}">
        <p14:creationId xmlns:p14="http://schemas.microsoft.com/office/powerpoint/2010/main" val="2113717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9E5344-939D-4389-AA3E-8709118DCB67}"/>
              </a:ext>
            </a:extLst>
          </p:cNvPr>
          <p:cNvSpPr>
            <a:spLocks noGrp="1"/>
          </p:cNvSpPr>
          <p:nvPr>
            <p:ph idx="1"/>
          </p:nvPr>
        </p:nvSpPr>
        <p:spPr>
          <a:xfrm>
            <a:off x="597031" y="987425"/>
            <a:ext cx="10647741" cy="3894364"/>
          </a:xfrm>
        </p:spPr>
        <p:txBody>
          <a:bodyPr>
            <a:normAutofit/>
          </a:bodyPr>
          <a:lstStyle/>
          <a:p>
            <a:r>
              <a:rPr lang="en-US" sz="2800" dirty="0">
                <a:ea typeface="+mj-ea"/>
              </a:rPr>
              <a:t>Privacy preserving </a:t>
            </a:r>
          </a:p>
          <a:p>
            <a:pPr lvl="1"/>
            <a:r>
              <a:rPr lang="en-US" sz="2800" dirty="0">
                <a:ea typeface="+mj-ea"/>
              </a:rPr>
              <a:t>protect data from being disclosed to unauthorized parties</a:t>
            </a:r>
          </a:p>
          <a:p>
            <a:pPr lvl="1"/>
            <a:r>
              <a:rPr lang="en-US" sz="2800" dirty="0">
                <a:ea typeface="+mj-ea"/>
              </a:rPr>
              <a:t>enable the collection, and analysis of data</a:t>
            </a:r>
          </a:p>
          <a:p>
            <a:r>
              <a:rPr lang="en-AU" sz="2800" dirty="0"/>
              <a:t>How to collect and </a:t>
            </a:r>
            <a:r>
              <a:rPr lang="en-AU" sz="2800" dirty="0" err="1"/>
              <a:t>analyze</a:t>
            </a:r>
            <a:r>
              <a:rPr lang="en-AU" sz="2800" dirty="0"/>
              <a:t> data without leaking private information?</a:t>
            </a:r>
          </a:p>
          <a:p>
            <a:pPr marL="450000" lvl="1" indent="0">
              <a:buNone/>
            </a:pPr>
            <a:r>
              <a:rPr lang="en-US" sz="2600" dirty="0">
                <a:ea typeface="+mj-ea"/>
              </a:rPr>
              <a:t> </a:t>
            </a:r>
          </a:p>
          <a:p>
            <a:pPr marL="450000" lvl="1" indent="0">
              <a:buNone/>
            </a:pPr>
            <a:endParaRPr lang="en-AU" sz="2800" dirty="0">
              <a:ea typeface="+mj-ea"/>
            </a:endParaRPr>
          </a:p>
        </p:txBody>
      </p:sp>
      <p:sp>
        <p:nvSpPr>
          <p:cNvPr id="6" name="Title 1">
            <a:extLst>
              <a:ext uri="{FF2B5EF4-FFF2-40B4-BE49-F238E27FC236}">
                <a16:creationId xmlns:a16="http://schemas.microsoft.com/office/drawing/2014/main" id="{6CC0209C-BB32-4594-BE7A-2BFC959299CB}"/>
              </a:ext>
            </a:extLst>
          </p:cNvPr>
          <p:cNvSpPr>
            <a:spLocks noGrp="1"/>
          </p:cNvSpPr>
          <p:nvPr>
            <p:ph type="title"/>
          </p:nvPr>
        </p:nvSpPr>
        <p:spPr>
          <a:xfrm>
            <a:off x="1084490" y="21167"/>
            <a:ext cx="10353762" cy="966258"/>
          </a:xfrm>
        </p:spPr>
        <p:txBody>
          <a:bodyPr/>
          <a:lstStyle/>
          <a:p>
            <a:r>
              <a:rPr lang="en-AU" dirty="0"/>
              <a:t>What is Privacy Preserving</a:t>
            </a:r>
          </a:p>
        </p:txBody>
      </p:sp>
    </p:spTree>
    <p:extLst>
      <p:ext uri="{BB962C8B-B14F-4D97-AF65-F5344CB8AC3E}">
        <p14:creationId xmlns:p14="http://schemas.microsoft.com/office/powerpoint/2010/main" val="2222655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9E5344-939D-4389-AA3E-8709118DCB67}"/>
              </a:ext>
            </a:extLst>
          </p:cNvPr>
          <p:cNvSpPr>
            <a:spLocks noGrp="1"/>
          </p:cNvSpPr>
          <p:nvPr>
            <p:ph idx="1"/>
          </p:nvPr>
        </p:nvSpPr>
        <p:spPr>
          <a:xfrm>
            <a:off x="597031" y="987424"/>
            <a:ext cx="10647741" cy="4522421"/>
          </a:xfrm>
        </p:spPr>
        <p:txBody>
          <a:bodyPr>
            <a:normAutofit fontScale="92500" lnSpcReduction="10000"/>
          </a:bodyPr>
          <a:lstStyle/>
          <a:p>
            <a:r>
              <a:rPr lang="en-US" sz="2800" dirty="0">
                <a:ea typeface="+mj-ea"/>
              </a:rPr>
              <a:t>Privacy preserving </a:t>
            </a:r>
          </a:p>
          <a:p>
            <a:pPr lvl="1"/>
            <a:r>
              <a:rPr lang="en-US" sz="2800" dirty="0">
                <a:ea typeface="+mj-ea"/>
              </a:rPr>
              <a:t>protect data from being disclosed to unauthorized parties</a:t>
            </a:r>
          </a:p>
          <a:p>
            <a:pPr lvl="1"/>
            <a:r>
              <a:rPr lang="en-US" sz="2800" dirty="0">
                <a:ea typeface="+mj-ea"/>
              </a:rPr>
              <a:t>enable the collection, and analysis of data</a:t>
            </a:r>
          </a:p>
          <a:p>
            <a:r>
              <a:rPr lang="en-AU" sz="2800" dirty="0"/>
              <a:t>How to collect and </a:t>
            </a:r>
            <a:r>
              <a:rPr lang="en-AU" sz="2800" dirty="0" err="1"/>
              <a:t>analyze</a:t>
            </a:r>
            <a:r>
              <a:rPr lang="en-AU" sz="2800" dirty="0"/>
              <a:t> data without leaking private information?</a:t>
            </a:r>
          </a:p>
          <a:p>
            <a:pPr lvl="1"/>
            <a:r>
              <a:rPr lang="en-AU" sz="2800" dirty="0">
                <a:solidFill>
                  <a:srgbClr val="FF0000"/>
                </a:solidFill>
              </a:rPr>
              <a:t>Data anonymization</a:t>
            </a:r>
            <a:r>
              <a:rPr lang="en-AU" sz="2800" dirty="0"/>
              <a:t>: </a:t>
            </a:r>
            <a:r>
              <a:rPr lang="en-US" sz="2800" dirty="0"/>
              <a:t>hide personal identifiers that may lead to an individual being identified</a:t>
            </a:r>
          </a:p>
          <a:p>
            <a:pPr lvl="2"/>
            <a:r>
              <a:rPr lang="en-AU" sz="2800" dirty="0"/>
              <a:t>e.g., </a:t>
            </a:r>
            <a:r>
              <a:rPr lang="en-AU" sz="2800" dirty="0">
                <a:solidFill>
                  <a:srgbClr val="FF0000"/>
                </a:solidFill>
              </a:rPr>
              <a:t>data masking</a:t>
            </a:r>
            <a:r>
              <a:rPr lang="en-AU" sz="2800" dirty="0"/>
              <a:t>: remove personally identifiable data such as user names and credit card details. </a:t>
            </a:r>
          </a:p>
          <a:p>
            <a:pPr marL="450000" lvl="1" indent="0">
              <a:buNone/>
            </a:pPr>
            <a:r>
              <a:rPr lang="en-US" sz="2600" dirty="0">
                <a:ea typeface="+mj-ea"/>
              </a:rPr>
              <a:t> </a:t>
            </a:r>
          </a:p>
          <a:p>
            <a:pPr marL="450000" lvl="1" indent="0">
              <a:buNone/>
            </a:pPr>
            <a:endParaRPr lang="en-AU" sz="2800" dirty="0">
              <a:ea typeface="+mj-ea"/>
            </a:endParaRPr>
          </a:p>
        </p:txBody>
      </p:sp>
      <p:sp>
        <p:nvSpPr>
          <p:cNvPr id="6" name="Title 1">
            <a:extLst>
              <a:ext uri="{FF2B5EF4-FFF2-40B4-BE49-F238E27FC236}">
                <a16:creationId xmlns:a16="http://schemas.microsoft.com/office/drawing/2014/main" id="{6CC0209C-BB32-4594-BE7A-2BFC959299CB}"/>
              </a:ext>
            </a:extLst>
          </p:cNvPr>
          <p:cNvSpPr>
            <a:spLocks noGrp="1"/>
          </p:cNvSpPr>
          <p:nvPr>
            <p:ph type="title"/>
          </p:nvPr>
        </p:nvSpPr>
        <p:spPr>
          <a:xfrm>
            <a:off x="1084490" y="21167"/>
            <a:ext cx="10353762" cy="966258"/>
          </a:xfrm>
        </p:spPr>
        <p:txBody>
          <a:bodyPr/>
          <a:lstStyle/>
          <a:p>
            <a:r>
              <a:rPr lang="en-AU" dirty="0"/>
              <a:t>Privacy Preserving</a:t>
            </a:r>
          </a:p>
        </p:txBody>
      </p:sp>
    </p:spTree>
    <p:extLst>
      <p:ext uri="{BB962C8B-B14F-4D97-AF65-F5344CB8AC3E}">
        <p14:creationId xmlns:p14="http://schemas.microsoft.com/office/powerpoint/2010/main" val="1592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9E5344-939D-4389-AA3E-8709118DCB67}"/>
              </a:ext>
            </a:extLst>
          </p:cNvPr>
          <p:cNvSpPr>
            <a:spLocks noGrp="1"/>
          </p:cNvSpPr>
          <p:nvPr>
            <p:ph idx="1"/>
          </p:nvPr>
        </p:nvSpPr>
        <p:spPr>
          <a:xfrm>
            <a:off x="517518" y="1222395"/>
            <a:ext cx="11349803" cy="4522421"/>
          </a:xfrm>
        </p:spPr>
        <p:txBody>
          <a:bodyPr>
            <a:normAutofit/>
          </a:bodyPr>
          <a:lstStyle/>
          <a:p>
            <a:pPr lvl="1"/>
            <a:r>
              <a:rPr lang="en-AU" sz="2800" dirty="0"/>
              <a:t>Data anonymisation: </a:t>
            </a:r>
            <a:r>
              <a:rPr lang="en-US" sz="2800" dirty="0"/>
              <a:t>removing personal identifiers that may lead to an individual being identified</a:t>
            </a:r>
          </a:p>
          <a:p>
            <a:pPr lvl="1"/>
            <a:r>
              <a:rPr lang="en-AU" sz="2800" dirty="0"/>
              <a:t>Data anonymisation is </a:t>
            </a:r>
            <a:r>
              <a:rPr lang="en-AU" sz="2800" dirty="0">
                <a:solidFill>
                  <a:srgbClr val="FF0000"/>
                </a:solidFill>
              </a:rPr>
              <a:t>NOT secure </a:t>
            </a:r>
            <a:r>
              <a:rPr lang="en-AU" sz="2800" dirty="0"/>
              <a:t>enough</a:t>
            </a:r>
          </a:p>
          <a:p>
            <a:pPr lvl="2"/>
            <a:r>
              <a:rPr lang="en-AU" sz="2800" dirty="0"/>
              <a:t>e.g., </a:t>
            </a:r>
            <a:r>
              <a:rPr lang="en-AU" sz="2800" dirty="0">
                <a:solidFill>
                  <a:srgbClr val="FF0000"/>
                </a:solidFill>
              </a:rPr>
              <a:t>data linking attack</a:t>
            </a:r>
            <a:r>
              <a:rPr lang="en-AU" sz="2800" dirty="0"/>
              <a:t>: </a:t>
            </a:r>
            <a:r>
              <a:rPr lang="en-US" sz="2800" dirty="0"/>
              <a:t>correlates anonymized data with publicly available data sources to re-identify individuals.</a:t>
            </a:r>
            <a:endParaRPr lang="en-AU" sz="2800" dirty="0"/>
          </a:p>
          <a:p>
            <a:pPr lvl="2"/>
            <a:endParaRPr lang="en-AU" sz="2600" dirty="0"/>
          </a:p>
          <a:p>
            <a:pPr marL="450000" lvl="1" indent="0">
              <a:buNone/>
            </a:pPr>
            <a:r>
              <a:rPr lang="en-US" sz="2600" dirty="0">
                <a:ea typeface="+mj-ea"/>
              </a:rPr>
              <a:t> </a:t>
            </a:r>
          </a:p>
          <a:p>
            <a:pPr marL="450000" lvl="1" indent="0">
              <a:buNone/>
            </a:pPr>
            <a:endParaRPr lang="en-AU" sz="2800" dirty="0">
              <a:ea typeface="+mj-ea"/>
            </a:endParaRPr>
          </a:p>
        </p:txBody>
      </p:sp>
      <p:sp>
        <p:nvSpPr>
          <p:cNvPr id="6" name="Title 1">
            <a:extLst>
              <a:ext uri="{FF2B5EF4-FFF2-40B4-BE49-F238E27FC236}">
                <a16:creationId xmlns:a16="http://schemas.microsoft.com/office/drawing/2014/main" id="{6CC0209C-BB32-4594-BE7A-2BFC959299CB}"/>
              </a:ext>
            </a:extLst>
          </p:cNvPr>
          <p:cNvSpPr>
            <a:spLocks noGrp="1"/>
          </p:cNvSpPr>
          <p:nvPr>
            <p:ph type="title"/>
          </p:nvPr>
        </p:nvSpPr>
        <p:spPr>
          <a:xfrm>
            <a:off x="1084490" y="21167"/>
            <a:ext cx="10353762" cy="966258"/>
          </a:xfrm>
        </p:spPr>
        <p:txBody>
          <a:bodyPr/>
          <a:lstStyle/>
          <a:p>
            <a:r>
              <a:rPr lang="en-AU" dirty="0"/>
              <a:t>Privacy Preserving</a:t>
            </a:r>
          </a:p>
        </p:txBody>
      </p:sp>
    </p:spTree>
    <p:extLst>
      <p:ext uri="{BB962C8B-B14F-4D97-AF65-F5344CB8AC3E}">
        <p14:creationId xmlns:p14="http://schemas.microsoft.com/office/powerpoint/2010/main" val="602400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CC0209C-BB32-4594-BE7A-2BFC959299CB}"/>
              </a:ext>
            </a:extLst>
          </p:cNvPr>
          <p:cNvSpPr>
            <a:spLocks noGrp="1"/>
          </p:cNvSpPr>
          <p:nvPr>
            <p:ph type="title"/>
          </p:nvPr>
        </p:nvSpPr>
        <p:spPr>
          <a:xfrm>
            <a:off x="1084490" y="21167"/>
            <a:ext cx="10353762" cy="966258"/>
          </a:xfrm>
        </p:spPr>
        <p:txBody>
          <a:bodyPr/>
          <a:lstStyle/>
          <a:p>
            <a:r>
              <a:rPr lang="en-AU" dirty="0"/>
              <a:t>What is Privacy Preserving</a:t>
            </a:r>
          </a:p>
        </p:txBody>
      </p:sp>
      <p:sp>
        <p:nvSpPr>
          <p:cNvPr id="7" name="Rectangle 6">
            <a:extLst>
              <a:ext uri="{FF2B5EF4-FFF2-40B4-BE49-F238E27FC236}">
                <a16:creationId xmlns:a16="http://schemas.microsoft.com/office/drawing/2014/main" id="{7A57FD91-E8F3-4718-9733-198CC62A0ECE}"/>
              </a:ext>
            </a:extLst>
          </p:cNvPr>
          <p:cNvSpPr/>
          <p:nvPr/>
        </p:nvSpPr>
        <p:spPr>
          <a:xfrm>
            <a:off x="1778424" y="2016580"/>
            <a:ext cx="4317576" cy="8578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dirty="0"/>
              <a:t>Raw Medical Records</a:t>
            </a:r>
          </a:p>
          <a:p>
            <a:pPr algn="ctr"/>
            <a:r>
              <a:rPr lang="en-AU" sz="2000" dirty="0"/>
              <a:t>(e.g., patients’ names, gender, age, addresses and postcode)</a:t>
            </a:r>
          </a:p>
        </p:txBody>
      </p:sp>
      <p:cxnSp>
        <p:nvCxnSpPr>
          <p:cNvPr id="9" name="Straight Arrow Connector 8">
            <a:extLst>
              <a:ext uri="{FF2B5EF4-FFF2-40B4-BE49-F238E27FC236}">
                <a16:creationId xmlns:a16="http://schemas.microsoft.com/office/drawing/2014/main" id="{C00832B8-E1B9-48B9-B958-922B6796CFE8}"/>
              </a:ext>
            </a:extLst>
          </p:cNvPr>
          <p:cNvCxnSpPr>
            <a:cxnSpLocks/>
            <a:stCxn id="14" idx="2"/>
            <a:endCxn id="13" idx="0"/>
          </p:cNvCxnSpPr>
          <p:nvPr/>
        </p:nvCxnSpPr>
        <p:spPr>
          <a:xfrm flipH="1">
            <a:off x="1958976" y="1714500"/>
            <a:ext cx="15240" cy="150178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3251B12F-63C9-4F2F-937D-FD2F0E3E9BBD}"/>
              </a:ext>
            </a:extLst>
          </p:cNvPr>
          <p:cNvSpPr/>
          <p:nvPr/>
        </p:nvSpPr>
        <p:spPr>
          <a:xfrm>
            <a:off x="779358" y="3216280"/>
            <a:ext cx="2359236" cy="8578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dirty="0"/>
              <a:t>Data Anonymization</a:t>
            </a:r>
          </a:p>
        </p:txBody>
      </p:sp>
      <p:sp>
        <p:nvSpPr>
          <p:cNvPr id="14" name="Rectangle 13">
            <a:extLst>
              <a:ext uri="{FF2B5EF4-FFF2-40B4-BE49-F238E27FC236}">
                <a16:creationId xmlns:a16="http://schemas.microsoft.com/office/drawing/2014/main" id="{ADB84C43-1ABE-49D7-8669-1C00A47AC8A9}"/>
              </a:ext>
            </a:extLst>
          </p:cNvPr>
          <p:cNvSpPr/>
          <p:nvPr/>
        </p:nvSpPr>
        <p:spPr>
          <a:xfrm>
            <a:off x="551816" y="1071524"/>
            <a:ext cx="2844800" cy="64297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dirty="0"/>
              <a:t>A Hospital</a:t>
            </a:r>
          </a:p>
        </p:txBody>
      </p:sp>
      <p:sp>
        <p:nvSpPr>
          <p:cNvPr id="15" name="Rectangle 14">
            <a:extLst>
              <a:ext uri="{FF2B5EF4-FFF2-40B4-BE49-F238E27FC236}">
                <a16:creationId xmlns:a16="http://schemas.microsoft.com/office/drawing/2014/main" id="{5701987E-BD70-41F2-BF87-B7F2AD3516B0}"/>
              </a:ext>
            </a:extLst>
          </p:cNvPr>
          <p:cNvSpPr/>
          <p:nvPr/>
        </p:nvSpPr>
        <p:spPr>
          <a:xfrm>
            <a:off x="536576" y="5558498"/>
            <a:ext cx="2844800" cy="8578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dirty="0"/>
              <a:t>A Third-party </a:t>
            </a:r>
          </a:p>
          <a:p>
            <a:pPr algn="ctr"/>
            <a:r>
              <a:rPr lang="en-AU" sz="2000" dirty="0"/>
              <a:t>Data Analytics Company</a:t>
            </a:r>
          </a:p>
        </p:txBody>
      </p:sp>
      <p:cxnSp>
        <p:nvCxnSpPr>
          <p:cNvPr id="20" name="Straight Arrow Connector 19">
            <a:extLst>
              <a:ext uri="{FF2B5EF4-FFF2-40B4-BE49-F238E27FC236}">
                <a16:creationId xmlns:a16="http://schemas.microsoft.com/office/drawing/2014/main" id="{E5905AFD-2063-4721-9F48-CD131E31BCC9}"/>
              </a:ext>
            </a:extLst>
          </p:cNvPr>
          <p:cNvCxnSpPr>
            <a:cxnSpLocks/>
            <a:stCxn id="13" idx="2"/>
            <a:endCxn id="15" idx="0"/>
          </p:cNvCxnSpPr>
          <p:nvPr/>
        </p:nvCxnSpPr>
        <p:spPr>
          <a:xfrm>
            <a:off x="1958976" y="4074142"/>
            <a:ext cx="0" cy="148435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266F6659-896D-4A21-A987-A2FD1F88C729}"/>
              </a:ext>
            </a:extLst>
          </p:cNvPr>
          <p:cNvSpPr/>
          <p:nvPr/>
        </p:nvSpPr>
        <p:spPr>
          <a:xfrm>
            <a:off x="1974216" y="4222761"/>
            <a:ext cx="4546176" cy="12122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dirty="0"/>
              <a:t>Anonymized Medical Records</a:t>
            </a:r>
          </a:p>
          <a:p>
            <a:pPr algn="ctr"/>
            <a:r>
              <a:rPr lang="en-AU" sz="2000" dirty="0"/>
              <a:t>(e.g., names and addresses are masked,</a:t>
            </a:r>
          </a:p>
          <a:p>
            <a:pPr algn="ctr"/>
            <a:r>
              <a:rPr lang="en-AU" sz="2000" dirty="0"/>
              <a:t>while gender, age and postcode are kept)</a:t>
            </a:r>
          </a:p>
        </p:txBody>
      </p:sp>
      <p:sp>
        <p:nvSpPr>
          <p:cNvPr id="21" name="Rectangle 20">
            <a:extLst>
              <a:ext uri="{FF2B5EF4-FFF2-40B4-BE49-F238E27FC236}">
                <a16:creationId xmlns:a16="http://schemas.microsoft.com/office/drawing/2014/main" id="{C833BAC3-48E0-430F-A951-4D594DB6DA90}"/>
              </a:ext>
            </a:extLst>
          </p:cNvPr>
          <p:cNvSpPr/>
          <p:nvPr/>
        </p:nvSpPr>
        <p:spPr>
          <a:xfrm>
            <a:off x="8036348" y="1071523"/>
            <a:ext cx="3058372" cy="134236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000" dirty="0"/>
          </a:p>
          <a:p>
            <a:pPr algn="ctr"/>
            <a:r>
              <a:rPr lang="en-AU" sz="2000" dirty="0"/>
              <a:t>A Third-party </a:t>
            </a:r>
          </a:p>
          <a:p>
            <a:pPr algn="ctr"/>
            <a:r>
              <a:rPr lang="en-AU" sz="2000" dirty="0"/>
              <a:t>Data Analytics Company</a:t>
            </a:r>
          </a:p>
        </p:txBody>
      </p:sp>
      <p:pic>
        <p:nvPicPr>
          <p:cNvPr id="5" name="Picture 4">
            <a:extLst>
              <a:ext uri="{FF2B5EF4-FFF2-40B4-BE49-F238E27FC236}">
                <a16:creationId xmlns:a16="http://schemas.microsoft.com/office/drawing/2014/main" id="{8EDCCE63-2A82-4D0F-A4A1-943019BD6CDC}"/>
              </a:ext>
            </a:extLst>
          </p:cNvPr>
          <p:cNvPicPr>
            <a:picLocks noChangeAspect="1"/>
          </p:cNvPicPr>
          <p:nvPr/>
        </p:nvPicPr>
        <p:blipFill>
          <a:blip r:embed="rId3"/>
          <a:stretch>
            <a:fillRect/>
          </a:stretch>
        </p:blipFill>
        <p:spPr>
          <a:xfrm>
            <a:off x="10376453" y="1071523"/>
            <a:ext cx="718268" cy="702482"/>
          </a:xfrm>
          <a:prstGeom prst="rect">
            <a:avLst/>
          </a:prstGeom>
        </p:spPr>
      </p:pic>
    </p:spTree>
    <p:extLst>
      <p:ext uri="{BB962C8B-B14F-4D97-AF65-F5344CB8AC3E}">
        <p14:creationId xmlns:p14="http://schemas.microsoft.com/office/powerpoint/2010/main" val="1275783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CC0209C-BB32-4594-BE7A-2BFC959299CB}"/>
              </a:ext>
            </a:extLst>
          </p:cNvPr>
          <p:cNvSpPr>
            <a:spLocks noGrp="1"/>
          </p:cNvSpPr>
          <p:nvPr>
            <p:ph type="title"/>
          </p:nvPr>
        </p:nvSpPr>
        <p:spPr>
          <a:xfrm>
            <a:off x="1084490" y="21167"/>
            <a:ext cx="10353762" cy="966258"/>
          </a:xfrm>
        </p:spPr>
        <p:txBody>
          <a:bodyPr/>
          <a:lstStyle/>
          <a:p>
            <a:r>
              <a:rPr lang="en-AU" dirty="0"/>
              <a:t>What is Privacy Preserving</a:t>
            </a:r>
          </a:p>
        </p:txBody>
      </p:sp>
      <p:sp>
        <p:nvSpPr>
          <p:cNvPr id="7" name="Rectangle 6">
            <a:extLst>
              <a:ext uri="{FF2B5EF4-FFF2-40B4-BE49-F238E27FC236}">
                <a16:creationId xmlns:a16="http://schemas.microsoft.com/office/drawing/2014/main" id="{7A57FD91-E8F3-4718-9733-198CC62A0ECE}"/>
              </a:ext>
            </a:extLst>
          </p:cNvPr>
          <p:cNvSpPr/>
          <p:nvPr/>
        </p:nvSpPr>
        <p:spPr>
          <a:xfrm>
            <a:off x="1778424" y="2016580"/>
            <a:ext cx="4317576" cy="8578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dirty="0"/>
              <a:t>Raw Medical Records</a:t>
            </a:r>
          </a:p>
          <a:p>
            <a:pPr algn="ctr"/>
            <a:r>
              <a:rPr lang="en-AU" sz="2000" dirty="0"/>
              <a:t>(e.g., patients’ names, gender, age, addresses and postcode)</a:t>
            </a:r>
          </a:p>
        </p:txBody>
      </p:sp>
      <p:sp>
        <p:nvSpPr>
          <p:cNvPr id="8" name="Rectangle 7">
            <a:extLst>
              <a:ext uri="{FF2B5EF4-FFF2-40B4-BE49-F238E27FC236}">
                <a16:creationId xmlns:a16="http://schemas.microsoft.com/office/drawing/2014/main" id="{271FD623-CE72-4AE1-AAE5-C577C80308F3}"/>
              </a:ext>
            </a:extLst>
          </p:cNvPr>
          <p:cNvSpPr/>
          <p:nvPr/>
        </p:nvSpPr>
        <p:spPr>
          <a:xfrm>
            <a:off x="8528620" y="2697028"/>
            <a:ext cx="3058371" cy="5192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dirty="0"/>
              <a:t>Public Data</a:t>
            </a:r>
          </a:p>
          <a:p>
            <a:pPr algn="ctr"/>
            <a:r>
              <a:rPr lang="en-AU" sz="2000" dirty="0"/>
              <a:t>(e.g., voting records and social media profiles)</a:t>
            </a:r>
          </a:p>
        </p:txBody>
      </p:sp>
      <p:cxnSp>
        <p:nvCxnSpPr>
          <p:cNvPr id="9" name="Straight Arrow Connector 8">
            <a:extLst>
              <a:ext uri="{FF2B5EF4-FFF2-40B4-BE49-F238E27FC236}">
                <a16:creationId xmlns:a16="http://schemas.microsoft.com/office/drawing/2014/main" id="{C00832B8-E1B9-48B9-B958-922B6796CFE8}"/>
              </a:ext>
            </a:extLst>
          </p:cNvPr>
          <p:cNvCxnSpPr>
            <a:cxnSpLocks/>
            <a:stCxn id="14" idx="2"/>
            <a:endCxn id="13" idx="0"/>
          </p:cNvCxnSpPr>
          <p:nvPr/>
        </p:nvCxnSpPr>
        <p:spPr>
          <a:xfrm flipH="1">
            <a:off x="1958976" y="1714500"/>
            <a:ext cx="15240" cy="150178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3251B12F-63C9-4F2F-937D-FD2F0E3E9BBD}"/>
              </a:ext>
            </a:extLst>
          </p:cNvPr>
          <p:cNvSpPr/>
          <p:nvPr/>
        </p:nvSpPr>
        <p:spPr>
          <a:xfrm>
            <a:off x="779358" y="3216280"/>
            <a:ext cx="2359236" cy="8578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dirty="0"/>
              <a:t>Data Anonymization</a:t>
            </a:r>
          </a:p>
        </p:txBody>
      </p:sp>
      <p:sp>
        <p:nvSpPr>
          <p:cNvPr id="14" name="Rectangle 13">
            <a:extLst>
              <a:ext uri="{FF2B5EF4-FFF2-40B4-BE49-F238E27FC236}">
                <a16:creationId xmlns:a16="http://schemas.microsoft.com/office/drawing/2014/main" id="{ADB84C43-1ABE-49D7-8669-1C00A47AC8A9}"/>
              </a:ext>
            </a:extLst>
          </p:cNvPr>
          <p:cNvSpPr/>
          <p:nvPr/>
        </p:nvSpPr>
        <p:spPr>
          <a:xfrm>
            <a:off x="551816" y="1071524"/>
            <a:ext cx="2844800" cy="64297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dirty="0"/>
              <a:t>A Hospital</a:t>
            </a:r>
          </a:p>
        </p:txBody>
      </p:sp>
      <p:sp>
        <p:nvSpPr>
          <p:cNvPr id="15" name="Rectangle 14">
            <a:extLst>
              <a:ext uri="{FF2B5EF4-FFF2-40B4-BE49-F238E27FC236}">
                <a16:creationId xmlns:a16="http://schemas.microsoft.com/office/drawing/2014/main" id="{5701987E-BD70-41F2-BF87-B7F2AD3516B0}"/>
              </a:ext>
            </a:extLst>
          </p:cNvPr>
          <p:cNvSpPr/>
          <p:nvPr/>
        </p:nvSpPr>
        <p:spPr>
          <a:xfrm>
            <a:off x="536576" y="5558498"/>
            <a:ext cx="2844800" cy="8578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dirty="0"/>
              <a:t>A Third-party </a:t>
            </a:r>
          </a:p>
          <a:p>
            <a:pPr algn="ctr"/>
            <a:r>
              <a:rPr lang="en-AU" sz="2000" dirty="0"/>
              <a:t>Data Analytics Company</a:t>
            </a:r>
          </a:p>
        </p:txBody>
      </p:sp>
      <p:cxnSp>
        <p:nvCxnSpPr>
          <p:cNvPr id="20" name="Straight Arrow Connector 19">
            <a:extLst>
              <a:ext uri="{FF2B5EF4-FFF2-40B4-BE49-F238E27FC236}">
                <a16:creationId xmlns:a16="http://schemas.microsoft.com/office/drawing/2014/main" id="{E5905AFD-2063-4721-9F48-CD131E31BCC9}"/>
              </a:ext>
            </a:extLst>
          </p:cNvPr>
          <p:cNvCxnSpPr>
            <a:cxnSpLocks/>
            <a:stCxn id="13" idx="2"/>
            <a:endCxn id="15" idx="0"/>
          </p:cNvCxnSpPr>
          <p:nvPr/>
        </p:nvCxnSpPr>
        <p:spPr>
          <a:xfrm>
            <a:off x="1958976" y="4074142"/>
            <a:ext cx="0" cy="148435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F6DDA6C-CFFD-4BDE-8FDF-4ADC078DCC8C}"/>
              </a:ext>
            </a:extLst>
          </p:cNvPr>
          <p:cNvCxnSpPr>
            <a:cxnSpLocks/>
            <a:stCxn id="16" idx="2"/>
            <a:endCxn id="27" idx="0"/>
          </p:cNvCxnSpPr>
          <p:nvPr/>
        </p:nvCxnSpPr>
        <p:spPr>
          <a:xfrm>
            <a:off x="8618612" y="2385680"/>
            <a:ext cx="1" cy="1167058"/>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469E2F1A-34FF-45BB-9DFA-AD47E0619198}"/>
              </a:ext>
            </a:extLst>
          </p:cNvPr>
          <p:cNvSpPr/>
          <p:nvPr/>
        </p:nvSpPr>
        <p:spPr>
          <a:xfrm>
            <a:off x="7089427" y="3552738"/>
            <a:ext cx="3058372" cy="8578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dirty="0"/>
              <a:t>Patient Re-identification</a:t>
            </a:r>
          </a:p>
        </p:txBody>
      </p:sp>
      <p:cxnSp>
        <p:nvCxnSpPr>
          <p:cNvPr id="35" name="Straight Arrow Connector 34">
            <a:extLst>
              <a:ext uri="{FF2B5EF4-FFF2-40B4-BE49-F238E27FC236}">
                <a16:creationId xmlns:a16="http://schemas.microsoft.com/office/drawing/2014/main" id="{3929ABAF-1C73-4257-A2B1-767BCEAB1B9C}"/>
              </a:ext>
            </a:extLst>
          </p:cNvPr>
          <p:cNvCxnSpPr>
            <a:cxnSpLocks/>
            <a:stCxn id="38" idx="0"/>
          </p:cNvCxnSpPr>
          <p:nvPr/>
        </p:nvCxnSpPr>
        <p:spPr>
          <a:xfrm flipV="1">
            <a:off x="4247304" y="3010884"/>
            <a:ext cx="4371308" cy="121187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266F6659-896D-4A21-A987-A2FD1F88C729}"/>
              </a:ext>
            </a:extLst>
          </p:cNvPr>
          <p:cNvSpPr/>
          <p:nvPr/>
        </p:nvSpPr>
        <p:spPr>
          <a:xfrm>
            <a:off x="1974216" y="4222761"/>
            <a:ext cx="4546176" cy="12122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dirty="0"/>
              <a:t>Anonymized Medical Records</a:t>
            </a:r>
          </a:p>
          <a:p>
            <a:pPr algn="ctr"/>
            <a:r>
              <a:rPr lang="en-AU" sz="2000" dirty="0"/>
              <a:t>(e.g., names and addresses are masked,</a:t>
            </a:r>
          </a:p>
          <a:p>
            <a:pPr algn="ctr"/>
            <a:r>
              <a:rPr lang="en-AU" sz="2000" dirty="0"/>
              <a:t>while gender, age and postcode are kept)</a:t>
            </a:r>
          </a:p>
        </p:txBody>
      </p:sp>
      <p:sp>
        <p:nvSpPr>
          <p:cNvPr id="16" name="Rectangle 15">
            <a:extLst>
              <a:ext uri="{FF2B5EF4-FFF2-40B4-BE49-F238E27FC236}">
                <a16:creationId xmlns:a16="http://schemas.microsoft.com/office/drawing/2014/main" id="{1D938829-1338-46E4-B83F-50DBED205642}"/>
              </a:ext>
            </a:extLst>
          </p:cNvPr>
          <p:cNvSpPr/>
          <p:nvPr/>
        </p:nvSpPr>
        <p:spPr>
          <a:xfrm>
            <a:off x="7089426" y="1043319"/>
            <a:ext cx="3058372" cy="134236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000" dirty="0"/>
          </a:p>
          <a:p>
            <a:pPr algn="ctr"/>
            <a:r>
              <a:rPr lang="en-AU" sz="2000" dirty="0"/>
              <a:t>A Third-party </a:t>
            </a:r>
          </a:p>
          <a:p>
            <a:pPr algn="ctr"/>
            <a:r>
              <a:rPr lang="en-AU" sz="2000" dirty="0"/>
              <a:t>Data Analytics Company</a:t>
            </a:r>
          </a:p>
        </p:txBody>
      </p:sp>
      <p:pic>
        <p:nvPicPr>
          <p:cNvPr id="17" name="Picture 16">
            <a:extLst>
              <a:ext uri="{FF2B5EF4-FFF2-40B4-BE49-F238E27FC236}">
                <a16:creationId xmlns:a16="http://schemas.microsoft.com/office/drawing/2014/main" id="{841B6CBB-044E-4BBF-A18C-77214F6FBDC9}"/>
              </a:ext>
            </a:extLst>
          </p:cNvPr>
          <p:cNvPicPr>
            <a:picLocks noChangeAspect="1"/>
          </p:cNvPicPr>
          <p:nvPr/>
        </p:nvPicPr>
        <p:blipFill>
          <a:blip r:embed="rId3"/>
          <a:stretch>
            <a:fillRect/>
          </a:stretch>
        </p:blipFill>
        <p:spPr>
          <a:xfrm>
            <a:off x="9429531" y="1043319"/>
            <a:ext cx="718268" cy="702482"/>
          </a:xfrm>
          <a:prstGeom prst="rect">
            <a:avLst/>
          </a:prstGeom>
        </p:spPr>
      </p:pic>
    </p:spTree>
    <p:extLst>
      <p:ext uri="{BB962C8B-B14F-4D97-AF65-F5344CB8AC3E}">
        <p14:creationId xmlns:p14="http://schemas.microsoft.com/office/powerpoint/2010/main" val="622331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9E5344-939D-4389-AA3E-8709118DCB67}"/>
              </a:ext>
            </a:extLst>
          </p:cNvPr>
          <p:cNvSpPr>
            <a:spLocks noGrp="1"/>
          </p:cNvSpPr>
          <p:nvPr>
            <p:ph idx="1"/>
          </p:nvPr>
        </p:nvSpPr>
        <p:spPr>
          <a:xfrm>
            <a:off x="517519" y="1222395"/>
            <a:ext cx="9719786" cy="4522421"/>
          </a:xfrm>
        </p:spPr>
        <p:txBody>
          <a:bodyPr>
            <a:normAutofit/>
          </a:bodyPr>
          <a:lstStyle/>
          <a:p>
            <a:pPr lvl="1"/>
            <a:r>
              <a:rPr lang="en-AU" sz="2800" dirty="0"/>
              <a:t>Data anonymisation: </a:t>
            </a:r>
            <a:r>
              <a:rPr lang="en-US" sz="2800" dirty="0"/>
              <a:t>removing personal identifiers that may lead to an individual being identified</a:t>
            </a:r>
          </a:p>
          <a:p>
            <a:pPr lvl="1"/>
            <a:r>
              <a:rPr lang="en-AU" sz="2800" dirty="0"/>
              <a:t>Data anonymisation is NOT secure enough</a:t>
            </a:r>
          </a:p>
          <a:p>
            <a:pPr lvl="2"/>
            <a:r>
              <a:rPr lang="en-AU" sz="2800" dirty="0">
                <a:solidFill>
                  <a:srgbClr val="FF0000"/>
                </a:solidFill>
              </a:rPr>
              <a:t>Secure multi-party computation</a:t>
            </a:r>
          </a:p>
          <a:p>
            <a:pPr lvl="2"/>
            <a:r>
              <a:rPr lang="en-AU" sz="2800" dirty="0">
                <a:solidFill>
                  <a:srgbClr val="FF0000"/>
                </a:solidFill>
              </a:rPr>
              <a:t>Homomorphic encryption</a:t>
            </a:r>
          </a:p>
          <a:p>
            <a:pPr lvl="2"/>
            <a:r>
              <a:rPr lang="en-AU" sz="2800" dirty="0">
                <a:solidFill>
                  <a:srgbClr val="FF0000"/>
                </a:solidFill>
              </a:rPr>
              <a:t>Differential privacy</a:t>
            </a:r>
          </a:p>
          <a:p>
            <a:pPr lvl="2"/>
            <a:endParaRPr lang="en-AU" sz="2600" dirty="0"/>
          </a:p>
          <a:p>
            <a:pPr marL="450000" lvl="1" indent="0">
              <a:buNone/>
            </a:pPr>
            <a:r>
              <a:rPr lang="en-US" sz="2600" dirty="0">
                <a:ea typeface="+mj-ea"/>
              </a:rPr>
              <a:t> </a:t>
            </a:r>
          </a:p>
          <a:p>
            <a:pPr marL="450000" lvl="1" indent="0">
              <a:buNone/>
            </a:pPr>
            <a:endParaRPr lang="en-AU" sz="2800" dirty="0">
              <a:ea typeface="+mj-ea"/>
            </a:endParaRPr>
          </a:p>
        </p:txBody>
      </p:sp>
      <p:sp>
        <p:nvSpPr>
          <p:cNvPr id="6" name="Title 1">
            <a:extLst>
              <a:ext uri="{FF2B5EF4-FFF2-40B4-BE49-F238E27FC236}">
                <a16:creationId xmlns:a16="http://schemas.microsoft.com/office/drawing/2014/main" id="{6CC0209C-BB32-4594-BE7A-2BFC959299CB}"/>
              </a:ext>
            </a:extLst>
          </p:cNvPr>
          <p:cNvSpPr>
            <a:spLocks noGrp="1"/>
          </p:cNvSpPr>
          <p:nvPr>
            <p:ph type="title"/>
          </p:nvPr>
        </p:nvSpPr>
        <p:spPr>
          <a:xfrm>
            <a:off x="1252330" y="21167"/>
            <a:ext cx="10185922" cy="966258"/>
          </a:xfrm>
        </p:spPr>
        <p:txBody>
          <a:bodyPr/>
          <a:lstStyle/>
          <a:p>
            <a:r>
              <a:rPr lang="en-AU" dirty="0"/>
              <a:t>Privacy Preserving</a:t>
            </a:r>
          </a:p>
        </p:txBody>
      </p:sp>
    </p:spTree>
    <p:extLst>
      <p:ext uri="{BB962C8B-B14F-4D97-AF65-F5344CB8AC3E}">
        <p14:creationId xmlns:p14="http://schemas.microsoft.com/office/powerpoint/2010/main" val="222040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2E451-CAB5-489E-8029-85B18A4CDADB}"/>
              </a:ext>
            </a:extLst>
          </p:cNvPr>
          <p:cNvSpPr>
            <a:spLocks noGrp="1"/>
          </p:cNvSpPr>
          <p:nvPr>
            <p:ph type="title"/>
          </p:nvPr>
        </p:nvSpPr>
        <p:spPr>
          <a:xfrm>
            <a:off x="1104295" y="0"/>
            <a:ext cx="10353762" cy="1257300"/>
          </a:xfrm>
        </p:spPr>
        <p:txBody>
          <a:bodyPr/>
          <a:lstStyle/>
          <a:p>
            <a:r>
              <a:rPr lang="en-AU" dirty="0"/>
              <a:t>Secure Multi-party Computation</a:t>
            </a:r>
          </a:p>
        </p:txBody>
      </p:sp>
      <p:sp>
        <p:nvSpPr>
          <p:cNvPr id="3" name="Content Placeholder 2">
            <a:extLst>
              <a:ext uri="{FF2B5EF4-FFF2-40B4-BE49-F238E27FC236}">
                <a16:creationId xmlns:a16="http://schemas.microsoft.com/office/drawing/2014/main" id="{5705EF65-B9D6-4C8D-B798-6F1EF3344DD2}"/>
              </a:ext>
            </a:extLst>
          </p:cNvPr>
          <p:cNvSpPr>
            <a:spLocks noGrp="1"/>
          </p:cNvSpPr>
          <p:nvPr>
            <p:ph idx="1"/>
          </p:nvPr>
        </p:nvSpPr>
        <p:spPr>
          <a:xfrm>
            <a:off x="733943" y="1257300"/>
            <a:ext cx="9963755" cy="3714749"/>
          </a:xfrm>
        </p:spPr>
        <p:txBody>
          <a:bodyPr>
            <a:normAutofit/>
          </a:bodyPr>
          <a:lstStyle/>
          <a:p>
            <a:r>
              <a:rPr lang="en-US" sz="2800" dirty="0"/>
              <a:t>Secure multi-party computation is a privacy concept that distributes a computation across multiple users where </a:t>
            </a:r>
            <a:r>
              <a:rPr lang="en-US" sz="2800" dirty="0">
                <a:solidFill>
                  <a:srgbClr val="FF0000"/>
                </a:solidFill>
              </a:rPr>
              <a:t>no user can see the other users' data.</a:t>
            </a:r>
          </a:p>
        </p:txBody>
      </p:sp>
    </p:spTree>
    <p:extLst>
      <p:ext uri="{BB962C8B-B14F-4D97-AF65-F5344CB8AC3E}">
        <p14:creationId xmlns:p14="http://schemas.microsoft.com/office/powerpoint/2010/main" val="10773533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2E451-CAB5-489E-8029-85B18A4CDADB}"/>
              </a:ext>
            </a:extLst>
          </p:cNvPr>
          <p:cNvSpPr>
            <a:spLocks noGrp="1"/>
          </p:cNvSpPr>
          <p:nvPr>
            <p:ph type="title"/>
          </p:nvPr>
        </p:nvSpPr>
        <p:spPr>
          <a:xfrm>
            <a:off x="1104295" y="0"/>
            <a:ext cx="10353762" cy="1257300"/>
          </a:xfrm>
        </p:spPr>
        <p:txBody>
          <a:bodyPr/>
          <a:lstStyle/>
          <a:p>
            <a:r>
              <a:rPr lang="en-AU" dirty="0"/>
              <a:t>Secure Multi-party Computation</a:t>
            </a:r>
          </a:p>
        </p:txBody>
      </p:sp>
      <p:sp>
        <p:nvSpPr>
          <p:cNvPr id="3" name="Content Placeholder 2">
            <a:extLst>
              <a:ext uri="{FF2B5EF4-FFF2-40B4-BE49-F238E27FC236}">
                <a16:creationId xmlns:a16="http://schemas.microsoft.com/office/drawing/2014/main" id="{5705EF65-B9D6-4C8D-B798-6F1EF3344DD2}"/>
              </a:ext>
            </a:extLst>
          </p:cNvPr>
          <p:cNvSpPr>
            <a:spLocks noGrp="1"/>
          </p:cNvSpPr>
          <p:nvPr>
            <p:ph idx="1"/>
          </p:nvPr>
        </p:nvSpPr>
        <p:spPr>
          <a:xfrm>
            <a:off x="733943" y="1257300"/>
            <a:ext cx="9963755" cy="4977245"/>
          </a:xfrm>
        </p:spPr>
        <p:txBody>
          <a:bodyPr>
            <a:normAutofit/>
          </a:bodyPr>
          <a:lstStyle/>
          <a:p>
            <a:r>
              <a:rPr lang="en-US" sz="2800" dirty="0"/>
              <a:t>Secure multi-party computation is a privacy concept that distributes a computation across multiple users where no user can see the other users' data.</a:t>
            </a:r>
          </a:p>
          <a:p>
            <a:pPr lvl="1"/>
            <a:r>
              <a:rPr lang="en-US" sz="2600" dirty="0"/>
              <a:t>e.g., </a:t>
            </a:r>
            <a:r>
              <a:rPr lang="en-US" sz="2800" dirty="0">
                <a:solidFill>
                  <a:srgbClr val="FF0000"/>
                </a:solidFill>
              </a:rPr>
              <a:t>Additive secret sharing </a:t>
            </a:r>
          </a:p>
          <a:p>
            <a:endParaRPr lang="en-US" sz="2800" dirty="0"/>
          </a:p>
          <a:p>
            <a:r>
              <a:rPr lang="en-US" sz="2800" dirty="0"/>
              <a:t>Additive Secret Sharing refers to the division of a secret and its distribution among a group of independent participants. </a:t>
            </a:r>
          </a:p>
        </p:txBody>
      </p:sp>
    </p:spTree>
    <p:extLst>
      <p:ext uri="{BB962C8B-B14F-4D97-AF65-F5344CB8AC3E}">
        <p14:creationId xmlns:p14="http://schemas.microsoft.com/office/powerpoint/2010/main" val="34614072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F3337-D202-49F4-B586-B90CFA38A20B}"/>
              </a:ext>
            </a:extLst>
          </p:cNvPr>
          <p:cNvSpPr>
            <a:spLocks noGrp="1"/>
          </p:cNvSpPr>
          <p:nvPr>
            <p:ph type="title"/>
          </p:nvPr>
        </p:nvSpPr>
        <p:spPr>
          <a:xfrm>
            <a:off x="1199545" y="57151"/>
            <a:ext cx="10353762" cy="1062335"/>
          </a:xfrm>
        </p:spPr>
        <p:txBody>
          <a:bodyPr/>
          <a:lstStyle/>
          <a:p>
            <a:r>
              <a:rPr lang="en-AU" dirty="0"/>
              <a:t>Secure Multi-party Computation</a:t>
            </a:r>
          </a:p>
        </p:txBody>
      </p:sp>
      <p:sp>
        <p:nvSpPr>
          <p:cNvPr id="3" name="Content Placeholder 2">
            <a:extLst>
              <a:ext uri="{FF2B5EF4-FFF2-40B4-BE49-F238E27FC236}">
                <a16:creationId xmlns:a16="http://schemas.microsoft.com/office/drawing/2014/main" id="{FD95B780-4F46-48E4-8A07-635D534C3326}"/>
              </a:ext>
            </a:extLst>
          </p:cNvPr>
          <p:cNvSpPr>
            <a:spLocks noGrp="1"/>
          </p:cNvSpPr>
          <p:nvPr>
            <p:ph idx="1"/>
          </p:nvPr>
        </p:nvSpPr>
        <p:spPr>
          <a:xfrm>
            <a:off x="734686" y="1179515"/>
            <a:ext cx="10353762" cy="2240032"/>
          </a:xfrm>
        </p:spPr>
        <p:txBody>
          <a:bodyPr>
            <a:normAutofit/>
          </a:bodyPr>
          <a:lstStyle/>
          <a:p>
            <a:r>
              <a:rPr lang="en-AU" sz="2800" dirty="0"/>
              <a:t>Situation: Three </a:t>
            </a:r>
            <a:r>
              <a:rPr lang="en-AU" sz="2800" dirty="0" err="1"/>
              <a:t>coworkers</a:t>
            </a:r>
            <a:r>
              <a:rPr lang="en-AU" sz="2800" dirty="0"/>
              <a:t>--Alice, Emu and Penguin—want to compute their average hourly rate </a:t>
            </a:r>
          </a:p>
          <a:p>
            <a:r>
              <a:rPr lang="en-AU" sz="2800" dirty="0"/>
              <a:t>Requirement: They do not want to reveal their own rate to each other or a third-party.</a:t>
            </a:r>
          </a:p>
        </p:txBody>
      </p:sp>
      <p:pic>
        <p:nvPicPr>
          <p:cNvPr id="3076" name="Picture 4" descr="The Most Quotable Sayings From Alice in Wonderland | Disney Quotes">
            <a:extLst>
              <a:ext uri="{FF2B5EF4-FFF2-40B4-BE49-F238E27FC236}">
                <a16:creationId xmlns:a16="http://schemas.microsoft.com/office/drawing/2014/main" id="{4A953912-B02E-422B-B640-1C8F46FF98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1508125" y="3785475"/>
            <a:ext cx="1714500" cy="17145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5D4AF9A-B5A4-4DDF-B564-FF165CEEA72F}"/>
              </a:ext>
            </a:extLst>
          </p:cNvPr>
          <p:cNvSpPr txBox="1"/>
          <p:nvPr/>
        </p:nvSpPr>
        <p:spPr>
          <a:xfrm>
            <a:off x="1445092" y="5497018"/>
            <a:ext cx="1714500" cy="830997"/>
          </a:xfrm>
          <a:prstGeom prst="rect">
            <a:avLst/>
          </a:prstGeom>
          <a:noFill/>
        </p:spPr>
        <p:txBody>
          <a:bodyPr wrap="square">
            <a:spAutoFit/>
          </a:bodyPr>
          <a:lstStyle/>
          <a:p>
            <a:pPr algn="ctr"/>
            <a:r>
              <a:rPr lang="en-AU" sz="2400" dirty="0"/>
              <a:t>Alice (A)</a:t>
            </a:r>
          </a:p>
          <a:p>
            <a:pPr algn="ctr"/>
            <a:r>
              <a:rPr lang="en-AU" sz="2400" dirty="0"/>
              <a:t>$50</a:t>
            </a:r>
            <a:endParaRPr lang="en-AU" dirty="0"/>
          </a:p>
        </p:txBody>
      </p:sp>
      <p:sp>
        <p:nvSpPr>
          <p:cNvPr id="9" name="TextBox 8">
            <a:extLst>
              <a:ext uri="{FF2B5EF4-FFF2-40B4-BE49-F238E27FC236}">
                <a16:creationId xmlns:a16="http://schemas.microsoft.com/office/drawing/2014/main" id="{00E95105-A102-4075-8B1F-9AD7A2841871}"/>
              </a:ext>
            </a:extLst>
          </p:cNvPr>
          <p:cNvSpPr txBox="1"/>
          <p:nvPr/>
        </p:nvSpPr>
        <p:spPr>
          <a:xfrm>
            <a:off x="5181684" y="5562958"/>
            <a:ext cx="1828630" cy="830997"/>
          </a:xfrm>
          <a:prstGeom prst="rect">
            <a:avLst/>
          </a:prstGeom>
          <a:noFill/>
        </p:spPr>
        <p:txBody>
          <a:bodyPr wrap="square">
            <a:spAutoFit/>
          </a:bodyPr>
          <a:lstStyle/>
          <a:p>
            <a:pPr algn="ctr"/>
            <a:r>
              <a:rPr lang="en-AU" sz="2400" dirty="0"/>
              <a:t>Emu (E)</a:t>
            </a:r>
          </a:p>
          <a:p>
            <a:pPr algn="ctr"/>
            <a:r>
              <a:rPr lang="en-AU" sz="2400" dirty="0"/>
              <a:t>$120</a:t>
            </a:r>
          </a:p>
        </p:txBody>
      </p:sp>
      <p:sp>
        <p:nvSpPr>
          <p:cNvPr id="10" name="TextBox 9">
            <a:extLst>
              <a:ext uri="{FF2B5EF4-FFF2-40B4-BE49-F238E27FC236}">
                <a16:creationId xmlns:a16="http://schemas.microsoft.com/office/drawing/2014/main" id="{B4BAD64F-AC8F-4525-B881-7DD584DC9B0E}"/>
              </a:ext>
            </a:extLst>
          </p:cNvPr>
          <p:cNvSpPr txBox="1"/>
          <p:nvPr/>
        </p:nvSpPr>
        <p:spPr>
          <a:xfrm>
            <a:off x="8757185" y="5560003"/>
            <a:ext cx="2026722" cy="830997"/>
          </a:xfrm>
          <a:prstGeom prst="rect">
            <a:avLst/>
          </a:prstGeom>
          <a:noFill/>
        </p:spPr>
        <p:txBody>
          <a:bodyPr wrap="square">
            <a:spAutoFit/>
          </a:bodyPr>
          <a:lstStyle/>
          <a:p>
            <a:pPr algn="ctr"/>
            <a:r>
              <a:rPr lang="en-AU" sz="2400" dirty="0"/>
              <a:t>Penguin (P)</a:t>
            </a:r>
          </a:p>
          <a:p>
            <a:pPr algn="ctr"/>
            <a:r>
              <a:rPr lang="en-AU" sz="2400" dirty="0"/>
              <a:t>$180</a:t>
            </a:r>
          </a:p>
        </p:txBody>
      </p:sp>
      <p:pic>
        <p:nvPicPr>
          <p:cNvPr id="5" name="Picture 4">
            <a:extLst>
              <a:ext uri="{FF2B5EF4-FFF2-40B4-BE49-F238E27FC236}">
                <a16:creationId xmlns:a16="http://schemas.microsoft.com/office/drawing/2014/main" id="{8724B22B-0420-49C9-9A22-7AFA974313A2}"/>
              </a:ext>
            </a:extLst>
          </p:cNvPr>
          <p:cNvPicPr>
            <a:picLocks noChangeAspect="1"/>
          </p:cNvPicPr>
          <p:nvPr/>
        </p:nvPicPr>
        <p:blipFill>
          <a:blip r:embed="rId4"/>
          <a:stretch>
            <a:fillRect/>
          </a:stretch>
        </p:blipFill>
        <p:spPr>
          <a:xfrm>
            <a:off x="9056072" y="3785474"/>
            <a:ext cx="1428949" cy="1714500"/>
          </a:xfrm>
          <a:prstGeom prst="rect">
            <a:avLst/>
          </a:prstGeom>
        </p:spPr>
      </p:pic>
      <p:pic>
        <p:nvPicPr>
          <p:cNvPr id="6" name="Picture 5">
            <a:extLst>
              <a:ext uri="{FF2B5EF4-FFF2-40B4-BE49-F238E27FC236}">
                <a16:creationId xmlns:a16="http://schemas.microsoft.com/office/drawing/2014/main" id="{35CCD965-008D-421F-BA80-102FC60C515A}"/>
              </a:ext>
            </a:extLst>
          </p:cNvPr>
          <p:cNvPicPr>
            <a:picLocks noChangeAspect="1"/>
          </p:cNvPicPr>
          <p:nvPr/>
        </p:nvPicPr>
        <p:blipFill>
          <a:blip r:embed="rId5"/>
          <a:stretch>
            <a:fillRect/>
          </a:stretch>
        </p:blipFill>
        <p:spPr>
          <a:xfrm>
            <a:off x="5273040" y="3785473"/>
            <a:ext cx="1645920" cy="1714501"/>
          </a:xfrm>
          <a:prstGeom prst="rect">
            <a:avLst/>
          </a:prstGeom>
        </p:spPr>
      </p:pic>
      <p:sp>
        <p:nvSpPr>
          <p:cNvPr id="13" name="TextBox 12">
            <a:extLst>
              <a:ext uri="{FF2B5EF4-FFF2-40B4-BE49-F238E27FC236}">
                <a16:creationId xmlns:a16="http://schemas.microsoft.com/office/drawing/2014/main" id="{FF81AEDF-F44C-4BC3-AE14-69A593B255D7}"/>
              </a:ext>
            </a:extLst>
          </p:cNvPr>
          <p:cNvSpPr txBox="1"/>
          <p:nvPr/>
        </p:nvSpPr>
        <p:spPr>
          <a:xfrm>
            <a:off x="7972983" y="6496479"/>
            <a:ext cx="4219017" cy="336747"/>
          </a:xfrm>
          <a:prstGeom prst="rect">
            <a:avLst/>
          </a:prstGeom>
          <a:noFill/>
        </p:spPr>
        <p:txBody>
          <a:bodyPr wrap="square">
            <a:spAutoFit/>
          </a:bodyPr>
          <a:lstStyle/>
          <a:p>
            <a:r>
              <a:rPr lang="en-AU" sz="1600" dirty="0"/>
              <a:t>https://stock.adobe.com/search?k=emu+cartoon</a:t>
            </a:r>
          </a:p>
        </p:txBody>
      </p:sp>
    </p:spTree>
    <p:extLst>
      <p:ext uri="{BB962C8B-B14F-4D97-AF65-F5344CB8AC3E}">
        <p14:creationId xmlns:p14="http://schemas.microsoft.com/office/powerpoint/2010/main" val="31237001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F3337-D202-49F4-B586-B90CFA38A20B}"/>
              </a:ext>
            </a:extLst>
          </p:cNvPr>
          <p:cNvSpPr>
            <a:spLocks noGrp="1"/>
          </p:cNvSpPr>
          <p:nvPr>
            <p:ph type="title"/>
          </p:nvPr>
        </p:nvSpPr>
        <p:spPr>
          <a:xfrm>
            <a:off x="1249319" y="0"/>
            <a:ext cx="10353762" cy="1257300"/>
          </a:xfrm>
        </p:spPr>
        <p:txBody>
          <a:bodyPr/>
          <a:lstStyle/>
          <a:p>
            <a:r>
              <a:rPr lang="en-AU" dirty="0"/>
              <a:t>Secure Multi-party Computation</a:t>
            </a:r>
          </a:p>
        </p:txBody>
      </p:sp>
      <p:sp>
        <p:nvSpPr>
          <p:cNvPr id="3" name="Content Placeholder 2">
            <a:extLst>
              <a:ext uri="{FF2B5EF4-FFF2-40B4-BE49-F238E27FC236}">
                <a16:creationId xmlns:a16="http://schemas.microsoft.com/office/drawing/2014/main" id="{FD95B780-4F46-48E4-8A07-635D534C3326}"/>
              </a:ext>
            </a:extLst>
          </p:cNvPr>
          <p:cNvSpPr>
            <a:spLocks noGrp="1"/>
          </p:cNvSpPr>
          <p:nvPr>
            <p:ph idx="1"/>
          </p:nvPr>
        </p:nvSpPr>
        <p:spPr>
          <a:xfrm>
            <a:off x="512719" y="1257300"/>
            <a:ext cx="9223296" cy="3578469"/>
          </a:xfrm>
        </p:spPr>
        <p:txBody>
          <a:bodyPr>
            <a:normAutofit/>
          </a:bodyPr>
          <a:lstStyle/>
          <a:p>
            <a:r>
              <a:rPr lang="en-AU" sz="2400" dirty="0"/>
              <a:t>Steps:</a:t>
            </a:r>
          </a:p>
          <a:p>
            <a:pPr marL="450000" lvl="1" indent="0">
              <a:buNone/>
            </a:pPr>
            <a:r>
              <a:rPr lang="en-AU" sz="2400" dirty="0"/>
              <a:t>1. </a:t>
            </a:r>
            <a:r>
              <a:rPr lang="en-AU" sz="2400" dirty="0">
                <a:solidFill>
                  <a:srgbClr val="FF0000"/>
                </a:solidFill>
              </a:rPr>
              <a:t>Each staff split their rate randomly into n (n=3) secret shares</a:t>
            </a:r>
          </a:p>
          <a:p>
            <a:pPr marL="72900" indent="0">
              <a:buNone/>
            </a:pPr>
            <a:r>
              <a:rPr lang="en-AU" sz="2400" dirty="0"/>
              <a:t>		A: 	$50</a:t>
            </a:r>
          </a:p>
          <a:p>
            <a:pPr marL="72900" indent="0">
              <a:buNone/>
            </a:pPr>
            <a:r>
              <a:rPr lang="en-AU" sz="2400" dirty="0"/>
              <a:t>		E: 	$120 </a:t>
            </a:r>
          </a:p>
          <a:p>
            <a:pPr marL="72900" indent="0">
              <a:buNone/>
            </a:pPr>
            <a:r>
              <a:rPr lang="en-AU" sz="2400" dirty="0"/>
              <a:t>		P:   $180</a:t>
            </a:r>
            <a:endParaRPr lang="en-AU" sz="2800" dirty="0"/>
          </a:p>
          <a:p>
            <a:pPr marL="72900" indent="0">
              <a:buNone/>
            </a:pPr>
            <a:endParaRPr lang="en-AU" dirty="0"/>
          </a:p>
        </p:txBody>
      </p:sp>
    </p:spTree>
    <p:extLst>
      <p:ext uri="{BB962C8B-B14F-4D97-AF65-F5344CB8AC3E}">
        <p14:creationId xmlns:p14="http://schemas.microsoft.com/office/powerpoint/2010/main" val="10827663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F3337-D202-49F4-B586-B90CFA38A20B}"/>
              </a:ext>
            </a:extLst>
          </p:cNvPr>
          <p:cNvSpPr>
            <a:spLocks noGrp="1"/>
          </p:cNvSpPr>
          <p:nvPr>
            <p:ph type="title"/>
          </p:nvPr>
        </p:nvSpPr>
        <p:spPr>
          <a:xfrm>
            <a:off x="1249319" y="0"/>
            <a:ext cx="10353762" cy="1257300"/>
          </a:xfrm>
        </p:spPr>
        <p:txBody>
          <a:bodyPr/>
          <a:lstStyle/>
          <a:p>
            <a:r>
              <a:rPr lang="en-AU" dirty="0"/>
              <a:t>Secure Multi-party Computation</a:t>
            </a:r>
          </a:p>
        </p:txBody>
      </p:sp>
      <p:sp>
        <p:nvSpPr>
          <p:cNvPr id="3" name="Content Placeholder 2">
            <a:extLst>
              <a:ext uri="{FF2B5EF4-FFF2-40B4-BE49-F238E27FC236}">
                <a16:creationId xmlns:a16="http://schemas.microsoft.com/office/drawing/2014/main" id="{FD95B780-4F46-48E4-8A07-635D534C3326}"/>
              </a:ext>
            </a:extLst>
          </p:cNvPr>
          <p:cNvSpPr>
            <a:spLocks noGrp="1"/>
          </p:cNvSpPr>
          <p:nvPr>
            <p:ph idx="1"/>
          </p:nvPr>
        </p:nvSpPr>
        <p:spPr>
          <a:xfrm>
            <a:off x="588919" y="1257300"/>
            <a:ext cx="10084944" cy="3714749"/>
          </a:xfrm>
        </p:spPr>
        <p:txBody>
          <a:bodyPr>
            <a:normAutofit fontScale="92500" lnSpcReduction="20000"/>
          </a:bodyPr>
          <a:lstStyle/>
          <a:p>
            <a:r>
              <a:rPr lang="en-AU" sz="3000" dirty="0"/>
              <a:t>Steps:</a:t>
            </a:r>
          </a:p>
          <a:p>
            <a:pPr marL="450000" lvl="1" indent="0">
              <a:buNone/>
            </a:pPr>
            <a:r>
              <a:rPr lang="en-AU" sz="3000" dirty="0"/>
              <a:t>1. Each staff split their rate randomly into 3 secret shares</a:t>
            </a:r>
          </a:p>
          <a:p>
            <a:pPr marL="72900" indent="0">
              <a:buNone/>
            </a:pPr>
            <a:r>
              <a:rPr lang="en-AU" sz="3000" dirty="0"/>
              <a:t>		A: 	$50    -&gt; $10, $5,      $35</a:t>
            </a:r>
          </a:p>
          <a:p>
            <a:pPr marL="72900" indent="0">
              <a:buNone/>
            </a:pPr>
            <a:r>
              <a:rPr lang="en-AU" sz="3000" dirty="0"/>
              <a:t>		E: 	$120  -&gt; $25, $100, -$5</a:t>
            </a:r>
          </a:p>
          <a:p>
            <a:pPr marL="72900" indent="0">
              <a:buNone/>
            </a:pPr>
            <a:r>
              <a:rPr lang="en-AU" sz="3000" dirty="0"/>
              <a:t>		P:   $180 -&gt; $10, $100,  $70</a:t>
            </a:r>
          </a:p>
          <a:p>
            <a:pPr marL="72900" indent="0">
              <a:buNone/>
            </a:pPr>
            <a:r>
              <a:rPr lang="en-AU" sz="3000" dirty="0"/>
              <a:t>    2. </a:t>
            </a:r>
            <a:r>
              <a:rPr lang="en-AU" sz="3000" dirty="0">
                <a:solidFill>
                  <a:srgbClr val="FF0000"/>
                </a:solidFill>
              </a:rPr>
              <a:t>Each staff keeps one secret share and distributes the remaining two secret shares to the other two staffs.</a:t>
            </a:r>
          </a:p>
          <a:p>
            <a:pPr marL="72900" indent="0">
              <a:buNone/>
            </a:pPr>
            <a:endParaRPr lang="en-AU" sz="2800" dirty="0"/>
          </a:p>
          <a:p>
            <a:pPr marL="72900" indent="0">
              <a:buNone/>
            </a:pPr>
            <a:endParaRPr lang="en-AU" sz="2800" dirty="0"/>
          </a:p>
          <a:p>
            <a:pPr marL="72900" indent="0">
              <a:buNone/>
            </a:pPr>
            <a:endParaRPr lang="en-AU" dirty="0"/>
          </a:p>
        </p:txBody>
      </p:sp>
    </p:spTree>
    <p:extLst>
      <p:ext uri="{BB962C8B-B14F-4D97-AF65-F5344CB8AC3E}">
        <p14:creationId xmlns:p14="http://schemas.microsoft.com/office/powerpoint/2010/main" val="39358498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F3337-D202-49F4-B586-B90CFA38A20B}"/>
              </a:ext>
            </a:extLst>
          </p:cNvPr>
          <p:cNvSpPr>
            <a:spLocks noGrp="1"/>
          </p:cNvSpPr>
          <p:nvPr>
            <p:ph type="title"/>
          </p:nvPr>
        </p:nvSpPr>
        <p:spPr>
          <a:xfrm>
            <a:off x="1249319" y="0"/>
            <a:ext cx="10353762" cy="1257300"/>
          </a:xfrm>
        </p:spPr>
        <p:txBody>
          <a:bodyPr/>
          <a:lstStyle/>
          <a:p>
            <a:r>
              <a:rPr lang="en-AU" dirty="0"/>
              <a:t>Secure Multi-party Computation</a:t>
            </a:r>
          </a:p>
        </p:txBody>
      </p:sp>
      <p:sp>
        <p:nvSpPr>
          <p:cNvPr id="3" name="Content Placeholder 2">
            <a:extLst>
              <a:ext uri="{FF2B5EF4-FFF2-40B4-BE49-F238E27FC236}">
                <a16:creationId xmlns:a16="http://schemas.microsoft.com/office/drawing/2014/main" id="{FD95B780-4F46-48E4-8A07-635D534C3326}"/>
              </a:ext>
            </a:extLst>
          </p:cNvPr>
          <p:cNvSpPr>
            <a:spLocks noGrp="1"/>
          </p:cNvSpPr>
          <p:nvPr>
            <p:ph idx="1"/>
          </p:nvPr>
        </p:nvSpPr>
        <p:spPr>
          <a:xfrm>
            <a:off x="588919" y="1257301"/>
            <a:ext cx="10084944" cy="975946"/>
          </a:xfrm>
        </p:spPr>
        <p:txBody>
          <a:bodyPr>
            <a:normAutofit/>
          </a:bodyPr>
          <a:lstStyle/>
          <a:p>
            <a:r>
              <a:rPr lang="en-AU" sz="3000" dirty="0"/>
              <a:t>After secret sharing is completed:</a:t>
            </a:r>
          </a:p>
          <a:p>
            <a:pPr marL="72900" indent="0">
              <a:buNone/>
            </a:pPr>
            <a:endParaRPr lang="en-AU" sz="2800" dirty="0"/>
          </a:p>
          <a:p>
            <a:pPr marL="72900" indent="0">
              <a:buNone/>
            </a:pPr>
            <a:endParaRPr lang="en-AU" sz="2800" dirty="0"/>
          </a:p>
          <a:p>
            <a:pPr marL="72900" indent="0">
              <a:buNone/>
            </a:pPr>
            <a:endParaRPr lang="en-AU" dirty="0"/>
          </a:p>
        </p:txBody>
      </p:sp>
      <p:graphicFrame>
        <p:nvGraphicFramePr>
          <p:cNvPr id="5" name="Table 5">
            <a:extLst>
              <a:ext uri="{FF2B5EF4-FFF2-40B4-BE49-F238E27FC236}">
                <a16:creationId xmlns:a16="http://schemas.microsoft.com/office/drawing/2014/main" id="{556E0B31-B793-4223-9919-840187E53158}"/>
              </a:ext>
            </a:extLst>
          </p:cNvPr>
          <p:cNvGraphicFramePr>
            <a:graphicFrameLocks noGrp="1"/>
          </p:cNvGraphicFramePr>
          <p:nvPr>
            <p:extLst>
              <p:ext uri="{D42A27DB-BD31-4B8C-83A1-F6EECF244321}">
                <p14:modId xmlns:p14="http://schemas.microsoft.com/office/powerpoint/2010/main" val="2267323871"/>
              </p:ext>
            </p:extLst>
          </p:nvPr>
        </p:nvGraphicFramePr>
        <p:xfrm>
          <a:off x="3009817" y="2158512"/>
          <a:ext cx="5243148" cy="2338756"/>
        </p:xfrm>
        <a:graphic>
          <a:graphicData uri="http://schemas.openxmlformats.org/drawingml/2006/table">
            <a:tbl>
              <a:tblPr firstRow="1" bandRow="1">
                <a:tableStyleId>{F5AB1C69-6EDB-4FF4-983F-18BD219EF322}</a:tableStyleId>
              </a:tblPr>
              <a:tblGrid>
                <a:gridCol w="1747716">
                  <a:extLst>
                    <a:ext uri="{9D8B030D-6E8A-4147-A177-3AD203B41FA5}">
                      <a16:colId xmlns:a16="http://schemas.microsoft.com/office/drawing/2014/main" val="2531774165"/>
                    </a:ext>
                  </a:extLst>
                </a:gridCol>
                <a:gridCol w="1747716">
                  <a:extLst>
                    <a:ext uri="{9D8B030D-6E8A-4147-A177-3AD203B41FA5}">
                      <a16:colId xmlns:a16="http://schemas.microsoft.com/office/drawing/2014/main" val="123721623"/>
                    </a:ext>
                  </a:extLst>
                </a:gridCol>
                <a:gridCol w="1747716">
                  <a:extLst>
                    <a:ext uri="{9D8B030D-6E8A-4147-A177-3AD203B41FA5}">
                      <a16:colId xmlns:a16="http://schemas.microsoft.com/office/drawing/2014/main" val="2657161149"/>
                    </a:ext>
                  </a:extLst>
                </a:gridCol>
              </a:tblGrid>
              <a:tr h="584689">
                <a:tc>
                  <a:txBody>
                    <a:bodyPr/>
                    <a:lstStyle/>
                    <a:p>
                      <a:r>
                        <a:rPr lang="en-AU" sz="2400" dirty="0"/>
                        <a:t>A</a:t>
                      </a:r>
                    </a:p>
                  </a:txBody>
                  <a:tcPr>
                    <a:solidFill>
                      <a:schemeClr val="bg1"/>
                    </a:solidFill>
                  </a:tcPr>
                </a:tc>
                <a:tc>
                  <a:txBody>
                    <a:bodyPr/>
                    <a:lstStyle/>
                    <a:p>
                      <a:r>
                        <a:rPr lang="en-AU" sz="2400" dirty="0"/>
                        <a:t>E</a:t>
                      </a:r>
                    </a:p>
                  </a:txBody>
                  <a:tcPr>
                    <a:solidFill>
                      <a:schemeClr val="bg1"/>
                    </a:solidFill>
                  </a:tcPr>
                </a:tc>
                <a:tc>
                  <a:txBody>
                    <a:bodyPr/>
                    <a:lstStyle/>
                    <a:p>
                      <a:r>
                        <a:rPr lang="en-AU" sz="2400" dirty="0"/>
                        <a:t>P</a:t>
                      </a:r>
                    </a:p>
                  </a:txBody>
                  <a:tcPr>
                    <a:solidFill>
                      <a:schemeClr val="bg1"/>
                    </a:solidFill>
                  </a:tcPr>
                </a:tc>
                <a:extLst>
                  <a:ext uri="{0D108BD9-81ED-4DB2-BD59-A6C34878D82A}">
                    <a16:rowId xmlns:a16="http://schemas.microsoft.com/office/drawing/2014/main" val="1954785272"/>
                  </a:ext>
                </a:extLst>
              </a:tr>
              <a:tr h="584689">
                <a:tc>
                  <a:txBody>
                    <a:bodyPr/>
                    <a:lstStyle/>
                    <a:p>
                      <a:r>
                        <a:rPr lang="en-AU" sz="2400" b="1" dirty="0">
                          <a:solidFill>
                            <a:srgbClr val="FF0000"/>
                          </a:solidFill>
                        </a:rPr>
                        <a:t>5</a:t>
                      </a:r>
                    </a:p>
                  </a:txBody>
                  <a:tcPr/>
                </a:tc>
                <a:tc>
                  <a:txBody>
                    <a:bodyPr/>
                    <a:lstStyle/>
                    <a:p>
                      <a:r>
                        <a:rPr lang="en-AU" sz="2400" dirty="0"/>
                        <a:t>35</a:t>
                      </a:r>
                    </a:p>
                  </a:txBody>
                  <a:tcPr/>
                </a:tc>
                <a:tc>
                  <a:txBody>
                    <a:bodyPr/>
                    <a:lstStyle/>
                    <a:p>
                      <a:r>
                        <a:rPr lang="en-AU" sz="2400" dirty="0"/>
                        <a:t>10</a:t>
                      </a:r>
                    </a:p>
                  </a:txBody>
                  <a:tcPr/>
                </a:tc>
                <a:extLst>
                  <a:ext uri="{0D108BD9-81ED-4DB2-BD59-A6C34878D82A}">
                    <a16:rowId xmlns:a16="http://schemas.microsoft.com/office/drawing/2014/main" val="3305838824"/>
                  </a:ext>
                </a:extLst>
              </a:tr>
              <a:tr h="584689">
                <a:tc>
                  <a:txBody>
                    <a:bodyPr/>
                    <a:lstStyle/>
                    <a:p>
                      <a:r>
                        <a:rPr lang="en-AU" sz="2400" dirty="0"/>
                        <a:t>100</a:t>
                      </a:r>
                    </a:p>
                  </a:txBody>
                  <a:tcPr/>
                </a:tc>
                <a:tc>
                  <a:txBody>
                    <a:bodyPr/>
                    <a:lstStyle/>
                    <a:p>
                      <a:r>
                        <a:rPr lang="en-AU" sz="2400" dirty="0">
                          <a:solidFill>
                            <a:srgbClr val="FF0000"/>
                          </a:solidFill>
                        </a:rPr>
                        <a:t>25</a:t>
                      </a:r>
                    </a:p>
                  </a:txBody>
                  <a:tcPr/>
                </a:tc>
                <a:tc>
                  <a:txBody>
                    <a:bodyPr/>
                    <a:lstStyle/>
                    <a:p>
                      <a:r>
                        <a:rPr lang="en-AU" sz="2400" dirty="0"/>
                        <a:t>-5</a:t>
                      </a:r>
                    </a:p>
                  </a:txBody>
                  <a:tcPr/>
                </a:tc>
                <a:extLst>
                  <a:ext uri="{0D108BD9-81ED-4DB2-BD59-A6C34878D82A}">
                    <a16:rowId xmlns:a16="http://schemas.microsoft.com/office/drawing/2014/main" val="625628737"/>
                  </a:ext>
                </a:extLst>
              </a:tr>
              <a:tr h="584689">
                <a:tc>
                  <a:txBody>
                    <a:bodyPr/>
                    <a:lstStyle/>
                    <a:p>
                      <a:r>
                        <a:rPr lang="en-AU" sz="2400" dirty="0"/>
                        <a:t>70</a:t>
                      </a:r>
                    </a:p>
                  </a:txBody>
                  <a:tcPr/>
                </a:tc>
                <a:tc>
                  <a:txBody>
                    <a:bodyPr/>
                    <a:lstStyle/>
                    <a:p>
                      <a:r>
                        <a:rPr lang="en-AU" sz="2400" dirty="0"/>
                        <a:t>10</a:t>
                      </a:r>
                    </a:p>
                  </a:txBody>
                  <a:tcPr/>
                </a:tc>
                <a:tc>
                  <a:txBody>
                    <a:bodyPr/>
                    <a:lstStyle/>
                    <a:p>
                      <a:r>
                        <a:rPr lang="en-AU" sz="2400" dirty="0">
                          <a:solidFill>
                            <a:srgbClr val="FF0000"/>
                          </a:solidFill>
                        </a:rPr>
                        <a:t>100</a:t>
                      </a:r>
                    </a:p>
                  </a:txBody>
                  <a:tcPr/>
                </a:tc>
                <a:extLst>
                  <a:ext uri="{0D108BD9-81ED-4DB2-BD59-A6C34878D82A}">
                    <a16:rowId xmlns:a16="http://schemas.microsoft.com/office/drawing/2014/main" val="3476301968"/>
                  </a:ext>
                </a:extLst>
              </a:tr>
            </a:tbl>
          </a:graphicData>
        </a:graphic>
      </p:graphicFrame>
      <p:sp>
        <p:nvSpPr>
          <p:cNvPr id="6" name="Rectangle 5">
            <a:extLst>
              <a:ext uri="{FF2B5EF4-FFF2-40B4-BE49-F238E27FC236}">
                <a16:creationId xmlns:a16="http://schemas.microsoft.com/office/drawing/2014/main" id="{C178BE69-272C-4A17-9DC2-C9A2F97A0332}"/>
              </a:ext>
            </a:extLst>
          </p:cNvPr>
          <p:cNvSpPr/>
          <p:nvPr/>
        </p:nvSpPr>
        <p:spPr>
          <a:xfrm>
            <a:off x="1124837" y="2778370"/>
            <a:ext cx="2227963" cy="498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dirty="0"/>
              <a:t>A = 50</a:t>
            </a:r>
          </a:p>
        </p:txBody>
      </p:sp>
      <p:sp>
        <p:nvSpPr>
          <p:cNvPr id="7" name="Rectangle 6">
            <a:extLst>
              <a:ext uri="{FF2B5EF4-FFF2-40B4-BE49-F238E27FC236}">
                <a16:creationId xmlns:a16="http://schemas.microsoft.com/office/drawing/2014/main" id="{FEE7FE1D-F98B-45A7-A1F8-C296CBA95000}"/>
              </a:ext>
            </a:extLst>
          </p:cNvPr>
          <p:cNvSpPr/>
          <p:nvPr/>
        </p:nvSpPr>
        <p:spPr>
          <a:xfrm>
            <a:off x="1233278" y="3385040"/>
            <a:ext cx="2173411" cy="404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dirty="0"/>
              <a:t>E = 120</a:t>
            </a:r>
          </a:p>
        </p:txBody>
      </p:sp>
      <p:sp>
        <p:nvSpPr>
          <p:cNvPr id="8" name="Rectangle 7">
            <a:extLst>
              <a:ext uri="{FF2B5EF4-FFF2-40B4-BE49-F238E27FC236}">
                <a16:creationId xmlns:a16="http://schemas.microsoft.com/office/drawing/2014/main" id="{8CC2CE9B-E6A0-48BA-AC50-4C608F5881F9}"/>
              </a:ext>
            </a:extLst>
          </p:cNvPr>
          <p:cNvSpPr/>
          <p:nvPr/>
        </p:nvSpPr>
        <p:spPr>
          <a:xfrm>
            <a:off x="1233279" y="3943354"/>
            <a:ext cx="2173411" cy="404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dirty="0"/>
              <a:t>P = 180</a:t>
            </a:r>
          </a:p>
        </p:txBody>
      </p:sp>
    </p:spTree>
    <p:extLst>
      <p:ext uri="{BB962C8B-B14F-4D97-AF65-F5344CB8AC3E}">
        <p14:creationId xmlns:p14="http://schemas.microsoft.com/office/powerpoint/2010/main" val="16144034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F3337-D202-49F4-B586-B90CFA38A20B}"/>
              </a:ext>
            </a:extLst>
          </p:cNvPr>
          <p:cNvSpPr>
            <a:spLocks noGrp="1"/>
          </p:cNvSpPr>
          <p:nvPr>
            <p:ph type="title"/>
          </p:nvPr>
        </p:nvSpPr>
        <p:spPr>
          <a:xfrm>
            <a:off x="1249319" y="0"/>
            <a:ext cx="10353762" cy="1257300"/>
          </a:xfrm>
        </p:spPr>
        <p:txBody>
          <a:bodyPr/>
          <a:lstStyle/>
          <a:p>
            <a:r>
              <a:rPr lang="en-AU" dirty="0"/>
              <a:t>Secure Multi-party Computation</a:t>
            </a:r>
          </a:p>
        </p:txBody>
      </p:sp>
      <p:sp>
        <p:nvSpPr>
          <p:cNvPr id="3" name="Content Placeholder 2">
            <a:extLst>
              <a:ext uri="{FF2B5EF4-FFF2-40B4-BE49-F238E27FC236}">
                <a16:creationId xmlns:a16="http://schemas.microsoft.com/office/drawing/2014/main" id="{FD95B780-4F46-48E4-8A07-635D534C3326}"/>
              </a:ext>
            </a:extLst>
          </p:cNvPr>
          <p:cNvSpPr>
            <a:spLocks noGrp="1"/>
          </p:cNvSpPr>
          <p:nvPr>
            <p:ph idx="1"/>
          </p:nvPr>
        </p:nvSpPr>
        <p:spPr>
          <a:xfrm>
            <a:off x="588919" y="1257301"/>
            <a:ext cx="10084944" cy="975946"/>
          </a:xfrm>
        </p:spPr>
        <p:txBody>
          <a:bodyPr>
            <a:normAutofit/>
          </a:bodyPr>
          <a:lstStyle/>
          <a:p>
            <a:r>
              <a:rPr lang="en-AU" sz="3000" dirty="0"/>
              <a:t>After secret sharing is completed:</a:t>
            </a:r>
          </a:p>
          <a:p>
            <a:pPr marL="72900" indent="0">
              <a:buNone/>
            </a:pPr>
            <a:endParaRPr lang="en-AU" sz="2800" dirty="0"/>
          </a:p>
          <a:p>
            <a:pPr marL="72900" indent="0">
              <a:buNone/>
            </a:pPr>
            <a:endParaRPr lang="en-AU" sz="2800" dirty="0"/>
          </a:p>
          <a:p>
            <a:pPr marL="72900" indent="0">
              <a:buNone/>
            </a:pPr>
            <a:endParaRPr lang="en-AU" dirty="0"/>
          </a:p>
        </p:txBody>
      </p:sp>
      <p:graphicFrame>
        <p:nvGraphicFramePr>
          <p:cNvPr id="5" name="Table 5">
            <a:extLst>
              <a:ext uri="{FF2B5EF4-FFF2-40B4-BE49-F238E27FC236}">
                <a16:creationId xmlns:a16="http://schemas.microsoft.com/office/drawing/2014/main" id="{556E0B31-B793-4223-9919-840187E53158}"/>
              </a:ext>
            </a:extLst>
          </p:cNvPr>
          <p:cNvGraphicFramePr>
            <a:graphicFrameLocks noGrp="1"/>
          </p:cNvGraphicFramePr>
          <p:nvPr>
            <p:extLst>
              <p:ext uri="{D42A27DB-BD31-4B8C-83A1-F6EECF244321}">
                <p14:modId xmlns:p14="http://schemas.microsoft.com/office/powerpoint/2010/main" val="1990004466"/>
              </p:ext>
            </p:extLst>
          </p:nvPr>
        </p:nvGraphicFramePr>
        <p:xfrm>
          <a:off x="3009817" y="2158512"/>
          <a:ext cx="5243148" cy="2338756"/>
        </p:xfrm>
        <a:graphic>
          <a:graphicData uri="http://schemas.openxmlformats.org/drawingml/2006/table">
            <a:tbl>
              <a:tblPr firstRow="1" bandRow="1">
                <a:tableStyleId>{F5AB1C69-6EDB-4FF4-983F-18BD219EF322}</a:tableStyleId>
              </a:tblPr>
              <a:tblGrid>
                <a:gridCol w="1747716">
                  <a:extLst>
                    <a:ext uri="{9D8B030D-6E8A-4147-A177-3AD203B41FA5}">
                      <a16:colId xmlns:a16="http://schemas.microsoft.com/office/drawing/2014/main" val="2531774165"/>
                    </a:ext>
                  </a:extLst>
                </a:gridCol>
                <a:gridCol w="1747716">
                  <a:extLst>
                    <a:ext uri="{9D8B030D-6E8A-4147-A177-3AD203B41FA5}">
                      <a16:colId xmlns:a16="http://schemas.microsoft.com/office/drawing/2014/main" val="123721623"/>
                    </a:ext>
                  </a:extLst>
                </a:gridCol>
                <a:gridCol w="1747716">
                  <a:extLst>
                    <a:ext uri="{9D8B030D-6E8A-4147-A177-3AD203B41FA5}">
                      <a16:colId xmlns:a16="http://schemas.microsoft.com/office/drawing/2014/main" val="2657161149"/>
                    </a:ext>
                  </a:extLst>
                </a:gridCol>
              </a:tblGrid>
              <a:tr h="584689">
                <a:tc>
                  <a:txBody>
                    <a:bodyPr/>
                    <a:lstStyle/>
                    <a:p>
                      <a:r>
                        <a:rPr lang="en-AU" sz="2400" dirty="0"/>
                        <a:t>A</a:t>
                      </a:r>
                    </a:p>
                  </a:txBody>
                  <a:tcPr>
                    <a:solidFill>
                      <a:schemeClr val="bg1"/>
                    </a:solidFill>
                  </a:tcPr>
                </a:tc>
                <a:tc>
                  <a:txBody>
                    <a:bodyPr/>
                    <a:lstStyle/>
                    <a:p>
                      <a:endParaRPr lang="en-AU" sz="2400" dirty="0"/>
                    </a:p>
                  </a:txBody>
                  <a:tcPr>
                    <a:solidFill>
                      <a:schemeClr val="bg1"/>
                    </a:solidFill>
                  </a:tcPr>
                </a:tc>
                <a:tc>
                  <a:txBody>
                    <a:bodyPr/>
                    <a:lstStyle/>
                    <a:p>
                      <a:endParaRPr lang="en-AU" sz="2400" dirty="0"/>
                    </a:p>
                  </a:txBody>
                  <a:tcPr>
                    <a:solidFill>
                      <a:schemeClr val="bg1"/>
                    </a:solidFill>
                  </a:tcPr>
                </a:tc>
                <a:extLst>
                  <a:ext uri="{0D108BD9-81ED-4DB2-BD59-A6C34878D82A}">
                    <a16:rowId xmlns:a16="http://schemas.microsoft.com/office/drawing/2014/main" val="1954785272"/>
                  </a:ext>
                </a:extLst>
              </a:tr>
              <a:tr h="584689">
                <a:tc>
                  <a:txBody>
                    <a:bodyPr/>
                    <a:lstStyle/>
                    <a:p>
                      <a:r>
                        <a:rPr lang="en-AU" sz="2400" b="1" dirty="0">
                          <a:solidFill>
                            <a:srgbClr val="FF0000"/>
                          </a:solidFill>
                        </a:rPr>
                        <a:t>5</a:t>
                      </a:r>
                    </a:p>
                  </a:txBody>
                  <a:tcPr/>
                </a:tc>
                <a:tc>
                  <a:txBody>
                    <a:bodyPr/>
                    <a:lstStyle/>
                    <a:p>
                      <a:endParaRPr lang="en-AU" sz="2400" dirty="0"/>
                    </a:p>
                  </a:txBody>
                  <a:tcPr/>
                </a:tc>
                <a:tc>
                  <a:txBody>
                    <a:bodyPr/>
                    <a:lstStyle/>
                    <a:p>
                      <a:endParaRPr lang="en-AU" sz="2400" dirty="0"/>
                    </a:p>
                  </a:txBody>
                  <a:tcPr/>
                </a:tc>
                <a:extLst>
                  <a:ext uri="{0D108BD9-81ED-4DB2-BD59-A6C34878D82A}">
                    <a16:rowId xmlns:a16="http://schemas.microsoft.com/office/drawing/2014/main" val="3305838824"/>
                  </a:ext>
                </a:extLst>
              </a:tr>
              <a:tr h="584689">
                <a:tc>
                  <a:txBody>
                    <a:bodyPr/>
                    <a:lstStyle/>
                    <a:p>
                      <a:r>
                        <a:rPr lang="en-AU" sz="2400" dirty="0"/>
                        <a:t>100</a:t>
                      </a:r>
                    </a:p>
                  </a:txBody>
                  <a:tcPr/>
                </a:tc>
                <a:tc>
                  <a:txBody>
                    <a:bodyPr/>
                    <a:lstStyle/>
                    <a:p>
                      <a:endParaRPr lang="en-AU" sz="2400" dirty="0">
                        <a:solidFill>
                          <a:srgbClr val="FF0000"/>
                        </a:solidFill>
                      </a:endParaRPr>
                    </a:p>
                  </a:txBody>
                  <a:tcPr/>
                </a:tc>
                <a:tc>
                  <a:txBody>
                    <a:bodyPr/>
                    <a:lstStyle/>
                    <a:p>
                      <a:endParaRPr lang="en-AU" sz="2400" dirty="0"/>
                    </a:p>
                  </a:txBody>
                  <a:tcPr/>
                </a:tc>
                <a:extLst>
                  <a:ext uri="{0D108BD9-81ED-4DB2-BD59-A6C34878D82A}">
                    <a16:rowId xmlns:a16="http://schemas.microsoft.com/office/drawing/2014/main" val="625628737"/>
                  </a:ext>
                </a:extLst>
              </a:tr>
              <a:tr h="584689">
                <a:tc>
                  <a:txBody>
                    <a:bodyPr/>
                    <a:lstStyle/>
                    <a:p>
                      <a:r>
                        <a:rPr lang="en-AU" sz="2400" dirty="0"/>
                        <a:t>70</a:t>
                      </a:r>
                    </a:p>
                  </a:txBody>
                  <a:tcPr/>
                </a:tc>
                <a:tc>
                  <a:txBody>
                    <a:bodyPr/>
                    <a:lstStyle/>
                    <a:p>
                      <a:endParaRPr lang="en-AU" sz="2400" dirty="0"/>
                    </a:p>
                  </a:txBody>
                  <a:tcPr/>
                </a:tc>
                <a:tc>
                  <a:txBody>
                    <a:bodyPr/>
                    <a:lstStyle/>
                    <a:p>
                      <a:endParaRPr lang="en-AU" sz="2400" dirty="0">
                        <a:solidFill>
                          <a:srgbClr val="FF0000"/>
                        </a:solidFill>
                      </a:endParaRPr>
                    </a:p>
                  </a:txBody>
                  <a:tcPr/>
                </a:tc>
                <a:extLst>
                  <a:ext uri="{0D108BD9-81ED-4DB2-BD59-A6C34878D82A}">
                    <a16:rowId xmlns:a16="http://schemas.microsoft.com/office/drawing/2014/main" val="3476301968"/>
                  </a:ext>
                </a:extLst>
              </a:tr>
            </a:tbl>
          </a:graphicData>
        </a:graphic>
      </p:graphicFrame>
      <p:sp>
        <p:nvSpPr>
          <p:cNvPr id="6" name="Rectangle 5">
            <a:extLst>
              <a:ext uri="{FF2B5EF4-FFF2-40B4-BE49-F238E27FC236}">
                <a16:creationId xmlns:a16="http://schemas.microsoft.com/office/drawing/2014/main" id="{C178BE69-272C-4A17-9DC2-C9A2F97A0332}"/>
              </a:ext>
            </a:extLst>
          </p:cNvPr>
          <p:cNvSpPr/>
          <p:nvPr/>
        </p:nvSpPr>
        <p:spPr>
          <a:xfrm>
            <a:off x="1124837" y="2778370"/>
            <a:ext cx="2227963" cy="498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dirty="0"/>
              <a:t>A = 50</a:t>
            </a:r>
          </a:p>
        </p:txBody>
      </p:sp>
      <p:sp>
        <p:nvSpPr>
          <p:cNvPr id="7" name="Rectangle 6">
            <a:extLst>
              <a:ext uri="{FF2B5EF4-FFF2-40B4-BE49-F238E27FC236}">
                <a16:creationId xmlns:a16="http://schemas.microsoft.com/office/drawing/2014/main" id="{FEE7FE1D-F98B-45A7-A1F8-C296CBA95000}"/>
              </a:ext>
            </a:extLst>
          </p:cNvPr>
          <p:cNvSpPr/>
          <p:nvPr/>
        </p:nvSpPr>
        <p:spPr>
          <a:xfrm>
            <a:off x="1233278" y="3385040"/>
            <a:ext cx="2173411" cy="404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dirty="0"/>
              <a:t>E = 120</a:t>
            </a:r>
          </a:p>
        </p:txBody>
      </p:sp>
      <p:sp>
        <p:nvSpPr>
          <p:cNvPr id="8" name="Rectangle 7">
            <a:extLst>
              <a:ext uri="{FF2B5EF4-FFF2-40B4-BE49-F238E27FC236}">
                <a16:creationId xmlns:a16="http://schemas.microsoft.com/office/drawing/2014/main" id="{8CC2CE9B-E6A0-48BA-AC50-4C608F5881F9}"/>
              </a:ext>
            </a:extLst>
          </p:cNvPr>
          <p:cNvSpPr/>
          <p:nvPr/>
        </p:nvSpPr>
        <p:spPr>
          <a:xfrm>
            <a:off x="1233279" y="3943354"/>
            <a:ext cx="2173411" cy="404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dirty="0"/>
              <a:t>P = 180</a:t>
            </a:r>
          </a:p>
        </p:txBody>
      </p:sp>
    </p:spTree>
    <p:extLst>
      <p:ext uri="{BB962C8B-B14F-4D97-AF65-F5344CB8AC3E}">
        <p14:creationId xmlns:p14="http://schemas.microsoft.com/office/powerpoint/2010/main" val="22391969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F3337-D202-49F4-B586-B90CFA38A20B}"/>
              </a:ext>
            </a:extLst>
          </p:cNvPr>
          <p:cNvSpPr>
            <a:spLocks noGrp="1"/>
          </p:cNvSpPr>
          <p:nvPr>
            <p:ph type="title"/>
          </p:nvPr>
        </p:nvSpPr>
        <p:spPr>
          <a:xfrm>
            <a:off x="1249319" y="0"/>
            <a:ext cx="10353762" cy="1257300"/>
          </a:xfrm>
        </p:spPr>
        <p:txBody>
          <a:bodyPr/>
          <a:lstStyle/>
          <a:p>
            <a:r>
              <a:rPr lang="en-AU" dirty="0"/>
              <a:t>Secure Multi-party Computation</a:t>
            </a:r>
          </a:p>
        </p:txBody>
      </p:sp>
      <p:sp>
        <p:nvSpPr>
          <p:cNvPr id="3" name="Content Placeholder 2">
            <a:extLst>
              <a:ext uri="{FF2B5EF4-FFF2-40B4-BE49-F238E27FC236}">
                <a16:creationId xmlns:a16="http://schemas.microsoft.com/office/drawing/2014/main" id="{FD95B780-4F46-48E4-8A07-635D534C3326}"/>
              </a:ext>
            </a:extLst>
          </p:cNvPr>
          <p:cNvSpPr>
            <a:spLocks noGrp="1"/>
          </p:cNvSpPr>
          <p:nvPr>
            <p:ph idx="1"/>
          </p:nvPr>
        </p:nvSpPr>
        <p:spPr>
          <a:xfrm>
            <a:off x="588919" y="1257301"/>
            <a:ext cx="10084944" cy="975946"/>
          </a:xfrm>
        </p:spPr>
        <p:txBody>
          <a:bodyPr>
            <a:normAutofit/>
          </a:bodyPr>
          <a:lstStyle/>
          <a:p>
            <a:r>
              <a:rPr lang="en-AU" sz="3000" dirty="0"/>
              <a:t>After secret sharing is completed:</a:t>
            </a:r>
          </a:p>
          <a:p>
            <a:pPr marL="72900" indent="0">
              <a:buNone/>
            </a:pPr>
            <a:endParaRPr lang="en-AU" sz="2800" dirty="0"/>
          </a:p>
          <a:p>
            <a:pPr marL="72900" indent="0">
              <a:buNone/>
            </a:pPr>
            <a:endParaRPr lang="en-AU" sz="2800" dirty="0"/>
          </a:p>
          <a:p>
            <a:pPr marL="72900" indent="0">
              <a:buNone/>
            </a:pPr>
            <a:endParaRPr lang="en-AU" dirty="0"/>
          </a:p>
        </p:txBody>
      </p:sp>
      <p:graphicFrame>
        <p:nvGraphicFramePr>
          <p:cNvPr id="5" name="Table 5">
            <a:extLst>
              <a:ext uri="{FF2B5EF4-FFF2-40B4-BE49-F238E27FC236}">
                <a16:creationId xmlns:a16="http://schemas.microsoft.com/office/drawing/2014/main" id="{556E0B31-B793-4223-9919-840187E53158}"/>
              </a:ext>
            </a:extLst>
          </p:cNvPr>
          <p:cNvGraphicFramePr>
            <a:graphicFrameLocks noGrp="1"/>
          </p:cNvGraphicFramePr>
          <p:nvPr>
            <p:extLst>
              <p:ext uri="{D42A27DB-BD31-4B8C-83A1-F6EECF244321}">
                <p14:modId xmlns:p14="http://schemas.microsoft.com/office/powerpoint/2010/main" val="1178363224"/>
              </p:ext>
            </p:extLst>
          </p:nvPr>
        </p:nvGraphicFramePr>
        <p:xfrm>
          <a:off x="3009817" y="2158512"/>
          <a:ext cx="5243148" cy="2338756"/>
        </p:xfrm>
        <a:graphic>
          <a:graphicData uri="http://schemas.openxmlformats.org/drawingml/2006/table">
            <a:tbl>
              <a:tblPr firstRow="1" bandRow="1">
                <a:tableStyleId>{F5AB1C69-6EDB-4FF4-983F-18BD219EF322}</a:tableStyleId>
              </a:tblPr>
              <a:tblGrid>
                <a:gridCol w="1747716">
                  <a:extLst>
                    <a:ext uri="{9D8B030D-6E8A-4147-A177-3AD203B41FA5}">
                      <a16:colId xmlns:a16="http://schemas.microsoft.com/office/drawing/2014/main" val="2531774165"/>
                    </a:ext>
                  </a:extLst>
                </a:gridCol>
                <a:gridCol w="1747716">
                  <a:extLst>
                    <a:ext uri="{9D8B030D-6E8A-4147-A177-3AD203B41FA5}">
                      <a16:colId xmlns:a16="http://schemas.microsoft.com/office/drawing/2014/main" val="123721623"/>
                    </a:ext>
                  </a:extLst>
                </a:gridCol>
                <a:gridCol w="1747716">
                  <a:extLst>
                    <a:ext uri="{9D8B030D-6E8A-4147-A177-3AD203B41FA5}">
                      <a16:colId xmlns:a16="http://schemas.microsoft.com/office/drawing/2014/main" val="2657161149"/>
                    </a:ext>
                  </a:extLst>
                </a:gridCol>
              </a:tblGrid>
              <a:tr h="584689">
                <a:tc>
                  <a:txBody>
                    <a:bodyPr/>
                    <a:lstStyle/>
                    <a:p>
                      <a:endParaRPr lang="en-AU" sz="2400" dirty="0"/>
                    </a:p>
                  </a:txBody>
                  <a:tcPr>
                    <a:solidFill>
                      <a:schemeClr val="bg1"/>
                    </a:solidFill>
                  </a:tcPr>
                </a:tc>
                <a:tc>
                  <a:txBody>
                    <a:bodyPr/>
                    <a:lstStyle/>
                    <a:p>
                      <a:r>
                        <a:rPr lang="en-AU" sz="2400" dirty="0"/>
                        <a:t>E</a:t>
                      </a:r>
                    </a:p>
                  </a:txBody>
                  <a:tcPr>
                    <a:solidFill>
                      <a:schemeClr val="bg1"/>
                    </a:solidFill>
                  </a:tcPr>
                </a:tc>
                <a:tc>
                  <a:txBody>
                    <a:bodyPr/>
                    <a:lstStyle/>
                    <a:p>
                      <a:endParaRPr lang="en-AU" sz="2400" dirty="0"/>
                    </a:p>
                  </a:txBody>
                  <a:tcPr>
                    <a:solidFill>
                      <a:schemeClr val="bg1"/>
                    </a:solidFill>
                  </a:tcPr>
                </a:tc>
                <a:extLst>
                  <a:ext uri="{0D108BD9-81ED-4DB2-BD59-A6C34878D82A}">
                    <a16:rowId xmlns:a16="http://schemas.microsoft.com/office/drawing/2014/main" val="1954785272"/>
                  </a:ext>
                </a:extLst>
              </a:tr>
              <a:tr h="584689">
                <a:tc>
                  <a:txBody>
                    <a:bodyPr/>
                    <a:lstStyle/>
                    <a:p>
                      <a:endParaRPr lang="en-AU" sz="2400" b="1" dirty="0">
                        <a:solidFill>
                          <a:srgbClr val="FF0000"/>
                        </a:solidFill>
                      </a:endParaRPr>
                    </a:p>
                  </a:txBody>
                  <a:tcPr/>
                </a:tc>
                <a:tc>
                  <a:txBody>
                    <a:bodyPr/>
                    <a:lstStyle/>
                    <a:p>
                      <a:r>
                        <a:rPr lang="en-AU" sz="2400" dirty="0"/>
                        <a:t>35</a:t>
                      </a:r>
                    </a:p>
                  </a:txBody>
                  <a:tcPr/>
                </a:tc>
                <a:tc>
                  <a:txBody>
                    <a:bodyPr/>
                    <a:lstStyle/>
                    <a:p>
                      <a:endParaRPr lang="en-AU" sz="2400" dirty="0"/>
                    </a:p>
                  </a:txBody>
                  <a:tcPr/>
                </a:tc>
                <a:extLst>
                  <a:ext uri="{0D108BD9-81ED-4DB2-BD59-A6C34878D82A}">
                    <a16:rowId xmlns:a16="http://schemas.microsoft.com/office/drawing/2014/main" val="3305838824"/>
                  </a:ext>
                </a:extLst>
              </a:tr>
              <a:tr h="584689">
                <a:tc>
                  <a:txBody>
                    <a:bodyPr/>
                    <a:lstStyle/>
                    <a:p>
                      <a:endParaRPr lang="en-AU" sz="2400" dirty="0"/>
                    </a:p>
                  </a:txBody>
                  <a:tcPr/>
                </a:tc>
                <a:tc>
                  <a:txBody>
                    <a:bodyPr/>
                    <a:lstStyle/>
                    <a:p>
                      <a:r>
                        <a:rPr lang="en-AU" sz="2400" dirty="0">
                          <a:solidFill>
                            <a:srgbClr val="FF0000"/>
                          </a:solidFill>
                        </a:rPr>
                        <a:t>25</a:t>
                      </a:r>
                    </a:p>
                  </a:txBody>
                  <a:tcPr/>
                </a:tc>
                <a:tc>
                  <a:txBody>
                    <a:bodyPr/>
                    <a:lstStyle/>
                    <a:p>
                      <a:endParaRPr lang="en-AU" sz="2400" dirty="0"/>
                    </a:p>
                  </a:txBody>
                  <a:tcPr/>
                </a:tc>
                <a:extLst>
                  <a:ext uri="{0D108BD9-81ED-4DB2-BD59-A6C34878D82A}">
                    <a16:rowId xmlns:a16="http://schemas.microsoft.com/office/drawing/2014/main" val="625628737"/>
                  </a:ext>
                </a:extLst>
              </a:tr>
              <a:tr h="584689">
                <a:tc>
                  <a:txBody>
                    <a:bodyPr/>
                    <a:lstStyle/>
                    <a:p>
                      <a:endParaRPr lang="en-AU" sz="2400" dirty="0"/>
                    </a:p>
                  </a:txBody>
                  <a:tcPr/>
                </a:tc>
                <a:tc>
                  <a:txBody>
                    <a:bodyPr/>
                    <a:lstStyle/>
                    <a:p>
                      <a:r>
                        <a:rPr lang="en-AU" sz="2400" dirty="0"/>
                        <a:t>10</a:t>
                      </a:r>
                    </a:p>
                  </a:txBody>
                  <a:tcPr/>
                </a:tc>
                <a:tc>
                  <a:txBody>
                    <a:bodyPr/>
                    <a:lstStyle/>
                    <a:p>
                      <a:endParaRPr lang="en-AU" sz="2400" dirty="0">
                        <a:solidFill>
                          <a:srgbClr val="FF0000"/>
                        </a:solidFill>
                      </a:endParaRPr>
                    </a:p>
                  </a:txBody>
                  <a:tcPr/>
                </a:tc>
                <a:extLst>
                  <a:ext uri="{0D108BD9-81ED-4DB2-BD59-A6C34878D82A}">
                    <a16:rowId xmlns:a16="http://schemas.microsoft.com/office/drawing/2014/main" val="3476301968"/>
                  </a:ext>
                </a:extLst>
              </a:tr>
            </a:tbl>
          </a:graphicData>
        </a:graphic>
      </p:graphicFrame>
      <p:sp>
        <p:nvSpPr>
          <p:cNvPr id="6" name="Rectangle 5">
            <a:extLst>
              <a:ext uri="{FF2B5EF4-FFF2-40B4-BE49-F238E27FC236}">
                <a16:creationId xmlns:a16="http://schemas.microsoft.com/office/drawing/2014/main" id="{C178BE69-272C-4A17-9DC2-C9A2F97A0332}"/>
              </a:ext>
            </a:extLst>
          </p:cNvPr>
          <p:cNvSpPr/>
          <p:nvPr/>
        </p:nvSpPr>
        <p:spPr>
          <a:xfrm>
            <a:off x="1124837" y="2778370"/>
            <a:ext cx="2227963" cy="498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dirty="0"/>
              <a:t>A = 50</a:t>
            </a:r>
          </a:p>
        </p:txBody>
      </p:sp>
      <p:sp>
        <p:nvSpPr>
          <p:cNvPr id="7" name="Rectangle 6">
            <a:extLst>
              <a:ext uri="{FF2B5EF4-FFF2-40B4-BE49-F238E27FC236}">
                <a16:creationId xmlns:a16="http://schemas.microsoft.com/office/drawing/2014/main" id="{FEE7FE1D-F98B-45A7-A1F8-C296CBA95000}"/>
              </a:ext>
            </a:extLst>
          </p:cNvPr>
          <p:cNvSpPr/>
          <p:nvPr/>
        </p:nvSpPr>
        <p:spPr>
          <a:xfrm>
            <a:off x="1233278" y="3385040"/>
            <a:ext cx="2173411" cy="404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dirty="0"/>
              <a:t>E = 120</a:t>
            </a:r>
          </a:p>
        </p:txBody>
      </p:sp>
      <p:sp>
        <p:nvSpPr>
          <p:cNvPr id="8" name="Rectangle 7">
            <a:extLst>
              <a:ext uri="{FF2B5EF4-FFF2-40B4-BE49-F238E27FC236}">
                <a16:creationId xmlns:a16="http://schemas.microsoft.com/office/drawing/2014/main" id="{8CC2CE9B-E6A0-48BA-AC50-4C608F5881F9}"/>
              </a:ext>
            </a:extLst>
          </p:cNvPr>
          <p:cNvSpPr/>
          <p:nvPr/>
        </p:nvSpPr>
        <p:spPr>
          <a:xfrm>
            <a:off x="1233279" y="3943354"/>
            <a:ext cx="2173411" cy="404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dirty="0"/>
              <a:t>P = 180</a:t>
            </a:r>
          </a:p>
        </p:txBody>
      </p:sp>
    </p:spTree>
    <p:extLst>
      <p:ext uri="{BB962C8B-B14F-4D97-AF65-F5344CB8AC3E}">
        <p14:creationId xmlns:p14="http://schemas.microsoft.com/office/powerpoint/2010/main" val="15593895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F3337-D202-49F4-B586-B90CFA38A20B}"/>
              </a:ext>
            </a:extLst>
          </p:cNvPr>
          <p:cNvSpPr>
            <a:spLocks noGrp="1"/>
          </p:cNvSpPr>
          <p:nvPr>
            <p:ph type="title"/>
          </p:nvPr>
        </p:nvSpPr>
        <p:spPr>
          <a:xfrm>
            <a:off x="1249319" y="0"/>
            <a:ext cx="10353762" cy="1257300"/>
          </a:xfrm>
        </p:spPr>
        <p:txBody>
          <a:bodyPr/>
          <a:lstStyle/>
          <a:p>
            <a:r>
              <a:rPr lang="en-AU" dirty="0"/>
              <a:t>Secure Multi-party Computation</a:t>
            </a:r>
          </a:p>
        </p:txBody>
      </p:sp>
      <p:sp>
        <p:nvSpPr>
          <p:cNvPr id="3" name="Content Placeholder 2">
            <a:extLst>
              <a:ext uri="{FF2B5EF4-FFF2-40B4-BE49-F238E27FC236}">
                <a16:creationId xmlns:a16="http://schemas.microsoft.com/office/drawing/2014/main" id="{FD95B780-4F46-48E4-8A07-635D534C3326}"/>
              </a:ext>
            </a:extLst>
          </p:cNvPr>
          <p:cNvSpPr>
            <a:spLocks noGrp="1"/>
          </p:cNvSpPr>
          <p:nvPr>
            <p:ph idx="1"/>
          </p:nvPr>
        </p:nvSpPr>
        <p:spPr>
          <a:xfrm>
            <a:off x="588919" y="1257301"/>
            <a:ext cx="10084944" cy="975946"/>
          </a:xfrm>
        </p:spPr>
        <p:txBody>
          <a:bodyPr>
            <a:normAutofit/>
          </a:bodyPr>
          <a:lstStyle/>
          <a:p>
            <a:r>
              <a:rPr lang="en-AU" sz="3000" dirty="0"/>
              <a:t>After secret sharing is completed:</a:t>
            </a:r>
          </a:p>
          <a:p>
            <a:pPr marL="72900" indent="0">
              <a:buNone/>
            </a:pPr>
            <a:endParaRPr lang="en-AU" sz="2800" dirty="0"/>
          </a:p>
          <a:p>
            <a:pPr marL="72900" indent="0">
              <a:buNone/>
            </a:pPr>
            <a:endParaRPr lang="en-AU" sz="2800" dirty="0"/>
          </a:p>
          <a:p>
            <a:pPr marL="72900" indent="0">
              <a:buNone/>
            </a:pPr>
            <a:endParaRPr lang="en-AU" dirty="0"/>
          </a:p>
        </p:txBody>
      </p:sp>
      <p:sp>
        <p:nvSpPr>
          <p:cNvPr id="6" name="Rectangle 5">
            <a:extLst>
              <a:ext uri="{FF2B5EF4-FFF2-40B4-BE49-F238E27FC236}">
                <a16:creationId xmlns:a16="http://schemas.microsoft.com/office/drawing/2014/main" id="{C178BE69-272C-4A17-9DC2-C9A2F97A0332}"/>
              </a:ext>
            </a:extLst>
          </p:cNvPr>
          <p:cNvSpPr/>
          <p:nvPr/>
        </p:nvSpPr>
        <p:spPr>
          <a:xfrm>
            <a:off x="1124837" y="2778370"/>
            <a:ext cx="2227963" cy="498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dirty="0"/>
              <a:t>A = 50</a:t>
            </a:r>
          </a:p>
        </p:txBody>
      </p:sp>
      <p:sp>
        <p:nvSpPr>
          <p:cNvPr id="7" name="Rectangle 6">
            <a:extLst>
              <a:ext uri="{FF2B5EF4-FFF2-40B4-BE49-F238E27FC236}">
                <a16:creationId xmlns:a16="http://schemas.microsoft.com/office/drawing/2014/main" id="{FEE7FE1D-F98B-45A7-A1F8-C296CBA95000}"/>
              </a:ext>
            </a:extLst>
          </p:cNvPr>
          <p:cNvSpPr/>
          <p:nvPr/>
        </p:nvSpPr>
        <p:spPr>
          <a:xfrm>
            <a:off x="1233278" y="3385040"/>
            <a:ext cx="2173411" cy="404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dirty="0"/>
              <a:t>E = 120</a:t>
            </a:r>
          </a:p>
        </p:txBody>
      </p:sp>
      <p:sp>
        <p:nvSpPr>
          <p:cNvPr id="8" name="Rectangle 7">
            <a:extLst>
              <a:ext uri="{FF2B5EF4-FFF2-40B4-BE49-F238E27FC236}">
                <a16:creationId xmlns:a16="http://schemas.microsoft.com/office/drawing/2014/main" id="{8CC2CE9B-E6A0-48BA-AC50-4C608F5881F9}"/>
              </a:ext>
            </a:extLst>
          </p:cNvPr>
          <p:cNvSpPr/>
          <p:nvPr/>
        </p:nvSpPr>
        <p:spPr>
          <a:xfrm>
            <a:off x="1233279" y="3943354"/>
            <a:ext cx="2173411" cy="404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dirty="0"/>
              <a:t>P = 180</a:t>
            </a:r>
          </a:p>
        </p:txBody>
      </p:sp>
      <p:graphicFrame>
        <p:nvGraphicFramePr>
          <p:cNvPr id="9" name="Table 5">
            <a:extLst>
              <a:ext uri="{FF2B5EF4-FFF2-40B4-BE49-F238E27FC236}">
                <a16:creationId xmlns:a16="http://schemas.microsoft.com/office/drawing/2014/main" id="{D9C1A7CC-1818-4AE7-8287-6D32E4266B77}"/>
              </a:ext>
            </a:extLst>
          </p:cNvPr>
          <p:cNvGraphicFramePr>
            <a:graphicFrameLocks noGrp="1"/>
          </p:cNvGraphicFramePr>
          <p:nvPr>
            <p:extLst>
              <p:ext uri="{D42A27DB-BD31-4B8C-83A1-F6EECF244321}">
                <p14:modId xmlns:p14="http://schemas.microsoft.com/office/powerpoint/2010/main" val="3051467738"/>
              </p:ext>
            </p:extLst>
          </p:nvPr>
        </p:nvGraphicFramePr>
        <p:xfrm>
          <a:off x="3009817" y="2158512"/>
          <a:ext cx="5243148" cy="2338756"/>
        </p:xfrm>
        <a:graphic>
          <a:graphicData uri="http://schemas.openxmlformats.org/drawingml/2006/table">
            <a:tbl>
              <a:tblPr firstRow="1" bandRow="1">
                <a:tableStyleId>{F5AB1C69-6EDB-4FF4-983F-18BD219EF322}</a:tableStyleId>
              </a:tblPr>
              <a:tblGrid>
                <a:gridCol w="1747716">
                  <a:extLst>
                    <a:ext uri="{9D8B030D-6E8A-4147-A177-3AD203B41FA5}">
                      <a16:colId xmlns:a16="http://schemas.microsoft.com/office/drawing/2014/main" val="2531774165"/>
                    </a:ext>
                  </a:extLst>
                </a:gridCol>
                <a:gridCol w="1747716">
                  <a:extLst>
                    <a:ext uri="{9D8B030D-6E8A-4147-A177-3AD203B41FA5}">
                      <a16:colId xmlns:a16="http://schemas.microsoft.com/office/drawing/2014/main" val="123721623"/>
                    </a:ext>
                  </a:extLst>
                </a:gridCol>
                <a:gridCol w="1747716">
                  <a:extLst>
                    <a:ext uri="{9D8B030D-6E8A-4147-A177-3AD203B41FA5}">
                      <a16:colId xmlns:a16="http://schemas.microsoft.com/office/drawing/2014/main" val="2657161149"/>
                    </a:ext>
                  </a:extLst>
                </a:gridCol>
              </a:tblGrid>
              <a:tr h="584689">
                <a:tc>
                  <a:txBody>
                    <a:bodyPr/>
                    <a:lstStyle/>
                    <a:p>
                      <a:endParaRPr lang="en-AU" sz="2400" dirty="0"/>
                    </a:p>
                  </a:txBody>
                  <a:tcPr>
                    <a:solidFill>
                      <a:schemeClr val="bg1"/>
                    </a:solidFill>
                  </a:tcPr>
                </a:tc>
                <a:tc>
                  <a:txBody>
                    <a:bodyPr/>
                    <a:lstStyle/>
                    <a:p>
                      <a:endParaRPr lang="en-AU" sz="2400" dirty="0"/>
                    </a:p>
                  </a:txBody>
                  <a:tcPr>
                    <a:solidFill>
                      <a:schemeClr val="bg1"/>
                    </a:solidFill>
                  </a:tcPr>
                </a:tc>
                <a:tc>
                  <a:txBody>
                    <a:bodyPr/>
                    <a:lstStyle/>
                    <a:p>
                      <a:r>
                        <a:rPr lang="en-AU" sz="2400" dirty="0"/>
                        <a:t>P</a:t>
                      </a:r>
                    </a:p>
                  </a:txBody>
                  <a:tcPr>
                    <a:solidFill>
                      <a:schemeClr val="bg1"/>
                    </a:solidFill>
                  </a:tcPr>
                </a:tc>
                <a:extLst>
                  <a:ext uri="{0D108BD9-81ED-4DB2-BD59-A6C34878D82A}">
                    <a16:rowId xmlns:a16="http://schemas.microsoft.com/office/drawing/2014/main" val="1954785272"/>
                  </a:ext>
                </a:extLst>
              </a:tr>
              <a:tr h="584689">
                <a:tc>
                  <a:txBody>
                    <a:bodyPr/>
                    <a:lstStyle/>
                    <a:p>
                      <a:endParaRPr lang="en-AU" sz="2400" b="1" dirty="0">
                        <a:solidFill>
                          <a:srgbClr val="FF0000"/>
                        </a:solidFill>
                      </a:endParaRPr>
                    </a:p>
                  </a:txBody>
                  <a:tcPr/>
                </a:tc>
                <a:tc>
                  <a:txBody>
                    <a:bodyPr/>
                    <a:lstStyle/>
                    <a:p>
                      <a:endParaRPr lang="en-AU" sz="2400" dirty="0"/>
                    </a:p>
                  </a:txBody>
                  <a:tcPr/>
                </a:tc>
                <a:tc>
                  <a:txBody>
                    <a:bodyPr/>
                    <a:lstStyle/>
                    <a:p>
                      <a:r>
                        <a:rPr lang="en-AU" sz="2400" dirty="0"/>
                        <a:t>10</a:t>
                      </a:r>
                    </a:p>
                  </a:txBody>
                  <a:tcPr/>
                </a:tc>
                <a:extLst>
                  <a:ext uri="{0D108BD9-81ED-4DB2-BD59-A6C34878D82A}">
                    <a16:rowId xmlns:a16="http://schemas.microsoft.com/office/drawing/2014/main" val="3305838824"/>
                  </a:ext>
                </a:extLst>
              </a:tr>
              <a:tr h="584689">
                <a:tc>
                  <a:txBody>
                    <a:bodyPr/>
                    <a:lstStyle/>
                    <a:p>
                      <a:endParaRPr lang="en-AU" sz="2400" dirty="0"/>
                    </a:p>
                  </a:txBody>
                  <a:tcPr/>
                </a:tc>
                <a:tc>
                  <a:txBody>
                    <a:bodyPr/>
                    <a:lstStyle/>
                    <a:p>
                      <a:endParaRPr lang="en-AU" sz="2400" dirty="0">
                        <a:solidFill>
                          <a:srgbClr val="FF0000"/>
                        </a:solidFill>
                      </a:endParaRPr>
                    </a:p>
                  </a:txBody>
                  <a:tcPr/>
                </a:tc>
                <a:tc>
                  <a:txBody>
                    <a:bodyPr/>
                    <a:lstStyle/>
                    <a:p>
                      <a:r>
                        <a:rPr lang="en-AU" sz="2400" dirty="0"/>
                        <a:t>-5</a:t>
                      </a:r>
                    </a:p>
                  </a:txBody>
                  <a:tcPr/>
                </a:tc>
                <a:extLst>
                  <a:ext uri="{0D108BD9-81ED-4DB2-BD59-A6C34878D82A}">
                    <a16:rowId xmlns:a16="http://schemas.microsoft.com/office/drawing/2014/main" val="625628737"/>
                  </a:ext>
                </a:extLst>
              </a:tr>
              <a:tr h="584689">
                <a:tc>
                  <a:txBody>
                    <a:bodyPr/>
                    <a:lstStyle/>
                    <a:p>
                      <a:endParaRPr lang="en-AU" sz="2400" dirty="0"/>
                    </a:p>
                  </a:txBody>
                  <a:tcPr/>
                </a:tc>
                <a:tc>
                  <a:txBody>
                    <a:bodyPr/>
                    <a:lstStyle/>
                    <a:p>
                      <a:endParaRPr lang="en-AU" sz="2400" dirty="0"/>
                    </a:p>
                  </a:txBody>
                  <a:tcPr/>
                </a:tc>
                <a:tc>
                  <a:txBody>
                    <a:bodyPr/>
                    <a:lstStyle/>
                    <a:p>
                      <a:r>
                        <a:rPr lang="en-AU" sz="2400" dirty="0">
                          <a:solidFill>
                            <a:srgbClr val="FF0000"/>
                          </a:solidFill>
                        </a:rPr>
                        <a:t>100</a:t>
                      </a:r>
                    </a:p>
                  </a:txBody>
                  <a:tcPr/>
                </a:tc>
                <a:extLst>
                  <a:ext uri="{0D108BD9-81ED-4DB2-BD59-A6C34878D82A}">
                    <a16:rowId xmlns:a16="http://schemas.microsoft.com/office/drawing/2014/main" val="3476301968"/>
                  </a:ext>
                </a:extLst>
              </a:tr>
            </a:tbl>
          </a:graphicData>
        </a:graphic>
      </p:graphicFrame>
    </p:spTree>
    <p:extLst>
      <p:ext uri="{BB962C8B-B14F-4D97-AF65-F5344CB8AC3E}">
        <p14:creationId xmlns:p14="http://schemas.microsoft.com/office/powerpoint/2010/main" val="28081242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F3337-D202-49F4-B586-B90CFA38A20B}"/>
              </a:ext>
            </a:extLst>
          </p:cNvPr>
          <p:cNvSpPr>
            <a:spLocks noGrp="1"/>
          </p:cNvSpPr>
          <p:nvPr>
            <p:ph type="title"/>
          </p:nvPr>
        </p:nvSpPr>
        <p:spPr>
          <a:xfrm>
            <a:off x="919119" y="196256"/>
            <a:ext cx="10353762" cy="1257300"/>
          </a:xfrm>
        </p:spPr>
        <p:txBody>
          <a:bodyPr/>
          <a:lstStyle/>
          <a:p>
            <a:r>
              <a:rPr lang="en-AU" dirty="0"/>
              <a:t>Secure Multi-party Computation</a:t>
            </a:r>
          </a:p>
        </p:txBody>
      </p:sp>
      <p:sp>
        <p:nvSpPr>
          <p:cNvPr id="3" name="Content Placeholder 2">
            <a:extLst>
              <a:ext uri="{FF2B5EF4-FFF2-40B4-BE49-F238E27FC236}">
                <a16:creationId xmlns:a16="http://schemas.microsoft.com/office/drawing/2014/main" id="{FD95B780-4F46-48E4-8A07-635D534C3326}"/>
              </a:ext>
            </a:extLst>
          </p:cNvPr>
          <p:cNvSpPr>
            <a:spLocks noGrp="1"/>
          </p:cNvSpPr>
          <p:nvPr>
            <p:ph idx="1"/>
          </p:nvPr>
        </p:nvSpPr>
        <p:spPr>
          <a:xfrm>
            <a:off x="588919" y="1579785"/>
            <a:ext cx="10084944" cy="975946"/>
          </a:xfrm>
        </p:spPr>
        <p:txBody>
          <a:bodyPr>
            <a:normAutofit/>
          </a:bodyPr>
          <a:lstStyle/>
          <a:p>
            <a:r>
              <a:rPr lang="en-AU" sz="3000" dirty="0"/>
              <a:t>After secret sharing is completed:</a:t>
            </a:r>
          </a:p>
          <a:p>
            <a:pPr marL="72900" indent="0">
              <a:buNone/>
            </a:pPr>
            <a:endParaRPr lang="en-AU" sz="2800" dirty="0"/>
          </a:p>
          <a:p>
            <a:pPr marL="72900" indent="0">
              <a:buNone/>
            </a:pPr>
            <a:endParaRPr lang="en-AU" sz="2800" dirty="0"/>
          </a:p>
          <a:p>
            <a:pPr marL="72900" indent="0">
              <a:buNone/>
            </a:pPr>
            <a:endParaRPr lang="en-AU" dirty="0"/>
          </a:p>
        </p:txBody>
      </p:sp>
      <p:sp>
        <p:nvSpPr>
          <p:cNvPr id="6" name="Rectangle 5">
            <a:extLst>
              <a:ext uri="{FF2B5EF4-FFF2-40B4-BE49-F238E27FC236}">
                <a16:creationId xmlns:a16="http://schemas.microsoft.com/office/drawing/2014/main" id="{C178BE69-272C-4A17-9DC2-C9A2F97A0332}"/>
              </a:ext>
            </a:extLst>
          </p:cNvPr>
          <p:cNvSpPr/>
          <p:nvPr/>
        </p:nvSpPr>
        <p:spPr>
          <a:xfrm>
            <a:off x="1559809" y="2935433"/>
            <a:ext cx="2173411" cy="404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dirty="0"/>
              <a:t>A = 50</a:t>
            </a:r>
          </a:p>
        </p:txBody>
      </p:sp>
      <p:sp>
        <p:nvSpPr>
          <p:cNvPr id="7" name="Rectangle 6">
            <a:extLst>
              <a:ext uri="{FF2B5EF4-FFF2-40B4-BE49-F238E27FC236}">
                <a16:creationId xmlns:a16="http://schemas.microsoft.com/office/drawing/2014/main" id="{FEE7FE1D-F98B-45A7-A1F8-C296CBA95000}"/>
              </a:ext>
            </a:extLst>
          </p:cNvPr>
          <p:cNvSpPr/>
          <p:nvPr/>
        </p:nvSpPr>
        <p:spPr>
          <a:xfrm>
            <a:off x="1630150" y="3666124"/>
            <a:ext cx="2173411" cy="404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dirty="0"/>
              <a:t>E = 120</a:t>
            </a:r>
          </a:p>
        </p:txBody>
      </p:sp>
      <p:sp>
        <p:nvSpPr>
          <p:cNvPr id="8" name="Rectangle 7">
            <a:extLst>
              <a:ext uri="{FF2B5EF4-FFF2-40B4-BE49-F238E27FC236}">
                <a16:creationId xmlns:a16="http://schemas.microsoft.com/office/drawing/2014/main" id="{8CC2CE9B-E6A0-48BA-AC50-4C608F5881F9}"/>
              </a:ext>
            </a:extLst>
          </p:cNvPr>
          <p:cNvSpPr/>
          <p:nvPr/>
        </p:nvSpPr>
        <p:spPr>
          <a:xfrm>
            <a:off x="1630149" y="4317091"/>
            <a:ext cx="2173411" cy="404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dirty="0"/>
              <a:t>P = 180</a:t>
            </a:r>
          </a:p>
        </p:txBody>
      </p:sp>
      <p:graphicFrame>
        <p:nvGraphicFramePr>
          <p:cNvPr id="10" name="Table 5">
            <a:extLst>
              <a:ext uri="{FF2B5EF4-FFF2-40B4-BE49-F238E27FC236}">
                <a16:creationId xmlns:a16="http://schemas.microsoft.com/office/drawing/2014/main" id="{42D3FFA8-42E1-441C-AED4-1C5DB15A743C}"/>
              </a:ext>
            </a:extLst>
          </p:cNvPr>
          <p:cNvGraphicFramePr>
            <a:graphicFrameLocks noGrp="1"/>
          </p:cNvGraphicFramePr>
          <p:nvPr>
            <p:extLst>
              <p:ext uri="{D42A27DB-BD31-4B8C-83A1-F6EECF244321}">
                <p14:modId xmlns:p14="http://schemas.microsoft.com/office/powerpoint/2010/main" val="66872364"/>
              </p:ext>
            </p:extLst>
          </p:nvPr>
        </p:nvGraphicFramePr>
        <p:xfrm>
          <a:off x="3406689" y="2390242"/>
          <a:ext cx="5243148" cy="2981326"/>
        </p:xfrm>
        <a:graphic>
          <a:graphicData uri="http://schemas.openxmlformats.org/drawingml/2006/table">
            <a:tbl>
              <a:tblPr firstRow="1" bandRow="1">
                <a:tableStyleId>{F5AB1C69-6EDB-4FF4-983F-18BD219EF322}</a:tableStyleId>
              </a:tblPr>
              <a:tblGrid>
                <a:gridCol w="1747716">
                  <a:extLst>
                    <a:ext uri="{9D8B030D-6E8A-4147-A177-3AD203B41FA5}">
                      <a16:colId xmlns:a16="http://schemas.microsoft.com/office/drawing/2014/main" val="2531774165"/>
                    </a:ext>
                  </a:extLst>
                </a:gridCol>
                <a:gridCol w="1747716">
                  <a:extLst>
                    <a:ext uri="{9D8B030D-6E8A-4147-A177-3AD203B41FA5}">
                      <a16:colId xmlns:a16="http://schemas.microsoft.com/office/drawing/2014/main" val="123721623"/>
                    </a:ext>
                  </a:extLst>
                </a:gridCol>
                <a:gridCol w="1747716">
                  <a:extLst>
                    <a:ext uri="{9D8B030D-6E8A-4147-A177-3AD203B41FA5}">
                      <a16:colId xmlns:a16="http://schemas.microsoft.com/office/drawing/2014/main" val="2657161149"/>
                    </a:ext>
                  </a:extLst>
                </a:gridCol>
              </a:tblGrid>
              <a:tr h="480094">
                <a:tc>
                  <a:txBody>
                    <a:bodyPr/>
                    <a:lstStyle/>
                    <a:p>
                      <a:r>
                        <a:rPr lang="en-AU" sz="2400" dirty="0"/>
                        <a:t>A</a:t>
                      </a:r>
                    </a:p>
                  </a:txBody>
                  <a:tcPr>
                    <a:noFill/>
                  </a:tcPr>
                </a:tc>
                <a:tc>
                  <a:txBody>
                    <a:bodyPr/>
                    <a:lstStyle/>
                    <a:p>
                      <a:r>
                        <a:rPr lang="en-AU" sz="2400" dirty="0"/>
                        <a:t>E</a:t>
                      </a:r>
                    </a:p>
                  </a:txBody>
                  <a:tcPr>
                    <a:noFill/>
                  </a:tcPr>
                </a:tc>
                <a:tc>
                  <a:txBody>
                    <a:bodyPr/>
                    <a:lstStyle/>
                    <a:p>
                      <a:r>
                        <a:rPr lang="en-AU" sz="2400" dirty="0"/>
                        <a:t>P</a:t>
                      </a:r>
                    </a:p>
                  </a:txBody>
                  <a:tcPr>
                    <a:noFill/>
                  </a:tcPr>
                </a:tc>
                <a:extLst>
                  <a:ext uri="{0D108BD9-81ED-4DB2-BD59-A6C34878D82A}">
                    <a16:rowId xmlns:a16="http://schemas.microsoft.com/office/drawing/2014/main" val="1954785272"/>
                  </a:ext>
                </a:extLst>
              </a:tr>
              <a:tr h="623755">
                <a:tc>
                  <a:txBody>
                    <a:bodyPr/>
                    <a:lstStyle/>
                    <a:p>
                      <a:r>
                        <a:rPr lang="en-AU" sz="2400" dirty="0"/>
                        <a:t>5</a:t>
                      </a:r>
                    </a:p>
                  </a:txBody>
                  <a:tcPr/>
                </a:tc>
                <a:tc>
                  <a:txBody>
                    <a:bodyPr/>
                    <a:lstStyle/>
                    <a:p>
                      <a:r>
                        <a:rPr lang="en-AU" sz="2400" dirty="0"/>
                        <a:t>35</a:t>
                      </a:r>
                    </a:p>
                  </a:txBody>
                  <a:tcPr/>
                </a:tc>
                <a:tc>
                  <a:txBody>
                    <a:bodyPr/>
                    <a:lstStyle/>
                    <a:p>
                      <a:r>
                        <a:rPr lang="en-AU" sz="2400" dirty="0"/>
                        <a:t>10</a:t>
                      </a:r>
                    </a:p>
                  </a:txBody>
                  <a:tcPr/>
                </a:tc>
                <a:extLst>
                  <a:ext uri="{0D108BD9-81ED-4DB2-BD59-A6C34878D82A}">
                    <a16:rowId xmlns:a16="http://schemas.microsoft.com/office/drawing/2014/main" val="3305838824"/>
                  </a:ext>
                </a:extLst>
              </a:tr>
              <a:tr h="800156">
                <a:tc>
                  <a:txBody>
                    <a:bodyPr/>
                    <a:lstStyle/>
                    <a:p>
                      <a:r>
                        <a:rPr lang="en-AU" sz="2400" dirty="0"/>
                        <a:t>100</a:t>
                      </a:r>
                    </a:p>
                  </a:txBody>
                  <a:tcPr/>
                </a:tc>
                <a:tc>
                  <a:txBody>
                    <a:bodyPr/>
                    <a:lstStyle/>
                    <a:p>
                      <a:r>
                        <a:rPr lang="en-AU" sz="2400" dirty="0"/>
                        <a:t>25</a:t>
                      </a:r>
                    </a:p>
                  </a:txBody>
                  <a:tcPr/>
                </a:tc>
                <a:tc>
                  <a:txBody>
                    <a:bodyPr/>
                    <a:lstStyle/>
                    <a:p>
                      <a:r>
                        <a:rPr lang="en-AU" sz="2400" dirty="0"/>
                        <a:t>-5</a:t>
                      </a:r>
                    </a:p>
                  </a:txBody>
                  <a:tcPr/>
                </a:tc>
                <a:extLst>
                  <a:ext uri="{0D108BD9-81ED-4DB2-BD59-A6C34878D82A}">
                    <a16:rowId xmlns:a16="http://schemas.microsoft.com/office/drawing/2014/main" val="625628737"/>
                  </a:ext>
                </a:extLst>
              </a:tr>
              <a:tr h="620121">
                <a:tc>
                  <a:txBody>
                    <a:bodyPr/>
                    <a:lstStyle/>
                    <a:p>
                      <a:r>
                        <a:rPr lang="en-AU" sz="2400" dirty="0"/>
                        <a:t>70</a:t>
                      </a:r>
                    </a:p>
                  </a:txBody>
                  <a:tcPr>
                    <a:lnB w="12700" cap="flat" cmpd="sng" algn="ctr">
                      <a:solidFill>
                        <a:schemeClr val="tx1"/>
                      </a:solidFill>
                      <a:prstDash val="solid"/>
                      <a:round/>
                      <a:headEnd type="none" w="med" len="med"/>
                      <a:tailEnd type="none" w="med" len="med"/>
                    </a:lnB>
                  </a:tcPr>
                </a:tc>
                <a:tc>
                  <a:txBody>
                    <a:bodyPr/>
                    <a:lstStyle/>
                    <a:p>
                      <a:r>
                        <a:rPr lang="en-AU" sz="2400" dirty="0"/>
                        <a:t>10</a:t>
                      </a:r>
                    </a:p>
                  </a:txBody>
                  <a:tcPr>
                    <a:lnB w="12700" cap="flat" cmpd="sng" algn="ctr">
                      <a:solidFill>
                        <a:schemeClr val="tx1"/>
                      </a:solidFill>
                      <a:prstDash val="solid"/>
                      <a:round/>
                      <a:headEnd type="none" w="med" len="med"/>
                      <a:tailEnd type="none" w="med" len="med"/>
                    </a:lnB>
                  </a:tcPr>
                </a:tc>
                <a:tc>
                  <a:txBody>
                    <a:bodyPr/>
                    <a:lstStyle/>
                    <a:p>
                      <a:r>
                        <a:rPr lang="en-AU" sz="2400" dirty="0"/>
                        <a:t>100</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6301968"/>
                  </a:ext>
                </a:extLst>
              </a:tr>
              <a:tr h="432084">
                <a:tc>
                  <a:txBody>
                    <a:bodyPr/>
                    <a:lstStyle/>
                    <a:p>
                      <a:r>
                        <a:rPr lang="en-AU" sz="2400" kern="1200" dirty="0">
                          <a:solidFill>
                            <a:schemeClr val="dk1"/>
                          </a:solidFill>
                          <a:latin typeface="+mn-lt"/>
                          <a:ea typeface="+mn-ea"/>
                          <a:cs typeface="+mn-cs"/>
                        </a:rPr>
                        <a:t>175</a:t>
                      </a:r>
                    </a:p>
                  </a:txBody>
                  <a:tcPr>
                    <a:lnT w="12700" cap="flat" cmpd="sng" algn="ctr">
                      <a:solidFill>
                        <a:schemeClr val="tx1"/>
                      </a:solidFill>
                      <a:prstDash val="solid"/>
                      <a:round/>
                      <a:headEnd type="none" w="med" len="med"/>
                      <a:tailEnd type="none" w="med" len="med"/>
                    </a:lnT>
                    <a:solidFill>
                      <a:srgbClr val="92D050"/>
                    </a:solidFill>
                  </a:tcPr>
                </a:tc>
                <a:tc>
                  <a:txBody>
                    <a:bodyPr/>
                    <a:lstStyle/>
                    <a:p>
                      <a:r>
                        <a:rPr lang="en-AU" sz="2400" kern="1200" dirty="0">
                          <a:solidFill>
                            <a:schemeClr val="dk1"/>
                          </a:solidFill>
                          <a:latin typeface="+mn-lt"/>
                          <a:ea typeface="+mn-ea"/>
                          <a:cs typeface="+mn-cs"/>
                        </a:rPr>
                        <a:t>70</a:t>
                      </a:r>
                    </a:p>
                  </a:txBody>
                  <a:tcPr>
                    <a:lnT w="12700" cap="flat" cmpd="sng" algn="ctr">
                      <a:solidFill>
                        <a:schemeClr val="tx1"/>
                      </a:solidFill>
                      <a:prstDash val="solid"/>
                      <a:round/>
                      <a:headEnd type="none" w="med" len="med"/>
                      <a:tailEnd type="none" w="med" len="med"/>
                    </a:lnT>
                    <a:solidFill>
                      <a:srgbClr val="92D050"/>
                    </a:solidFill>
                  </a:tcPr>
                </a:tc>
                <a:tc>
                  <a:txBody>
                    <a:bodyPr/>
                    <a:lstStyle/>
                    <a:p>
                      <a:r>
                        <a:rPr lang="en-AU" sz="2400" kern="1200" dirty="0">
                          <a:solidFill>
                            <a:schemeClr val="dk1"/>
                          </a:solidFill>
                          <a:latin typeface="+mn-lt"/>
                          <a:ea typeface="+mn-ea"/>
                          <a:cs typeface="+mn-cs"/>
                        </a:rPr>
                        <a:t>105</a:t>
                      </a:r>
                    </a:p>
                  </a:txBody>
                  <a:tcPr>
                    <a:lnT w="12700" cap="flat" cmpd="sng" algn="ctr">
                      <a:solidFill>
                        <a:schemeClr val="tx1"/>
                      </a:solidFill>
                      <a:prstDash val="solid"/>
                      <a:round/>
                      <a:headEnd type="none" w="med" len="med"/>
                      <a:tailEnd type="none" w="med" len="med"/>
                    </a:lnT>
                    <a:solidFill>
                      <a:srgbClr val="92D050"/>
                    </a:solidFill>
                  </a:tcPr>
                </a:tc>
                <a:extLst>
                  <a:ext uri="{0D108BD9-81ED-4DB2-BD59-A6C34878D82A}">
                    <a16:rowId xmlns:a16="http://schemas.microsoft.com/office/drawing/2014/main" val="2533252013"/>
                  </a:ext>
                </a:extLst>
              </a:tr>
            </a:tbl>
          </a:graphicData>
        </a:graphic>
      </p:graphicFrame>
      <p:sp>
        <p:nvSpPr>
          <p:cNvPr id="4" name="Rectangle 3">
            <a:extLst>
              <a:ext uri="{FF2B5EF4-FFF2-40B4-BE49-F238E27FC236}">
                <a16:creationId xmlns:a16="http://schemas.microsoft.com/office/drawing/2014/main" id="{6719E470-D455-4275-B396-A06CA6EB0EE5}"/>
              </a:ext>
            </a:extLst>
          </p:cNvPr>
          <p:cNvSpPr/>
          <p:nvPr/>
        </p:nvSpPr>
        <p:spPr>
          <a:xfrm>
            <a:off x="3317044" y="4804173"/>
            <a:ext cx="5396652" cy="813916"/>
          </a:xfrm>
          <a:prstGeom prst="rect">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Rectangle 10">
            <a:extLst>
              <a:ext uri="{FF2B5EF4-FFF2-40B4-BE49-F238E27FC236}">
                <a16:creationId xmlns:a16="http://schemas.microsoft.com/office/drawing/2014/main" id="{1F7C2AA8-93BD-4877-8244-4DED3A4D8853}"/>
              </a:ext>
            </a:extLst>
          </p:cNvPr>
          <p:cNvSpPr/>
          <p:nvPr/>
        </p:nvSpPr>
        <p:spPr>
          <a:xfrm>
            <a:off x="4624509" y="5781321"/>
            <a:ext cx="429427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2400" dirty="0"/>
              <a:t>Sum: 350</a:t>
            </a:r>
          </a:p>
          <a:p>
            <a:r>
              <a:rPr lang="en-AU" sz="2400" dirty="0"/>
              <a:t>Average: 350/3  = 116.67 </a:t>
            </a:r>
            <a:endParaRPr lang="en-AU" dirty="0"/>
          </a:p>
        </p:txBody>
      </p:sp>
      <p:sp>
        <p:nvSpPr>
          <p:cNvPr id="12" name="Rectangle 11">
            <a:extLst>
              <a:ext uri="{FF2B5EF4-FFF2-40B4-BE49-F238E27FC236}">
                <a16:creationId xmlns:a16="http://schemas.microsoft.com/office/drawing/2014/main" id="{F36A28C1-8A3C-47BE-B933-03DED823FF6C}"/>
              </a:ext>
            </a:extLst>
          </p:cNvPr>
          <p:cNvSpPr/>
          <p:nvPr/>
        </p:nvSpPr>
        <p:spPr>
          <a:xfrm>
            <a:off x="2061778" y="2848653"/>
            <a:ext cx="1201373" cy="1872884"/>
          </a:xfrm>
          <a:prstGeom prst="rect">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a:extLst>
              <a:ext uri="{FF2B5EF4-FFF2-40B4-BE49-F238E27FC236}">
                <a16:creationId xmlns:a16="http://schemas.microsoft.com/office/drawing/2014/main" id="{4013E276-5AF9-4D17-B150-8EC66FC676C2}"/>
              </a:ext>
            </a:extLst>
          </p:cNvPr>
          <p:cNvSpPr/>
          <p:nvPr/>
        </p:nvSpPr>
        <p:spPr>
          <a:xfrm>
            <a:off x="460843" y="3504635"/>
            <a:ext cx="1457397"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2400" dirty="0"/>
              <a:t>Sum: 350</a:t>
            </a:r>
          </a:p>
        </p:txBody>
      </p:sp>
    </p:spTree>
    <p:extLst>
      <p:ext uri="{BB962C8B-B14F-4D97-AF65-F5344CB8AC3E}">
        <p14:creationId xmlns:p14="http://schemas.microsoft.com/office/powerpoint/2010/main" val="26793076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DAC60-A7A6-43BB-9AE6-E6737B84D99B}"/>
              </a:ext>
            </a:extLst>
          </p:cNvPr>
          <p:cNvSpPr>
            <a:spLocks noGrp="1"/>
          </p:cNvSpPr>
          <p:nvPr>
            <p:ph type="title"/>
          </p:nvPr>
        </p:nvSpPr>
        <p:spPr>
          <a:xfrm>
            <a:off x="913795" y="-19050"/>
            <a:ext cx="10353762" cy="1257300"/>
          </a:xfrm>
        </p:spPr>
        <p:txBody>
          <a:bodyPr/>
          <a:lstStyle/>
          <a:p>
            <a:r>
              <a:rPr lang="en-AU" dirty="0"/>
              <a:t>Secure Multi-party Computation</a:t>
            </a:r>
          </a:p>
        </p:txBody>
      </p:sp>
      <p:sp>
        <p:nvSpPr>
          <p:cNvPr id="3" name="Content Placeholder 2">
            <a:extLst>
              <a:ext uri="{FF2B5EF4-FFF2-40B4-BE49-F238E27FC236}">
                <a16:creationId xmlns:a16="http://schemas.microsoft.com/office/drawing/2014/main" id="{32111EBC-E3C0-470B-B785-2E1AAE3530F7}"/>
              </a:ext>
            </a:extLst>
          </p:cNvPr>
          <p:cNvSpPr>
            <a:spLocks noGrp="1"/>
          </p:cNvSpPr>
          <p:nvPr>
            <p:ph idx="1"/>
          </p:nvPr>
        </p:nvSpPr>
        <p:spPr>
          <a:xfrm>
            <a:off x="513744" y="1123950"/>
            <a:ext cx="11316305" cy="3429000"/>
          </a:xfrm>
        </p:spPr>
        <p:txBody>
          <a:bodyPr>
            <a:normAutofit/>
          </a:bodyPr>
          <a:lstStyle/>
          <a:p>
            <a:endParaRPr lang="en-AU" sz="2800" dirty="0"/>
          </a:p>
          <a:p>
            <a:r>
              <a:rPr lang="en-AU" sz="2800" dirty="0"/>
              <a:t>What is the main limitation of SMPC in practice?</a:t>
            </a:r>
          </a:p>
        </p:txBody>
      </p:sp>
    </p:spTree>
    <p:extLst>
      <p:ext uri="{BB962C8B-B14F-4D97-AF65-F5344CB8AC3E}">
        <p14:creationId xmlns:p14="http://schemas.microsoft.com/office/powerpoint/2010/main" val="24035563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DAC60-A7A6-43BB-9AE6-E6737B84D99B}"/>
              </a:ext>
            </a:extLst>
          </p:cNvPr>
          <p:cNvSpPr>
            <a:spLocks noGrp="1"/>
          </p:cNvSpPr>
          <p:nvPr>
            <p:ph type="title"/>
          </p:nvPr>
        </p:nvSpPr>
        <p:spPr>
          <a:xfrm>
            <a:off x="913795" y="-19050"/>
            <a:ext cx="10353762" cy="1257300"/>
          </a:xfrm>
        </p:spPr>
        <p:txBody>
          <a:bodyPr/>
          <a:lstStyle/>
          <a:p>
            <a:r>
              <a:rPr lang="en-AU" dirty="0"/>
              <a:t>Secure Multi-party Computation</a:t>
            </a:r>
          </a:p>
        </p:txBody>
      </p:sp>
      <p:sp>
        <p:nvSpPr>
          <p:cNvPr id="3" name="Content Placeholder 2">
            <a:extLst>
              <a:ext uri="{FF2B5EF4-FFF2-40B4-BE49-F238E27FC236}">
                <a16:creationId xmlns:a16="http://schemas.microsoft.com/office/drawing/2014/main" id="{32111EBC-E3C0-470B-B785-2E1AAE3530F7}"/>
              </a:ext>
            </a:extLst>
          </p:cNvPr>
          <p:cNvSpPr>
            <a:spLocks noGrp="1"/>
          </p:cNvSpPr>
          <p:nvPr>
            <p:ph idx="1"/>
          </p:nvPr>
        </p:nvSpPr>
        <p:spPr>
          <a:xfrm>
            <a:off x="513744" y="1123950"/>
            <a:ext cx="11316305" cy="3429000"/>
          </a:xfrm>
        </p:spPr>
        <p:txBody>
          <a:bodyPr>
            <a:normAutofit/>
          </a:bodyPr>
          <a:lstStyle/>
          <a:p>
            <a:endParaRPr lang="en-AU" sz="2800" dirty="0"/>
          </a:p>
          <a:p>
            <a:r>
              <a:rPr lang="en-AU" sz="2800" dirty="0"/>
              <a:t>What is the main limitation of SMPC in practice?</a:t>
            </a:r>
          </a:p>
          <a:p>
            <a:pPr lvl="1"/>
            <a:r>
              <a:rPr lang="en-AU" sz="2600" dirty="0"/>
              <a:t>e.g., computational overhead and communication cost</a:t>
            </a:r>
          </a:p>
        </p:txBody>
      </p:sp>
    </p:spTree>
    <p:extLst>
      <p:ext uri="{BB962C8B-B14F-4D97-AF65-F5344CB8AC3E}">
        <p14:creationId xmlns:p14="http://schemas.microsoft.com/office/powerpoint/2010/main" val="18161116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DAC60-A7A6-43BB-9AE6-E6737B84D99B}"/>
              </a:ext>
            </a:extLst>
          </p:cNvPr>
          <p:cNvSpPr>
            <a:spLocks noGrp="1"/>
          </p:cNvSpPr>
          <p:nvPr>
            <p:ph type="title"/>
          </p:nvPr>
        </p:nvSpPr>
        <p:spPr>
          <a:xfrm>
            <a:off x="913795" y="-19050"/>
            <a:ext cx="10353762" cy="1257300"/>
          </a:xfrm>
        </p:spPr>
        <p:txBody>
          <a:bodyPr/>
          <a:lstStyle/>
          <a:p>
            <a:r>
              <a:rPr lang="en-AU" dirty="0"/>
              <a:t>Secure Multi-party Computation</a:t>
            </a:r>
          </a:p>
        </p:txBody>
      </p:sp>
      <p:sp>
        <p:nvSpPr>
          <p:cNvPr id="3" name="Content Placeholder 2">
            <a:extLst>
              <a:ext uri="{FF2B5EF4-FFF2-40B4-BE49-F238E27FC236}">
                <a16:creationId xmlns:a16="http://schemas.microsoft.com/office/drawing/2014/main" id="{32111EBC-E3C0-470B-B785-2E1AAE3530F7}"/>
              </a:ext>
            </a:extLst>
          </p:cNvPr>
          <p:cNvSpPr>
            <a:spLocks noGrp="1"/>
          </p:cNvSpPr>
          <p:nvPr>
            <p:ph idx="1"/>
          </p:nvPr>
        </p:nvSpPr>
        <p:spPr>
          <a:xfrm>
            <a:off x="513744" y="1123950"/>
            <a:ext cx="11316305" cy="4985906"/>
          </a:xfrm>
        </p:spPr>
        <p:txBody>
          <a:bodyPr>
            <a:normAutofit/>
          </a:bodyPr>
          <a:lstStyle/>
          <a:p>
            <a:endParaRPr lang="en-AU" sz="2800" dirty="0"/>
          </a:p>
          <a:p>
            <a:r>
              <a:rPr lang="en-AU" sz="2800" dirty="0"/>
              <a:t>What if one </a:t>
            </a:r>
            <a:r>
              <a:rPr lang="en-AU" sz="2800" dirty="0" err="1"/>
              <a:t>coworker</a:t>
            </a:r>
            <a:r>
              <a:rPr lang="en-AU" sz="2800" dirty="0"/>
              <a:t> is dishonest and distributes false secret shares?</a:t>
            </a:r>
          </a:p>
          <a:p>
            <a:pPr lvl="1"/>
            <a:r>
              <a:rPr lang="en-AU" sz="2800" dirty="0"/>
              <a:t>e.g., </a:t>
            </a:r>
            <a:r>
              <a:rPr lang="en-AU" sz="2800" dirty="0">
                <a:solidFill>
                  <a:srgbClr val="FF0000"/>
                </a:solidFill>
              </a:rPr>
              <a:t>Zero Knowledge Proof </a:t>
            </a:r>
          </a:p>
          <a:p>
            <a:pPr lvl="1"/>
            <a:endParaRPr lang="en-AU" sz="2600" dirty="0"/>
          </a:p>
          <a:p>
            <a:r>
              <a:rPr lang="en-AU" sz="2800" dirty="0"/>
              <a:t>Zero Knowledge Proof </a:t>
            </a:r>
            <a:r>
              <a:rPr lang="en-US" sz="2800" dirty="0"/>
              <a:t>is a cryptographic protocol by which one party (a prover) can prove to another party (a verifier) that something is true, without revealing any information apart from the fact that this specific statement is true.</a:t>
            </a:r>
            <a:endParaRPr lang="en-AU" sz="2800" dirty="0"/>
          </a:p>
          <a:p>
            <a:pPr marL="450000" lvl="1" indent="0">
              <a:buNone/>
            </a:pPr>
            <a:endParaRPr lang="en-AU" sz="2600" dirty="0"/>
          </a:p>
        </p:txBody>
      </p:sp>
    </p:spTree>
    <p:extLst>
      <p:ext uri="{BB962C8B-B14F-4D97-AF65-F5344CB8AC3E}">
        <p14:creationId xmlns:p14="http://schemas.microsoft.com/office/powerpoint/2010/main" val="16554568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F3337-D202-49F4-B586-B90CFA38A20B}"/>
              </a:ext>
            </a:extLst>
          </p:cNvPr>
          <p:cNvSpPr>
            <a:spLocks noGrp="1"/>
          </p:cNvSpPr>
          <p:nvPr>
            <p:ph type="title"/>
          </p:nvPr>
        </p:nvSpPr>
        <p:spPr>
          <a:xfrm>
            <a:off x="1199545" y="57151"/>
            <a:ext cx="10353762" cy="1062335"/>
          </a:xfrm>
        </p:spPr>
        <p:txBody>
          <a:bodyPr/>
          <a:lstStyle/>
          <a:p>
            <a:r>
              <a:rPr lang="en-AU" dirty="0"/>
              <a:t>Zero Knowledge Proof</a:t>
            </a:r>
          </a:p>
        </p:txBody>
      </p:sp>
      <p:sp>
        <p:nvSpPr>
          <p:cNvPr id="3" name="Content Placeholder 2">
            <a:extLst>
              <a:ext uri="{FF2B5EF4-FFF2-40B4-BE49-F238E27FC236}">
                <a16:creationId xmlns:a16="http://schemas.microsoft.com/office/drawing/2014/main" id="{FD95B780-4F46-48E4-8A07-635D534C3326}"/>
              </a:ext>
            </a:extLst>
          </p:cNvPr>
          <p:cNvSpPr>
            <a:spLocks noGrp="1"/>
          </p:cNvSpPr>
          <p:nvPr>
            <p:ph idx="1"/>
          </p:nvPr>
        </p:nvSpPr>
        <p:spPr>
          <a:xfrm>
            <a:off x="734686" y="1179515"/>
            <a:ext cx="10353762" cy="3039194"/>
          </a:xfrm>
        </p:spPr>
        <p:txBody>
          <a:bodyPr>
            <a:normAutofit/>
          </a:bodyPr>
          <a:lstStyle/>
          <a:p>
            <a:r>
              <a:rPr lang="en-AU" sz="2800" dirty="0"/>
              <a:t>Situation: </a:t>
            </a:r>
            <a:r>
              <a:rPr lang="en-US" sz="2800" dirty="0"/>
              <a:t>Alice and Bob want to find a friend called Wally in a given image. Alice has knowledge of where Wally is in the image, but Bob doesn’t believe Alice.</a:t>
            </a:r>
          </a:p>
          <a:p>
            <a:r>
              <a:rPr lang="en-US" sz="2800" dirty="0"/>
              <a:t>How does Alice prove to Bob that she knows where Wally is without giving away Wally’s location in the image?</a:t>
            </a:r>
            <a:endParaRPr lang="en-AU" sz="2800" dirty="0"/>
          </a:p>
          <a:p>
            <a:endParaRPr lang="en-AU" sz="2800" dirty="0"/>
          </a:p>
        </p:txBody>
      </p:sp>
    </p:spTree>
    <p:extLst>
      <p:ext uri="{BB962C8B-B14F-4D97-AF65-F5344CB8AC3E}">
        <p14:creationId xmlns:p14="http://schemas.microsoft.com/office/powerpoint/2010/main" val="20429344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1C8E0F02-126B-48E6-B6C7-E5FABF37871F}"/>
              </a:ext>
            </a:extLst>
          </p:cNvPr>
          <p:cNvPicPr>
            <a:picLocks noChangeAspect="1"/>
          </p:cNvPicPr>
          <p:nvPr/>
        </p:nvPicPr>
        <p:blipFill>
          <a:blip r:embed="rId3"/>
          <a:stretch>
            <a:fillRect/>
          </a:stretch>
        </p:blipFill>
        <p:spPr>
          <a:xfrm>
            <a:off x="1573695" y="677604"/>
            <a:ext cx="9044609" cy="5502791"/>
          </a:xfrm>
          <a:prstGeom prst="rect">
            <a:avLst/>
          </a:prstGeom>
        </p:spPr>
      </p:pic>
    </p:spTree>
    <p:extLst>
      <p:ext uri="{BB962C8B-B14F-4D97-AF65-F5344CB8AC3E}">
        <p14:creationId xmlns:p14="http://schemas.microsoft.com/office/powerpoint/2010/main" val="42816155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914184F-9447-432B-BE94-1A8181940C46}"/>
              </a:ext>
            </a:extLst>
          </p:cNvPr>
          <p:cNvPicPr>
            <a:picLocks noChangeAspect="1"/>
          </p:cNvPicPr>
          <p:nvPr/>
        </p:nvPicPr>
        <p:blipFill>
          <a:blip r:embed="rId3"/>
          <a:stretch>
            <a:fillRect/>
          </a:stretch>
        </p:blipFill>
        <p:spPr>
          <a:xfrm>
            <a:off x="1529324" y="613064"/>
            <a:ext cx="9144000" cy="5631872"/>
          </a:xfrm>
          <a:prstGeom prst="rect">
            <a:avLst/>
          </a:prstGeom>
        </p:spPr>
      </p:pic>
    </p:spTree>
    <p:extLst>
      <p:ext uri="{BB962C8B-B14F-4D97-AF65-F5344CB8AC3E}">
        <p14:creationId xmlns:p14="http://schemas.microsoft.com/office/powerpoint/2010/main" val="16426523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F3337-D202-49F4-B586-B90CFA38A20B}"/>
              </a:ext>
            </a:extLst>
          </p:cNvPr>
          <p:cNvSpPr>
            <a:spLocks noGrp="1"/>
          </p:cNvSpPr>
          <p:nvPr>
            <p:ph type="title"/>
          </p:nvPr>
        </p:nvSpPr>
        <p:spPr>
          <a:xfrm>
            <a:off x="1199545" y="57151"/>
            <a:ext cx="10353762" cy="1062335"/>
          </a:xfrm>
        </p:spPr>
        <p:txBody>
          <a:bodyPr/>
          <a:lstStyle/>
          <a:p>
            <a:r>
              <a:rPr lang="en-AU" dirty="0"/>
              <a:t>Zero Knowledge Proof</a:t>
            </a:r>
          </a:p>
        </p:txBody>
      </p:sp>
      <p:sp>
        <p:nvSpPr>
          <p:cNvPr id="3" name="Content Placeholder 2">
            <a:extLst>
              <a:ext uri="{FF2B5EF4-FFF2-40B4-BE49-F238E27FC236}">
                <a16:creationId xmlns:a16="http://schemas.microsoft.com/office/drawing/2014/main" id="{FD95B780-4F46-48E4-8A07-635D534C3326}"/>
              </a:ext>
            </a:extLst>
          </p:cNvPr>
          <p:cNvSpPr>
            <a:spLocks noGrp="1"/>
          </p:cNvSpPr>
          <p:nvPr>
            <p:ph idx="1"/>
          </p:nvPr>
        </p:nvSpPr>
        <p:spPr>
          <a:xfrm>
            <a:off x="734686" y="1179514"/>
            <a:ext cx="10353762" cy="4306885"/>
          </a:xfrm>
        </p:spPr>
        <p:txBody>
          <a:bodyPr>
            <a:normAutofit/>
          </a:bodyPr>
          <a:lstStyle/>
          <a:p>
            <a:r>
              <a:rPr lang="en-AU" sz="2800" dirty="0"/>
              <a:t>Situation: </a:t>
            </a:r>
            <a:r>
              <a:rPr lang="en-US" sz="2800" dirty="0"/>
              <a:t>Bob meets Alice that he does not know, yet Alice claims to be a member of a group that Bob is also a part of. </a:t>
            </a:r>
          </a:p>
          <a:p>
            <a:r>
              <a:rPr lang="en-US" sz="2800" dirty="0"/>
              <a:t>How can Bob know if he can trust her? Assume the group has a locked safe, and only the group members know the secret pin code and open the safe. </a:t>
            </a:r>
          </a:p>
          <a:p>
            <a:pPr lvl="1"/>
            <a:r>
              <a:rPr lang="en-US" sz="2600" dirty="0"/>
              <a:t>e.g., sharing their pin code with a trusted third party.</a:t>
            </a:r>
            <a:endParaRPr lang="en-AU" sz="2600" dirty="0"/>
          </a:p>
        </p:txBody>
      </p:sp>
    </p:spTree>
    <p:extLst>
      <p:ext uri="{BB962C8B-B14F-4D97-AF65-F5344CB8AC3E}">
        <p14:creationId xmlns:p14="http://schemas.microsoft.com/office/powerpoint/2010/main" val="39924568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F3337-D202-49F4-B586-B90CFA38A20B}"/>
              </a:ext>
            </a:extLst>
          </p:cNvPr>
          <p:cNvSpPr>
            <a:spLocks noGrp="1"/>
          </p:cNvSpPr>
          <p:nvPr>
            <p:ph type="title"/>
          </p:nvPr>
        </p:nvSpPr>
        <p:spPr>
          <a:xfrm>
            <a:off x="1199545" y="57151"/>
            <a:ext cx="10353762" cy="1062335"/>
          </a:xfrm>
        </p:spPr>
        <p:txBody>
          <a:bodyPr/>
          <a:lstStyle/>
          <a:p>
            <a:r>
              <a:rPr lang="en-AU" dirty="0"/>
              <a:t>Zero Knowledge Proof</a:t>
            </a:r>
          </a:p>
        </p:txBody>
      </p:sp>
      <p:pic>
        <p:nvPicPr>
          <p:cNvPr id="5" name="Picture 4">
            <a:extLst>
              <a:ext uri="{FF2B5EF4-FFF2-40B4-BE49-F238E27FC236}">
                <a16:creationId xmlns:a16="http://schemas.microsoft.com/office/drawing/2014/main" id="{A8E076C9-A1EA-4408-8EFA-633FAC945C3B}"/>
              </a:ext>
            </a:extLst>
          </p:cNvPr>
          <p:cNvPicPr>
            <a:picLocks noChangeAspect="1"/>
          </p:cNvPicPr>
          <p:nvPr/>
        </p:nvPicPr>
        <p:blipFill>
          <a:blip r:embed="rId3"/>
          <a:stretch>
            <a:fillRect/>
          </a:stretch>
        </p:blipFill>
        <p:spPr>
          <a:xfrm>
            <a:off x="3617844" y="2703443"/>
            <a:ext cx="4546203" cy="3743810"/>
          </a:xfrm>
          <a:prstGeom prst="rect">
            <a:avLst/>
          </a:prstGeom>
        </p:spPr>
      </p:pic>
      <p:sp>
        <p:nvSpPr>
          <p:cNvPr id="9" name="Content Placeholder 2">
            <a:extLst>
              <a:ext uri="{FF2B5EF4-FFF2-40B4-BE49-F238E27FC236}">
                <a16:creationId xmlns:a16="http://schemas.microsoft.com/office/drawing/2014/main" id="{408579DB-0970-45C6-81E0-1FC409A24B71}"/>
              </a:ext>
            </a:extLst>
          </p:cNvPr>
          <p:cNvSpPr>
            <a:spLocks noGrp="1"/>
          </p:cNvSpPr>
          <p:nvPr>
            <p:ph idx="1"/>
          </p:nvPr>
        </p:nvSpPr>
        <p:spPr>
          <a:xfrm>
            <a:off x="827458" y="1119486"/>
            <a:ext cx="9628507" cy="1784074"/>
          </a:xfrm>
        </p:spPr>
        <p:txBody>
          <a:bodyPr>
            <a:normAutofit/>
          </a:bodyPr>
          <a:lstStyle/>
          <a:p>
            <a:r>
              <a:rPr lang="en-AU" sz="2800" dirty="0"/>
              <a:t>Steps:</a:t>
            </a:r>
          </a:p>
          <a:p>
            <a:pPr marL="450000" lvl="1" indent="0">
              <a:buNone/>
            </a:pPr>
            <a:r>
              <a:rPr lang="en-AU" sz="2800" dirty="0"/>
              <a:t>1. The </a:t>
            </a:r>
            <a:r>
              <a:rPr lang="en-US" sz="2800" dirty="0"/>
              <a:t>verifier Bob writes a secret message and puts it in the locked safe</a:t>
            </a:r>
            <a:r>
              <a:rPr lang="en-AU" sz="2800" dirty="0"/>
              <a:t>	</a:t>
            </a:r>
          </a:p>
        </p:txBody>
      </p:sp>
    </p:spTree>
    <p:extLst>
      <p:ext uri="{BB962C8B-B14F-4D97-AF65-F5344CB8AC3E}">
        <p14:creationId xmlns:p14="http://schemas.microsoft.com/office/powerpoint/2010/main" val="24669889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F3337-D202-49F4-B586-B90CFA38A20B}"/>
              </a:ext>
            </a:extLst>
          </p:cNvPr>
          <p:cNvSpPr>
            <a:spLocks noGrp="1"/>
          </p:cNvSpPr>
          <p:nvPr>
            <p:ph type="title"/>
          </p:nvPr>
        </p:nvSpPr>
        <p:spPr>
          <a:xfrm>
            <a:off x="1199545" y="57151"/>
            <a:ext cx="10353762" cy="1062335"/>
          </a:xfrm>
        </p:spPr>
        <p:txBody>
          <a:bodyPr/>
          <a:lstStyle/>
          <a:p>
            <a:r>
              <a:rPr lang="en-AU" dirty="0"/>
              <a:t>Zero Knowledge Proof</a:t>
            </a:r>
          </a:p>
        </p:txBody>
      </p:sp>
      <p:sp>
        <p:nvSpPr>
          <p:cNvPr id="9" name="Content Placeholder 2">
            <a:extLst>
              <a:ext uri="{FF2B5EF4-FFF2-40B4-BE49-F238E27FC236}">
                <a16:creationId xmlns:a16="http://schemas.microsoft.com/office/drawing/2014/main" id="{408579DB-0970-45C6-81E0-1FC409A24B71}"/>
              </a:ext>
            </a:extLst>
          </p:cNvPr>
          <p:cNvSpPr>
            <a:spLocks noGrp="1"/>
          </p:cNvSpPr>
          <p:nvPr>
            <p:ph idx="1"/>
          </p:nvPr>
        </p:nvSpPr>
        <p:spPr>
          <a:xfrm>
            <a:off x="827458" y="1119486"/>
            <a:ext cx="9628507" cy="1784074"/>
          </a:xfrm>
        </p:spPr>
        <p:txBody>
          <a:bodyPr>
            <a:normAutofit/>
          </a:bodyPr>
          <a:lstStyle/>
          <a:p>
            <a:r>
              <a:rPr lang="en-AU" sz="2800" dirty="0"/>
              <a:t>Steps:</a:t>
            </a:r>
          </a:p>
          <a:p>
            <a:pPr marL="450000" lvl="1" indent="0">
              <a:buNone/>
            </a:pPr>
            <a:r>
              <a:rPr lang="en-AU" sz="2800" dirty="0"/>
              <a:t>2. The </a:t>
            </a:r>
            <a:r>
              <a:rPr lang="en-US" sz="2800" dirty="0"/>
              <a:t>prover Alice has knowledge of the pin code and opens the locked safe</a:t>
            </a:r>
            <a:r>
              <a:rPr lang="en-AU" sz="2800" dirty="0"/>
              <a:t>	</a:t>
            </a:r>
          </a:p>
        </p:txBody>
      </p:sp>
      <p:pic>
        <p:nvPicPr>
          <p:cNvPr id="4" name="Picture 3">
            <a:extLst>
              <a:ext uri="{FF2B5EF4-FFF2-40B4-BE49-F238E27FC236}">
                <a16:creationId xmlns:a16="http://schemas.microsoft.com/office/drawing/2014/main" id="{1752B027-7B38-479B-B692-AD51197C1593}"/>
              </a:ext>
            </a:extLst>
          </p:cNvPr>
          <p:cNvPicPr>
            <a:picLocks noChangeAspect="1"/>
          </p:cNvPicPr>
          <p:nvPr/>
        </p:nvPicPr>
        <p:blipFill>
          <a:blip r:embed="rId3"/>
          <a:stretch>
            <a:fillRect/>
          </a:stretch>
        </p:blipFill>
        <p:spPr>
          <a:xfrm>
            <a:off x="4108700" y="2843926"/>
            <a:ext cx="3974599" cy="3766593"/>
          </a:xfrm>
          <a:prstGeom prst="rect">
            <a:avLst/>
          </a:prstGeom>
        </p:spPr>
      </p:pic>
    </p:spTree>
    <p:extLst>
      <p:ext uri="{BB962C8B-B14F-4D97-AF65-F5344CB8AC3E}">
        <p14:creationId xmlns:p14="http://schemas.microsoft.com/office/powerpoint/2010/main" val="38782428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F3337-D202-49F4-B586-B90CFA38A20B}"/>
              </a:ext>
            </a:extLst>
          </p:cNvPr>
          <p:cNvSpPr>
            <a:spLocks noGrp="1"/>
          </p:cNvSpPr>
          <p:nvPr>
            <p:ph type="title"/>
          </p:nvPr>
        </p:nvSpPr>
        <p:spPr>
          <a:xfrm>
            <a:off x="1199545" y="57151"/>
            <a:ext cx="10353762" cy="1062335"/>
          </a:xfrm>
        </p:spPr>
        <p:txBody>
          <a:bodyPr/>
          <a:lstStyle/>
          <a:p>
            <a:r>
              <a:rPr lang="en-AU" dirty="0"/>
              <a:t>Zero Knowledge Proof</a:t>
            </a:r>
          </a:p>
        </p:txBody>
      </p:sp>
      <p:sp>
        <p:nvSpPr>
          <p:cNvPr id="9" name="Content Placeholder 2">
            <a:extLst>
              <a:ext uri="{FF2B5EF4-FFF2-40B4-BE49-F238E27FC236}">
                <a16:creationId xmlns:a16="http://schemas.microsoft.com/office/drawing/2014/main" id="{408579DB-0970-45C6-81E0-1FC409A24B71}"/>
              </a:ext>
            </a:extLst>
          </p:cNvPr>
          <p:cNvSpPr>
            <a:spLocks noGrp="1"/>
          </p:cNvSpPr>
          <p:nvPr>
            <p:ph idx="1"/>
          </p:nvPr>
        </p:nvSpPr>
        <p:spPr>
          <a:xfrm>
            <a:off x="827458" y="1119486"/>
            <a:ext cx="10542907" cy="1784074"/>
          </a:xfrm>
        </p:spPr>
        <p:txBody>
          <a:bodyPr>
            <a:normAutofit/>
          </a:bodyPr>
          <a:lstStyle/>
          <a:p>
            <a:r>
              <a:rPr lang="en-AU" sz="2800" dirty="0"/>
              <a:t>Steps:</a:t>
            </a:r>
          </a:p>
          <a:p>
            <a:pPr marL="450000" lvl="1" indent="0">
              <a:buNone/>
            </a:pPr>
            <a:r>
              <a:rPr lang="en-AU" sz="2800" dirty="0"/>
              <a:t>3. The </a:t>
            </a:r>
            <a:r>
              <a:rPr lang="en-US" sz="2800" dirty="0"/>
              <a:t>prover Alice returns the secret message to the verifier Bob</a:t>
            </a:r>
            <a:r>
              <a:rPr lang="en-AU" sz="2800" dirty="0"/>
              <a:t>	</a:t>
            </a:r>
          </a:p>
        </p:txBody>
      </p:sp>
      <p:pic>
        <p:nvPicPr>
          <p:cNvPr id="5" name="Picture 4">
            <a:extLst>
              <a:ext uri="{FF2B5EF4-FFF2-40B4-BE49-F238E27FC236}">
                <a16:creationId xmlns:a16="http://schemas.microsoft.com/office/drawing/2014/main" id="{39C6CA45-FCAE-4D51-9892-19702E186E42}"/>
              </a:ext>
            </a:extLst>
          </p:cNvPr>
          <p:cNvPicPr>
            <a:picLocks noChangeAspect="1"/>
          </p:cNvPicPr>
          <p:nvPr/>
        </p:nvPicPr>
        <p:blipFill>
          <a:blip r:embed="rId3"/>
          <a:stretch>
            <a:fillRect/>
          </a:stretch>
        </p:blipFill>
        <p:spPr>
          <a:xfrm>
            <a:off x="4149227" y="2631343"/>
            <a:ext cx="3893545" cy="3650188"/>
          </a:xfrm>
          <a:prstGeom prst="rect">
            <a:avLst/>
          </a:prstGeom>
        </p:spPr>
      </p:pic>
    </p:spTree>
    <p:extLst>
      <p:ext uri="{BB962C8B-B14F-4D97-AF65-F5344CB8AC3E}">
        <p14:creationId xmlns:p14="http://schemas.microsoft.com/office/powerpoint/2010/main" val="3970924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BBB20-9053-46B4-A5A2-8BC4C6B7D325}"/>
              </a:ext>
            </a:extLst>
          </p:cNvPr>
          <p:cNvSpPr>
            <a:spLocks noGrp="1"/>
          </p:cNvSpPr>
          <p:nvPr>
            <p:ph type="title"/>
          </p:nvPr>
        </p:nvSpPr>
        <p:spPr>
          <a:xfrm>
            <a:off x="953453" y="294410"/>
            <a:ext cx="10353762" cy="907473"/>
          </a:xfrm>
        </p:spPr>
        <p:txBody>
          <a:bodyPr/>
          <a:lstStyle/>
          <a:p>
            <a:r>
              <a:rPr lang="en-AU" dirty="0"/>
              <a:t>Homomorphic Encryption</a:t>
            </a:r>
          </a:p>
        </p:txBody>
      </p:sp>
      <p:sp>
        <p:nvSpPr>
          <p:cNvPr id="3" name="Content Placeholder 2">
            <a:extLst>
              <a:ext uri="{FF2B5EF4-FFF2-40B4-BE49-F238E27FC236}">
                <a16:creationId xmlns:a16="http://schemas.microsoft.com/office/drawing/2014/main" id="{8178432B-0C75-44A3-B311-3F262FB42D25}"/>
              </a:ext>
            </a:extLst>
          </p:cNvPr>
          <p:cNvSpPr>
            <a:spLocks noGrp="1"/>
          </p:cNvSpPr>
          <p:nvPr>
            <p:ph idx="1"/>
          </p:nvPr>
        </p:nvSpPr>
        <p:spPr>
          <a:xfrm>
            <a:off x="685195" y="1201883"/>
            <a:ext cx="10890278" cy="1624444"/>
          </a:xfrm>
        </p:spPr>
        <p:txBody>
          <a:bodyPr>
            <a:normAutofit/>
          </a:bodyPr>
          <a:lstStyle/>
          <a:p>
            <a:r>
              <a:rPr lang="en-AU" sz="2800" dirty="0"/>
              <a:t>Homomorphic Encryption (HE) </a:t>
            </a:r>
            <a:r>
              <a:rPr lang="en-US" sz="2800" dirty="0"/>
              <a:t>is a type of encryption that allows computations to be performed on encrypted data, making itself computationally expensive.  </a:t>
            </a:r>
            <a:endParaRPr lang="en-AU" sz="2800" dirty="0"/>
          </a:p>
          <a:p>
            <a:pPr marL="36900" indent="0">
              <a:buNone/>
            </a:pPr>
            <a:endParaRPr lang="en-AU" dirty="0"/>
          </a:p>
        </p:txBody>
      </p:sp>
    </p:spTree>
    <p:extLst>
      <p:ext uri="{BB962C8B-B14F-4D97-AF65-F5344CB8AC3E}">
        <p14:creationId xmlns:p14="http://schemas.microsoft.com/office/powerpoint/2010/main" val="24732049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BBB20-9053-46B4-A5A2-8BC4C6B7D325}"/>
              </a:ext>
            </a:extLst>
          </p:cNvPr>
          <p:cNvSpPr>
            <a:spLocks noGrp="1"/>
          </p:cNvSpPr>
          <p:nvPr>
            <p:ph type="title"/>
          </p:nvPr>
        </p:nvSpPr>
        <p:spPr>
          <a:xfrm>
            <a:off x="919119" y="24245"/>
            <a:ext cx="10353762" cy="907473"/>
          </a:xfrm>
        </p:spPr>
        <p:txBody>
          <a:bodyPr/>
          <a:lstStyle/>
          <a:p>
            <a:r>
              <a:rPr lang="en-AU" dirty="0"/>
              <a:t>Homomorphic Encryption</a:t>
            </a:r>
          </a:p>
        </p:txBody>
      </p:sp>
      <p:sp>
        <p:nvSpPr>
          <p:cNvPr id="3" name="Content Placeholder 2">
            <a:extLst>
              <a:ext uri="{FF2B5EF4-FFF2-40B4-BE49-F238E27FC236}">
                <a16:creationId xmlns:a16="http://schemas.microsoft.com/office/drawing/2014/main" id="{8178432B-0C75-44A3-B311-3F262FB42D25}"/>
              </a:ext>
            </a:extLst>
          </p:cNvPr>
          <p:cNvSpPr>
            <a:spLocks noGrp="1"/>
          </p:cNvSpPr>
          <p:nvPr>
            <p:ph idx="1"/>
          </p:nvPr>
        </p:nvSpPr>
        <p:spPr>
          <a:xfrm>
            <a:off x="685195" y="952501"/>
            <a:ext cx="10890278" cy="1624444"/>
          </a:xfrm>
        </p:spPr>
        <p:txBody>
          <a:bodyPr>
            <a:normAutofit/>
          </a:bodyPr>
          <a:lstStyle/>
          <a:p>
            <a:r>
              <a:rPr lang="en-AU" sz="2800" dirty="0"/>
              <a:t>Homomorphic Encryption (HE) </a:t>
            </a:r>
            <a:r>
              <a:rPr lang="en-US" sz="2800" dirty="0"/>
              <a:t>is a type of encryption that allows computations to be performed on encrypted data, making itself computationally expensive.  </a:t>
            </a:r>
            <a:endParaRPr lang="en-AU" sz="2800" dirty="0"/>
          </a:p>
          <a:p>
            <a:pPr marL="36900" indent="0">
              <a:buNone/>
            </a:pPr>
            <a:endParaRPr lang="en-AU" dirty="0"/>
          </a:p>
        </p:txBody>
      </p:sp>
      <p:sp>
        <p:nvSpPr>
          <p:cNvPr id="4" name="Rectangle 3">
            <a:extLst>
              <a:ext uri="{FF2B5EF4-FFF2-40B4-BE49-F238E27FC236}">
                <a16:creationId xmlns:a16="http://schemas.microsoft.com/office/drawing/2014/main" id="{99563A5F-D56E-4136-895B-8CA209F7CF1A}"/>
              </a:ext>
            </a:extLst>
          </p:cNvPr>
          <p:cNvSpPr/>
          <p:nvPr/>
        </p:nvSpPr>
        <p:spPr>
          <a:xfrm rot="16200000">
            <a:off x="-717577" y="4073242"/>
            <a:ext cx="2431467" cy="64423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dirty="0"/>
              <a:t>Plaintext</a:t>
            </a:r>
          </a:p>
        </p:txBody>
      </p:sp>
      <p:cxnSp>
        <p:nvCxnSpPr>
          <p:cNvPr id="6" name="Straight Arrow Connector 5">
            <a:extLst>
              <a:ext uri="{FF2B5EF4-FFF2-40B4-BE49-F238E27FC236}">
                <a16:creationId xmlns:a16="http://schemas.microsoft.com/office/drawing/2014/main" id="{FDDB84D2-E2A3-4C9A-AF97-3B9C2F3A9D1D}"/>
              </a:ext>
            </a:extLst>
          </p:cNvPr>
          <p:cNvCxnSpPr>
            <a:cxnSpLocks/>
          </p:cNvCxnSpPr>
          <p:nvPr/>
        </p:nvCxnSpPr>
        <p:spPr>
          <a:xfrm flipV="1">
            <a:off x="1002419" y="3574474"/>
            <a:ext cx="1075763" cy="1"/>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4902732D-FD2D-453F-8680-EA897D6184A1}"/>
              </a:ext>
            </a:extLst>
          </p:cNvPr>
          <p:cNvCxnSpPr>
            <a:cxnSpLocks/>
          </p:cNvCxnSpPr>
          <p:nvPr/>
        </p:nvCxnSpPr>
        <p:spPr>
          <a:xfrm>
            <a:off x="1101435" y="5389420"/>
            <a:ext cx="8439838" cy="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2D76AC41-5CEC-4D9D-9486-42280924D32A}"/>
              </a:ext>
            </a:extLst>
          </p:cNvPr>
          <p:cNvSpPr/>
          <p:nvPr/>
        </p:nvSpPr>
        <p:spPr>
          <a:xfrm>
            <a:off x="3266209" y="4759043"/>
            <a:ext cx="4426529" cy="6442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dirty="0"/>
              <a:t>same computing operation</a:t>
            </a:r>
          </a:p>
        </p:txBody>
      </p:sp>
      <p:sp>
        <p:nvSpPr>
          <p:cNvPr id="10" name="Rectangle 9">
            <a:extLst>
              <a:ext uri="{FF2B5EF4-FFF2-40B4-BE49-F238E27FC236}">
                <a16:creationId xmlns:a16="http://schemas.microsoft.com/office/drawing/2014/main" id="{4E42E96D-2982-491D-97F3-7D982CB921CC}"/>
              </a:ext>
            </a:extLst>
          </p:cNvPr>
          <p:cNvSpPr/>
          <p:nvPr/>
        </p:nvSpPr>
        <p:spPr>
          <a:xfrm>
            <a:off x="9596306" y="4966858"/>
            <a:ext cx="2419656" cy="64423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dirty="0"/>
              <a:t>Computation Results</a:t>
            </a:r>
          </a:p>
        </p:txBody>
      </p:sp>
      <p:sp>
        <p:nvSpPr>
          <p:cNvPr id="11" name="Rectangle 10">
            <a:extLst>
              <a:ext uri="{FF2B5EF4-FFF2-40B4-BE49-F238E27FC236}">
                <a16:creationId xmlns:a16="http://schemas.microsoft.com/office/drawing/2014/main" id="{040A1348-961E-4F39-8C6A-B3E3DCBE5C85}"/>
              </a:ext>
            </a:extLst>
          </p:cNvPr>
          <p:cNvSpPr/>
          <p:nvPr/>
        </p:nvSpPr>
        <p:spPr>
          <a:xfrm>
            <a:off x="919291" y="2774376"/>
            <a:ext cx="1292683" cy="6442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dirty="0"/>
              <a:t>HE </a:t>
            </a:r>
          </a:p>
          <a:p>
            <a:pPr algn="ctr"/>
            <a:r>
              <a:rPr lang="en-AU" sz="2000" dirty="0"/>
              <a:t>encryption</a:t>
            </a:r>
          </a:p>
        </p:txBody>
      </p:sp>
      <p:sp>
        <p:nvSpPr>
          <p:cNvPr id="13" name="Rectangle 12">
            <a:extLst>
              <a:ext uri="{FF2B5EF4-FFF2-40B4-BE49-F238E27FC236}">
                <a16:creationId xmlns:a16="http://schemas.microsoft.com/office/drawing/2014/main" id="{89D728C4-3D87-495E-91E8-B771FE25454B}"/>
              </a:ext>
            </a:extLst>
          </p:cNvPr>
          <p:cNvSpPr/>
          <p:nvPr/>
        </p:nvSpPr>
        <p:spPr>
          <a:xfrm>
            <a:off x="2243255" y="3157117"/>
            <a:ext cx="1292683" cy="6580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dirty="0"/>
              <a:t>Encrypted </a:t>
            </a:r>
          </a:p>
          <a:p>
            <a:pPr algn="ctr"/>
            <a:r>
              <a:rPr lang="en-AU" sz="2000" dirty="0"/>
              <a:t>Texts</a:t>
            </a:r>
          </a:p>
        </p:txBody>
      </p:sp>
      <p:sp>
        <p:nvSpPr>
          <p:cNvPr id="14" name="Rectangle 13">
            <a:extLst>
              <a:ext uri="{FF2B5EF4-FFF2-40B4-BE49-F238E27FC236}">
                <a16:creationId xmlns:a16="http://schemas.microsoft.com/office/drawing/2014/main" id="{6B34080D-8614-4ACD-AEAB-78FE3B8328D2}"/>
              </a:ext>
            </a:extLst>
          </p:cNvPr>
          <p:cNvSpPr/>
          <p:nvPr/>
        </p:nvSpPr>
        <p:spPr>
          <a:xfrm>
            <a:off x="3646857" y="2774380"/>
            <a:ext cx="1781629" cy="6442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dirty="0"/>
              <a:t>computing </a:t>
            </a:r>
          </a:p>
          <a:p>
            <a:pPr algn="ctr"/>
            <a:r>
              <a:rPr lang="en-AU" sz="2000" dirty="0"/>
              <a:t>operation</a:t>
            </a:r>
          </a:p>
        </p:txBody>
      </p:sp>
      <p:cxnSp>
        <p:nvCxnSpPr>
          <p:cNvPr id="16" name="Straight Arrow Connector 15">
            <a:extLst>
              <a:ext uri="{FF2B5EF4-FFF2-40B4-BE49-F238E27FC236}">
                <a16:creationId xmlns:a16="http://schemas.microsoft.com/office/drawing/2014/main" id="{B81F9433-43E7-4401-B966-5CB4B6CD06B9}"/>
              </a:ext>
            </a:extLst>
          </p:cNvPr>
          <p:cNvCxnSpPr>
            <a:cxnSpLocks/>
          </p:cNvCxnSpPr>
          <p:nvPr/>
        </p:nvCxnSpPr>
        <p:spPr>
          <a:xfrm flipV="1">
            <a:off x="3650272" y="3564084"/>
            <a:ext cx="1727227" cy="1"/>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412978D4-76DE-46CF-B238-5C9E9EF89E3F}"/>
              </a:ext>
            </a:extLst>
          </p:cNvPr>
          <p:cNvSpPr/>
          <p:nvPr/>
        </p:nvSpPr>
        <p:spPr>
          <a:xfrm>
            <a:off x="5479474" y="3181364"/>
            <a:ext cx="2521526" cy="63383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dirty="0"/>
              <a:t>Encrypted </a:t>
            </a:r>
          </a:p>
          <a:p>
            <a:pPr algn="ctr"/>
            <a:r>
              <a:rPr lang="en-AU" sz="2000" dirty="0"/>
              <a:t>Computation Results</a:t>
            </a:r>
          </a:p>
        </p:txBody>
      </p:sp>
      <p:sp>
        <p:nvSpPr>
          <p:cNvPr id="20" name="Rectangle 19">
            <a:extLst>
              <a:ext uri="{FF2B5EF4-FFF2-40B4-BE49-F238E27FC236}">
                <a16:creationId xmlns:a16="http://schemas.microsoft.com/office/drawing/2014/main" id="{99DA89F7-E062-411E-825E-5F263DB5CB54}"/>
              </a:ext>
            </a:extLst>
          </p:cNvPr>
          <p:cNvSpPr/>
          <p:nvPr/>
        </p:nvSpPr>
        <p:spPr>
          <a:xfrm>
            <a:off x="8001000" y="2873092"/>
            <a:ext cx="1595306" cy="5507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dirty="0"/>
              <a:t>HE </a:t>
            </a:r>
          </a:p>
          <a:p>
            <a:pPr algn="ctr"/>
            <a:r>
              <a:rPr lang="en-AU" sz="2000" dirty="0"/>
              <a:t>decryption</a:t>
            </a:r>
          </a:p>
        </p:txBody>
      </p:sp>
      <p:cxnSp>
        <p:nvCxnSpPr>
          <p:cNvPr id="22" name="Straight Arrow Connector 21">
            <a:extLst>
              <a:ext uri="{FF2B5EF4-FFF2-40B4-BE49-F238E27FC236}">
                <a16:creationId xmlns:a16="http://schemas.microsoft.com/office/drawing/2014/main" id="{95272981-1BD2-48B8-8697-2A8ED116D36E}"/>
              </a:ext>
            </a:extLst>
          </p:cNvPr>
          <p:cNvCxnSpPr>
            <a:cxnSpLocks/>
          </p:cNvCxnSpPr>
          <p:nvPr/>
        </p:nvCxnSpPr>
        <p:spPr>
          <a:xfrm flipV="1">
            <a:off x="8072770" y="3584871"/>
            <a:ext cx="1468503" cy="1"/>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8563A554-621F-4521-BE71-B4AEA3E2283C}"/>
              </a:ext>
            </a:extLst>
          </p:cNvPr>
          <p:cNvSpPr/>
          <p:nvPr/>
        </p:nvSpPr>
        <p:spPr>
          <a:xfrm>
            <a:off x="9613043" y="3172712"/>
            <a:ext cx="2402919" cy="63383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dirty="0"/>
              <a:t>Decrypted Computation Results</a:t>
            </a:r>
          </a:p>
        </p:txBody>
      </p:sp>
      <p:sp>
        <p:nvSpPr>
          <p:cNvPr id="24" name="Equals 23">
            <a:extLst>
              <a:ext uri="{FF2B5EF4-FFF2-40B4-BE49-F238E27FC236}">
                <a16:creationId xmlns:a16="http://schemas.microsoft.com/office/drawing/2014/main" id="{4D8B397E-0015-40E6-B278-E1581502E357}"/>
              </a:ext>
            </a:extLst>
          </p:cNvPr>
          <p:cNvSpPr/>
          <p:nvPr/>
        </p:nvSpPr>
        <p:spPr>
          <a:xfrm rot="16200000">
            <a:off x="10369719" y="4219845"/>
            <a:ext cx="872831" cy="364944"/>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000">
              <a:solidFill>
                <a:schemeClr val="tx1"/>
              </a:solidFill>
            </a:endParaRPr>
          </a:p>
        </p:txBody>
      </p:sp>
    </p:spTree>
    <p:extLst>
      <p:ext uri="{BB962C8B-B14F-4D97-AF65-F5344CB8AC3E}">
        <p14:creationId xmlns:p14="http://schemas.microsoft.com/office/powerpoint/2010/main" val="19881044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BBB20-9053-46B4-A5A2-8BC4C6B7D325}"/>
              </a:ext>
            </a:extLst>
          </p:cNvPr>
          <p:cNvSpPr>
            <a:spLocks noGrp="1"/>
          </p:cNvSpPr>
          <p:nvPr>
            <p:ph type="title"/>
          </p:nvPr>
        </p:nvSpPr>
        <p:spPr>
          <a:xfrm>
            <a:off x="919119" y="24245"/>
            <a:ext cx="10353762" cy="907473"/>
          </a:xfrm>
        </p:spPr>
        <p:txBody>
          <a:bodyPr/>
          <a:lstStyle/>
          <a:p>
            <a:r>
              <a:rPr lang="en-AU" dirty="0"/>
              <a:t>Homomorphic Encryption</a:t>
            </a:r>
          </a:p>
        </p:txBody>
      </p:sp>
      <p:sp>
        <p:nvSpPr>
          <p:cNvPr id="3" name="Content Placeholder 2">
            <a:extLst>
              <a:ext uri="{FF2B5EF4-FFF2-40B4-BE49-F238E27FC236}">
                <a16:creationId xmlns:a16="http://schemas.microsoft.com/office/drawing/2014/main" id="{8178432B-0C75-44A3-B311-3F262FB42D25}"/>
              </a:ext>
            </a:extLst>
          </p:cNvPr>
          <p:cNvSpPr>
            <a:spLocks noGrp="1"/>
          </p:cNvSpPr>
          <p:nvPr>
            <p:ph idx="1"/>
          </p:nvPr>
        </p:nvSpPr>
        <p:spPr>
          <a:xfrm>
            <a:off x="466422" y="912669"/>
            <a:ext cx="11259155" cy="4381499"/>
          </a:xfrm>
        </p:spPr>
        <p:txBody>
          <a:bodyPr>
            <a:normAutofit/>
          </a:bodyPr>
          <a:lstStyle/>
          <a:p>
            <a:pPr marL="36900" indent="0">
              <a:buNone/>
            </a:pPr>
            <a:endParaRPr lang="en-AU" dirty="0"/>
          </a:p>
          <a:p>
            <a:r>
              <a:rPr lang="en-AU" sz="2800" dirty="0"/>
              <a:t>Fully HE (FHE) </a:t>
            </a:r>
            <a:r>
              <a:rPr lang="en-US" sz="2800" dirty="0"/>
              <a:t>enables any computations to be performed on encrypted data, such as addition, subtraction, multiplication and division.</a:t>
            </a:r>
            <a:endParaRPr lang="en-AU" sz="2800" dirty="0"/>
          </a:p>
          <a:p>
            <a:r>
              <a:rPr lang="en-AU" sz="2800" dirty="0"/>
              <a:t>Partially HE (</a:t>
            </a:r>
            <a:r>
              <a:rPr lang="en-US" sz="2800" dirty="0"/>
              <a:t>PHE) enables certain types of computations (not all) to be performed on encrypted data. </a:t>
            </a:r>
            <a:endParaRPr lang="en-AU" sz="2800" dirty="0"/>
          </a:p>
        </p:txBody>
      </p:sp>
    </p:spTree>
    <p:extLst>
      <p:ext uri="{BB962C8B-B14F-4D97-AF65-F5344CB8AC3E}">
        <p14:creationId xmlns:p14="http://schemas.microsoft.com/office/powerpoint/2010/main" val="23524648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BBB20-9053-46B4-A5A2-8BC4C6B7D325}"/>
              </a:ext>
            </a:extLst>
          </p:cNvPr>
          <p:cNvSpPr>
            <a:spLocks noGrp="1"/>
          </p:cNvSpPr>
          <p:nvPr>
            <p:ph type="title"/>
          </p:nvPr>
        </p:nvSpPr>
        <p:spPr>
          <a:xfrm>
            <a:off x="919119" y="24245"/>
            <a:ext cx="10353762" cy="907473"/>
          </a:xfrm>
        </p:spPr>
        <p:txBody>
          <a:bodyPr/>
          <a:lstStyle/>
          <a:p>
            <a:r>
              <a:rPr lang="en-AU" dirty="0"/>
              <a:t>Homomorphic Encryption</a:t>
            </a:r>
          </a:p>
        </p:txBody>
      </p:sp>
      <p:sp>
        <p:nvSpPr>
          <p:cNvPr id="3" name="Content Placeholder 2">
            <a:extLst>
              <a:ext uri="{FF2B5EF4-FFF2-40B4-BE49-F238E27FC236}">
                <a16:creationId xmlns:a16="http://schemas.microsoft.com/office/drawing/2014/main" id="{8178432B-0C75-44A3-B311-3F262FB42D25}"/>
              </a:ext>
            </a:extLst>
          </p:cNvPr>
          <p:cNvSpPr>
            <a:spLocks noGrp="1"/>
          </p:cNvSpPr>
          <p:nvPr>
            <p:ph idx="1"/>
          </p:nvPr>
        </p:nvSpPr>
        <p:spPr>
          <a:xfrm>
            <a:off x="466422" y="912669"/>
            <a:ext cx="11259155" cy="5155622"/>
          </a:xfrm>
        </p:spPr>
        <p:txBody>
          <a:bodyPr>
            <a:normAutofit/>
          </a:bodyPr>
          <a:lstStyle/>
          <a:p>
            <a:pPr marL="36900" indent="0">
              <a:buNone/>
            </a:pPr>
            <a:endParaRPr lang="en-AU" dirty="0"/>
          </a:p>
          <a:p>
            <a:r>
              <a:rPr lang="en-AU" sz="2800" dirty="0"/>
              <a:t>Fully HE (FHE) </a:t>
            </a:r>
            <a:r>
              <a:rPr lang="en-US" sz="2800" dirty="0"/>
              <a:t>enables any computations to be performed on encrypted data, such as addition, subtraction, multiplication and division.</a:t>
            </a:r>
          </a:p>
          <a:p>
            <a:pPr lvl="1"/>
            <a:r>
              <a:rPr lang="en-US" sz="2800" dirty="0"/>
              <a:t>e.g., </a:t>
            </a:r>
            <a:r>
              <a:rPr lang="en-AU" sz="2800" dirty="0"/>
              <a:t>BGV (</a:t>
            </a:r>
            <a:r>
              <a:rPr lang="en-AU" sz="2800" dirty="0" err="1"/>
              <a:t>Brakerski</a:t>
            </a:r>
            <a:r>
              <a:rPr lang="en-AU" sz="2800" dirty="0"/>
              <a:t>-Gentry-</a:t>
            </a:r>
            <a:r>
              <a:rPr lang="en-AU" sz="2800" dirty="0" err="1"/>
              <a:t>Vaikuntanathan</a:t>
            </a:r>
            <a:r>
              <a:rPr lang="en-AU" sz="2800" dirty="0"/>
              <a:t>)</a:t>
            </a:r>
          </a:p>
          <a:p>
            <a:r>
              <a:rPr lang="en-AU" sz="2800" dirty="0"/>
              <a:t>Partially HE (</a:t>
            </a:r>
            <a:r>
              <a:rPr lang="en-US" sz="2800" dirty="0"/>
              <a:t>PHE) enables certain types of computations (not all) to be performed on encrypted data. Specifically, PHE allows for either addition or multiplication operations.</a:t>
            </a:r>
          </a:p>
          <a:p>
            <a:pPr lvl="1"/>
            <a:r>
              <a:rPr lang="en-US" sz="2800" dirty="0"/>
              <a:t>e.g., </a:t>
            </a:r>
            <a:r>
              <a:rPr lang="en-US" sz="2800" dirty="0">
                <a:solidFill>
                  <a:srgbClr val="FF0000"/>
                </a:solidFill>
              </a:rPr>
              <a:t>RSA</a:t>
            </a:r>
            <a:r>
              <a:rPr lang="en-US" sz="2800" dirty="0"/>
              <a:t> (</a:t>
            </a:r>
            <a:r>
              <a:rPr lang="en-AU" sz="2800" dirty="0"/>
              <a:t>homomorphic </a:t>
            </a:r>
            <a:r>
              <a:rPr lang="en-US" sz="2800" dirty="0"/>
              <a:t>multiplication)</a:t>
            </a:r>
          </a:p>
          <a:p>
            <a:pPr marL="810000" lvl="2" indent="0">
              <a:buNone/>
            </a:pPr>
            <a:r>
              <a:rPr lang="en-AU" sz="2800" dirty="0"/>
              <a:t>     </a:t>
            </a:r>
            <a:r>
              <a:rPr lang="en-AU" sz="2800" dirty="0" err="1">
                <a:solidFill>
                  <a:srgbClr val="FF0000"/>
                </a:solidFill>
              </a:rPr>
              <a:t>Paillier</a:t>
            </a:r>
            <a:r>
              <a:rPr lang="en-AU" sz="2800" dirty="0"/>
              <a:t> (homomorphic </a:t>
            </a:r>
            <a:r>
              <a:rPr lang="en-US" sz="2800" dirty="0"/>
              <a:t>addition</a:t>
            </a:r>
            <a:r>
              <a:rPr lang="en-AU" sz="2800" dirty="0"/>
              <a:t>)</a:t>
            </a:r>
          </a:p>
        </p:txBody>
      </p:sp>
    </p:spTree>
    <p:extLst>
      <p:ext uri="{BB962C8B-B14F-4D97-AF65-F5344CB8AC3E}">
        <p14:creationId xmlns:p14="http://schemas.microsoft.com/office/powerpoint/2010/main" val="25075117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69547" y="18713"/>
            <a:ext cx="10353762" cy="715065"/>
          </a:xfrm>
        </p:spPr>
        <p:txBody>
          <a:bodyPr/>
          <a:lstStyle/>
          <a:p>
            <a:r>
              <a:rPr lang="en-AU" sz="3733" dirty="0"/>
              <a:t>RSA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6E39FD5-37A8-4348-8381-91D726EF0830}"/>
                  </a:ext>
                </a:extLst>
              </p:cNvPr>
              <p:cNvSpPr>
                <a:spLocks noGrp="1"/>
              </p:cNvSpPr>
              <p:nvPr>
                <p:ph idx="1"/>
              </p:nvPr>
            </p:nvSpPr>
            <p:spPr>
              <a:xfrm>
                <a:off x="554066" y="719100"/>
                <a:ext cx="11168033" cy="3220724"/>
              </a:xfrm>
            </p:spPr>
            <p:txBody>
              <a:bodyPr>
                <a:normAutofit fontScale="40000" lnSpcReduction="20000"/>
              </a:bodyPr>
              <a:lstStyle/>
              <a:p>
                <a:r>
                  <a:rPr lang="en-AU" sz="4500" dirty="0"/>
                  <a:t>Key</a:t>
                </a:r>
                <a:r>
                  <a:rPr lang="zh-CN" altLang="en-US" sz="4500" dirty="0"/>
                  <a:t> </a:t>
                </a:r>
                <a:r>
                  <a:rPr lang="en-AU" altLang="zh-CN" sz="4500" dirty="0"/>
                  <a:t>Generation</a:t>
                </a:r>
                <a:r>
                  <a:rPr lang="en-AU" sz="4500" dirty="0"/>
                  <a:t>:</a:t>
                </a:r>
              </a:p>
              <a:p>
                <a:pPr marL="450000" lvl="1" indent="0">
                  <a:buNone/>
                </a:pPr>
                <a:r>
                  <a:rPr lang="en-AU" sz="4500" dirty="0">
                    <a:effectLst/>
                    <a:ea typeface="DengXian" panose="02010600030101010101" pitchFamily="2" charset="-122"/>
                    <a:cs typeface="Times New Roman" panose="02020603050405020304" pitchFamily="18" charset="0"/>
                  </a:rPr>
                  <a:t>1. Select two large prime numbers </a:t>
                </a:r>
                <a14:m>
                  <m:oMath xmlns:m="http://schemas.openxmlformats.org/officeDocument/2006/math">
                    <m:r>
                      <a:rPr lang="en-AU" sz="4500" i="1">
                        <a:effectLst/>
                        <a:latin typeface="Cambria Math" panose="02040503050406030204" pitchFamily="18" charset="0"/>
                        <a:ea typeface="DengXian" panose="02010600030101010101" pitchFamily="2" charset="-122"/>
                        <a:cs typeface="Times New Roman" panose="02020603050405020304" pitchFamily="18" charset="0"/>
                      </a:rPr>
                      <m:t>𝑝</m:t>
                    </m:r>
                  </m:oMath>
                </a14:m>
                <a:r>
                  <a:rPr lang="en-AU" sz="4500" dirty="0">
                    <a:effectLst/>
                    <a:latin typeface="Calibri" panose="020F0502020204030204" pitchFamily="34" charset="0"/>
                    <a:ea typeface="DengXian" panose="02010600030101010101" pitchFamily="2" charset="-122"/>
                    <a:cs typeface="Times New Roman" panose="02020603050405020304" pitchFamily="18" charset="0"/>
                  </a:rPr>
                  <a:t> </a:t>
                </a:r>
                <a:r>
                  <a:rPr lang="en-AU" sz="4500" dirty="0"/>
                  <a:t>and</a:t>
                </a:r>
                <a:r>
                  <a:rPr lang="en-AU" sz="4500" dirty="0">
                    <a:effectLst/>
                    <a:latin typeface="Calibri" panose="020F0502020204030204" pitchFamily="34" charset="0"/>
                    <a:ea typeface="DengXian" panose="02010600030101010101" pitchFamily="2" charset="-122"/>
                    <a:cs typeface="Times New Roman" panose="02020603050405020304" pitchFamily="18" charset="0"/>
                  </a:rPr>
                  <a:t> </a:t>
                </a:r>
                <a14:m>
                  <m:oMath xmlns:m="http://schemas.openxmlformats.org/officeDocument/2006/math">
                    <m:r>
                      <a:rPr lang="en-AU" sz="4500" i="1">
                        <a:effectLst/>
                        <a:latin typeface="Cambria Math" panose="02040503050406030204" pitchFamily="18" charset="0"/>
                      </a:rPr>
                      <m:t>𝑞</m:t>
                    </m:r>
                  </m:oMath>
                </a14:m>
                <a:r>
                  <a:rPr lang="en-US" sz="4500" dirty="0"/>
                  <a:t> </a:t>
                </a:r>
                <a:r>
                  <a:rPr lang="en-AU" sz="4500" dirty="0">
                    <a:effectLst/>
                    <a:ea typeface="DengXian" panose="02010600030101010101" pitchFamily="2" charset="-122"/>
                    <a:cs typeface="Times New Roman" panose="02020603050405020304" pitchFamily="18" charset="0"/>
                  </a:rPr>
                  <a:t>(</a:t>
                </a:r>
                <a14:m>
                  <m:oMath xmlns:m="http://schemas.openxmlformats.org/officeDocument/2006/math">
                    <m:r>
                      <a:rPr lang="en-AU" sz="4500" i="1">
                        <a:effectLst/>
                        <a:latin typeface="Cambria Math" panose="02040503050406030204" pitchFamily="18" charset="0"/>
                      </a:rPr>
                      <m:t>𝑝</m:t>
                    </m:r>
                    <m:r>
                      <a:rPr lang="en-AU" sz="4500" i="1">
                        <a:effectLst/>
                        <a:latin typeface="Cambria Math" panose="02040503050406030204" pitchFamily="18" charset="0"/>
                      </a:rPr>
                      <m:t>≠</m:t>
                    </m:r>
                    <m:r>
                      <a:rPr lang="en-AU" sz="4500" i="1">
                        <a:effectLst/>
                        <a:latin typeface="Cambria Math" panose="02040503050406030204" pitchFamily="18" charset="0"/>
                      </a:rPr>
                      <m:t>𝑞</m:t>
                    </m:r>
                  </m:oMath>
                </a14:m>
                <a:r>
                  <a:rPr lang="en-AU" sz="4500" dirty="0">
                    <a:effectLst/>
                    <a:ea typeface="DengXian" panose="02010600030101010101" pitchFamily="2" charset="-122"/>
                    <a:cs typeface="Times New Roman" panose="02020603050405020304" pitchFamily="18" charset="0"/>
                  </a:rPr>
                  <a:t>), define:</a:t>
                </a:r>
              </a:p>
              <a:p>
                <a:pPr marL="450000" lvl="1" indent="0">
                  <a:buNone/>
                </a:pPr>
                <a:r>
                  <a:rPr lang="en-AU" sz="4500" dirty="0">
                    <a:effectLst/>
                  </a:rPr>
                  <a:t>								     </a:t>
                </a:r>
                <a14:m>
                  <m:oMath xmlns:m="http://schemas.openxmlformats.org/officeDocument/2006/math">
                    <m:r>
                      <a:rPr lang="en-AU" sz="4500" i="1" smtClean="0">
                        <a:effectLst/>
                        <a:latin typeface="Cambria Math" panose="02040503050406030204" pitchFamily="18" charset="0"/>
                      </a:rPr>
                      <m:t>𝑛</m:t>
                    </m:r>
                    <m:r>
                      <a:rPr lang="en-AU" sz="4500" i="1" smtClean="0">
                        <a:effectLst/>
                        <a:latin typeface="Cambria Math" panose="02040503050406030204" pitchFamily="18" charset="0"/>
                      </a:rPr>
                      <m:t>=</m:t>
                    </m:r>
                    <m:r>
                      <a:rPr lang="en-AU" sz="4500" i="1" smtClean="0">
                        <a:effectLst/>
                        <a:latin typeface="Cambria Math" panose="02040503050406030204" pitchFamily="18" charset="0"/>
                      </a:rPr>
                      <m:t>𝑝</m:t>
                    </m:r>
                    <m:r>
                      <a:rPr lang="en-AU" sz="4500" i="1" smtClean="0">
                        <a:effectLst/>
                        <a:latin typeface="Cambria Math" panose="02040503050406030204" pitchFamily="18" charset="0"/>
                      </a:rPr>
                      <m:t>∗ </m:t>
                    </m:r>
                    <m:r>
                      <a:rPr lang="en-AU" sz="4500" i="1" smtClean="0">
                        <a:effectLst/>
                        <a:latin typeface="Cambria Math" panose="02040503050406030204" pitchFamily="18" charset="0"/>
                      </a:rPr>
                      <m:t>𝑞</m:t>
                    </m:r>
                  </m:oMath>
                </a14:m>
                <a:endParaRPr lang="en-AU" sz="4500" dirty="0">
                  <a:effectLst/>
                  <a:latin typeface="Calibri" panose="020F0502020204030204" pitchFamily="34" charset="0"/>
                  <a:ea typeface="DengXian" panose="02010600030101010101" pitchFamily="2" charset="-122"/>
                  <a:cs typeface="Times New Roman" panose="02020603050405020304" pitchFamily="18" charset="0"/>
                </a:endParaRPr>
              </a:p>
              <a:p>
                <a:pPr marL="450000" lvl="1" indent="0">
                  <a:buNone/>
                </a:pPr>
                <a14:m>
                  <m:oMathPara xmlns:m="http://schemas.openxmlformats.org/officeDocument/2006/math">
                    <m:oMathParaPr>
                      <m:jc m:val="centerGroup"/>
                    </m:oMathParaPr>
                    <m:oMath xmlns:m="http://schemas.openxmlformats.org/officeDocument/2006/math">
                      <m:r>
                        <a:rPr lang="en-AU" sz="4500" i="1" smtClean="0">
                          <a:effectLst/>
                          <a:latin typeface="Cambria Math" panose="02040503050406030204" pitchFamily="18" charset="0"/>
                          <a:ea typeface="DengXian" panose="02010600030101010101" pitchFamily="2" charset="-122"/>
                          <a:cs typeface="Times New Roman" panose="02020603050405020304" pitchFamily="18" charset="0"/>
                        </a:rPr>
                        <m:t>𝜑</m:t>
                      </m:r>
                      <m:d>
                        <m:dPr>
                          <m:ctrlPr>
                            <a:rPr lang="en-AU" sz="45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AU" sz="4500" i="1">
                              <a:effectLst/>
                              <a:latin typeface="Cambria Math" panose="02040503050406030204" pitchFamily="18" charset="0"/>
                              <a:ea typeface="DengXian" panose="02010600030101010101" pitchFamily="2" charset="-122"/>
                              <a:cs typeface="Times New Roman" panose="02020603050405020304" pitchFamily="18" charset="0"/>
                            </a:rPr>
                            <m:t>𝑛</m:t>
                          </m:r>
                        </m:e>
                      </m:d>
                      <m:r>
                        <a:rPr lang="en-AU" sz="4500" i="1">
                          <a:effectLst/>
                          <a:latin typeface="Cambria Math" panose="02040503050406030204" pitchFamily="18" charset="0"/>
                          <a:ea typeface="DengXian" panose="02010600030101010101" pitchFamily="2" charset="-122"/>
                          <a:cs typeface="Times New Roman" panose="02020603050405020304" pitchFamily="18" charset="0"/>
                        </a:rPr>
                        <m:t>=</m:t>
                      </m:r>
                      <m:d>
                        <m:dPr>
                          <m:ctrlPr>
                            <a:rPr lang="en-AU" sz="45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AU" sz="4500" i="1">
                              <a:effectLst/>
                              <a:latin typeface="Cambria Math" panose="02040503050406030204" pitchFamily="18" charset="0"/>
                              <a:ea typeface="DengXian" panose="02010600030101010101" pitchFamily="2" charset="-122"/>
                              <a:cs typeface="Times New Roman" panose="02020603050405020304" pitchFamily="18" charset="0"/>
                            </a:rPr>
                            <m:t>𝑝</m:t>
                          </m:r>
                          <m:r>
                            <a:rPr lang="en-AU" sz="4500" i="1">
                              <a:effectLst/>
                              <a:latin typeface="Cambria Math" panose="02040503050406030204" pitchFamily="18" charset="0"/>
                              <a:ea typeface="DengXian" panose="02010600030101010101" pitchFamily="2" charset="-122"/>
                              <a:cs typeface="Times New Roman" panose="02020603050405020304" pitchFamily="18" charset="0"/>
                            </a:rPr>
                            <m:t>−1</m:t>
                          </m:r>
                        </m:e>
                      </m:d>
                      <m:r>
                        <a:rPr lang="en-AU" sz="4500" i="1">
                          <a:effectLst/>
                          <a:latin typeface="Cambria Math" panose="02040503050406030204" pitchFamily="18" charset="0"/>
                          <a:ea typeface="DengXian" panose="02010600030101010101" pitchFamily="2" charset="-122"/>
                          <a:cs typeface="Times New Roman" panose="02020603050405020304" pitchFamily="18" charset="0"/>
                        </a:rPr>
                        <m:t>∗(</m:t>
                      </m:r>
                      <m:r>
                        <a:rPr lang="en-AU" sz="4500" i="1">
                          <a:effectLst/>
                          <a:latin typeface="Cambria Math" panose="02040503050406030204" pitchFamily="18" charset="0"/>
                          <a:ea typeface="DengXian" panose="02010600030101010101" pitchFamily="2" charset="-122"/>
                          <a:cs typeface="Times New Roman" panose="02020603050405020304" pitchFamily="18" charset="0"/>
                        </a:rPr>
                        <m:t>𝑞</m:t>
                      </m:r>
                      <m:r>
                        <a:rPr lang="en-AU" sz="4500" i="1">
                          <a:effectLst/>
                          <a:latin typeface="Cambria Math" panose="02040503050406030204" pitchFamily="18" charset="0"/>
                          <a:ea typeface="DengXian" panose="02010600030101010101" pitchFamily="2" charset="-122"/>
                          <a:cs typeface="Times New Roman" panose="02020603050405020304" pitchFamily="18" charset="0"/>
                        </a:rPr>
                        <m:t>−1)</m:t>
                      </m:r>
                    </m:oMath>
                  </m:oMathPara>
                </a14:m>
                <a:endParaRPr lang="en-AU" sz="4500" dirty="0">
                  <a:effectLst/>
                  <a:latin typeface="Calibri" panose="020F0502020204030204" pitchFamily="34" charset="0"/>
                  <a:ea typeface="DengXian" panose="02010600030101010101" pitchFamily="2" charset="-122"/>
                  <a:cs typeface="Times New Roman" panose="02020603050405020304" pitchFamily="18" charset="0"/>
                </a:endParaRPr>
              </a:p>
              <a:p>
                <a:pPr marL="450000" lvl="1" indent="0">
                  <a:buNone/>
                </a:pPr>
                <a:r>
                  <a:rPr lang="en-AU" sz="4500" dirty="0">
                    <a:effectLst/>
                    <a:ea typeface="DengXian" panose="02010600030101010101" pitchFamily="2" charset="-122"/>
                    <a:cs typeface="Times New Roman" panose="02020603050405020304" pitchFamily="18" charset="0"/>
                  </a:rPr>
                  <a:t>2. Select an integer</a:t>
                </a:r>
                <a:r>
                  <a:rPr lang="en-AU" sz="4500" dirty="0">
                    <a:effectLst/>
                    <a:latin typeface="Calibri" panose="020F0502020204030204" pitchFamily="34" charset="0"/>
                    <a:ea typeface="DengXian" panose="02010600030101010101" pitchFamily="2" charset="-122"/>
                    <a:cs typeface="Times New Roman" panose="02020603050405020304" pitchFamily="18" charset="0"/>
                  </a:rPr>
                  <a:t> </a:t>
                </a:r>
                <a14:m>
                  <m:oMath xmlns:m="http://schemas.openxmlformats.org/officeDocument/2006/math">
                    <m:r>
                      <a:rPr lang="en-AU" sz="4500" i="1">
                        <a:effectLst/>
                        <a:latin typeface="Cambria Math" panose="02040503050406030204" pitchFamily="18" charset="0"/>
                      </a:rPr>
                      <m:t>𝑒</m:t>
                    </m:r>
                  </m:oMath>
                </a14:m>
                <a:r>
                  <a:rPr lang="en-AU" sz="4500" dirty="0">
                    <a:effectLst/>
                    <a:latin typeface="Calibri" panose="020F0502020204030204" pitchFamily="34" charset="0"/>
                    <a:ea typeface="DengXian" panose="02010600030101010101" pitchFamily="2" charset="-122"/>
                    <a:cs typeface="Times New Roman" panose="02020603050405020304" pitchFamily="18" charset="0"/>
                  </a:rPr>
                  <a:t>  </a:t>
                </a:r>
                <a:r>
                  <a:rPr lang="en-AU" sz="4500" dirty="0">
                    <a:effectLst/>
                    <a:ea typeface="DengXian" panose="02010600030101010101" pitchFamily="2" charset="-122"/>
                    <a:cs typeface="Times New Roman" panose="02020603050405020304" pitchFamily="18" charset="0"/>
                  </a:rPr>
                  <a:t>(</a:t>
                </a:r>
                <a14:m>
                  <m:oMath xmlns:m="http://schemas.openxmlformats.org/officeDocument/2006/math">
                    <m:r>
                      <a:rPr lang="en-AU" sz="4500" i="1" smtClean="0">
                        <a:effectLst/>
                        <a:latin typeface="Cambria Math" panose="02040503050406030204" pitchFamily="18" charset="0"/>
                        <a:ea typeface="DengXian" panose="02010600030101010101" pitchFamily="2" charset="-122"/>
                        <a:cs typeface="Times New Roman" panose="02020603050405020304" pitchFamily="18" charset="0"/>
                      </a:rPr>
                      <m:t>1&lt;</m:t>
                    </m:r>
                    <m:r>
                      <a:rPr lang="en-AU" sz="4500" i="1" smtClean="0">
                        <a:effectLst/>
                        <a:latin typeface="Cambria Math" panose="02040503050406030204" pitchFamily="18" charset="0"/>
                        <a:ea typeface="DengXian" panose="02010600030101010101" pitchFamily="2" charset="-122"/>
                        <a:cs typeface="Times New Roman" panose="02020603050405020304" pitchFamily="18" charset="0"/>
                      </a:rPr>
                      <m:t>𝑒</m:t>
                    </m:r>
                    <m:r>
                      <a:rPr lang="en-AU" sz="4500" i="1" smtClean="0">
                        <a:effectLst/>
                        <a:latin typeface="Cambria Math" panose="02040503050406030204" pitchFamily="18" charset="0"/>
                        <a:ea typeface="DengXian" panose="02010600030101010101" pitchFamily="2" charset="-122"/>
                        <a:cs typeface="Times New Roman" panose="02020603050405020304" pitchFamily="18" charset="0"/>
                      </a:rPr>
                      <m:t>&lt; </m:t>
                    </m:r>
                    <m:r>
                      <a:rPr lang="en-AU" sz="4500" i="1" smtClean="0">
                        <a:effectLst/>
                        <a:latin typeface="Cambria Math" panose="02040503050406030204" pitchFamily="18" charset="0"/>
                        <a:ea typeface="DengXian" panose="02010600030101010101" pitchFamily="2" charset="-122"/>
                        <a:cs typeface="Times New Roman" panose="02020603050405020304" pitchFamily="18" charset="0"/>
                      </a:rPr>
                      <m:t>𝜑</m:t>
                    </m:r>
                    <m:d>
                      <m:dPr>
                        <m:ctrlPr>
                          <a:rPr lang="en-AU" sz="4500" i="1" smtClean="0">
                            <a:effectLst/>
                            <a:latin typeface="Cambria Math" panose="02040503050406030204" pitchFamily="18" charset="0"/>
                            <a:ea typeface="DengXian" panose="02010600030101010101" pitchFamily="2" charset="-122"/>
                            <a:cs typeface="Times New Roman" panose="02020603050405020304" pitchFamily="18" charset="0"/>
                          </a:rPr>
                        </m:ctrlPr>
                      </m:dPr>
                      <m:e>
                        <m:r>
                          <a:rPr lang="en-AU" sz="4500" i="1">
                            <a:effectLst/>
                            <a:latin typeface="Cambria Math" panose="02040503050406030204" pitchFamily="18" charset="0"/>
                            <a:ea typeface="DengXian" panose="02010600030101010101" pitchFamily="2" charset="-122"/>
                            <a:cs typeface="Times New Roman" panose="02020603050405020304" pitchFamily="18" charset="0"/>
                          </a:rPr>
                          <m:t>𝑛</m:t>
                        </m:r>
                      </m:e>
                    </m:d>
                  </m:oMath>
                </a14:m>
                <a:r>
                  <a:rPr lang="en-AU" sz="4500" dirty="0">
                    <a:effectLst/>
                    <a:ea typeface="DengXian" panose="02010600030101010101" pitchFamily="2" charset="-122"/>
                    <a:cs typeface="Times New Roman" panose="02020603050405020304" pitchFamily="18" charset="0"/>
                  </a:rPr>
                  <a:t>)</a:t>
                </a:r>
                <a:r>
                  <a:rPr lang="en-AU" sz="4500" dirty="0">
                    <a:effectLst/>
                    <a:latin typeface="Calibri" panose="020F0502020204030204" pitchFamily="34" charset="0"/>
                    <a:ea typeface="DengXian" panose="02010600030101010101" pitchFamily="2" charset="-122"/>
                    <a:cs typeface="Times New Roman" panose="02020603050405020304" pitchFamily="18" charset="0"/>
                  </a:rPr>
                  <a:t> </a:t>
                </a:r>
                <a:r>
                  <a:rPr lang="en-AU" sz="4500" dirty="0">
                    <a:effectLst/>
                    <a:ea typeface="DengXian" panose="02010600030101010101" pitchFamily="2" charset="-122"/>
                    <a:cs typeface="Times New Roman" panose="02020603050405020304" pitchFamily="18" charset="0"/>
                  </a:rPr>
                  <a:t>and</a:t>
                </a:r>
                <a:r>
                  <a:rPr lang="en-AU" sz="4500" dirty="0">
                    <a:effectLst/>
                    <a:latin typeface="Calibri" panose="020F0502020204030204" pitchFamily="34" charset="0"/>
                    <a:ea typeface="DengXian" panose="02010600030101010101" pitchFamily="2" charset="-122"/>
                    <a:cs typeface="Times New Roman" panose="02020603050405020304" pitchFamily="18" charset="0"/>
                  </a:rPr>
                  <a:t> </a:t>
                </a:r>
                <a14:m>
                  <m:oMath xmlns:m="http://schemas.openxmlformats.org/officeDocument/2006/math">
                    <m:func>
                      <m:funcPr>
                        <m:ctrlPr>
                          <a:rPr lang="en-AU" sz="4500" i="1">
                            <a:effectLst/>
                            <a:latin typeface="Cambria Math" panose="02040503050406030204" pitchFamily="18" charset="0"/>
                          </a:rPr>
                        </m:ctrlPr>
                      </m:funcPr>
                      <m:fName>
                        <m:r>
                          <m:rPr>
                            <m:sty m:val="p"/>
                          </m:rPr>
                          <a:rPr lang="en-AU" sz="4500">
                            <a:effectLst/>
                            <a:latin typeface="Cambria Math" panose="02040503050406030204" pitchFamily="18" charset="0"/>
                          </a:rPr>
                          <m:t>gcd</m:t>
                        </m:r>
                      </m:fName>
                      <m:e>
                        <m:d>
                          <m:dPr>
                            <m:ctrlPr>
                              <a:rPr lang="en-AU" sz="4500" i="1">
                                <a:effectLst/>
                                <a:latin typeface="Cambria Math" panose="02040503050406030204" pitchFamily="18" charset="0"/>
                              </a:rPr>
                            </m:ctrlPr>
                          </m:dPr>
                          <m:e>
                            <m:r>
                              <a:rPr lang="en-AU" sz="4500" i="1">
                                <a:effectLst/>
                                <a:latin typeface="Cambria Math" panose="02040503050406030204" pitchFamily="18" charset="0"/>
                              </a:rPr>
                              <m:t>𝑒</m:t>
                            </m:r>
                            <m:r>
                              <a:rPr lang="en-AU" sz="4500" i="1">
                                <a:effectLst/>
                                <a:latin typeface="Cambria Math" panose="02040503050406030204" pitchFamily="18" charset="0"/>
                              </a:rPr>
                              <m:t>, </m:t>
                            </m:r>
                            <m:r>
                              <a:rPr lang="en-AU" sz="4500" i="1">
                                <a:effectLst/>
                                <a:latin typeface="Cambria Math" panose="02040503050406030204" pitchFamily="18" charset="0"/>
                              </a:rPr>
                              <m:t>𝜑</m:t>
                            </m:r>
                            <m:d>
                              <m:dPr>
                                <m:ctrlPr>
                                  <a:rPr lang="en-AU" sz="4500" i="1">
                                    <a:effectLst/>
                                    <a:latin typeface="Cambria Math" panose="02040503050406030204" pitchFamily="18" charset="0"/>
                                  </a:rPr>
                                </m:ctrlPr>
                              </m:dPr>
                              <m:e>
                                <m:r>
                                  <a:rPr lang="en-AU" sz="4500" i="1">
                                    <a:effectLst/>
                                    <a:latin typeface="Cambria Math" panose="02040503050406030204" pitchFamily="18" charset="0"/>
                                  </a:rPr>
                                  <m:t>𝑛</m:t>
                                </m:r>
                              </m:e>
                            </m:d>
                          </m:e>
                        </m:d>
                        <m:r>
                          <a:rPr lang="en-AU" sz="4500" i="1">
                            <a:effectLst/>
                            <a:latin typeface="Cambria Math" panose="02040503050406030204" pitchFamily="18" charset="0"/>
                          </a:rPr>
                          <m:t>=1</m:t>
                        </m:r>
                      </m:e>
                    </m:func>
                  </m:oMath>
                </a14:m>
                <a:r>
                  <a:rPr lang="en-AU" sz="4500" dirty="0">
                    <a:effectLst/>
                    <a:latin typeface="Calibri" panose="020F0502020204030204" pitchFamily="34" charset="0"/>
                    <a:ea typeface="DengXian" panose="02010600030101010101" pitchFamily="2" charset="-122"/>
                    <a:cs typeface="Times New Roman" panose="02020603050405020304" pitchFamily="18" charset="0"/>
                  </a:rPr>
                  <a:t> </a:t>
                </a:r>
                <a:r>
                  <a:rPr lang="en-AU" sz="4500" dirty="0">
                    <a:effectLst/>
                    <a:ea typeface="DengXian" panose="02010600030101010101" pitchFamily="2" charset="-122"/>
                    <a:cs typeface="Times New Roman" panose="02020603050405020304" pitchFamily="18" charset="0"/>
                  </a:rPr>
                  <a:t>, define:</a:t>
                </a:r>
              </a:p>
              <a:p>
                <a:pPr marL="450000" lvl="1" indent="0">
                  <a:buNone/>
                </a:pPr>
                <a:r>
                  <a:rPr lang="en-AU" sz="4500" dirty="0">
                    <a:effectLst/>
                    <a:ea typeface="DengXian" panose="02010600030101010101" pitchFamily="2" charset="-122"/>
                    <a:cs typeface="Times New Roman" panose="02020603050405020304" pitchFamily="18" charset="0"/>
                  </a:rPr>
                  <a:t>                                               </a:t>
                </a:r>
                <a14:m>
                  <m:oMath xmlns:m="http://schemas.openxmlformats.org/officeDocument/2006/math">
                    <m:r>
                      <a:rPr lang="en-AU" sz="4500" i="1" smtClean="0">
                        <a:effectLst/>
                        <a:latin typeface="Cambria Math" panose="02040503050406030204" pitchFamily="18" charset="0"/>
                        <a:ea typeface="DengXian" panose="02010600030101010101" pitchFamily="2" charset="-122"/>
                        <a:cs typeface="Times New Roman" panose="02020603050405020304" pitchFamily="18" charset="0"/>
                      </a:rPr>
                      <m:t>𝑑</m:t>
                    </m:r>
                    <m:r>
                      <a:rPr lang="en-AU" sz="4500" i="1" smtClean="0">
                        <a:effectLst/>
                        <a:latin typeface="Cambria Math" panose="02040503050406030204" pitchFamily="18" charset="0"/>
                        <a:ea typeface="DengXian" panose="02010600030101010101" pitchFamily="2" charset="-122"/>
                        <a:cs typeface="Times New Roman" panose="02020603050405020304" pitchFamily="18" charset="0"/>
                      </a:rPr>
                      <m:t>=</m:t>
                    </m:r>
                    <m:sSup>
                      <m:sSupPr>
                        <m:ctrlPr>
                          <a:rPr lang="en-AU" sz="4500" i="1">
                            <a:effectLst/>
                            <a:latin typeface="Cambria Math" panose="02040503050406030204" pitchFamily="18" charset="0"/>
                          </a:rPr>
                        </m:ctrlPr>
                      </m:sSupPr>
                      <m:e>
                        <m:r>
                          <a:rPr lang="en-AU" sz="4500" i="1">
                            <a:effectLst/>
                            <a:latin typeface="Cambria Math" panose="02040503050406030204" pitchFamily="18" charset="0"/>
                            <a:ea typeface="DengXian" panose="02010600030101010101" pitchFamily="2" charset="-122"/>
                            <a:cs typeface="Times New Roman" panose="02020603050405020304" pitchFamily="18" charset="0"/>
                          </a:rPr>
                          <m:t>𝑒</m:t>
                        </m:r>
                      </m:e>
                      <m:sup>
                        <m:r>
                          <a:rPr lang="en-AU" sz="4500" i="1">
                            <a:effectLst/>
                            <a:latin typeface="Cambria Math" panose="02040503050406030204" pitchFamily="18" charset="0"/>
                            <a:ea typeface="DengXian" panose="02010600030101010101" pitchFamily="2" charset="-122"/>
                            <a:cs typeface="Times New Roman" panose="02020603050405020304" pitchFamily="18" charset="0"/>
                          </a:rPr>
                          <m:t>−1</m:t>
                        </m:r>
                      </m:sup>
                    </m:sSup>
                    <m:r>
                      <a:rPr lang="en-AU" sz="4500" i="1">
                        <a:effectLst/>
                        <a:latin typeface="Cambria Math" panose="02040503050406030204" pitchFamily="18" charset="0"/>
                        <a:ea typeface="DengXian" panose="02010600030101010101" pitchFamily="2" charset="-122"/>
                        <a:cs typeface="Times New Roman" panose="02020603050405020304" pitchFamily="18" charset="0"/>
                      </a:rPr>
                      <m:t> </m:t>
                    </m:r>
                    <m:r>
                      <a:rPr lang="en-AU" sz="4500" i="1">
                        <a:effectLst/>
                        <a:latin typeface="Cambria Math" panose="02040503050406030204" pitchFamily="18" charset="0"/>
                        <a:ea typeface="DengXian" panose="02010600030101010101" pitchFamily="2" charset="-122"/>
                        <a:cs typeface="Times New Roman" panose="02020603050405020304" pitchFamily="18" charset="0"/>
                      </a:rPr>
                      <m:t>𝑚𝑜𝑑</m:t>
                    </m:r>
                    <m:r>
                      <a:rPr lang="en-AU" sz="4500" i="1">
                        <a:effectLst/>
                        <a:latin typeface="Cambria Math" panose="02040503050406030204" pitchFamily="18" charset="0"/>
                        <a:ea typeface="DengXian" panose="02010600030101010101" pitchFamily="2" charset="-122"/>
                        <a:cs typeface="Times New Roman" panose="02020603050405020304" pitchFamily="18" charset="0"/>
                      </a:rPr>
                      <m:t> </m:t>
                    </m:r>
                    <m:r>
                      <a:rPr lang="en-AU" sz="4500" i="1">
                        <a:effectLst/>
                        <a:latin typeface="Cambria Math" panose="02040503050406030204" pitchFamily="18" charset="0"/>
                        <a:ea typeface="DengXian" panose="02010600030101010101" pitchFamily="2" charset="-122"/>
                        <a:cs typeface="Times New Roman" panose="02020603050405020304" pitchFamily="18" charset="0"/>
                      </a:rPr>
                      <m:t>𝜑</m:t>
                    </m:r>
                    <m:d>
                      <m:dPr>
                        <m:ctrlPr>
                          <a:rPr lang="en-AU" sz="4500" i="1">
                            <a:effectLst/>
                            <a:latin typeface="Cambria Math" panose="02040503050406030204" pitchFamily="18" charset="0"/>
                          </a:rPr>
                        </m:ctrlPr>
                      </m:dPr>
                      <m:e>
                        <m:r>
                          <a:rPr lang="en-AU" sz="4500" i="1">
                            <a:effectLst/>
                            <a:latin typeface="Cambria Math" panose="02040503050406030204" pitchFamily="18" charset="0"/>
                            <a:ea typeface="DengXian" panose="02010600030101010101" pitchFamily="2" charset="-122"/>
                            <a:cs typeface="Times New Roman" panose="02020603050405020304" pitchFamily="18" charset="0"/>
                          </a:rPr>
                          <m:t>𝑛</m:t>
                        </m:r>
                      </m:e>
                    </m:d>
                  </m:oMath>
                </a14:m>
                <a:r>
                  <a:rPr lang="en-AU" sz="4500" dirty="0">
                    <a:effectLst/>
                    <a:latin typeface="Calibri" panose="020F0502020204030204" pitchFamily="34" charset="0"/>
                    <a:ea typeface="DengXian" panose="02010600030101010101" pitchFamily="2" charset="-122"/>
                    <a:cs typeface="Times New Roman" panose="02020603050405020304" pitchFamily="18" charset="0"/>
                  </a:rPr>
                  <a:t> </a:t>
                </a:r>
                <a:r>
                  <a:rPr lang="en-AU" sz="4500" dirty="0">
                    <a:effectLst/>
                    <a:ea typeface="DengXian" panose="02010600030101010101" pitchFamily="2" charset="-122"/>
                    <a:cs typeface="Times New Roman" panose="02020603050405020304" pitchFamily="18" charset="0"/>
                  </a:rPr>
                  <a:t>or</a:t>
                </a:r>
                <a:r>
                  <a:rPr lang="en-AU" sz="4500" dirty="0">
                    <a:effectLst/>
                    <a:latin typeface="Calibri" panose="020F0502020204030204" pitchFamily="34" charset="0"/>
                    <a:ea typeface="DengXian" panose="02010600030101010101" pitchFamily="2" charset="-122"/>
                    <a:cs typeface="Times New Roman" panose="02020603050405020304" pitchFamily="18" charset="0"/>
                  </a:rPr>
                  <a:t> </a:t>
                </a:r>
                <a14:m>
                  <m:oMath xmlns:m="http://schemas.openxmlformats.org/officeDocument/2006/math">
                    <m:r>
                      <a:rPr lang="en-AU" sz="4500" i="1">
                        <a:effectLst/>
                        <a:latin typeface="Cambria Math" panose="02040503050406030204" pitchFamily="18" charset="0"/>
                      </a:rPr>
                      <m:t>𝑒𝑑</m:t>
                    </m:r>
                    <m:r>
                      <a:rPr lang="en-AU" sz="4500" b="0" i="1" smtClean="0">
                        <a:effectLst/>
                        <a:latin typeface="Cambria Math" panose="02040503050406030204" pitchFamily="18" charset="0"/>
                      </a:rPr>
                      <m:t> </m:t>
                    </m:r>
                    <m:r>
                      <a:rPr lang="en-AU" sz="4500" i="1">
                        <a:effectLst/>
                        <a:latin typeface="Cambria Math" panose="02040503050406030204" pitchFamily="18" charset="0"/>
                      </a:rPr>
                      <m:t>𝑚𝑜𝑑</m:t>
                    </m:r>
                    <m:r>
                      <a:rPr lang="en-AU" sz="4500" i="1">
                        <a:effectLst/>
                        <a:latin typeface="Cambria Math" panose="02040503050406030204" pitchFamily="18" charset="0"/>
                      </a:rPr>
                      <m:t> </m:t>
                    </m:r>
                    <m:r>
                      <a:rPr lang="en-AU" sz="4500" i="1">
                        <a:effectLst/>
                        <a:latin typeface="Cambria Math" panose="02040503050406030204" pitchFamily="18" charset="0"/>
                      </a:rPr>
                      <m:t>𝜑</m:t>
                    </m:r>
                    <m:d>
                      <m:dPr>
                        <m:ctrlPr>
                          <a:rPr lang="en-AU" sz="4500" i="1">
                            <a:effectLst/>
                            <a:latin typeface="Cambria Math" panose="02040503050406030204" pitchFamily="18" charset="0"/>
                          </a:rPr>
                        </m:ctrlPr>
                      </m:dPr>
                      <m:e>
                        <m:r>
                          <a:rPr lang="en-AU" sz="4500" i="1">
                            <a:effectLst/>
                            <a:latin typeface="Cambria Math" panose="02040503050406030204" pitchFamily="18" charset="0"/>
                          </a:rPr>
                          <m:t>𝑛</m:t>
                        </m:r>
                      </m:e>
                    </m:d>
                    <m:r>
                      <a:rPr lang="en-AU" sz="4500" i="1">
                        <a:effectLst/>
                        <a:latin typeface="Cambria Math" panose="02040503050406030204" pitchFamily="18" charset="0"/>
                        <a:ea typeface="DengXian" panose="02010600030101010101" pitchFamily="2" charset="-122"/>
                        <a:cs typeface="Times New Roman" panose="02020603050405020304" pitchFamily="18" charset="0"/>
                      </a:rPr>
                      <m:t>=</m:t>
                    </m:r>
                    <m:r>
                      <a:rPr lang="en-AU" sz="4500" i="1">
                        <a:effectLst/>
                        <a:latin typeface="Cambria Math" panose="02040503050406030204" pitchFamily="18" charset="0"/>
                      </a:rPr>
                      <m:t>1</m:t>
                    </m:r>
                  </m:oMath>
                </a14:m>
                <a:endParaRPr lang="en-AU" sz="4500" dirty="0">
                  <a:effectLst/>
                  <a:latin typeface="Calibri" panose="020F0502020204030204" pitchFamily="34" charset="0"/>
                  <a:ea typeface="DengXian" panose="02010600030101010101" pitchFamily="2" charset="-122"/>
                  <a:cs typeface="Times New Roman" panose="02020603050405020304" pitchFamily="18" charset="0"/>
                </a:endParaRPr>
              </a:p>
              <a:p>
                <a:pPr marL="450000" lvl="1" indent="0">
                  <a:buNone/>
                </a:pPr>
                <a:r>
                  <a:rPr lang="en-AU" sz="4500" dirty="0">
                    <a:effectLst/>
                  </a:rPr>
                  <a:t>, where </a:t>
                </a:r>
                <a14:m>
                  <m:oMath xmlns:m="http://schemas.openxmlformats.org/officeDocument/2006/math">
                    <m:r>
                      <m:rPr>
                        <m:sty m:val="p"/>
                      </m:rPr>
                      <a:rPr lang="en-AU" sz="4500" smtClean="0">
                        <a:effectLst/>
                        <a:latin typeface="Cambria Math" panose="02040503050406030204" pitchFamily="18" charset="0"/>
                      </a:rPr>
                      <m:t>gcd</m:t>
                    </m:r>
                  </m:oMath>
                </a14:m>
                <a:r>
                  <a:rPr lang="en-US" sz="4500" dirty="0">
                    <a:solidFill>
                      <a:srgbClr val="E2EEFF"/>
                    </a:solidFill>
                    <a:effectLst/>
                  </a:rPr>
                  <a:t> refers to the </a:t>
                </a:r>
                <a:r>
                  <a:rPr lang="en-US" sz="4500" b="0" i="0" dirty="0">
                    <a:solidFill>
                      <a:srgbClr val="E2EEFF"/>
                    </a:solidFill>
                    <a:effectLst/>
                  </a:rPr>
                  <a:t>greatest common divisor</a:t>
                </a:r>
                <a:r>
                  <a:rPr lang="en-US" sz="4500" dirty="0">
                    <a:solidFill>
                      <a:srgbClr val="E8EAED"/>
                    </a:solidFill>
                    <a:effectLst/>
                  </a:rPr>
                  <a:t> </a:t>
                </a:r>
                <a:r>
                  <a:rPr lang="en-US" sz="4500" b="0" i="0" dirty="0">
                    <a:solidFill>
                      <a:srgbClr val="E8EAED"/>
                    </a:solidFill>
                    <a:effectLst/>
                  </a:rPr>
                  <a:t>of two or more integers. </a:t>
                </a:r>
                <a14:m>
                  <m:oMath xmlns:m="http://schemas.openxmlformats.org/officeDocument/2006/math">
                    <m:r>
                      <a:rPr lang="en-AU" sz="4800" i="1">
                        <a:effectLst/>
                        <a:latin typeface="Cambria Math" panose="02040503050406030204" pitchFamily="18" charset="0"/>
                      </a:rPr>
                      <m:t>𝑒</m:t>
                    </m:r>
                  </m:oMath>
                </a14:m>
                <a:r>
                  <a:rPr lang="en-US" sz="4500" b="0" i="0" dirty="0">
                    <a:solidFill>
                      <a:srgbClr val="E8EAED"/>
                    </a:solidFill>
                    <a:effectLst/>
                  </a:rPr>
                  <a:t> and </a:t>
                </a:r>
                <a14:m>
                  <m:oMath xmlns:m="http://schemas.openxmlformats.org/officeDocument/2006/math">
                    <m:r>
                      <a:rPr lang="en-AU" sz="4800" i="1">
                        <a:effectLst/>
                        <a:latin typeface="Cambria Math" panose="02040503050406030204" pitchFamily="18" charset="0"/>
                        <a:ea typeface="DengXian" panose="02010600030101010101" pitchFamily="2" charset="-122"/>
                        <a:cs typeface="Times New Roman" panose="02020603050405020304" pitchFamily="18" charset="0"/>
                      </a:rPr>
                      <m:t>𝜑</m:t>
                    </m:r>
                    <m:d>
                      <m:dPr>
                        <m:ctrlPr>
                          <a:rPr lang="en-AU" sz="48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AU" sz="4800" i="1">
                            <a:effectLst/>
                            <a:latin typeface="Cambria Math" panose="02040503050406030204" pitchFamily="18" charset="0"/>
                            <a:ea typeface="DengXian" panose="02010600030101010101" pitchFamily="2" charset="-122"/>
                            <a:cs typeface="Times New Roman" panose="02020603050405020304" pitchFamily="18" charset="0"/>
                          </a:rPr>
                          <m:t>𝑛</m:t>
                        </m:r>
                      </m:e>
                    </m:d>
                    <m:r>
                      <a:rPr lang="en-AU" sz="4800" i="1">
                        <a:effectLst/>
                        <a:latin typeface="Cambria Math" panose="02040503050406030204" pitchFamily="18" charset="0"/>
                        <a:ea typeface="DengXian" panose="02010600030101010101" pitchFamily="2" charset="-122"/>
                        <a:cs typeface="Times New Roman" panose="02020603050405020304" pitchFamily="18" charset="0"/>
                      </a:rPr>
                      <m:t> </m:t>
                    </m:r>
                  </m:oMath>
                </a14:m>
                <a:r>
                  <a:rPr lang="en-US" sz="4500" b="0" i="0" dirty="0">
                    <a:solidFill>
                      <a:srgbClr val="E8EAED"/>
                    </a:solidFill>
                    <a:effectLst/>
                  </a:rPr>
                  <a:t>are coprime. </a:t>
                </a:r>
                <a14:m>
                  <m:oMath xmlns:m="http://schemas.openxmlformats.org/officeDocument/2006/math">
                    <m:r>
                      <a:rPr lang="en-AU" sz="4500" i="1">
                        <a:effectLst/>
                        <a:latin typeface="Cambria Math" panose="02040503050406030204" pitchFamily="18" charset="0"/>
                        <a:ea typeface="DengXian" panose="02010600030101010101" pitchFamily="2" charset="-122"/>
                        <a:cs typeface="Times New Roman" panose="02020603050405020304" pitchFamily="18" charset="0"/>
                      </a:rPr>
                      <m:t>𝑑</m:t>
                    </m:r>
                  </m:oMath>
                </a14:m>
                <a:r>
                  <a:rPr lang="en-AU" sz="4500" dirty="0">
                    <a:effectLst/>
                    <a:latin typeface="Calibri" panose="020F0502020204030204" pitchFamily="34" charset="0"/>
                    <a:ea typeface="DengXian" panose="02010600030101010101" pitchFamily="2" charset="-122"/>
                    <a:cs typeface="Times New Roman" panose="02020603050405020304" pitchFamily="18" charset="0"/>
                  </a:rPr>
                  <a:t> </a:t>
                </a:r>
                <a:r>
                  <a:rPr lang="en-AU" sz="4500" dirty="0">
                    <a:effectLst/>
                    <a:ea typeface="DengXian" panose="02010600030101010101" pitchFamily="2" charset="-122"/>
                    <a:cs typeface="Times New Roman" panose="02020603050405020304" pitchFamily="18" charset="0"/>
                  </a:rPr>
                  <a:t>is</a:t>
                </a:r>
                <a:r>
                  <a:rPr lang="en-AU" sz="4500" dirty="0">
                    <a:effectLst/>
                    <a:latin typeface="Calibri" panose="020F0502020204030204" pitchFamily="34" charset="0"/>
                    <a:ea typeface="DengXian" panose="02010600030101010101" pitchFamily="2" charset="-122"/>
                    <a:cs typeface="Times New Roman" panose="02020603050405020304" pitchFamily="18" charset="0"/>
                  </a:rPr>
                  <a:t> </a:t>
                </a:r>
                <a14:m>
                  <m:oMath xmlns:m="http://schemas.openxmlformats.org/officeDocument/2006/math">
                    <m:r>
                      <a:rPr lang="en-AU" sz="4500" i="1">
                        <a:effectLst/>
                        <a:latin typeface="Cambria Math" panose="02040503050406030204" pitchFamily="18" charset="0"/>
                      </a:rPr>
                      <m:t>𝑒</m:t>
                    </m:r>
                  </m:oMath>
                </a14:m>
                <a:r>
                  <a:rPr lang="en-AU" sz="4500" dirty="0">
                    <a:effectLst/>
                  </a:rPr>
                  <a:t>’s</a:t>
                </a:r>
                <a:r>
                  <a:rPr lang="en-AU" sz="4500" dirty="0">
                    <a:effectLst/>
                    <a:latin typeface="Calibri" panose="020F0502020204030204" pitchFamily="34" charset="0"/>
                    <a:ea typeface="DengXian" panose="02010600030101010101" pitchFamily="2" charset="-122"/>
                    <a:cs typeface="Times New Roman" panose="02020603050405020304" pitchFamily="18" charset="0"/>
                  </a:rPr>
                  <a:t> </a:t>
                </a:r>
                <a:r>
                  <a:rPr lang="en-AU" sz="4500" dirty="0">
                    <a:effectLst/>
                  </a:rPr>
                  <a:t>modular multiplicative inverse.</a:t>
                </a:r>
                <a:endParaRPr lang="en-US" sz="4500" b="0" i="0" dirty="0">
                  <a:solidFill>
                    <a:srgbClr val="E8EAED"/>
                  </a:solidFill>
                  <a:effectLst/>
                </a:endParaRPr>
              </a:p>
              <a:p>
                <a:pPr marL="450000" lvl="1" indent="0">
                  <a:buNone/>
                </a:pPr>
                <a:r>
                  <a:rPr lang="en-AU" sz="4500" dirty="0">
                    <a:effectLst/>
                    <a:ea typeface="DengXian" panose="02010600030101010101" pitchFamily="2" charset="-122"/>
                    <a:cs typeface="Times New Roman" panose="02020603050405020304" pitchFamily="18" charset="0"/>
                  </a:rPr>
                  <a:t>3. </a:t>
                </a:r>
                <a:r>
                  <a:rPr lang="en-AU" sz="4500" dirty="0"/>
                  <a:t>Public Key = {</a:t>
                </a:r>
                <a14:m>
                  <m:oMath xmlns:m="http://schemas.openxmlformats.org/officeDocument/2006/math">
                    <m:r>
                      <a:rPr lang="en-AU" sz="4500" b="0" i="1">
                        <a:latin typeface="Cambria Math" panose="02040503050406030204" pitchFamily="18" charset="0"/>
                        <a:ea typeface="DengXian" panose="02010600030101010101" pitchFamily="2" charset="-122"/>
                        <a:cs typeface="Times New Roman" panose="02020603050405020304" pitchFamily="18" charset="0"/>
                      </a:rPr>
                      <m:t>𝑒</m:t>
                    </m:r>
                  </m:oMath>
                </a14:m>
                <a:r>
                  <a:rPr lang="en-AU" sz="4500" dirty="0"/>
                  <a:t>, </a:t>
                </a:r>
                <a14:m>
                  <m:oMath xmlns:m="http://schemas.openxmlformats.org/officeDocument/2006/math">
                    <m:r>
                      <a:rPr lang="en-AU" sz="4500" b="0" i="1" smtClean="0">
                        <a:effectLst/>
                        <a:latin typeface="Cambria Math" panose="02040503050406030204" pitchFamily="18" charset="0"/>
                      </a:rPr>
                      <m:t>𝑛</m:t>
                    </m:r>
                  </m:oMath>
                </a14:m>
                <a:r>
                  <a:rPr lang="en-AU" sz="4500" dirty="0"/>
                  <a:t>}, Private Key = {</a:t>
                </a:r>
                <a14:m>
                  <m:oMath xmlns:m="http://schemas.openxmlformats.org/officeDocument/2006/math">
                    <m:r>
                      <a:rPr lang="en-AU" sz="4500" i="1">
                        <a:latin typeface="Cambria Math" panose="02040503050406030204" pitchFamily="18" charset="0"/>
                        <a:ea typeface="DengXian" panose="02010600030101010101" pitchFamily="2" charset="-122"/>
                        <a:cs typeface="Times New Roman" panose="02020603050405020304" pitchFamily="18" charset="0"/>
                      </a:rPr>
                      <m:t>𝑑</m:t>
                    </m:r>
                  </m:oMath>
                </a14:m>
                <a:r>
                  <a:rPr lang="en-AU" sz="4500" dirty="0"/>
                  <a:t>}</a:t>
                </a:r>
              </a:p>
              <a:p>
                <a:pPr marL="450000" lvl="1" indent="0">
                  <a:buNone/>
                </a:pPr>
                <a:endParaRPr lang="en-AU" sz="4400" dirty="0">
                  <a:effectLst/>
                  <a:ea typeface="DengXian" panose="02010600030101010101" pitchFamily="2" charset="-122"/>
                  <a:cs typeface="Times New Roman" panose="02020603050405020304" pitchFamily="18" charset="0"/>
                </a:endParaRPr>
              </a:p>
              <a:p>
                <a:pPr marL="450000" lvl="1" indent="0">
                  <a:buNone/>
                </a:pPr>
                <a:endParaRPr lang="en-AU" sz="2800" dirty="0">
                  <a:effectLst/>
                  <a:ea typeface="DengXian" panose="02010600030101010101" pitchFamily="2" charset="-122"/>
                  <a:cs typeface="Times New Roman" panose="02020603050405020304" pitchFamily="18" charset="0"/>
                </a:endParaRPr>
              </a:p>
              <a:p>
                <a:pPr marL="450000" lvl="1" indent="0">
                  <a:buNone/>
                </a:pPr>
                <a:endParaRPr lang="en-AU" sz="2800" dirty="0"/>
              </a:p>
            </p:txBody>
          </p:sp>
        </mc:Choice>
        <mc:Fallback xmlns="">
          <p:sp>
            <p:nvSpPr>
              <p:cNvPr id="3" name="Content Placeholder 2">
                <a:extLst>
                  <a:ext uri="{FF2B5EF4-FFF2-40B4-BE49-F238E27FC236}">
                    <a16:creationId xmlns:a16="http://schemas.microsoft.com/office/drawing/2014/main" id="{16E39FD5-37A8-4348-8381-91D726EF0830}"/>
                  </a:ext>
                </a:extLst>
              </p:cNvPr>
              <p:cNvSpPr>
                <a:spLocks noGrp="1" noRot="1" noChangeAspect="1" noMove="1" noResize="1" noEditPoints="1" noAdjustHandles="1" noChangeArrowheads="1" noChangeShapeType="1" noTextEdit="1"/>
              </p:cNvSpPr>
              <p:nvPr>
                <p:ph idx="1"/>
              </p:nvPr>
            </p:nvSpPr>
            <p:spPr>
              <a:xfrm>
                <a:off x="554066" y="719100"/>
                <a:ext cx="11168033" cy="3220724"/>
              </a:xfrm>
              <a:blipFill>
                <a:blip r:embed="rId3"/>
                <a:stretch>
                  <a:fillRect/>
                </a:stretch>
              </a:blipFill>
            </p:spPr>
            <p:txBody>
              <a:bodyPr/>
              <a:lstStyle/>
              <a:p>
                <a:r>
                  <a:rPr lang="en-AU">
                    <a:noFill/>
                  </a:rPr>
                  <a:t> </a:t>
                </a:r>
              </a:p>
            </p:txBody>
          </p:sp>
        </mc:Fallback>
      </mc:AlternateContent>
      <p:sp>
        <p:nvSpPr>
          <p:cNvPr id="5" name="Rounded Rectangle 6">
            <a:extLst>
              <a:ext uri="{FF2B5EF4-FFF2-40B4-BE49-F238E27FC236}">
                <a16:creationId xmlns:a16="http://schemas.microsoft.com/office/drawing/2014/main" id="{CAA7A278-5B3B-44D6-9CD1-D4768B2395DF}"/>
              </a:ext>
            </a:extLst>
          </p:cNvPr>
          <p:cNvSpPr/>
          <p:nvPr/>
        </p:nvSpPr>
        <p:spPr>
          <a:xfrm>
            <a:off x="950213" y="5448300"/>
            <a:ext cx="2694687" cy="1003300"/>
          </a:xfrm>
          <a:prstGeom prst="roundRect">
            <a:avLst/>
          </a:prstGeom>
          <a:noFill/>
          <a:ln>
            <a:noFill/>
          </a:ln>
        </p:spPr>
        <p:style>
          <a:lnRef idx="3">
            <a:schemeClr val="lt1"/>
          </a:lnRef>
          <a:fillRef idx="1">
            <a:schemeClr val="accent1"/>
          </a:fillRef>
          <a:effectRef idx="1">
            <a:schemeClr val="accent1"/>
          </a:effectRef>
          <a:fontRef idx="minor">
            <a:schemeClr val="lt1"/>
          </a:fontRef>
        </p:style>
        <p:txBody>
          <a:bodyPr rtlCol="0" anchor="ctr"/>
          <a:lstStyle/>
          <a:p>
            <a:endParaRPr lang="en-AU" sz="2400" dirty="0"/>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4F5B4539-1F2F-4FE7-B0FE-6CACBF149B2A}"/>
                  </a:ext>
                </a:extLst>
              </p:cNvPr>
              <p:cNvSpPr txBox="1">
                <a:spLocks/>
              </p:cNvSpPr>
              <p:nvPr/>
            </p:nvSpPr>
            <p:spPr>
              <a:xfrm>
                <a:off x="587934" y="3759200"/>
                <a:ext cx="9583355" cy="2968979"/>
              </a:xfrm>
              <a:prstGeom prst="rect">
                <a:avLst/>
              </a:prstGeom>
              <a:effectLst>
                <a:outerShdw blurRad="25400" dir="17880000">
                  <a:srgbClr val="000000">
                    <a:alpha val="46000"/>
                  </a:srgbClr>
                </a:outerShdw>
              </a:effectLst>
            </p:spPr>
            <p:txBody>
              <a:bodyPr vert="horz" lIns="91440" tIns="45720" rIns="91440" bIns="45720" rtlCol="0" anchor="t">
                <a:normAutofit fontScale="70000" lnSpcReduction="20000"/>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AU" sz="2600" dirty="0"/>
                  <a:t>An example:</a:t>
                </a:r>
              </a:p>
              <a:p>
                <a:pPr marL="450000" lvl="1" indent="0">
                  <a:buFont typeface="Wingdings 2" charset="2"/>
                  <a:buNone/>
                </a:pPr>
                <a:r>
                  <a:rPr lang="en-AU" sz="2600" dirty="0">
                    <a:effectLst/>
                    <a:ea typeface="DengXian" panose="02010600030101010101" pitchFamily="2" charset="-122"/>
                    <a:cs typeface="Times New Roman" panose="02020603050405020304" pitchFamily="18" charset="0"/>
                  </a:rPr>
                  <a:t>1. </a:t>
                </a:r>
                <a14:m>
                  <m:oMath xmlns:m="http://schemas.openxmlformats.org/officeDocument/2006/math">
                    <m:r>
                      <a:rPr lang="en-AU" sz="2600" i="1">
                        <a:effectLst/>
                        <a:latin typeface="Cambria Math" panose="02040503050406030204" pitchFamily="18" charset="0"/>
                        <a:ea typeface="DengXian" panose="02010600030101010101" pitchFamily="2" charset="-122"/>
                        <a:cs typeface="Times New Roman" panose="02020603050405020304" pitchFamily="18" charset="0"/>
                      </a:rPr>
                      <m:t>𝑝</m:t>
                    </m:r>
                    <m:r>
                      <a:rPr lang="en-AU" sz="2600" b="0" i="1" smtClean="0">
                        <a:effectLst/>
                        <a:latin typeface="Cambria Math" panose="02040503050406030204" pitchFamily="18" charset="0"/>
                        <a:ea typeface="DengXian" panose="02010600030101010101" pitchFamily="2" charset="-122"/>
                        <a:cs typeface="Times New Roman" panose="02020603050405020304" pitchFamily="18" charset="0"/>
                      </a:rPr>
                      <m:t>=5</m:t>
                    </m:r>
                  </m:oMath>
                </a14:m>
                <a:r>
                  <a:rPr lang="en-AU" sz="2600" dirty="0">
                    <a:effectLst/>
                    <a:latin typeface="Calibri" panose="020F0502020204030204" pitchFamily="34" charset="0"/>
                    <a:ea typeface="DengXian" panose="02010600030101010101" pitchFamily="2" charset="-122"/>
                    <a:cs typeface="Times New Roman" panose="02020603050405020304" pitchFamily="18" charset="0"/>
                  </a:rPr>
                  <a:t> </a:t>
                </a:r>
                <a:r>
                  <a:rPr lang="en-AU" sz="2600" dirty="0"/>
                  <a:t>and</a:t>
                </a:r>
                <a:r>
                  <a:rPr lang="en-AU" sz="2600" dirty="0">
                    <a:effectLst/>
                    <a:latin typeface="Calibri" panose="020F0502020204030204" pitchFamily="34" charset="0"/>
                    <a:ea typeface="DengXian" panose="02010600030101010101" pitchFamily="2" charset="-122"/>
                    <a:cs typeface="Times New Roman" panose="02020603050405020304" pitchFamily="18" charset="0"/>
                  </a:rPr>
                  <a:t> </a:t>
                </a:r>
                <a14:m>
                  <m:oMath xmlns:m="http://schemas.openxmlformats.org/officeDocument/2006/math">
                    <m:r>
                      <a:rPr lang="en-AU" sz="2600" i="1">
                        <a:effectLst/>
                        <a:latin typeface="Cambria Math" panose="02040503050406030204" pitchFamily="18" charset="0"/>
                      </a:rPr>
                      <m:t>𝑞</m:t>
                    </m:r>
                    <m:r>
                      <a:rPr lang="en-AU" sz="2600" b="0" i="1" smtClean="0">
                        <a:effectLst/>
                        <a:latin typeface="Cambria Math" panose="02040503050406030204" pitchFamily="18" charset="0"/>
                      </a:rPr>
                      <m:t>=11</m:t>
                    </m:r>
                  </m:oMath>
                </a14:m>
                <a:r>
                  <a:rPr lang="en-AU" sz="2600" dirty="0">
                    <a:effectLst/>
                    <a:ea typeface="DengXian" panose="02010600030101010101" pitchFamily="2" charset="-122"/>
                    <a:cs typeface="Times New Roman" panose="02020603050405020304" pitchFamily="18" charset="0"/>
                  </a:rPr>
                  <a:t>:</a:t>
                </a:r>
              </a:p>
              <a:p>
                <a:pPr marL="450000" lvl="1" indent="0">
                  <a:buFont typeface="Wingdings 2" charset="2"/>
                  <a:buNone/>
                </a:pPr>
                <a:r>
                  <a:rPr lang="en-AU" sz="2600" dirty="0">
                    <a:effectLst/>
                  </a:rPr>
                  <a:t>								    </a:t>
                </a:r>
                <a14:m>
                  <m:oMath xmlns:m="http://schemas.openxmlformats.org/officeDocument/2006/math">
                    <m:r>
                      <a:rPr lang="en-AU" sz="2600" i="1" smtClean="0">
                        <a:effectLst/>
                        <a:latin typeface="Cambria Math" panose="02040503050406030204" pitchFamily="18" charset="0"/>
                      </a:rPr>
                      <m:t>𝑛</m:t>
                    </m:r>
                    <m:r>
                      <a:rPr lang="en-AU" sz="2600" i="1" smtClean="0">
                        <a:effectLst/>
                        <a:latin typeface="Cambria Math" panose="02040503050406030204" pitchFamily="18" charset="0"/>
                      </a:rPr>
                      <m:t>=55</m:t>
                    </m:r>
                  </m:oMath>
                </a14:m>
                <a:endParaRPr lang="en-AU" sz="2600" dirty="0">
                  <a:effectLst/>
                  <a:latin typeface="Calibri" panose="020F0502020204030204" pitchFamily="34" charset="0"/>
                  <a:ea typeface="DengXian" panose="02010600030101010101" pitchFamily="2" charset="-122"/>
                  <a:cs typeface="Times New Roman" panose="02020603050405020304" pitchFamily="18" charset="0"/>
                </a:endParaRPr>
              </a:p>
              <a:p>
                <a:pPr marL="450000" lvl="1" indent="0">
                  <a:buFont typeface="Wingdings 2" charset="2"/>
                  <a:buNone/>
                </a:pPr>
                <a14:m>
                  <m:oMathPara xmlns:m="http://schemas.openxmlformats.org/officeDocument/2006/math">
                    <m:oMathParaPr>
                      <m:jc m:val="centerGroup"/>
                    </m:oMathParaPr>
                    <m:oMath xmlns:m="http://schemas.openxmlformats.org/officeDocument/2006/math">
                      <m:r>
                        <a:rPr lang="en-AU" sz="2600" i="1" smtClean="0">
                          <a:effectLst/>
                          <a:latin typeface="Cambria Math" panose="02040503050406030204" pitchFamily="18" charset="0"/>
                          <a:ea typeface="DengXian" panose="02010600030101010101" pitchFamily="2" charset="-122"/>
                          <a:cs typeface="Times New Roman" panose="02020603050405020304" pitchFamily="18" charset="0"/>
                        </a:rPr>
                        <m:t>𝜑</m:t>
                      </m:r>
                      <m:d>
                        <m:dPr>
                          <m:ctrlPr>
                            <a:rPr lang="en-AU" sz="26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AU" sz="2600" i="1">
                              <a:effectLst/>
                              <a:latin typeface="Cambria Math" panose="02040503050406030204" pitchFamily="18" charset="0"/>
                              <a:ea typeface="DengXian" panose="02010600030101010101" pitchFamily="2" charset="-122"/>
                              <a:cs typeface="Times New Roman" panose="02020603050405020304" pitchFamily="18" charset="0"/>
                            </a:rPr>
                            <m:t>𝑛</m:t>
                          </m:r>
                        </m:e>
                      </m:d>
                      <m:r>
                        <a:rPr lang="en-AU" sz="2600" i="1" smtClean="0">
                          <a:effectLst/>
                          <a:latin typeface="Cambria Math" panose="02040503050406030204" pitchFamily="18" charset="0"/>
                          <a:ea typeface="DengXian" panose="02010600030101010101" pitchFamily="2" charset="-122"/>
                          <a:cs typeface="Times New Roman" panose="02020603050405020304" pitchFamily="18" charset="0"/>
                        </a:rPr>
                        <m:t>=</m:t>
                      </m:r>
                      <m:r>
                        <a:rPr lang="en-AU" sz="2600" b="0" i="1" smtClean="0">
                          <a:effectLst/>
                          <a:latin typeface="Cambria Math" panose="02040503050406030204" pitchFamily="18" charset="0"/>
                          <a:ea typeface="DengXian" panose="02010600030101010101" pitchFamily="2" charset="-122"/>
                          <a:cs typeface="Times New Roman" panose="02020603050405020304" pitchFamily="18" charset="0"/>
                        </a:rPr>
                        <m:t>40</m:t>
                      </m:r>
                    </m:oMath>
                  </m:oMathPara>
                </a14:m>
                <a:endParaRPr lang="en-AU" sz="2600" dirty="0">
                  <a:effectLst/>
                  <a:latin typeface="Calibri" panose="020F0502020204030204" pitchFamily="34" charset="0"/>
                  <a:ea typeface="DengXian" panose="02010600030101010101" pitchFamily="2" charset="-122"/>
                  <a:cs typeface="Times New Roman" panose="02020603050405020304" pitchFamily="18" charset="0"/>
                </a:endParaRPr>
              </a:p>
              <a:p>
                <a:pPr marL="450000" lvl="1" indent="0">
                  <a:buFont typeface="Wingdings 2" charset="2"/>
                  <a:buNone/>
                </a:pPr>
                <a:r>
                  <a:rPr lang="en-AU" sz="2600" dirty="0">
                    <a:effectLst/>
                    <a:ea typeface="DengXian" panose="02010600030101010101" pitchFamily="2" charset="-122"/>
                    <a:cs typeface="Times New Roman" panose="02020603050405020304" pitchFamily="18" charset="0"/>
                  </a:rPr>
                  <a:t>2. </a:t>
                </a:r>
                <a14:m>
                  <m:oMath xmlns:m="http://schemas.openxmlformats.org/officeDocument/2006/math">
                    <m:r>
                      <a:rPr lang="en-AU" sz="2600" i="1">
                        <a:effectLst/>
                        <a:latin typeface="Cambria Math" panose="02040503050406030204" pitchFamily="18" charset="0"/>
                      </a:rPr>
                      <m:t>𝑒</m:t>
                    </m:r>
                    <m:r>
                      <a:rPr lang="en-AU" sz="2600" b="0" i="1" smtClean="0">
                        <a:effectLst/>
                        <a:latin typeface="Cambria Math" panose="02040503050406030204" pitchFamily="18" charset="0"/>
                      </a:rPr>
                      <m:t>=13</m:t>
                    </m:r>
                  </m:oMath>
                </a14:m>
                <a:r>
                  <a:rPr lang="en-AU" sz="2600" dirty="0">
                    <a:effectLst/>
                    <a:ea typeface="DengXian" panose="02010600030101010101" pitchFamily="2" charset="-122"/>
                    <a:cs typeface="Times New Roman" panose="02020603050405020304" pitchFamily="18" charset="0"/>
                  </a:rPr>
                  <a:t>:</a:t>
                </a:r>
              </a:p>
              <a:p>
                <a:pPr marL="450000" lvl="1" indent="0">
                  <a:buFont typeface="Wingdings 2" charset="2"/>
                  <a:buNone/>
                </a:pPr>
                <a:r>
                  <a:rPr lang="en-AU" sz="2600" dirty="0">
                    <a:effectLst/>
                    <a:ea typeface="DengXian" panose="02010600030101010101" pitchFamily="2" charset="-122"/>
                    <a:cs typeface="Times New Roman" panose="02020603050405020304" pitchFamily="18" charset="0"/>
                  </a:rPr>
                  <a:t>                                              </a:t>
                </a:r>
                <a14:m>
                  <m:oMath xmlns:m="http://schemas.openxmlformats.org/officeDocument/2006/math">
                    <m:r>
                      <a:rPr lang="en-AU" sz="2600" i="1" smtClean="0">
                        <a:effectLst/>
                        <a:latin typeface="Cambria Math" panose="02040503050406030204" pitchFamily="18" charset="0"/>
                        <a:ea typeface="DengXian" panose="02010600030101010101" pitchFamily="2" charset="-122"/>
                        <a:cs typeface="Times New Roman" panose="02020603050405020304" pitchFamily="18" charset="0"/>
                      </a:rPr>
                      <m:t>𝑑</m:t>
                    </m:r>
                    <m:r>
                      <a:rPr lang="en-AU" sz="2600" i="1" smtClean="0">
                        <a:effectLst/>
                        <a:latin typeface="Cambria Math" panose="02040503050406030204" pitchFamily="18" charset="0"/>
                        <a:ea typeface="DengXian" panose="02010600030101010101" pitchFamily="2" charset="-122"/>
                        <a:cs typeface="Times New Roman" panose="02020603050405020304" pitchFamily="18" charset="0"/>
                      </a:rPr>
                      <m:t>=37</m:t>
                    </m:r>
                  </m:oMath>
                </a14:m>
                <a:r>
                  <a:rPr lang="en-AU" sz="2600" dirty="0">
                    <a:effectLst/>
                    <a:latin typeface="Calibri" panose="020F0502020204030204" pitchFamily="34" charset="0"/>
                    <a:ea typeface="DengXian" panose="02010600030101010101" pitchFamily="2" charset="-122"/>
                    <a:cs typeface="Times New Roman" panose="02020603050405020304" pitchFamily="18" charset="0"/>
                  </a:rPr>
                  <a:t>    </a:t>
                </a:r>
                <a:r>
                  <a:rPr lang="en-AU" sz="2600" dirty="0"/>
                  <a:t>check:</a:t>
                </a:r>
                <a:r>
                  <a:rPr lang="en-AU" sz="2600" dirty="0">
                    <a:effectLst/>
                    <a:latin typeface="Calibri" panose="020F0502020204030204" pitchFamily="34" charset="0"/>
                    <a:ea typeface="DengXian" panose="02010600030101010101" pitchFamily="2" charset="-122"/>
                    <a:cs typeface="Times New Roman" panose="02020603050405020304" pitchFamily="18" charset="0"/>
                  </a:rPr>
                  <a:t> (37 * 13) mod 40 =  1</a:t>
                </a:r>
              </a:p>
              <a:p>
                <a:pPr marL="450000" lvl="1" indent="0">
                  <a:buFont typeface="Wingdings 2" charset="2"/>
                  <a:buNone/>
                </a:pPr>
                <a:endParaRPr lang="en-US" sz="2600" dirty="0">
                  <a:solidFill>
                    <a:srgbClr val="E8EAED"/>
                  </a:solidFill>
                  <a:effectLst/>
                </a:endParaRPr>
              </a:p>
              <a:p>
                <a:pPr marL="450000" lvl="1" indent="0">
                  <a:buFont typeface="Wingdings 2" charset="2"/>
                  <a:buNone/>
                </a:pPr>
                <a:r>
                  <a:rPr lang="en-AU" sz="2600" dirty="0">
                    <a:effectLst/>
                    <a:ea typeface="DengXian" panose="02010600030101010101" pitchFamily="2" charset="-122"/>
                    <a:cs typeface="Times New Roman" panose="02020603050405020304" pitchFamily="18" charset="0"/>
                  </a:rPr>
                  <a:t>3. </a:t>
                </a:r>
                <a:r>
                  <a:rPr lang="en-AU" sz="2600" dirty="0"/>
                  <a:t>Public Key = {</a:t>
                </a:r>
                <a14:m>
                  <m:oMath xmlns:m="http://schemas.openxmlformats.org/officeDocument/2006/math">
                    <m:r>
                      <a:rPr lang="en-AU" sz="2600" i="1">
                        <a:latin typeface="Cambria Math" panose="02040503050406030204" pitchFamily="18" charset="0"/>
                        <a:ea typeface="DengXian" panose="02010600030101010101" pitchFamily="2" charset="-122"/>
                        <a:cs typeface="Times New Roman" panose="02020603050405020304" pitchFamily="18" charset="0"/>
                      </a:rPr>
                      <m:t>𝑒</m:t>
                    </m:r>
                  </m:oMath>
                </a14:m>
                <a:r>
                  <a:rPr lang="en-AU" sz="2600" dirty="0"/>
                  <a:t>, </a:t>
                </a:r>
                <a14:m>
                  <m:oMath xmlns:m="http://schemas.openxmlformats.org/officeDocument/2006/math">
                    <m:r>
                      <a:rPr lang="en-AU" sz="2600" i="1" smtClean="0">
                        <a:effectLst/>
                        <a:latin typeface="Cambria Math" panose="02040503050406030204" pitchFamily="18" charset="0"/>
                      </a:rPr>
                      <m:t>𝑛</m:t>
                    </m:r>
                  </m:oMath>
                </a14:m>
                <a:r>
                  <a:rPr lang="en-AU" sz="2600" dirty="0"/>
                  <a:t>} = {</a:t>
                </a:r>
                <a:r>
                  <a:rPr lang="en-AU" sz="2600" dirty="0">
                    <a:latin typeface="Arial" panose="020B0604020202020204" pitchFamily="34" charset="0"/>
                    <a:cs typeface="Arial" panose="020B0604020202020204" pitchFamily="34" charset="0"/>
                  </a:rPr>
                  <a:t>13</a:t>
                </a:r>
                <a:r>
                  <a:rPr lang="en-AU" sz="2600" dirty="0"/>
                  <a:t>, </a:t>
                </a:r>
                <a:r>
                  <a:rPr lang="en-AU" sz="2600" dirty="0">
                    <a:latin typeface="Arial" panose="020B0604020202020204" pitchFamily="34" charset="0"/>
                    <a:cs typeface="Arial" panose="020B0604020202020204" pitchFamily="34" charset="0"/>
                  </a:rPr>
                  <a:t>55</a:t>
                </a:r>
                <a:r>
                  <a:rPr lang="en-AU" sz="2600" dirty="0"/>
                  <a:t>}, Private Key = {</a:t>
                </a:r>
                <a14:m>
                  <m:oMath xmlns:m="http://schemas.openxmlformats.org/officeDocument/2006/math">
                    <m:r>
                      <a:rPr lang="en-AU" sz="2600" i="1">
                        <a:latin typeface="Cambria Math" panose="02040503050406030204" pitchFamily="18" charset="0"/>
                        <a:ea typeface="DengXian" panose="02010600030101010101" pitchFamily="2" charset="-122"/>
                        <a:cs typeface="Times New Roman" panose="02020603050405020304" pitchFamily="18" charset="0"/>
                      </a:rPr>
                      <m:t>𝑑</m:t>
                    </m:r>
                  </m:oMath>
                </a14:m>
                <a:r>
                  <a:rPr lang="en-AU" sz="2600" dirty="0"/>
                  <a:t>} = {</a:t>
                </a:r>
                <a:r>
                  <a:rPr lang="en-AU" sz="2600" dirty="0">
                    <a:latin typeface="Arial" panose="020B0604020202020204" pitchFamily="34" charset="0"/>
                    <a:cs typeface="Arial" panose="020B0604020202020204" pitchFamily="34" charset="0"/>
                  </a:rPr>
                  <a:t>37</a:t>
                </a:r>
                <a:r>
                  <a:rPr lang="en-AU" sz="2600" dirty="0"/>
                  <a:t>}</a:t>
                </a:r>
                <a:endParaRPr lang="en-AU" sz="2600" dirty="0">
                  <a:effectLst/>
                  <a:ea typeface="DengXian" panose="02010600030101010101" pitchFamily="2" charset="-122"/>
                  <a:cs typeface="Times New Roman" panose="02020603050405020304" pitchFamily="18" charset="0"/>
                </a:endParaRPr>
              </a:p>
              <a:p>
                <a:pPr marL="450000" lvl="1" indent="0">
                  <a:buFont typeface="Wingdings 2" charset="2"/>
                  <a:buNone/>
                </a:pPr>
                <a:endParaRPr lang="en-AU" sz="2800" dirty="0">
                  <a:effectLst/>
                  <a:ea typeface="DengXian" panose="02010600030101010101" pitchFamily="2" charset="-122"/>
                  <a:cs typeface="Times New Roman" panose="02020603050405020304" pitchFamily="18" charset="0"/>
                </a:endParaRPr>
              </a:p>
              <a:p>
                <a:pPr marL="450000" lvl="1" indent="0">
                  <a:buFont typeface="Wingdings 2" charset="2"/>
                  <a:buNone/>
                </a:pPr>
                <a:endParaRPr lang="en-AU" sz="2800" dirty="0"/>
              </a:p>
            </p:txBody>
          </p:sp>
        </mc:Choice>
        <mc:Fallback xmlns="">
          <p:sp>
            <p:nvSpPr>
              <p:cNvPr id="6" name="Content Placeholder 2">
                <a:extLst>
                  <a:ext uri="{FF2B5EF4-FFF2-40B4-BE49-F238E27FC236}">
                    <a16:creationId xmlns:a16="http://schemas.microsoft.com/office/drawing/2014/main" id="{4F5B4539-1F2F-4FE7-B0FE-6CACBF149B2A}"/>
                  </a:ext>
                </a:extLst>
              </p:cNvPr>
              <p:cNvSpPr txBox="1">
                <a:spLocks noRot="1" noChangeAspect="1" noMove="1" noResize="1" noEditPoints="1" noAdjustHandles="1" noChangeArrowheads="1" noChangeShapeType="1" noTextEdit="1"/>
              </p:cNvSpPr>
              <p:nvPr/>
            </p:nvSpPr>
            <p:spPr>
              <a:xfrm>
                <a:off x="587934" y="3759200"/>
                <a:ext cx="9583355" cy="2968979"/>
              </a:xfrm>
              <a:prstGeom prst="rect">
                <a:avLst/>
              </a:prstGeom>
              <a:blipFill>
                <a:blip r:embed="rId4"/>
                <a:stretch>
                  <a:fillRect/>
                </a:stretch>
              </a:blipFill>
              <a:effectLst>
                <a:outerShdw blurRad="25400" dir="17880000">
                  <a:srgbClr val="000000">
                    <a:alpha val="46000"/>
                  </a:srgbClr>
                </a:outerShdw>
              </a:effectLst>
            </p:spPr>
            <p:txBody>
              <a:bodyPr/>
              <a:lstStyle/>
              <a:p>
                <a:r>
                  <a:rPr lang="en-AU">
                    <a:noFill/>
                  </a:rPr>
                  <a:t> </a:t>
                </a:r>
              </a:p>
            </p:txBody>
          </p:sp>
        </mc:Fallback>
      </mc:AlternateContent>
    </p:spTree>
    <p:extLst>
      <p:ext uri="{BB962C8B-B14F-4D97-AF65-F5344CB8AC3E}">
        <p14:creationId xmlns:p14="http://schemas.microsoft.com/office/powerpoint/2010/main" val="14518120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69547" y="18713"/>
            <a:ext cx="10353762" cy="1016476"/>
          </a:xfrm>
        </p:spPr>
        <p:txBody>
          <a:bodyPr/>
          <a:lstStyle/>
          <a:p>
            <a:r>
              <a:rPr lang="en-AU" sz="3733" dirty="0"/>
              <a:t>RSA: Secure Communication</a:t>
            </a:r>
          </a:p>
        </p:txBody>
      </p:sp>
      <p:pic>
        <p:nvPicPr>
          <p:cNvPr id="5" name="Picture 2" descr="Related imag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1180251" y="3176235"/>
            <a:ext cx="1141095" cy="135697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886421" y="4493474"/>
            <a:ext cx="1945216" cy="461665"/>
          </a:xfrm>
          <a:prstGeom prst="rect">
            <a:avLst/>
          </a:prstGeom>
          <a:noFill/>
        </p:spPr>
        <p:txBody>
          <a:bodyPr wrap="square" rtlCol="0">
            <a:spAutoFit/>
          </a:bodyPr>
          <a:lstStyle/>
          <a:p>
            <a:pPr algn="ctr"/>
            <a:r>
              <a:rPr lang="en-US" sz="2400" dirty="0"/>
              <a:t>Alice</a:t>
            </a:r>
            <a:endParaRPr lang="en-AU" sz="2400" dirty="0"/>
          </a:p>
        </p:txBody>
      </p:sp>
      <p:sp>
        <p:nvSpPr>
          <p:cNvPr id="8" name="TextBox 7"/>
          <p:cNvSpPr txBox="1"/>
          <p:nvPr/>
        </p:nvSpPr>
        <p:spPr>
          <a:xfrm>
            <a:off x="9510132" y="4560254"/>
            <a:ext cx="1657184" cy="461665"/>
          </a:xfrm>
          <a:prstGeom prst="rect">
            <a:avLst/>
          </a:prstGeom>
          <a:noFill/>
        </p:spPr>
        <p:txBody>
          <a:bodyPr wrap="square" rtlCol="0">
            <a:spAutoFit/>
          </a:bodyPr>
          <a:lstStyle/>
          <a:p>
            <a:pPr algn="ctr"/>
            <a:r>
              <a:rPr lang="en-US" sz="2400" dirty="0"/>
              <a:t>Bob</a:t>
            </a:r>
            <a:endParaRPr lang="en-AU" sz="2400" dirty="0"/>
          </a:p>
        </p:txBody>
      </p:sp>
      <mc:AlternateContent xmlns:mc="http://schemas.openxmlformats.org/markup-compatibility/2006" xmlns:a14="http://schemas.microsoft.com/office/drawing/2010/main">
        <mc:Choice Requires="a14">
          <p:sp>
            <p:nvSpPr>
              <p:cNvPr id="9" name="Rounded Rectangle 8"/>
              <p:cNvSpPr/>
              <p:nvPr/>
            </p:nvSpPr>
            <p:spPr>
              <a:xfrm>
                <a:off x="3176565" y="3703203"/>
                <a:ext cx="2291804" cy="1016476"/>
              </a:xfrm>
              <a:prstGeom prst="roundRect">
                <a:avLst/>
              </a:prstGeom>
              <a:noFill/>
              <a:ln w="15875">
                <a:solidFill>
                  <a:schemeClr val="accent1"/>
                </a:solidFill>
              </a:ln>
            </p:spPr>
            <p:style>
              <a:lnRef idx="3">
                <a:schemeClr val="lt1"/>
              </a:lnRef>
              <a:fillRef idx="1">
                <a:schemeClr val="accent4"/>
              </a:fillRef>
              <a:effectRef idx="1">
                <a:schemeClr val="accent4"/>
              </a:effectRef>
              <a:fontRef idx="minor">
                <a:schemeClr val="lt1"/>
              </a:fontRef>
            </p:style>
            <p:txBody>
              <a:bodyPr rtlCol="0" anchor="ctr"/>
              <a:lstStyle/>
              <a:p>
                <a:r>
                  <a:rPr lang="en-AU" sz="2400" dirty="0"/>
                  <a:t>RSA encryption</a:t>
                </a:r>
              </a:p>
              <a:p>
                <a:pPr>
                  <a:lnSpc>
                    <a:spcPct val="107000"/>
                  </a:lnSpc>
                  <a:spcAft>
                    <a:spcPts val="800"/>
                  </a:spcAft>
                </a:pPr>
                <a14:m>
                  <m:oMathPara xmlns:m="http://schemas.openxmlformats.org/officeDocument/2006/math">
                    <m:oMathParaPr>
                      <m:jc m:val="centerGroup"/>
                    </m:oMathParaPr>
                    <m:oMath xmlns:m="http://schemas.openxmlformats.org/officeDocument/2006/math">
                      <m:r>
                        <a:rPr lang="en-AU" sz="2400" i="1" smtClean="0">
                          <a:effectLst/>
                          <a:latin typeface="Cambria Math" panose="02040503050406030204" pitchFamily="18" charset="0"/>
                          <a:ea typeface="DengXian" panose="02010600030101010101" pitchFamily="2" charset="-122"/>
                          <a:cs typeface="Times New Roman" panose="02020603050405020304" pitchFamily="18" charset="0"/>
                        </a:rPr>
                        <m:t>𝑐</m:t>
                      </m:r>
                      <m:r>
                        <a:rPr lang="en-AU" sz="2400" i="1" smtClean="0">
                          <a:effectLst/>
                          <a:latin typeface="Cambria Math" panose="02040503050406030204" pitchFamily="18" charset="0"/>
                          <a:ea typeface="DengXian" panose="02010600030101010101" pitchFamily="2" charset="-122"/>
                          <a:cs typeface="Times New Roman" panose="02020603050405020304" pitchFamily="18" charset="0"/>
                        </a:rPr>
                        <m:t>= </m:t>
                      </m:r>
                      <m:sSup>
                        <m:sSup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p>
                          <m:r>
                            <a:rPr lang="en-AU" sz="2400" i="1">
                              <a:effectLst/>
                              <a:latin typeface="Cambria Math" panose="02040503050406030204" pitchFamily="18" charset="0"/>
                              <a:ea typeface="DengXian" panose="02010600030101010101" pitchFamily="2" charset="-122"/>
                              <a:cs typeface="Times New Roman" panose="02020603050405020304" pitchFamily="18" charset="0"/>
                            </a:rPr>
                            <m:t>𝑒</m:t>
                          </m:r>
                        </m:sup>
                      </m:sSup>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𝑚𝑜𝑑</m:t>
                      </m:r>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𝑛</m:t>
                      </m:r>
                    </m:oMath>
                  </m:oMathPara>
                </a14:m>
                <a:endParaRPr lang="en-AU" sz="2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9" name="Rounded Rectangle 8"/>
              <p:cNvSpPr>
                <a:spLocks noRot="1" noChangeAspect="1" noMove="1" noResize="1" noEditPoints="1" noAdjustHandles="1" noChangeArrowheads="1" noChangeShapeType="1" noTextEdit="1"/>
              </p:cNvSpPr>
              <p:nvPr/>
            </p:nvSpPr>
            <p:spPr>
              <a:xfrm>
                <a:off x="3176565" y="3703203"/>
                <a:ext cx="2291804" cy="1016476"/>
              </a:xfrm>
              <a:prstGeom prst="roundRect">
                <a:avLst/>
              </a:prstGeom>
              <a:blipFill>
                <a:blip r:embed="rId4"/>
                <a:stretch>
                  <a:fillRect l="-1583" t="-588"/>
                </a:stretch>
              </a:blipFill>
              <a:ln w="15875">
                <a:solidFill>
                  <a:schemeClr val="accent1"/>
                </a:solid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0" name="Rounded Rectangle 9"/>
              <p:cNvSpPr/>
              <p:nvPr/>
            </p:nvSpPr>
            <p:spPr>
              <a:xfrm>
                <a:off x="6638023" y="3703203"/>
                <a:ext cx="2296989" cy="1016476"/>
              </a:xfrm>
              <a:prstGeom prst="roundRect">
                <a:avLst/>
              </a:prstGeom>
              <a:noFill/>
              <a:ln w="15875">
                <a:solidFill>
                  <a:schemeClr val="accent1"/>
                </a:solidFill>
              </a:ln>
            </p:spPr>
            <p:style>
              <a:lnRef idx="3">
                <a:schemeClr val="lt1"/>
              </a:lnRef>
              <a:fillRef idx="1">
                <a:schemeClr val="accent4"/>
              </a:fillRef>
              <a:effectRef idx="1">
                <a:schemeClr val="accent4"/>
              </a:effectRef>
              <a:fontRef idx="minor">
                <a:schemeClr val="lt1"/>
              </a:fontRef>
            </p:style>
            <p:txBody>
              <a:bodyPr rtlCol="0" anchor="ctr"/>
              <a:lstStyle/>
              <a:p>
                <a:r>
                  <a:rPr lang="en-AU" sz="2400" dirty="0"/>
                  <a:t>RSA decryption</a:t>
                </a:r>
              </a:p>
              <a:p>
                <a:pPr>
                  <a:lnSpc>
                    <a:spcPct val="107000"/>
                  </a:lnSpc>
                  <a:spcAft>
                    <a:spcPts val="800"/>
                  </a:spcAft>
                </a:pPr>
                <a14:m>
                  <m:oMathPara xmlns:m="http://schemas.openxmlformats.org/officeDocument/2006/math">
                    <m:oMathParaPr>
                      <m:jc m:val="centerGroup"/>
                    </m:oMathParaPr>
                    <m:oMath xmlns:m="http://schemas.openxmlformats.org/officeDocument/2006/math">
                      <m:r>
                        <a:rPr lang="en-AU" sz="2400" i="1" smtClean="0">
                          <a:effectLst/>
                          <a:latin typeface="Cambria Math" panose="02040503050406030204" pitchFamily="18" charset="0"/>
                          <a:ea typeface="DengXian" panose="02010600030101010101" pitchFamily="2" charset="-122"/>
                          <a:cs typeface="Times New Roman" panose="02020603050405020304" pitchFamily="18" charset="0"/>
                        </a:rPr>
                        <m:t>𝑚</m:t>
                      </m:r>
                      <m:r>
                        <a:rPr lang="en-AU" sz="2400" i="1" smtClean="0">
                          <a:effectLst/>
                          <a:latin typeface="Cambria Math" panose="02040503050406030204" pitchFamily="18" charset="0"/>
                          <a:ea typeface="DengXian" panose="02010600030101010101" pitchFamily="2" charset="-122"/>
                          <a:cs typeface="Times New Roman" panose="02020603050405020304" pitchFamily="18" charset="0"/>
                        </a:rPr>
                        <m:t>= </m:t>
                      </m:r>
                      <m:sSup>
                        <m:sSup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𝑐</m:t>
                          </m:r>
                        </m:e>
                        <m:sup>
                          <m:r>
                            <a:rPr lang="en-AU" sz="2400" i="1">
                              <a:effectLst/>
                              <a:latin typeface="Cambria Math" panose="02040503050406030204" pitchFamily="18" charset="0"/>
                              <a:ea typeface="DengXian" panose="02010600030101010101" pitchFamily="2" charset="-122"/>
                              <a:cs typeface="Times New Roman" panose="02020603050405020304" pitchFamily="18" charset="0"/>
                            </a:rPr>
                            <m:t>𝑑</m:t>
                          </m:r>
                        </m:sup>
                      </m:sSup>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𝑚𝑜𝑑</m:t>
                      </m:r>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𝑛</m:t>
                      </m:r>
                    </m:oMath>
                  </m:oMathPara>
                </a14:m>
                <a:endParaRPr lang="en-AU" sz="2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10" name="Rounded Rectangle 9"/>
              <p:cNvSpPr>
                <a:spLocks noRot="1" noChangeAspect="1" noMove="1" noResize="1" noEditPoints="1" noAdjustHandles="1" noChangeArrowheads="1" noChangeShapeType="1" noTextEdit="1"/>
              </p:cNvSpPr>
              <p:nvPr/>
            </p:nvSpPr>
            <p:spPr>
              <a:xfrm>
                <a:off x="6638023" y="3703203"/>
                <a:ext cx="2296989" cy="1016476"/>
              </a:xfrm>
              <a:prstGeom prst="roundRect">
                <a:avLst/>
              </a:prstGeom>
              <a:blipFill>
                <a:blip r:embed="rId5"/>
                <a:stretch>
                  <a:fillRect l="-1579" t="-1176"/>
                </a:stretch>
              </a:blipFill>
              <a:ln w="15875">
                <a:solidFill>
                  <a:schemeClr val="accent1"/>
                </a:solidFill>
              </a:ln>
            </p:spPr>
            <p:txBody>
              <a:bodyPr/>
              <a:lstStyle/>
              <a:p>
                <a:r>
                  <a:rPr lang="en-AU">
                    <a:noFill/>
                  </a:rPr>
                  <a:t> </a:t>
                </a:r>
              </a:p>
            </p:txBody>
          </p:sp>
        </mc:Fallback>
      </mc:AlternateContent>
      <p:cxnSp>
        <p:nvCxnSpPr>
          <p:cNvPr id="11" name="Straight Arrow Connector 10"/>
          <p:cNvCxnSpPr>
            <a:cxnSpLocks/>
            <a:endCxn id="9" idx="1"/>
          </p:cNvCxnSpPr>
          <p:nvPr/>
        </p:nvCxnSpPr>
        <p:spPr>
          <a:xfrm>
            <a:off x="2378241" y="4211441"/>
            <a:ext cx="798324" cy="0"/>
          </a:xfrm>
          <a:prstGeom prst="straightConnector1">
            <a:avLst/>
          </a:prstGeom>
          <a:ln w="28575">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p:cNvCxnSpPr>
            <a:cxnSpLocks/>
            <a:stCxn id="9" idx="3"/>
            <a:endCxn id="10" idx="1"/>
          </p:cNvCxnSpPr>
          <p:nvPr/>
        </p:nvCxnSpPr>
        <p:spPr>
          <a:xfrm>
            <a:off x="5468369" y="4211441"/>
            <a:ext cx="1169654" cy="0"/>
          </a:xfrm>
          <a:prstGeom prst="straightConnector1">
            <a:avLst/>
          </a:prstGeom>
          <a:ln w="28575">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p:cNvCxnSpPr>
            <a:cxnSpLocks/>
            <a:stCxn id="10" idx="3"/>
          </p:cNvCxnSpPr>
          <p:nvPr/>
        </p:nvCxnSpPr>
        <p:spPr>
          <a:xfrm>
            <a:off x="8935012" y="4211441"/>
            <a:ext cx="575120" cy="0"/>
          </a:xfrm>
          <a:prstGeom prst="straightConnector1">
            <a:avLst/>
          </a:prstGeom>
          <a:ln w="28575">
            <a:solidFill>
              <a:schemeClr val="accent1"/>
            </a:solidFill>
            <a:tailEnd type="triangle"/>
          </a:ln>
        </p:spPr>
        <p:style>
          <a:lnRef idx="1">
            <a:schemeClr val="dk1"/>
          </a:lnRef>
          <a:fillRef idx="0">
            <a:schemeClr val="dk1"/>
          </a:fillRef>
          <a:effectRef idx="0">
            <a:schemeClr val="dk1"/>
          </a:effectRef>
          <a:fontRef idx="minor">
            <a:schemeClr val="tx1"/>
          </a:fontRef>
        </p:style>
      </p:cxnSp>
      <p:grpSp>
        <p:nvGrpSpPr>
          <p:cNvPr id="21" name="Group 20"/>
          <p:cNvGrpSpPr/>
          <p:nvPr/>
        </p:nvGrpSpPr>
        <p:grpSpPr>
          <a:xfrm>
            <a:off x="5527542" y="4414157"/>
            <a:ext cx="1136915" cy="1099017"/>
            <a:chOff x="3730143" y="1165855"/>
            <a:chExt cx="852686" cy="824263"/>
          </a:xfrm>
        </p:grpSpPr>
        <p:pic>
          <p:nvPicPr>
            <p:cNvPr id="22" name="Picture 21" descr="Age Adjusted D-Dimer Testing - R.E.B.E.L. EM - Emergency ..."/>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730143" y="1165855"/>
              <a:ext cx="852686" cy="824263"/>
            </a:xfrm>
            <a:prstGeom prst="rect">
              <a:avLst/>
            </a:prstGeom>
          </p:spPr>
        </p:pic>
        <p:sp>
          <p:nvSpPr>
            <p:cNvPr id="23" name="TextBox 22"/>
            <p:cNvSpPr txBox="1"/>
            <p:nvPr/>
          </p:nvSpPr>
          <p:spPr>
            <a:xfrm rot="21120449">
              <a:off x="3779821" y="1304971"/>
              <a:ext cx="704088" cy="438581"/>
            </a:xfrm>
            <a:prstGeom prst="rect">
              <a:avLst/>
            </a:prstGeom>
            <a:solidFill>
              <a:srgbClr val="FFFF00"/>
            </a:solidFill>
          </p:spPr>
          <p:txBody>
            <a:bodyPr wrap="square" rtlCol="0">
              <a:spAutoFit/>
            </a:bodyPr>
            <a:lstStyle/>
            <a:p>
              <a:r>
                <a:rPr lang="en-US" sz="1600" dirty="0">
                  <a:solidFill>
                    <a:schemeClr val="bg1"/>
                  </a:solidFill>
                </a:rPr>
                <a:t>Cipher-text c</a:t>
              </a:r>
              <a:endParaRPr lang="en-AU" sz="1600" dirty="0">
                <a:solidFill>
                  <a:schemeClr val="bg1"/>
                </a:solidFill>
              </a:endParaRPr>
            </a:p>
          </p:txBody>
        </p:sp>
      </p:grpSp>
      <p:grpSp>
        <p:nvGrpSpPr>
          <p:cNvPr id="34" name="Group 33"/>
          <p:cNvGrpSpPr/>
          <p:nvPr/>
        </p:nvGrpSpPr>
        <p:grpSpPr>
          <a:xfrm>
            <a:off x="3245947" y="1558930"/>
            <a:ext cx="2304735" cy="1631157"/>
            <a:chOff x="2339483" y="3890144"/>
            <a:chExt cx="1728551" cy="1223367"/>
          </a:xfrm>
        </p:grpSpPr>
        <mc:AlternateContent xmlns:mc="http://schemas.openxmlformats.org/markup-compatibility/2006" xmlns:a14="http://schemas.microsoft.com/office/drawing/2010/main">
          <mc:Choice Requires="a14">
            <p:sp>
              <p:nvSpPr>
                <p:cNvPr id="17" name="TextBox 16"/>
                <p:cNvSpPr txBox="1"/>
                <p:nvPr/>
              </p:nvSpPr>
              <p:spPr>
                <a:xfrm>
                  <a:off x="2339483" y="4490264"/>
                  <a:ext cx="1728551" cy="623247"/>
                </a:xfrm>
                <a:prstGeom prst="rect">
                  <a:avLst/>
                </a:prstGeom>
                <a:noFill/>
              </p:spPr>
              <p:txBody>
                <a:bodyPr wrap="none" rtlCol="0">
                  <a:spAutoFit/>
                </a:bodyPr>
                <a:lstStyle/>
                <a:p>
                  <a:pPr algn="ctr"/>
                  <a:r>
                    <a:rPr lang="en-AU" sz="2400" dirty="0"/>
                    <a:t>Bob’s Public Key </a:t>
                  </a:r>
                  <a:br>
                    <a:rPr lang="en-AU" sz="2400" dirty="0"/>
                  </a:br>
                  <a:r>
                    <a:rPr lang="en-AU" sz="2400" dirty="0"/>
                    <a:t>(</a:t>
                  </a:r>
                  <a14:m>
                    <m:oMath xmlns:m="http://schemas.openxmlformats.org/officeDocument/2006/math">
                      <m:r>
                        <a:rPr lang="en-AU" sz="2400" b="0" i="1" smtClean="0">
                          <a:latin typeface="Cambria Math" panose="02040503050406030204" pitchFamily="18" charset="0"/>
                          <a:ea typeface="DengXian" panose="02010600030101010101" pitchFamily="2" charset="-122"/>
                          <a:cs typeface="Times New Roman" panose="02020603050405020304" pitchFamily="18" charset="0"/>
                        </a:rPr>
                        <m:t>𝑒</m:t>
                      </m:r>
                    </m:oMath>
                  </a14:m>
                  <a:r>
                    <a:rPr lang="en-AU" sz="2400" dirty="0"/>
                    <a:t>, </a:t>
                  </a:r>
                  <a14:m>
                    <m:oMath xmlns:m="http://schemas.openxmlformats.org/officeDocument/2006/math">
                      <m:r>
                        <a:rPr lang="en-AU" sz="2400" b="0" i="1" smtClean="0">
                          <a:effectLst/>
                          <a:latin typeface="Cambria Math" panose="02040503050406030204" pitchFamily="18" charset="0"/>
                        </a:rPr>
                        <m:t>𝑛</m:t>
                      </m:r>
                    </m:oMath>
                  </a14:m>
                  <a:r>
                    <a:rPr lang="en-AU" sz="2400" dirty="0"/>
                    <a:t>)</a:t>
                  </a:r>
                </a:p>
              </p:txBody>
            </p:sp>
          </mc:Choice>
          <mc:Fallback xmlns="">
            <p:sp>
              <p:nvSpPr>
                <p:cNvPr id="17" name="TextBox 16"/>
                <p:cNvSpPr txBox="1">
                  <a:spLocks noRot="1" noChangeAspect="1" noMove="1" noResize="1" noEditPoints="1" noAdjustHandles="1" noChangeArrowheads="1" noChangeShapeType="1" noTextEdit="1"/>
                </p:cNvSpPr>
                <p:nvPr/>
              </p:nvSpPr>
              <p:spPr>
                <a:xfrm>
                  <a:off x="2339483" y="4490264"/>
                  <a:ext cx="1728551" cy="623247"/>
                </a:xfrm>
                <a:prstGeom prst="rect">
                  <a:avLst/>
                </a:prstGeom>
                <a:blipFill>
                  <a:blip r:embed="rId7"/>
                  <a:stretch>
                    <a:fillRect l="-3430" t="-5882" r="-3430" b="-16176"/>
                  </a:stretch>
                </a:blipFill>
              </p:spPr>
              <p:txBody>
                <a:bodyPr/>
                <a:lstStyle/>
                <a:p>
                  <a:r>
                    <a:rPr lang="en-AU">
                      <a:noFill/>
                    </a:rPr>
                    <a:t> </a:t>
                  </a:r>
                </a:p>
              </p:txBody>
            </p:sp>
          </mc:Fallback>
        </mc:AlternateContent>
        <p:pic>
          <p:nvPicPr>
            <p:cNvPr id="26" name="Picture 25" descr="&lt;strong&gt;Key&lt;/strong&gt; | Free Stock Photo | Illustration of a silver &lt;strong&gt;key&lt;/strong&gt; ..."/>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874993" y="3890144"/>
              <a:ext cx="725365" cy="582261"/>
            </a:xfrm>
            <a:prstGeom prst="rect">
              <a:avLst/>
            </a:prstGeom>
          </p:spPr>
        </p:pic>
      </p:grpSp>
      <p:grpSp>
        <p:nvGrpSpPr>
          <p:cNvPr id="35" name="Group 34"/>
          <p:cNvGrpSpPr/>
          <p:nvPr/>
        </p:nvGrpSpPr>
        <p:grpSpPr>
          <a:xfrm>
            <a:off x="6671041" y="1333238"/>
            <a:ext cx="2387449" cy="1881296"/>
            <a:chOff x="4748928" y="3765905"/>
            <a:chExt cx="1790587" cy="1410971"/>
          </a:xfrm>
        </p:grpSpPr>
        <mc:AlternateContent xmlns:mc="http://schemas.openxmlformats.org/markup-compatibility/2006" xmlns:a14="http://schemas.microsoft.com/office/drawing/2010/main">
          <mc:Choice Requires="a14">
            <p:sp>
              <p:nvSpPr>
                <p:cNvPr id="20" name="TextBox 19"/>
                <p:cNvSpPr txBox="1"/>
                <p:nvPr/>
              </p:nvSpPr>
              <p:spPr>
                <a:xfrm>
                  <a:off x="4748928" y="4553629"/>
                  <a:ext cx="1790587" cy="623247"/>
                </a:xfrm>
                <a:prstGeom prst="rect">
                  <a:avLst/>
                </a:prstGeom>
                <a:noFill/>
              </p:spPr>
              <p:txBody>
                <a:bodyPr wrap="none" rtlCol="0">
                  <a:spAutoFit/>
                </a:bodyPr>
                <a:lstStyle/>
                <a:p>
                  <a:pPr algn="ctr"/>
                  <a:r>
                    <a:rPr lang="en-AU" sz="2400" dirty="0"/>
                    <a:t>Bob’s Private key </a:t>
                  </a:r>
                  <a:br>
                    <a:rPr lang="en-AU" sz="2400" dirty="0"/>
                  </a:br>
                  <a:r>
                    <a:rPr lang="en-AU" sz="2400" dirty="0"/>
                    <a:t>(</a:t>
                  </a:r>
                  <a14:m>
                    <m:oMath xmlns:m="http://schemas.openxmlformats.org/officeDocument/2006/math">
                      <m:r>
                        <a:rPr lang="en-AU" sz="2400" i="1" smtClean="0">
                          <a:latin typeface="Cambria Math" panose="02040503050406030204" pitchFamily="18" charset="0"/>
                          <a:ea typeface="DengXian" panose="02010600030101010101" pitchFamily="2" charset="-122"/>
                          <a:cs typeface="Times New Roman" panose="02020603050405020304" pitchFamily="18" charset="0"/>
                        </a:rPr>
                        <m:t>𝑑</m:t>
                      </m:r>
                    </m:oMath>
                  </a14:m>
                  <a:r>
                    <a:rPr lang="en-AU" sz="2400" dirty="0"/>
                    <a:t>)</a:t>
                  </a:r>
                </a:p>
              </p:txBody>
            </p:sp>
          </mc:Choice>
          <mc:Fallback xmlns="">
            <p:sp>
              <p:nvSpPr>
                <p:cNvPr id="20" name="TextBox 19"/>
                <p:cNvSpPr txBox="1">
                  <a:spLocks noRot="1" noChangeAspect="1" noMove="1" noResize="1" noEditPoints="1" noAdjustHandles="1" noChangeArrowheads="1" noChangeShapeType="1" noTextEdit="1"/>
                </p:cNvSpPr>
                <p:nvPr/>
              </p:nvSpPr>
              <p:spPr>
                <a:xfrm>
                  <a:off x="4748928" y="4553629"/>
                  <a:ext cx="1790587" cy="623247"/>
                </a:xfrm>
                <a:prstGeom prst="rect">
                  <a:avLst/>
                </a:prstGeom>
                <a:blipFill>
                  <a:blip r:embed="rId9"/>
                  <a:stretch>
                    <a:fillRect l="-3571" t="-5882" r="-3316" b="-16176"/>
                  </a:stretch>
                </a:blipFill>
              </p:spPr>
              <p:txBody>
                <a:bodyPr/>
                <a:lstStyle/>
                <a:p>
                  <a:r>
                    <a:rPr lang="en-AU">
                      <a:noFill/>
                    </a:rPr>
                    <a:t> </a:t>
                  </a:r>
                </a:p>
              </p:txBody>
            </p:sp>
          </mc:Fallback>
        </mc:AlternateContent>
        <p:pic>
          <p:nvPicPr>
            <p:cNvPr id="27" name="Picture 26" descr="Original file ‎ (SVG file, nominally 64 × 64 pixels, file ..."/>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rot="19189432">
              <a:off x="5240089" y="3765905"/>
              <a:ext cx="773000" cy="773000"/>
            </a:xfrm>
            <a:prstGeom prst="rect">
              <a:avLst/>
            </a:prstGeom>
          </p:spPr>
        </p:pic>
      </p:grpSp>
      <p:grpSp>
        <p:nvGrpSpPr>
          <p:cNvPr id="28" name="Group 27"/>
          <p:cNvGrpSpPr/>
          <p:nvPr/>
        </p:nvGrpSpPr>
        <p:grpSpPr>
          <a:xfrm>
            <a:off x="293199" y="2562344"/>
            <a:ext cx="1136915" cy="1099017"/>
            <a:chOff x="3730143" y="1165855"/>
            <a:chExt cx="852686" cy="824263"/>
          </a:xfrm>
        </p:grpSpPr>
        <p:pic>
          <p:nvPicPr>
            <p:cNvPr id="29" name="Picture 28" descr="Age Adjusted D-Dimer Testing - R.E.B.E.L. EM - Emergency ..."/>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730143" y="1165855"/>
              <a:ext cx="852686" cy="824263"/>
            </a:xfrm>
            <a:prstGeom prst="rect">
              <a:avLst/>
            </a:prstGeom>
          </p:spPr>
        </p:pic>
        <p:sp>
          <p:nvSpPr>
            <p:cNvPr id="30" name="TextBox 29"/>
            <p:cNvSpPr txBox="1"/>
            <p:nvPr/>
          </p:nvSpPr>
          <p:spPr>
            <a:xfrm rot="21120449">
              <a:off x="3779821" y="1320311"/>
              <a:ext cx="704088" cy="407900"/>
            </a:xfrm>
            <a:prstGeom prst="rect">
              <a:avLst/>
            </a:prstGeom>
            <a:solidFill>
              <a:srgbClr val="FFFF00"/>
            </a:solidFill>
          </p:spPr>
          <p:txBody>
            <a:bodyPr wrap="square" rtlCol="0">
              <a:spAutoFit/>
            </a:bodyPr>
            <a:lstStyle/>
            <a:p>
              <a:pPr algn="ctr"/>
              <a:r>
                <a:rPr lang="en-US" sz="1467" dirty="0">
                  <a:solidFill>
                    <a:schemeClr val="bg1"/>
                  </a:solidFill>
                </a:rPr>
                <a:t>Plaintext m</a:t>
              </a:r>
              <a:endParaRPr lang="en-AU" sz="1467" dirty="0">
                <a:solidFill>
                  <a:schemeClr val="bg1"/>
                </a:solidFill>
              </a:endParaRPr>
            </a:p>
          </p:txBody>
        </p:sp>
      </p:grpSp>
      <p:pic>
        <p:nvPicPr>
          <p:cNvPr id="36" name="Picture 35">
            <a:extLst>
              <a:ext uri="{FF2B5EF4-FFF2-40B4-BE49-F238E27FC236}">
                <a16:creationId xmlns:a16="http://schemas.microsoft.com/office/drawing/2014/main" id="{0C630189-11FB-403C-9161-2720FEBF7941}"/>
              </a:ext>
            </a:extLst>
          </p:cNvPr>
          <p:cNvPicPr>
            <a:picLocks noChangeAspect="1"/>
          </p:cNvPicPr>
          <p:nvPr/>
        </p:nvPicPr>
        <p:blipFill>
          <a:blip r:embed="rId11"/>
          <a:stretch>
            <a:fillRect/>
          </a:stretch>
        </p:blipFill>
        <p:spPr>
          <a:xfrm>
            <a:off x="9680210" y="3252295"/>
            <a:ext cx="1168512" cy="1362105"/>
          </a:xfrm>
          <a:prstGeom prst="rect">
            <a:avLst/>
          </a:prstGeom>
        </p:spPr>
      </p:pic>
      <p:grpSp>
        <p:nvGrpSpPr>
          <p:cNvPr id="31" name="Group 30"/>
          <p:cNvGrpSpPr/>
          <p:nvPr/>
        </p:nvGrpSpPr>
        <p:grpSpPr>
          <a:xfrm>
            <a:off x="10583836" y="2604186"/>
            <a:ext cx="1136915" cy="1099017"/>
            <a:chOff x="3730143" y="1165855"/>
            <a:chExt cx="852686" cy="824263"/>
          </a:xfrm>
        </p:grpSpPr>
        <p:pic>
          <p:nvPicPr>
            <p:cNvPr id="32" name="Picture 31" descr="Age Adjusted D-Dimer Testing - R.E.B.E.L. EM - Emergency ..."/>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730143" y="1165855"/>
              <a:ext cx="852686" cy="824263"/>
            </a:xfrm>
            <a:prstGeom prst="rect">
              <a:avLst/>
            </a:prstGeom>
          </p:spPr>
        </p:pic>
        <p:sp>
          <p:nvSpPr>
            <p:cNvPr id="33" name="TextBox 32"/>
            <p:cNvSpPr txBox="1"/>
            <p:nvPr/>
          </p:nvSpPr>
          <p:spPr>
            <a:xfrm rot="21120449">
              <a:off x="3779821" y="1320311"/>
              <a:ext cx="704088" cy="407900"/>
            </a:xfrm>
            <a:prstGeom prst="rect">
              <a:avLst/>
            </a:prstGeom>
            <a:solidFill>
              <a:srgbClr val="FFFF00"/>
            </a:solidFill>
          </p:spPr>
          <p:txBody>
            <a:bodyPr wrap="square" rtlCol="0">
              <a:spAutoFit/>
            </a:bodyPr>
            <a:lstStyle/>
            <a:p>
              <a:pPr algn="ctr"/>
              <a:r>
                <a:rPr lang="en-US" sz="1467" dirty="0">
                  <a:solidFill>
                    <a:schemeClr val="bg1"/>
                  </a:solidFill>
                </a:rPr>
                <a:t>Plaintext m</a:t>
              </a:r>
              <a:endParaRPr lang="en-AU" sz="1467" dirty="0">
                <a:solidFill>
                  <a:schemeClr val="bg1"/>
                </a:solidFill>
              </a:endParaRPr>
            </a:p>
          </p:txBody>
        </p:sp>
      </p:grpSp>
      <p:cxnSp>
        <p:nvCxnSpPr>
          <p:cNvPr id="12" name="Straight Arrow Connector 11">
            <a:extLst>
              <a:ext uri="{FF2B5EF4-FFF2-40B4-BE49-F238E27FC236}">
                <a16:creationId xmlns:a16="http://schemas.microsoft.com/office/drawing/2014/main" id="{9C9C61C3-145D-443B-B08E-1702E3C9F7EF}"/>
              </a:ext>
            </a:extLst>
          </p:cNvPr>
          <p:cNvCxnSpPr/>
          <p:nvPr/>
        </p:nvCxnSpPr>
        <p:spPr>
          <a:xfrm>
            <a:off x="4343400" y="3112908"/>
            <a:ext cx="0" cy="548453"/>
          </a:xfrm>
          <a:prstGeom prst="straightConnector1">
            <a:avLst/>
          </a:prstGeom>
          <a:ln w="28575">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E80C9EF7-B8A3-4F54-8599-DBEADC746C05}"/>
              </a:ext>
            </a:extLst>
          </p:cNvPr>
          <p:cNvCxnSpPr/>
          <p:nvPr/>
        </p:nvCxnSpPr>
        <p:spPr>
          <a:xfrm>
            <a:off x="7791450" y="3099895"/>
            <a:ext cx="0" cy="548453"/>
          </a:xfrm>
          <a:prstGeom prst="straightConnector1">
            <a:avLst/>
          </a:prstGeom>
          <a:ln w="28575">
            <a:solidFill>
              <a:schemeClr val="accent1"/>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047234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03446" y="50065"/>
            <a:ext cx="10353762" cy="995250"/>
          </a:xfrm>
        </p:spPr>
        <p:txBody>
          <a:bodyPr>
            <a:normAutofit/>
          </a:bodyPr>
          <a:lstStyle/>
          <a:p>
            <a:r>
              <a:rPr lang="en-AU" sz="3600" dirty="0"/>
              <a:t>RSA: Homomorphic Multiplication</a:t>
            </a:r>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CEE46228-0CBA-4584-A268-EE13072AFEC1}"/>
                  </a:ext>
                </a:extLst>
              </p:cNvPr>
              <p:cNvSpPr txBox="1">
                <a:spLocks/>
              </p:cNvSpPr>
              <p:nvPr/>
            </p:nvSpPr>
            <p:spPr>
              <a:xfrm>
                <a:off x="7043742" y="1768615"/>
                <a:ext cx="2681745" cy="605281"/>
              </a:xfrm>
              <a:prstGeom prst="rect">
                <a:avLst/>
              </a:prstGeom>
              <a:effectLst>
                <a:outerShdw blurRad="25400" dir="17880000">
                  <a:srgbClr val="000000">
                    <a:alpha val="46000"/>
                  </a:srgbClr>
                </a:outerShdw>
              </a:effectLst>
            </p:spPr>
            <p:txBody>
              <a:bodyPr vert="horz" lIns="91440" tIns="45720" rIns="91440" bIns="45720" rtlCol="0" anchor="t">
                <a:normAutofit fontScale="92500"/>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14:m>
                  <m:oMathPara xmlns:m="http://schemas.openxmlformats.org/officeDocument/2006/math">
                    <m:oMathParaPr>
                      <m:jc m:val="centerGroup"/>
                    </m:oMathParaPr>
                    <m:oMath xmlns:m="http://schemas.openxmlformats.org/officeDocument/2006/math">
                      <m:sSub>
                        <m:sSubPr>
                          <m:ctrlPr>
                            <a:rPr lang="en-AU" sz="2800" i="1" smtClean="0">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8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800" i="1">
                              <a:effectLst/>
                              <a:latin typeface="Cambria Math" panose="02040503050406030204" pitchFamily="18" charset="0"/>
                              <a:ea typeface="DengXian" panose="02010600030101010101" pitchFamily="2" charset="-122"/>
                              <a:cs typeface="Times New Roman" panose="02020603050405020304" pitchFamily="18" charset="0"/>
                            </a:rPr>
                            <m:t>1 </m:t>
                          </m:r>
                        </m:sub>
                      </m:sSub>
                      <m:r>
                        <a:rPr lang="en-AU" sz="2800" b="0" i="1" smtClean="0">
                          <a:effectLst/>
                          <a:latin typeface="Cambria Math" panose="02040503050406030204" pitchFamily="18" charset="0"/>
                          <a:ea typeface="DengXian" panose="02010600030101010101" pitchFamily="2" charset="-122"/>
                          <a:cs typeface="Times New Roman" panose="02020603050405020304" pitchFamily="18" charset="0"/>
                        </a:rPr>
                        <m:t>∗</m:t>
                      </m:r>
                      <m:r>
                        <a:rPr lang="en-AU" sz="2800" i="1">
                          <a:effectLst/>
                          <a:latin typeface="Cambria Math" panose="02040503050406030204" pitchFamily="18" charset="0"/>
                          <a:ea typeface="DengXian" panose="02010600030101010101" pitchFamily="2" charset="-122"/>
                          <a:cs typeface="Times New Roman" panose="02020603050405020304" pitchFamily="18" charset="0"/>
                        </a:rPr>
                        <m:t> </m:t>
                      </m:r>
                      <m:sSub>
                        <m:sSubPr>
                          <m:ctrlPr>
                            <a:rPr lang="en-AU" sz="28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8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800" i="1">
                              <a:effectLst/>
                              <a:latin typeface="Cambria Math" panose="02040503050406030204" pitchFamily="18" charset="0"/>
                              <a:ea typeface="DengXian" panose="02010600030101010101" pitchFamily="2" charset="-122"/>
                              <a:cs typeface="Times New Roman" panose="02020603050405020304" pitchFamily="18" charset="0"/>
                            </a:rPr>
                            <m:t>2</m:t>
                          </m:r>
                        </m:sub>
                      </m:sSub>
                      <m:r>
                        <a:rPr lang="en-AU" sz="28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AU" sz="28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8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800" i="1">
                              <a:effectLst/>
                              <a:latin typeface="Cambria Math" panose="02040503050406030204" pitchFamily="18" charset="0"/>
                              <a:ea typeface="DengXian" panose="02010600030101010101" pitchFamily="2" charset="-122"/>
                              <a:cs typeface="Times New Roman" panose="02020603050405020304" pitchFamily="18" charset="0"/>
                            </a:rPr>
                            <m:t>12</m:t>
                          </m:r>
                        </m:sub>
                      </m:sSub>
                    </m:oMath>
                  </m:oMathPara>
                </a14:m>
                <a:endParaRPr lang="en-AU" sz="2800" dirty="0"/>
              </a:p>
            </p:txBody>
          </p:sp>
        </mc:Choice>
        <mc:Fallback xmlns="">
          <p:sp>
            <p:nvSpPr>
              <p:cNvPr id="9" name="Content Placeholder 2">
                <a:extLst>
                  <a:ext uri="{FF2B5EF4-FFF2-40B4-BE49-F238E27FC236}">
                    <a16:creationId xmlns:a16="http://schemas.microsoft.com/office/drawing/2014/main" id="{CEE46228-0CBA-4584-A268-EE13072AFEC1}"/>
                  </a:ext>
                </a:extLst>
              </p:cNvPr>
              <p:cNvSpPr txBox="1">
                <a:spLocks noRot="1" noChangeAspect="1" noMove="1" noResize="1" noEditPoints="1" noAdjustHandles="1" noChangeArrowheads="1" noChangeShapeType="1" noTextEdit="1"/>
              </p:cNvSpPr>
              <p:nvPr/>
            </p:nvSpPr>
            <p:spPr>
              <a:xfrm>
                <a:off x="7043742" y="1768615"/>
                <a:ext cx="2681745" cy="605281"/>
              </a:xfrm>
              <a:prstGeom prst="rect">
                <a:avLst/>
              </a:prstGeom>
              <a:blipFill>
                <a:blip r:embed="rId3"/>
                <a:stretch>
                  <a:fillRect/>
                </a:stretch>
              </a:blipFill>
              <a:effectLst>
                <a:outerShdw blurRad="25400" dir="17880000">
                  <a:srgbClr val="000000">
                    <a:alpha val="46000"/>
                  </a:srgbClr>
                </a:outerShdw>
              </a:effectLst>
            </p:spPr>
            <p:txBody>
              <a:bodyPr/>
              <a:lstStyle/>
              <a:p>
                <a:r>
                  <a:rPr lang="en-AU">
                    <a:noFill/>
                  </a:rPr>
                  <a:t> </a:t>
                </a:r>
              </a:p>
            </p:txBody>
          </p:sp>
        </mc:Fallback>
      </mc:AlternateContent>
      <p:cxnSp>
        <p:nvCxnSpPr>
          <p:cNvPr id="11" name="Straight Arrow Connector 10">
            <a:extLst>
              <a:ext uri="{FF2B5EF4-FFF2-40B4-BE49-F238E27FC236}">
                <a16:creationId xmlns:a16="http://schemas.microsoft.com/office/drawing/2014/main" id="{9E26D652-CA89-4C22-95D9-F3651ECCCBE8}"/>
              </a:ext>
            </a:extLst>
          </p:cNvPr>
          <p:cNvCxnSpPr>
            <a:cxnSpLocks/>
          </p:cNvCxnSpPr>
          <p:nvPr/>
        </p:nvCxnSpPr>
        <p:spPr>
          <a:xfrm flipH="1">
            <a:off x="2690191" y="2841373"/>
            <a:ext cx="2935274" cy="228442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4459C86B-E705-46A7-965A-F32321AFFF80}"/>
                  </a:ext>
                </a:extLst>
              </p:cNvPr>
              <p:cNvSpPr>
                <a:spLocks noGrp="1"/>
              </p:cNvSpPr>
              <p:nvPr>
                <p:ph idx="1"/>
              </p:nvPr>
            </p:nvSpPr>
            <p:spPr>
              <a:xfrm>
                <a:off x="696588" y="1088593"/>
                <a:ext cx="5996820" cy="761336"/>
              </a:xfrm>
            </p:spPr>
            <p:txBody>
              <a:bodyPr>
                <a:normAutofit/>
              </a:bodyPr>
              <a:lstStyle/>
              <a:p>
                <a14:m>
                  <m:oMath xmlns:m="http://schemas.openxmlformats.org/officeDocument/2006/math">
                    <m:r>
                      <a:rPr lang="en-AU" sz="2400" i="1" smtClean="0">
                        <a:effectLst/>
                        <a:latin typeface="Cambria Math" panose="02040503050406030204" pitchFamily="18" charset="0"/>
                        <a:ea typeface="DengXian" panose="02010600030101010101" pitchFamily="2" charset="-122"/>
                        <a:cs typeface="Times New Roman" panose="02020603050405020304" pitchFamily="18" charset="0"/>
                      </a:rPr>
                      <m:t>𝑒</m:t>
                    </m:r>
                    <m:r>
                      <a:rPr lang="en-AU" sz="2400" i="1" smtClean="0">
                        <a:effectLst/>
                        <a:latin typeface="Cambria Math" panose="02040503050406030204" pitchFamily="18" charset="0"/>
                        <a:ea typeface="DengXian" panose="02010600030101010101" pitchFamily="2" charset="-122"/>
                        <a:cs typeface="Times New Roman" panose="02020603050405020304" pitchFamily="18" charset="0"/>
                      </a:rPr>
                      <m:t>( )</m:t>
                    </m:r>
                  </m:oMath>
                </a14:m>
                <a:r>
                  <a:rPr lang="en-AU" sz="2400" dirty="0"/>
                  <a:t>: RSA encryption; </a:t>
                </a:r>
                <a14:m>
                  <m:oMath xmlns:m="http://schemas.openxmlformats.org/officeDocument/2006/math">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𝑑</m:t>
                    </m:r>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oMath>
                </a14:m>
                <a:r>
                  <a:rPr lang="en-AU" sz="2400" dirty="0"/>
                  <a:t>: RSA decryption</a:t>
                </a:r>
              </a:p>
            </p:txBody>
          </p:sp>
        </mc:Choice>
        <mc:Fallback xmlns="">
          <p:sp>
            <p:nvSpPr>
              <p:cNvPr id="12" name="Content Placeholder 2">
                <a:extLst>
                  <a:ext uri="{FF2B5EF4-FFF2-40B4-BE49-F238E27FC236}">
                    <a16:creationId xmlns:a16="http://schemas.microsoft.com/office/drawing/2014/main" id="{4459C86B-E705-46A7-965A-F32321AFFF80}"/>
                  </a:ext>
                </a:extLst>
              </p:cNvPr>
              <p:cNvSpPr>
                <a:spLocks noGrp="1" noRot="1" noChangeAspect="1" noMove="1" noResize="1" noEditPoints="1" noAdjustHandles="1" noChangeArrowheads="1" noChangeShapeType="1" noTextEdit="1"/>
              </p:cNvSpPr>
              <p:nvPr>
                <p:ph idx="1"/>
              </p:nvPr>
            </p:nvSpPr>
            <p:spPr>
              <a:xfrm>
                <a:off x="696588" y="1088593"/>
                <a:ext cx="5996820" cy="761336"/>
              </a:xfrm>
              <a:blipFill>
                <a:blip r:embed="rId4"/>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7B693A93-DA4C-4D2F-8247-85DD674B96C8}"/>
                  </a:ext>
                </a:extLst>
              </p:cNvPr>
              <p:cNvSpPr txBox="1">
                <a:spLocks/>
              </p:cNvSpPr>
              <p:nvPr/>
            </p:nvSpPr>
            <p:spPr>
              <a:xfrm>
                <a:off x="0" y="2345861"/>
                <a:ext cx="7020731" cy="761336"/>
              </a:xfrm>
              <a:prstGeom prst="rect">
                <a:avLst/>
              </a:prstGeom>
              <a:effectLst>
                <a:outerShdw blurRad="25400" dir="17880000">
                  <a:srgbClr val="000000">
                    <a:alpha val="46000"/>
                  </a:srgbClr>
                </a:outerShdw>
              </a:effectLst>
            </p:spPr>
            <p:txBody>
              <a:bodyPr vert="horz" lIns="91440" tIns="45720" rIns="91440" bIns="45720" rtlCol="0" anchor="t">
                <a:no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lnSpc>
                    <a:spcPct val="107000"/>
                  </a:lnSpc>
                  <a:spcAft>
                    <a:spcPts val="800"/>
                  </a:spcAft>
                  <a:buNone/>
                </a:pPr>
                <a14:m>
                  <m:oMathPara xmlns:m="http://schemas.openxmlformats.org/officeDocument/2006/math">
                    <m:oMathParaPr>
                      <m:jc m:val="centerGroup"/>
                    </m:oMathParaPr>
                    <m:oMath xmlns:m="http://schemas.openxmlformats.org/officeDocument/2006/math">
                      <m:sSub>
                        <m:sSubPr>
                          <m:ctrlPr>
                            <a:rPr lang="en-AU" sz="2400" i="1" smtClean="0">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𝑒</m:t>
                          </m:r>
                          <m:r>
                            <a:rPr lang="en-AU" sz="2400" i="1">
                              <a:effectLst/>
                              <a:latin typeface="Cambria Math" panose="02040503050406030204" pitchFamily="18" charset="0"/>
                              <a:ea typeface="DengXian" panose="02010600030101010101" pitchFamily="2" charset="-122"/>
                              <a:cs typeface="Times New Roman" panose="02020603050405020304" pitchFamily="18" charset="0"/>
                            </a:rPr>
                            <m:t>(</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1 </m:t>
                          </m:r>
                        </m:sub>
                      </m:sSub>
                      <m:r>
                        <a:rPr lang="en-AU" sz="24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𝑒</m:t>
                          </m:r>
                          <m:r>
                            <a:rPr lang="en-AU" sz="2400" i="1">
                              <a:effectLst/>
                              <a:latin typeface="Cambria Math" panose="02040503050406030204" pitchFamily="18" charset="0"/>
                              <a:ea typeface="DengXian" panose="02010600030101010101" pitchFamily="2" charset="-122"/>
                              <a:cs typeface="Times New Roman" panose="02020603050405020304" pitchFamily="18" charset="0"/>
                            </a:rPr>
                            <m:t>(</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2 </m:t>
                          </m:r>
                        </m:sub>
                      </m:sSub>
                      <m:r>
                        <a:rPr lang="en-AU" sz="24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𝑒</m:t>
                          </m:r>
                          <m:r>
                            <a:rPr lang="en-AU" sz="2400" i="1">
                              <a:effectLst/>
                              <a:latin typeface="Cambria Math" panose="02040503050406030204" pitchFamily="18" charset="0"/>
                              <a:ea typeface="DengXian" panose="02010600030101010101" pitchFamily="2" charset="-122"/>
                              <a:cs typeface="Times New Roman" panose="02020603050405020304" pitchFamily="18" charset="0"/>
                            </a:rPr>
                            <m:t>(</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1 </m:t>
                          </m:r>
                        </m:sub>
                      </m:sSub>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 </m:t>
                      </m:r>
                      <m:sSub>
                        <m:sSub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2</m:t>
                          </m:r>
                        </m:sub>
                      </m:sSub>
                      <m:r>
                        <a:rPr lang="en-AU" sz="2400" i="1">
                          <a:effectLst/>
                          <a:latin typeface="Cambria Math" panose="02040503050406030204" pitchFamily="18" charset="0"/>
                          <a:ea typeface="DengXian" panose="02010600030101010101" pitchFamily="2" charset="-122"/>
                          <a:cs typeface="Times New Roman" panose="02020603050405020304" pitchFamily="18" charset="0"/>
                        </a:rPr>
                        <m:t>)=</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𝑒</m:t>
                      </m:r>
                      <m:r>
                        <a:rPr lang="en-AU" sz="24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12</m:t>
                          </m:r>
                        </m:sub>
                      </m:sSub>
                      <m:r>
                        <a:rPr lang="en-AU" sz="2400" i="1">
                          <a:effectLst/>
                          <a:latin typeface="Cambria Math" panose="02040503050406030204" pitchFamily="18" charset="0"/>
                          <a:ea typeface="DengXian" panose="02010600030101010101" pitchFamily="2" charset="-122"/>
                          <a:cs typeface="Times New Roman" panose="02020603050405020304" pitchFamily="18" charset="0"/>
                        </a:rPr>
                        <m:t>)</m:t>
                      </m:r>
                    </m:oMath>
                  </m:oMathPara>
                </a14:m>
                <a:endParaRPr lang="en-AU" sz="2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13" name="Content Placeholder 2">
                <a:extLst>
                  <a:ext uri="{FF2B5EF4-FFF2-40B4-BE49-F238E27FC236}">
                    <a16:creationId xmlns:a16="http://schemas.microsoft.com/office/drawing/2014/main" id="{7B693A93-DA4C-4D2F-8247-85DD674B96C8}"/>
                  </a:ext>
                </a:extLst>
              </p:cNvPr>
              <p:cNvSpPr txBox="1">
                <a:spLocks noRot="1" noChangeAspect="1" noMove="1" noResize="1" noEditPoints="1" noAdjustHandles="1" noChangeArrowheads="1" noChangeShapeType="1" noTextEdit="1"/>
              </p:cNvSpPr>
              <p:nvPr/>
            </p:nvSpPr>
            <p:spPr>
              <a:xfrm>
                <a:off x="0" y="2345861"/>
                <a:ext cx="7020731" cy="761336"/>
              </a:xfrm>
              <a:prstGeom prst="rect">
                <a:avLst/>
              </a:prstGeom>
              <a:blipFill>
                <a:blip r:embed="rId5"/>
                <a:stretch>
                  <a:fillRect/>
                </a:stretch>
              </a:blipFill>
              <a:effectLst>
                <a:outerShdw blurRad="25400" dir="17880000">
                  <a:srgbClr val="000000">
                    <a:alpha val="46000"/>
                  </a:srgbClr>
                </a:outerShdw>
              </a:effectLst>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A12CAE69-394B-4B8A-A2A8-287D3F9F12B4}"/>
                  </a:ext>
                </a:extLst>
              </p:cNvPr>
              <p:cNvSpPr txBox="1">
                <a:spLocks/>
              </p:cNvSpPr>
              <p:nvPr/>
            </p:nvSpPr>
            <p:spPr>
              <a:xfrm>
                <a:off x="750647" y="5125802"/>
                <a:ext cx="9648411" cy="655543"/>
              </a:xfrm>
              <a:prstGeom prst="rect">
                <a:avLst/>
              </a:prstGeom>
              <a:effectLst>
                <a:outerShdw blurRad="25400" dir="17880000">
                  <a:srgbClr val="000000">
                    <a:alpha val="46000"/>
                  </a:srgbClr>
                </a:outerShdw>
              </a:effectLst>
            </p:spPr>
            <p:txBody>
              <a:bodyPr vert="horz" lIns="91440" tIns="45720" rIns="91440" bIns="45720" rtlCol="0" anchor="t">
                <a:no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AU" sz="2400" dirty="0"/>
                  <a:t> </a:t>
                </a:r>
                <a14:m>
                  <m:oMath xmlns:m="http://schemas.openxmlformats.org/officeDocument/2006/math">
                    <m:sSub>
                      <m:sSubPr>
                        <m:ctrlPr>
                          <a:rPr lang="en-AU" sz="2400" i="1" smtClean="0">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12</m:t>
                        </m:r>
                      </m:sub>
                    </m:sSub>
                    <m:r>
                      <a:rPr lang="en-AU" sz="24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AU" sz="2400" i="1" smtClean="0">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𝑑</m:t>
                        </m:r>
                        <m:r>
                          <a:rPr lang="en-AU" sz="2400" i="1">
                            <a:effectLst/>
                            <a:latin typeface="Cambria Math" panose="02040503050406030204" pitchFamily="18" charset="0"/>
                            <a:ea typeface="DengXian" panose="02010600030101010101" pitchFamily="2" charset="-122"/>
                            <a:cs typeface="Times New Roman" panose="02020603050405020304" pitchFamily="18" charset="0"/>
                          </a:rPr>
                          <m:t>(</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𝑒</m:t>
                        </m:r>
                        <m:d>
                          <m:d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dPr>
                          <m:e>
                            <m:sSub>
                              <m:sSub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12</m:t>
                                </m:r>
                              </m:sub>
                            </m:sSub>
                          </m:e>
                        </m:d>
                        <m:r>
                          <a:rPr lang="en-AU" sz="2400" i="1">
                            <a:effectLst/>
                            <a:latin typeface="Cambria Math" panose="02040503050406030204" pitchFamily="18" charset="0"/>
                            <a:ea typeface="DengXian" panose="02010600030101010101" pitchFamily="2" charset="-122"/>
                            <a:cs typeface="Times New Roman" panose="02020603050405020304" pitchFamily="18" charset="0"/>
                          </a:rPr>
                          <m:t>)=</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𝑑</m:t>
                        </m:r>
                        <m:r>
                          <a:rPr lang="en-AU" sz="2400" i="1">
                            <a:effectLst/>
                            <a:latin typeface="Cambria Math" panose="02040503050406030204" pitchFamily="18" charset="0"/>
                            <a:ea typeface="DengXian" panose="02010600030101010101" pitchFamily="2" charset="-122"/>
                            <a:cs typeface="Times New Roman" panose="02020603050405020304" pitchFamily="18" charset="0"/>
                          </a:rPr>
                          <m:t>(</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𝑒</m:t>
                        </m:r>
                        <m:r>
                          <a:rPr lang="en-AU" sz="2400" i="1">
                            <a:effectLst/>
                            <a:latin typeface="Cambria Math" panose="02040503050406030204" pitchFamily="18" charset="0"/>
                            <a:ea typeface="DengXian" panose="02010600030101010101" pitchFamily="2" charset="-122"/>
                            <a:cs typeface="Times New Roman" panose="02020603050405020304" pitchFamily="18" charset="0"/>
                          </a:rPr>
                          <m:t>(</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1 </m:t>
                        </m:r>
                      </m:sub>
                    </m:sSub>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m:t>
                    </m:r>
                    <m:r>
                      <a:rPr lang="en-AU" sz="2400" i="1" smtClean="0">
                        <a:effectLst/>
                        <a:latin typeface="Cambria Math" panose="02040503050406030204" pitchFamily="18" charset="0"/>
                        <a:ea typeface="DengXian" panose="02010600030101010101" pitchFamily="2" charset="-122"/>
                        <a:cs typeface="Times New Roman" panose="02020603050405020304" pitchFamily="18" charset="0"/>
                      </a:rPr>
                      <m:t> </m:t>
                    </m:r>
                    <m:r>
                      <a:rPr lang="en-AU" sz="24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𝑒</m:t>
                        </m:r>
                        <m:r>
                          <a:rPr lang="en-AU" sz="2400" i="1">
                            <a:effectLst/>
                            <a:latin typeface="Cambria Math" panose="02040503050406030204" pitchFamily="18" charset="0"/>
                            <a:ea typeface="DengXian" panose="02010600030101010101" pitchFamily="2" charset="-122"/>
                            <a:cs typeface="Times New Roman" panose="02020603050405020304" pitchFamily="18" charset="0"/>
                          </a:rPr>
                          <m:t>(</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2 </m:t>
                        </m:r>
                      </m:sub>
                    </m:sSub>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m:t>
                    </m:r>
                    <m:r>
                      <a:rPr lang="en-AU" sz="2400" i="1">
                        <a:effectLst/>
                        <a:latin typeface="Cambria Math" panose="02040503050406030204" pitchFamily="18" charset="0"/>
                        <a:ea typeface="DengXian" panose="02010600030101010101" pitchFamily="2" charset="-122"/>
                        <a:cs typeface="Times New Roman" panose="02020603050405020304" pitchFamily="18" charset="0"/>
                      </a:rPr>
                      <m:t>)</m:t>
                    </m:r>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1 </m:t>
                        </m:r>
                      </m:sub>
                    </m:sSub>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sSub>
                      <m:sSub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2</m:t>
                        </m:r>
                      </m:sub>
                    </m:sSub>
                  </m:oMath>
                </a14:m>
                <a:endParaRPr lang="en-AU" sz="2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16" name="Content Placeholder 2">
                <a:extLst>
                  <a:ext uri="{FF2B5EF4-FFF2-40B4-BE49-F238E27FC236}">
                    <a16:creationId xmlns:a16="http://schemas.microsoft.com/office/drawing/2014/main" id="{A12CAE69-394B-4B8A-A2A8-287D3F9F12B4}"/>
                  </a:ext>
                </a:extLst>
              </p:cNvPr>
              <p:cNvSpPr txBox="1">
                <a:spLocks noRot="1" noChangeAspect="1" noMove="1" noResize="1" noEditPoints="1" noAdjustHandles="1" noChangeArrowheads="1" noChangeShapeType="1" noTextEdit="1"/>
              </p:cNvSpPr>
              <p:nvPr/>
            </p:nvSpPr>
            <p:spPr>
              <a:xfrm>
                <a:off x="750647" y="5125802"/>
                <a:ext cx="9648411" cy="655543"/>
              </a:xfrm>
              <a:prstGeom prst="rect">
                <a:avLst/>
              </a:prstGeom>
              <a:blipFill>
                <a:blip r:embed="rId6"/>
                <a:stretch>
                  <a:fillRect/>
                </a:stretch>
              </a:blipFill>
              <a:effectLst>
                <a:outerShdw blurRad="25400" dir="17880000">
                  <a:srgbClr val="000000">
                    <a:alpha val="46000"/>
                  </a:srgbClr>
                </a:outerShdw>
              </a:effectLst>
            </p:spPr>
            <p:txBody>
              <a:bodyPr/>
              <a:lstStyle/>
              <a:p>
                <a:r>
                  <a:rPr lang="en-AU">
                    <a:noFill/>
                  </a:rPr>
                  <a:t> </a:t>
                </a:r>
              </a:p>
            </p:txBody>
          </p:sp>
        </mc:Fallback>
      </mc:AlternateContent>
      <p:cxnSp>
        <p:nvCxnSpPr>
          <p:cNvPr id="17" name="Straight Arrow Connector 16">
            <a:extLst>
              <a:ext uri="{FF2B5EF4-FFF2-40B4-BE49-F238E27FC236}">
                <a16:creationId xmlns:a16="http://schemas.microsoft.com/office/drawing/2014/main" id="{81E62B63-A077-4158-BD75-E902D7703D7D}"/>
              </a:ext>
            </a:extLst>
          </p:cNvPr>
          <p:cNvCxnSpPr>
            <a:cxnSpLocks/>
            <a:stCxn id="9" idx="1"/>
          </p:cNvCxnSpPr>
          <p:nvPr/>
        </p:nvCxnSpPr>
        <p:spPr>
          <a:xfrm flipH="1">
            <a:off x="4207188" y="2071256"/>
            <a:ext cx="2836554" cy="38249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 name="Left Brace 1">
            <a:extLst>
              <a:ext uri="{FF2B5EF4-FFF2-40B4-BE49-F238E27FC236}">
                <a16:creationId xmlns:a16="http://schemas.microsoft.com/office/drawing/2014/main" id="{12BE9540-CA25-470C-B16A-CD7CB8F46942}"/>
              </a:ext>
            </a:extLst>
          </p:cNvPr>
          <p:cNvSpPr/>
          <p:nvPr/>
        </p:nvSpPr>
        <p:spPr>
          <a:xfrm rot="16200000">
            <a:off x="2647670" y="1206631"/>
            <a:ext cx="386370" cy="3859855"/>
          </a:xfrm>
          <a:prstGeom prst="leftBrace">
            <a:avLst>
              <a:gd name="adj1" fmla="val 8333"/>
              <a:gd name="adj2" fmla="val 5144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10" name="Title 3">
            <a:extLst>
              <a:ext uri="{FF2B5EF4-FFF2-40B4-BE49-F238E27FC236}">
                <a16:creationId xmlns:a16="http://schemas.microsoft.com/office/drawing/2014/main" id="{4D53EFD9-2F7C-44AE-A39F-33F85C69A87C}"/>
              </a:ext>
            </a:extLst>
          </p:cNvPr>
          <p:cNvSpPr txBox="1">
            <a:spLocks/>
          </p:cNvSpPr>
          <p:nvPr/>
        </p:nvSpPr>
        <p:spPr>
          <a:xfrm>
            <a:off x="1103446" y="3320735"/>
            <a:ext cx="4038397" cy="456327"/>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400" dirty="0">
                <a:latin typeface="+mn-lt"/>
                <a:ea typeface="+mn-ea"/>
                <a:cs typeface="+mn-cs"/>
              </a:rPr>
              <a:t>Homomorphic Multiplication</a:t>
            </a:r>
          </a:p>
        </p:txBody>
      </p:sp>
    </p:spTree>
    <p:extLst>
      <p:ext uri="{BB962C8B-B14F-4D97-AF65-F5344CB8AC3E}">
        <p14:creationId xmlns:p14="http://schemas.microsoft.com/office/powerpoint/2010/main" val="35122236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258417" y="1238010"/>
                <a:ext cx="11675165" cy="4751051"/>
              </a:xfrm>
            </p:spPr>
            <p:txBody>
              <a:bodyPr>
                <a:normAutofit/>
              </a:bodyPr>
              <a:lstStyle/>
              <a:p>
                <a:r>
                  <a:rPr lang="en-US" sz="2400" dirty="0"/>
                  <a:t>Bob has </a:t>
                </a:r>
                <a14:m>
                  <m:oMath xmlns:m="http://schemas.openxmlformats.org/officeDocument/2006/math">
                    <m:sSub>
                      <m:sSubPr>
                        <m:ctrlPr>
                          <a:rPr lang="en-AU" sz="2400" i="1" smtClean="0">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1 </m:t>
                        </m:r>
                      </m:sub>
                    </m:sSub>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:3</m:t>
                    </m:r>
                  </m:oMath>
                </a14:m>
                <a:r>
                  <a:rPr lang="en-US" sz="2400" dirty="0"/>
                  <a:t>, </a:t>
                </a:r>
                <a14:m>
                  <m:oMath xmlns:m="http://schemas.openxmlformats.org/officeDocument/2006/math">
                    <m:sSub>
                      <m:sSub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2</m:t>
                        </m:r>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sub>
                    </m:sSub>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:8</m:t>
                    </m:r>
                  </m:oMath>
                </a14:m>
                <a:endParaRPr lang="en-US" sz="2400" dirty="0"/>
              </a:p>
              <a:p>
                <a:pPr lvl="1"/>
                <a14:m>
                  <m:oMath xmlns:m="http://schemas.openxmlformats.org/officeDocument/2006/math">
                    <m:sSub>
                      <m:sSub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12</m:t>
                        </m:r>
                      </m:sub>
                    </m:sSub>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 </m:t>
                    </m:r>
                    <m:sSub>
                      <m:sSubPr>
                        <m:ctrlPr>
                          <a:rPr lang="en-AU" sz="2400" i="1" smtClean="0">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1 </m:t>
                        </m:r>
                      </m:sub>
                    </m:sSub>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m:t>
                    </m:r>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sSub>
                      <m:sSub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2</m:t>
                        </m:r>
                      </m:sub>
                    </m:sSub>
                    <m:r>
                      <a:rPr lang="en-AU" sz="2400" i="1">
                        <a:effectLst/>
                        <a:latin typeface="Cambria Math" panose="02040503050406030204" pitchFamily="18" charset="0"/>
                        <a:ea typeface="DengXian" panose="02010600030101010101" pitchFamily="2" charset="-122"/>
                        <a:cs typeface="Times New Roman" panose="02020603050405020304" pitchFamily="18" charset="0"/>
                      </a:rPr>
                      <m:t>=</m:t>
                    </m:r>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24</m:t>
                    </m:r>
                  </m:oMath>
                </a14:m>
                <a:endParaRPr lang="en-US" sz="2400" dirty="0"/>
              </a:p>
              <a:p>
                <a:pPr lvl="1"/>
                <a:endParaRPr lang="en-US" sz="2400" dirty="0"/>
              </a:p>
              <a:p>
                <a:pPr lvl="1"/>
                <a14:m>
                  <m:oMath xmlns:m="http://schemas.openxmlformats.org/officeDocument/2006/math">
                    <m:sSub>
                      <m:sSubPr>
                        <m:ctrlPr>
                          <a:rPr lang="en-AU" sz="2400" i="1" smtClean="0">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𝑐</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1</m:t>
                        </m:r>
                      </m:sub>
                    </m:sSub>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sSubSup>
                      <m:sSubSup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1</m:t>
                        </m:r>
                      </m:sub>
                      <m:sup>
                        <m:r>
                          <a:rPr lang="en-AU" sz="2400" i="1">
                            <a:effectLst/>
                            <a:latin typeface="Cambria Math" panose="02040503050406030204" pitchFamily="18" charset="0"/>
                            <a:ea typeface="DengXian" panose="02010600030101010101" pitchFamily="2" charset="-122"/>
                            <a:cs typeface="Times New Roman" panose="02020603050405020304" pitchFamily="18" charset="0"/>
                          </a:rPr>
                          <m:t>𝑒</m:t>
                        </m:r>
                      </m:sup>
                    </m:sSubSup>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𝑚𝑜𝑑</m:t>
                    </m:r>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𝑛</m:t>
                    </m:r>
                  </m:oMath>
                </a14:m>
                <a:r>
                  <a:rPr lang="en-AU" sz="2400" dirty="0">
                    <a:effectLst/>
                    <a:latin typeface="Calibri" panose="020F0502020204030204" pitchFamily="34" charset="0"/>
                    <a:ea typeface="DengXian" panose="02010600030101010101" pitchFamily="2" charset="-122"/>
                    <a:cs typeface="Times New Roman" panose="02020603050405020304" pitchFamily="18" charset="0"/>
                  </a:rPr>
                  <a:t> </a:t>
                </a:r>
                <a14:m>
                  <m:oMath xmlns:m="http://schemas.openxmlformats.org/officeDocument/2006/math">
                    <m:r>
                      <a:rPr lang="en-AU" sz="2400" i="1">
                        <a:effectLst/>
                        <a:latin typeface="Cambria Math" panose="02040503050406030204" pitchFamily="18" charset="0"/>
                      </a:rPr>
                      <m:t>=</m:t>
                    </m:r>
                    <m:sSup>
                      <m:sSup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AU" sz="2400" i="1">
                            <a:effectLst/>
                            <a:latin typeface="Cambria Math" panose="02040503050406030204" pitchFamily="18" charset="0"/>
                            <a:ea typeface="DengXian" panose="02010600030101010101" pitchFamily="2" charset="-122"/>
                            <a:cs typeface="Times New Roman" panose="02020603050405020304" pitchFamily="18" charset="0"/>
                          </a:rPr>
                          <m:t>3</m:t>
                        </m:r>
                      </m:e>
                      <m:sup>
                        <m:r>
                          <a:rPr lang="en-AU" sz="2400" i="1">
                            <a:effectLst/>
                            <a:latin typeface="Cambria Math" panose="02040503050406030204" pitchFamily="18" charset="0"/>
                            <a:ea typeface="DengXian" panose="02010600030101010101" pitchFamily="2" charset="-122"/>
                            <a:cs typeface="Times New Roman" panose="02020603050405020304" pitchFamily="18" charset="0"/>
                          </a:rPr>
                          <m:t>13</m:t>
                        </m:r>
                      </m:sup>
                    </m:sSup>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 </m:t>
                    </m:r>
                    <m:r>
                      <a:rPr lang="en-AU" sz="2400" i="1">
                        <a:effectLst/>
                        <a:latin typeface="Cambria Math" panose="02040503050406030204" pitchFamily="18" charset="0"/>
                      </a:rPr>
                      <m:t>𝑚𝑜𝑑</m:t>
                    </m:r>
                    <m:r>
                      <a:rPr lang="en-AU" sz="2400" i="1">
                        <a:effectLst/>
                        <a:latin typeface="Cambria Math" panose="02040503050406030204" pitchFamily="18" charset="0"/>
                      </a:rPr>
                      <m:t> </m:t>
                    </m:r>
                    <m:r>
                      <a:rPr lang="en-AU" sz="2400" b="0" i="0" smtClean="0">
                        <a:effectLst/>
                        <a:latin typeface="Cambria Math" panose="02040503050406030204" pitchFamily="18" charset="0"/>
                      </a:rPr>
                      <m:t>55=38</m:t>
                    </m:r>
                  </m:oMath>
                </a14:m>
                <a:endParaRPr lang="en-AU" sz="2400" dirty="0">
                  <a:effectLst/>
                  <a:latin typeface="Calibri" panose="020F0502020204030204" pitchFamily="34" charset="0"/>
                  <a:ea typeface="DengXian" panose="02010600030101010101" pitchFamily="2" charset="-122"/>
                  <a:cs typeface="Times New Roman" panose="02020603050405020304" pitchFamily="18" charset="0"/>
                </a:endParaRPr>
              </a:p>
              <a:p>
                <a:pPr lvl="1"/>
                <a14:m>
                  <m:oMath xmlns:m="http://schemas.openxmlformats.org/officeDocument/2006/math">
                    <m:sSub>
                      <m:sSubPr>
                        <m:ctrlPr>
                          <a:rPr lang="en-AU" sz="2400" i="1" smtClean="0">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𝑐</m:t>
                        </m:r>
                      </m:e>
                      <m:sub>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2</m:t>
                        </m:r>
                      </m:sub>
                    </m:sSub>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sSubSup>
                      <m:sSubSup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2</m:t>
                        </m:r>
                      </m:sub>
                      <m:sup>
                        <m:r>
                          <a:rPr lang="en-AU" sz="2400" i="1">
                            <a:effectLst/>
                            <a:latin typeface="Cambria Math" panose="02040503050406030204" pitchFamily="18" charset="0"/>
                            <a:ea typeface="DengXian" panose="02010600030101010101" pitchFamily="2" charset="-122"/>
                            <a:cs typeface="Times New Roman" panose="02020603050405020304" pitchFamily="18" charset="0"/>
                          </a:rPr>
                          <m:t>𝑒</m:t>
                        </m:r>
                      </m:sup>
                    </m:sSubSup>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𝑚𝑜𝑑</m:t>
                    </m:r>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𝑛</m:t>
                    </m:r>
                  </m:oMath>
                </a14:m>
                <a:r>
                  <a:rPr lang="en-AU" sz="2400" dirty="0">
                    <a:effectLst/>
                    <a:latin typeface="Calibri" panose="020F0502020204030204" pitchFamily="34" charset="0"/>
                    <a:ea typeface="DengXian" panose="02010600030101010101" pitchFamily="2" charset="-122"/>
                    <a:cs typeface="Times New Roman" panose="02020603050405020304" pitchFamily="18" charset="0"/>
                  </a:rPr>
                  <a:t> </a:t>
                </a:r>
                <a14:m>
                  <m:oMath xmlns:m="http://schemas.openxmlformats.org/officeDocument/2006/math">
                    <m:r>
                      <a:rPr lang="en-AU" sz="2400" i="1">
                        <a:effectLst/>
                        <a:latin typeface="Cambria Math" panose="02040503050406030204" pitchFamily="18" charset="0"/>
                      </a:rPr>
                      <m:t>=</m:t>
                    </m:r>
                    <m:sSup>
                      <m:sSup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8</m:t>
                        </m:r>
                      </m:e>
                      <m:sup>
                        <m:r>
                          <a:rPr lang="en-AU" sz="2400" i="1">
                            <a:effectLst/>
                            <a:latin typeface="Cambria Math" panose="02040503050406030204" pitchFamily="18" charset="0"/>
                            <a:ea typeface="DengXian" panose="02010600030101010101" pitchFamily="2" charset="-122"/>
                            <a:cs typeface="Times New Roman" panose="02020603050405020304" pitchFamily="18" charset="0"/>
                          </a:rPr>
                          <m:t>13</m:t>
                        </m:r>
                      </m:sup>
                    </m:sSup>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 </m:t>
                    </m:r>
                    <m:r>
                      <a:rPr lang="en-AU" sz="2400" i="1">
                        <a:effectLst/>
                        <a:latin typeface="Cambria Math" panose="02040503050406030204" pitchFamily="18" charset="0"/>
                      </a:rPr>
                      <m:t>𝑚𝑜𝑑</m:t>
                    </m:r>
                    <m:r>
                      <a:rPr lang="en-AU" sz="2400" i="1">
                        <a:effectLst/>
                        <a:latin typeface="Cambria Math" panose="02040503050406030204" pitchFamily="18" charset="0"/>
                      </a:rPr>
                      <m:t> </m:t>
                    </m:r>
                    <m:r>
                      <a:rPr lang="en-AU" sz="2400" b="0" i="0" smtClean="0">
                        <a:effectLst/>
                        <a:latin typeface="Cambria Math" panose="02040503050406030204" pitchFamily="18" charset="0"/>
                      </a:rPr>
                      <m:t>55=28</m:t>
                    </m:r>
                  </m:oMath>
                </a14:m>
                <a:endParaRPr lang="en-US" sz="2400" dirty="0"/>
              </a:p>
              <a:p>
                <a:pPr lvl="1"/>
                <a14:m>
                  <m:oMath xmlns:m="http://schemas.openxmlformats.org/officeDocument/2006/math">
                    <m:sSub>
                      <m:sSubPr>
                        <m:ctrlPr>
                          <a:rPr lang="en-AU" sz="2400" i="1">
                            <a:effectLst/>
                            <a:latin typeface="Cambria Math" panose="02040503050406030204" pitchFamily="18" charset="0"/>
                          </a:rPr>
                        </m:ctrlPr>
                      </m:sSubPr>
                      <m:e>
                        <m:r>
                          <a:rPr lang="en-AU" sz="2400" i="1">
                            <a:effectLst/>
                            <a:latin typeface="Cambria Math" panose="02040503050406030204" pitchFamily="18" charset="0"/>
                          </a:rPr>
                          <m:t>𝑐</m:t>
                        </m:r>
                      </m:e>
                      <m:sub>
                        <m:r>
                          <a:rPr lang="en-AU" sz="2400" b="0" i="1" smtClean="0">
                            <a:effectLst/>
                            <a:latin typeface="Cambria Math" panose="02040503050406030204" pitchFamily="18" charset="0"/>
                          </a:rPr>
                          <m:t>12</m:t>
                        </m:r>
                      </m:sub>
                    </m:sSub>
                    <m:r>
                      <a:rPr lang="en-AU" sz="2400" i="1">
                        <a:effectLst/>
                        <a:latin typeface="Cambria Math" panose="02040503050406030204" pitchFamily="18" charset="0"/>
                      </a:rPr>
                      <m:t>=</m:t>
                    </m:r>
                    <m:sSub>
                      <m:sSub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𝑐</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1</m:t>
                        </m:r>
                      </m:sub>
                    </m:sSub>
                    <m:r>
                      <a:rPr lang="en-AU" sz="24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𝑐</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2</m:t>
                        </m:r>
                      </m:sub>
                    </m:sSub>
                    <m:r>
                      <a:rPr lang="en-AU" sz="2400" b="0" i="1" smtClean="0">
                        <a:effectLst/>
                        <a:latin typeface="Cambria Math" panose="02040503050406030204" pitchFamily="18" charset="0"/>
                      </a:rPr>
                      <m:t>= </m:t>
                    </m:r>
                    <m:sSubSup>
                      <m:sSubSupPr>
                        <m:ctrlPr>
                          <a:rPr lang="en-AU" sz="2400" i="1" smtClean="0">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1</m:t>
                        </m:r>
                      </m:sub>
                      <m:sup>
                        <m:r>
                          <a:rPr lang="en-AU" sz="2400" i="1">
                            <a:effectLst/>
                            <a:latin typeface="Cambria Math" panose="02040503050406030204" pitchFamily="18" charset="0"/>
                            <a:ea typeface="DengXian" panose="02010600030101010101" pitchFamily="2" charset="-122"/>
                            <a:cs typeface="Times New Roman" panose="02020603050405020304" pitchFamily="18" charset="0"/>
                          </a:rPr>
                          <m:t>𝑒</m:t>
                        </m:r>
                      </m:sup>
                    </m:sSubSup>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𝑚𝑜𝑑</m:t>
                    </m:r>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𝑛</m:t>
                    </m:r>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 ∗</m:t>
                    </m:r>
                    <m:sSubSup>
                      <m:sSubSup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2</m:t>
                        </m:r>
                      </m:sub>
                      <m:sup>
                        <m:r>
                          <a:rPr lang="en-AU" sz="2400" i="1">
                            <a:effectLst/>
                            <a:latin typeface="Cambria Math" panose="02040503050406030204" pitchFamily="18" charset="0"/>
                            <a:ea typeface="DengXian" panose="02010600030101010101" pitchFamily="2" charset="-122"/>
                            <a:cs typeface="Times New Roman" panose="02020603050405020304" pitchFamily="18" charset="0"/>
                          </a:rPr>
                          <m:t>𝑒</m:t>
                        </m:r>
                      </m:sup>
                    </m:sSubSup>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𝑚𝑜𝑑</m:t>
                    </m:r>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𝑛</m:t>
                    </m:r>
                    <m:r>
                      <a:rPr lang="en-AU" sz="2400" b="0" i="0" smtClean="0">
                        <a:effectLst/>
                        <a:latin typeface="Cambria Math" panose="02040503050406030204" pitchFamily="18" charset="0"/>
                        <a:ea typeface="DengXian" panose="02010600030101010101" pitchFamily="2" charset="-122"/>
                        <a:cs typeface="Times New Roman" panose="02020603050405020304" pitchFamily="18" charset="0"/>
                      </a:rPr>
                      <m:t>=</m:t>
                    </m:r>
                    <m:sSup>
                      <m:sSupPr>
                        <m:ctrlPr>
                          <a:rPr lang="en-AU" sz="2400" i="1">
                            <a:effectLst/>
                            <a:latin typeface="Cambria Math" panose="02040503050406030204" pitchFamily="18" charset="0"/>
                          </a:rPr>
                        </m:ctrlPr>
                      </m:sSupPr>
                      <m:e>
                        <m:d>
                          <m:dPr>
                            <m:ctrlPr>
                              <a:rPr lang="en-AU" sz="2400" i="1">
                                <a:effectLst/>
                                <a:latin typeface="Cambria Math" panose="02040503050406030204" pitchFamily="18" charset="0"/>
                              </a:rPr>
                            </m:ctrlPr>
                          </m:dPr>
                          <m:e>
                            <m:sSub>
                              <m:sSubPr>
                                <m:ctrlPr>
                                  <a:rPr lang="en-AU" sz="2400" i="1">
                                    <a:effectLst/>
                                    <a:latin typeface="Cambria Math" panose="02040503050406030204" pitchFamily="18" charset="0"/>
                                  </a:rPr>
                                </m:ctrlPr>
                              </m:sSubPr>
                              <m:e>
                                <m:r>
                                  <a:rPr lang="en-AU" sz="2400" i="1">
                                    <a:effectLst/>
                                    <a:latin typeface="Cambria Math" panose="02040503050406030204" pitchFamily="18" charset="0"/>
                                  </a:rPr>
                                  <m:t>𝑚</m:t>
                                </m:r>
                              </m:e>
                              <m:sub>
                                <m:r>
                                  <a:rPr lang="en-AU" sz="2400" i="1">
                                    <a:effectLst/>
                                    <a:latin typeface="Cambria Math" panose="02040503050406030204" pitchFamily="18" charset="0"/>
                                  </a:rPr>
                                  <m:t>1</m:t>
                                </m:r>
                              </m:sub>
                            </m:sSub>
                            <m:r>
                              <a:rPr lang="en-AU" sz="2400" i="1">
                                <a:effectLst/>
                                <a:latin typeface="Cambria Math" panose="02040503050406030204" pitchFamily="18" charset="0"/>
                              </a:rPr>
                              <m:t>∗ </m:t>
                            </m:r>
                            <m:sSub>
                              <m:sSubPr>
                                <m:ctrlPr>
                                  <a:rPr lang="en-AU" sz="2400" i="1">
                                    <a:effectLst/>
                                    <a:latin typeface="Cambria Math" panose="02040503050406030204" pitchFamily="18" charset="0"/>
                                  </a:rPr>
                                </m:ctrlPr>
                              </m:sSubPr>
                              <m:e>
                                <m:r>
                                  <a:rPr lang="en-AU" sz="2400" i="1">
                                    <a:effectLst/>
                                    <a:latin typeface="Cambria Math" panose="02040503050406030204" pitchFamily="18" charset="0"/>
                                  </a:rPr>
                                  <m:t>𝑚</m:t>
                                </m:r>
                              </m:e>
                              <m:sub>
                                <m:r>
                                  <a:rPr lang="en-AU" sz="2400" i="1">
                                    <a:effectLst/>
                                    <a:latin typeface="Cambria Math" panose="02040503050406030204" pitchFamily="18" charset="0"/>
                                  </a:rPr>
                                  <m:t>2</m:t>
                                </m:r>
                              </m:sub>
                            </m:sSub>
                          </m:e>
                        </m:d>
                      </m:e>
                      <m:sup>
                        <m:r>
                          <a:rPr lang="en-AU" sz="2400" i="1">
                            <a:effectLst/>
                            <a:latin typeface="Cambria Math" panose="02040503050406030204" pitchFamily="18" charset="0"/>
                          </a:rPr>
                          <m:t>𝑒</m:t>
                        </m:r>
                      </m:sup>
                    </m:sSup>
                    <m:r>
                      <a:rPr lang="en-AU" sz="2400" i="1">
                        <a:effectLst/>
                        <a:latin typeface="Cambria Math" panose="02040503050406030204" pitchFamily="18" charset="0"/>
                      </a:rPr>
                      <m:t> </m:t>
                    </m:r>
                    <m:r>
                      <a:rPr lang="en-AU" sz="2400" i="1">
                        <a:effectLst/>
                        <a:latin typeface="Cambria Math" panose="02040503050406030204" pitchFamily="18" charset="0"/>
                      </a:rPr>
                      <m:t>𝑚𝑜𝑑</m:t>
                    </m:r>
                    <m:r>
                      <a:rPr lang="en-AU" sz="2400" i="1">
                        <a:effectLst/>
                        <a:latin typeface="Cambria Math" panose="02040503050406030204" pitchFamily="18" charset="0"/>
                      </a:rPr>
                      <m:t> </m:t>
                    </m:r>
                    <m:r>
                      <a:rPr lang="en-AU" sz="2400" i="1">
                        <a:effectLst/>
                        <a:latin typeface="Cambria Math" panose="02040503050406030204" pitchFamily="18" charset="0"/>
                      </a:rPr>
                      <m:t>𝑛</m:t>
                    </m:r>
                    <m:r>
                      <a:rPr lang="en-AU" sz="2400" b="0" i="1" smtClean="0">
                        <a:effectLst/>
                        <a:latin typeface="Cambria Math" panose="02040503050406030204" pitchFamily="18" charset="0"/>
                      </a:rPr>
                      <m:t>=</m:t>
                    </m:r>
                    <m:sSup>
                      <m:sSup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24</m:t>
                        </m:r>
                      </m:e>
                      <m:sup>
                        <m:r>
                          <a:rPr lang="en-AU" sz="2400" i="1">
                            <a:effectLst/>
                            <a:latin typeface="Cambria Math" panose="02040503050406030204" pitchFamily="18" charset="0"/>
                            <a:ea typeface="DengXian" panose="02010600030101010101" pitchFamily="2" charset="-122"/>
                            <a:cs typeface="Times New Roman" panose="02020603050405020304" pitchFamily="18" charset="0"/>
                          </a:rPr>
                          <m:t>13</m:t>
                        </m:r>
                      </m:sup>
                    </m:sSup>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 </m:t>
                    </m:r>
                    <m:r>
                      <a:rPr lang="en-AU" sz="2400" b="0" i="1" smtClean="0">
                        <a:effectLst/>
                        <a:latin typeface="Cambria Math" panose="02040503050406030204" pitchFamily="18" charset="0"/>
                      </a:rPr>
                      <m:t>𝑚𝑜𝑑</m:t>
                    </m:r>
                    <m:r>
                      <a:rPr lang="en-AU" sz="2400" b="0" i="1" smtClean="0">
                        <a:effectLst/>
                        <a:latin typeface="Cambria Math" panose="02040503050406030204" pitchFamily="18" charset="0"/>
                      </a:rPr>
                      <m:t> 55=19</m:t>
                    </m:r>
                  </m:oMath>
                </a14:m>
                <a:endParaRPr lang="en-US" sz="2400" dirty="0"/>
              </a:p>
              <a:p>
                <a:pPr marL="450000" lvl="1" indent="0">
                  <a:buNone/>
                </a:pPr>
                <a:r>
                  <a:rPr lang="en-US" sz="2400" dirty="0"/>
                  <a:t>															</a:t>
                </a:r>
              </a:p>
              <a:p>
                <a:pPr lvl="1"/>
                <a14:m>
                  <m:oMath xmlns:m="http://schemas.openxmlformats.org/officeDocument/2006/math">
                    <m:sSup>
                      <m:sSupPr>
                        <m:ctrlPr>
                          <a:rPr lang="en-AU" sz="2400" i="1" smtClean="0">
                            <a:effectLst/>
                            <a:latin typeface="Cambria Math" panose="02040503050406030204" pitchFamily="18" charset="0"/>
                            <a:ea typeface="DengXian" panose="02010600030101010101" pitchFamily="2" charset="-122"/>
                            <a:cs typeface="Times New Roman" panose="02020603050405020304" pitchFamily="18" charset="0"/>
                          </a:rPr>
                        </m:ctrlPr>
                      </m:sSupPr>
                      <m:e>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19</m:t>
                        </m:r>
                      </m:e>
                      <m:sup>
                        <m:r>
                          <a:rPr lang="en-AU" sz="2400" i="1">
                            <a:effectLst/>
                            <a:latin typeface="Cambria Math" panose="02040503050406030204" pitchFamily="18" charset="0"/>
                            <a:ea typeface="DengXian" panose="02010600030101010101" pitchFamily="2" charset="-122"/>
                            <a:cs typeface="Times New Roman" panose="02020603050405020304" pitchFamily="18" charset="0"/>
                          </a:rPr>
                          <m:t>3</m:t>
                        </m:r>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7</m:t>
                        </m:r>
                      </m:sup>
                    </m:sSup>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𝑚𝑜𝑑</m:t>
                    </m:r>
                    <m:r>
                      <a:rPr lang="en-AU" sz="2400" i="1">
                        <a:effectLst/>
                        <a:latin typeface="Cambria Math" panose="02040503050406030204" pitchFamily="18" charset="0"/>
                        <a:ea typeface="DengXian" panose="02010600030101010101" pitchFamily="2" charset="-122"/>
                        <a:cs typeface="Times New Roman" panose="02020603050405020304" pitchFamily="18" charset="0"/>
                      </a:rPr>
                      <m:t> 55=24</m:t>
                    </m:r>
                  </m:oMath>
                </a14:m>
                <a:endParaRPr lang="en-US" sz="2400"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258417" y="1238010"/>
                <a:ext cx="11675165" cy="4751051"/>
              </a:xfrm>
              <a:blipFill>
                <a:blip r:embed="rId3"/>
                <a:stretch>
                  <a:fillRect/>
                </a:stretch>
              </a:blipFill>
            </p:spPr>
            <p:txBody>
              <a:bodyPr/>
              <a:lstStyle/>
              <a:p>
                <a:r>
                  <a:rPr lang="en-AU">
                    <a:noFill/>
                  </a:rPr>
                  <a:t> </a:t>
                </a:r>
              </a:p>
            </p:txBody>
          </p:sp>
        </mc:Fallback>
      </mc:AlternateContent>
      <p:sp>
        <p:nvSpPr>
          <p:cNvPr id="4" name="Title 3"/>
          <p:cNvSpPr>
            <a:spLocks noGrp="1"/>
          </p:cNvSpPr>
          <p:nvPr>
            <p:ph type="title"/>
          </p:nvPr>
        </p:nvSpPr>
        <p:spPr>
          <a:xfrm>
            <a:off x="1103446" y="50065"/>
            <a:ext cx="10353762" cy="995250"/>
          </a:xfrm>
        </p:spPr>
        <p:txBody>
          <a:bodyPr>
            <a:normAutofit/>
          </a:bodyPr>
          <a:lstStyle/>
          <a:p>
            <a:r>
              <a:rPr lang="en-AU" sz="3600" dirty="0"/>
              <a:t>RSA: Homomorphic Multiplication</a:t>
            </a:r>
          </a:p>
        </p:txBody>
      </p:sp>
      <mc:AlternateContent xmlns:mc="http://schemas.openxmlformats.org/markup-compatibility/2006" xmlns:a14="http://schemas.microsoft.com/office/drawing/2010/main">
        <mc:Choice Requires="a14">
          <p:sp>
            <p:nvSpPr>
              <p:cNvPr id="7" name="Rounded Rectangle 6">
                <a:extLst>
                  <a:ext uri="{FF2B5EF4-FFF2-40B4-BE49-F238E27FC236}">
                    <a16:creationId xmlns:a16="http://schemas.microsoft.com/office/drawing/2014/main" id="{5129D2A1-06C6-4A6E-97BB-22FD3C951CEE}"/>
                  </a:ext>
                </a:extLst>
              </p:cNvPr>
              <p:cNvSpPr/>
              <p:nvPr/>
            </p:nvSpPr>
            <p:spPr>
              <a:xfrm>
                <a:off x="4965781" y="1238010"/>
                <a:ext cx="4069732" cy="768085"/>
              </a:xfrm>
              <a:prstGeom prst="roundRect">
                <a:avLst/>
              </a:prstGeom>
              <a:noFill/>
              <a:ln w="15875">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r>
                  <a:rPr lang="en-AU" sz="2400" b="1" dirty="0"/>
                  <a:t>Public Key = {</a:t>
                </a:r>
                <a14:m>
                  <m:oMath xmlns:m="http://schemas.openxmlformats.org/officeDocument/2006/math">
                    <m:r>
                      <a:rPr lang="en-AU" sz="2400" b="0" i="1" smtClean="0">
                        <a:latin typeface="Cambria Math" panose="02040503050406030204" pitchFamily="18" charset="0"/>
                        <a:ea typeface="DengXian" panose="02010600030101010101" pitchFamily="2" charset="-122"/>
                        <a:cs typeface="Times New Roman" panose="02020603050405020304" pitchFamily="18" charset="0"/>
                      </a:rPr>
                      <m:t>𝑒</m:t>
                    </m:r>
                  </m:oMath>
                </a14:m>
                <a:r>
                  <a:rPr lang="en-AU" sz="2400" dirty="0"/>
                  <a:t>, </a:t>
                </a:r>
                <a14:m>
                  <m:oMath xmlns:m="http://schemas.openxmlformats.org/officeDocument/2006/math">
                    <m:r>
                      <a:rPr lang="en-AU" sz="2400" b="0" i="1" smtClean="0">
                        <a:effectLst/>
                        <a:latin typeface="Cambria Math" panose="02040503050406030204" pitchFamily="18" charset="0"/>
                      </a:rPr>
                      <m:t>𝑛</m:t>
                    </m:r>
                  </m:oMath>
                </a14:m>
                <a:r>
                  <a:rPr lang="en-AU" sz="2400" b="1" dirty="0"/>
                  <a:t>} = {</a:t>
                </a:r>
                <a14:m>
                  <m:oMath xmlns:m="http://schemas.openxmlformats.org/officeDocument/2006/math">
                    <m:r>
                      <a:rPr lang="en-AU" sz="2400" b="0" i="0" smtClean="0">
                        <a:latin typeface="Cambria Math" panose="02040503050406030204" pitchFamily="18" charset="0"/>
                      </a:rPr>
                      <m:t>13</m:t>
                    </m:r>
                  </m:oMath>
                </a14:m>
                <a:r>
                  <a:rPr lang="en-AU" sz="2400" dirty="0"/>
                  <a:t>, </a:t>
                </a:r>
                <a14:m>
                  <m:oMath xmlns:m="http://schemas.openxmlformats.org/officeDocument/2006/math">
                    <m:r>
                      <a:rPr lang="en-AU" sz="2400" b="0" i="1" dirty="0">
                        <a:latin typeface="Cambria Math" panose="02040503050406030204" pitchFamily="18" charset="0"/>
                      </a:rPr>
                      <m:t>5</m:t>
                    </m:r>
                    <m:r>
                      <a:rPr lang="en-AU" sz="2400" b="0" i="0" dirty="0" smtClean="0">
                        <a:latin typeface="Cambria Math" panose="02040503050406030204" pitchFamily="18" charset="0"/>
                      </a:rPr>
                      <m:t>5</m:t>
                    </m:r>
                  </m:oMath>
                </a14:m>
                <a:r>
                  <a:rPr lang="en-AU" sz="2400" b="1" dirty="0"/>
                  <a:t>}</a:t>
                </a:r>
              </a:p>
            </p:txBody>
          </p:sp>
        </mc:Choice>
        <mc:Fallback xmlns="">
          <p:sp>
            <p:nvSpPr>
              <p:cNvPr id="7" name="Rounded Rectangle 6">
                <a:extLst>
                  <a:ext uri="{FF2B5EF4-FFF2-40B4-BE49-F238E27FC236}">
                    <a16:creationId xmlns:a16="http://schemas.microsoft.com/office/drawing/2014/main" id="{5129D2A1-06C6-4A6E-97BB-22FD3C951CEE}"/>
                  </a:ext>
                </a:extLst>
              </p:cNvPr>
              <p:cNvSpPr>
                <a:spLocks noRot="1" noChangeAspect="1" noMove="1" noResize="1" noEditPoints="1" noAdjustHandles="1" noChangeArrowheads="1" noChangeShapeType="1" noTextEdit="1"/>
              </p:cNvSpPr>
              <p:nvPr/>
            </p:nvSpPr>
            <p:spPr>
              <a:xfrm>
                <a:off x="4965781" y="1238010"/>
                <a:ext cx="4069732" cy="768085"/>
              </a:xfrm>
              <a:prstGeom prst="roundRect">
                <a:avLst/>
              </a:prstGeom>
              <a:blipFill>
                <a:blip r:embed="rId4"/>
                <a:stretch>
                  <a:fillRect l="-1343" r="-1045"/>
                </a:stretch>
              </a:blipFill>
              <a:ln w="15875">
                <a:solidFill>
                  <a:schemeClr val="accent1"/>
                </a:solid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8" name="Rounded Rectangle 7">
                <a:extLst>
                  <a:ext uri="{FF2B5EF4-FFF2-40B4-BE49-F238E27FC236}">
                    <a16:creationId xmlns:a16="http://schemas.microsoft.com/office/drawing/2014/main" id="{AC30ED5F-AFD9-470D-B5DB-19AD0DA667E0}"/>
                  </a:ext>
                </a:extLst>
              </p:cNvPr>
              <p:cNvSpPr/>
              <p:nvPr/>
            </p:nvSpPr>
            <p:spPr>
              <a:xfrm>
                <a:off x="4965779" y="4467863"/>
                <a:ext cx="4069731" cy="768085"/>
              </a:xfrm>
              <a:prstGeom prst="roundRect">
                <a:avLst/>
              </a:prstGeom>
              <a:noFill/>
              <a:ln w="15875">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r>
                  <a:rPr lang="en-AU" sz="2400" b="1" dirty="0"/>
                  <a:t>Private Key = {</a:t>
                </a:r>
                <a14:m>
                  <m:oMath xmlns:m="http://schemas.openxmlformats.org/officeDocument/2006/math">
                    <m:r>
                      <a:rPr lang="en-AU" sz="2400" i="1" smtClean="0">
                        <a:latin typeface="Cambria Math" panose="02040503050406030204" pitchFamily="18" charset="0"/>
                        <a:ea typeface="DengXian" panose="02010600030101010101" pitchFamily="2" charset="-122"/>
                        <a:cs typeface="Times New Roman" panose="02020603050405020304" pitchFamily="18" charset="0"/>
                      </a:rPr>
                      <m:t>𝑑</m:t>
                    </m:r>
                  </m:oMath>
                </a14:m>
                <a:r>
                  <a:rPr lang="en-AU" sz="2400" b="1" dirty="0"/>
                  <a:t>} = {</a:t>
                </a:r>
                <a14:m>
                  <m:oMath xmlns:m="http://schemas.openxmlformats.org/officeDocument/2006/math">
                    <m:r>
                      <a:rPr lang="en-AU" sz="2400" b="0" i="1" smtClean="0">
                        <a:latin typeface="Cambria Math" panose="02040503050406030204" pitchFamily="18" charset="0"/>
                        <a:ea typeface="DengXian" panose="02010600030101010101" pitchFamily="2" charset="-122"/>
                        <a:cs typeface="Times New Roman" panose="02020603050405020304" pitchFamily="18" charset="0"/>
                      </a:rPr>
                      <m:t>37</m:t>
                    </m:r>
                  </m:oMath>
                </a14:m>
                <a:r>
                  <a:rPr lang="en-AU" sz="2400" b="1" dirty="0"/>
                  <a:t>}</a:t>
                </a:r>
              </a:p>
            </p:txBody>
          </p:sp>
        </mc:Choice>
        <mc:Fallback xmlns="">
          <p:sp>
            <p:nvSpPr>
              <p:cNvPr id="8" name="Rounded Rectangle 7">
                <a:extLst>
                  <a:ext uri="{FF2B5EF4-FFF2-40B4-BE49-F238E27FC236}">
                    <a16:creationId xmlns:a16="http://schemas.microsoft.com/office/drawing/2014/main" id="{AC30ED5F-AFD9-470D-B5DB-19AD0DA667E0}"/>
                  </a:ext>
                </a:extLst>
              </p:cNvPr>
              <p:cNvSpPr>
                <a:spLocks noRot="1" noChangeAspect="1" noMove="1" noResize="1" noEditPoints="1" noAdjustHandles="1" noChangeArrowheads="1" noChangeShapeType="1" noTextEdit="1"/>
              </p:cNvSpPr>
              <p:nvPr/>
            </p:nvSpPr>
            <p:spPr>
              <a:xfrm>
                <a:off x="4965779" y="4467863"/>
                <a:ext cx="4069731" cy="768085"/>
              </a:xfrm>
              <a:prstGeom prst="roundRect">
                <a:avLst/>
              </a:prstGeom>
              <a:blipFill>
                <a:blip r:embed="rId5"/>
                <a:stretch>
                  <a:fillRect l="-1343"/>
                </a:stretch>
              </a:blipFill>
              <a:ln w="15875">
                <a:solidFill>
                  <a:schemeClr val="accent1"/>
                </a:solidFill>
              </a:ln>
            </p:spPr>
            <p:txBody>
              <a:bodyPr/>
              <a:lstStyle/>
              <a:p>
                <a:r>
                  <a:rPr lang="en-AU">
                    <a:noFill/>
                  </a:rPr>
                  <a:t> </a:t>
                </a:r>
              </a:p>
            </p:txBody>
          </p:sp>
        </mc:Fallback>
      </mc:AlternateContent>
    </p:spTree>
    <p:extLst>
      <p:ext uri="{BB962C8B-B14F-4D97-AF65-F5344CB8AC3E}">
        <p14:creationId xmlns:p14="http://schemas.microsoft.com/office/powerpoint/2010/main" val="13981048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258417" y="1238010"/>
                <a:ext cx="11675165" cy="4751051"/>
              </a:xfrm>
            </p:spPr>
            <p:txBody>
              <a:bodyPr>
                <a:normAutofit/>
              </a:bodyPr>
              <a:lstStyle/>
              <a:p>
                <a:r>
                  <a:rPr lang="en-US" sz="2400" dirty="0"/>
                  <a:t>Bob has </a:t>
                </a:r>
                <a14:m>
                  <m:oMath xmlns:m="http://schemas.openxmlformats.org/officeDocument/2006/math">
                    <m:sSub>
                      <m:sSubPr>
                        <m:ctrlPr>
                          <a:rPr lang="en-AU" sz="2400" i="1" smtClean="0">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1 </m:t>
                        </m:r>
                      </m:sub>
                    </m:sSub>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:3</m:t>
                    </m:r>
                  </m:oMath>
                </a14:m>
                <a:r>
                  <a:rPr lang="en-US" sz="2400" dirty="0"/>
                  <a:t>, </a:t>
                </a:r>
                <a14:m>
                  <m:oMath xmlns:m="http://schemas.openxmlformats.org/officeDocument/2006/math">
                    <m:sSub>
                      <m:sSub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2</m:t>
                        </m:r>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sub>
                    </m:sSub>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:8</m:t>
                    </m:r>
                  </m:oMath>
                </a14:m>
                <a:endParaRPr lang="en-US" sz="2400" dirty="0"/>
              </a:p>
              <a:p>
                <a:pPr lvl="1"/>
                <a14:m>
                  <m:oMath xmlns:m="http://schemas.openxmlformats.org/officeDocument/2006/math">
                    <m:sSub>
                      <m:sSub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12</m:t>
                        </m:r>
                      </m:sub>
                    </m:sSub>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 </m:t>
                    </m:r>
                    <m:sSub>
                      <m:sSubPr>
                        <m:ctrlPr>
                          <a:rPr lang="en-AU" sz="2400" i="1" smtClean="0">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1 </m:t>
                        </m:r>
                      </m:sub>
                    </m:sSub>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m:t>
                    </m:r>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sSub>
                      <m:sSub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2</m:t>
                        </m:r>
                      </m:sub>
                    </m:sSub>
                    <m:r>
                      <a:rPr lang="en-AU" sz="2400" i="1">
                        <a:effectLst/>
                        <a:latin typeface="Cambria Math" panose="02040503050406030204" pitchFamily="18" charset="0"/>
                        <a:ea typeface="DengXian" panose="02010600030101010101" pitchFamily="2" charset="-122"/>
                        <a:cs typeface="Times New Roman" panose="02020603050405020304" pitchFamily="18" charset="0"/>
                      </a:rPr>
                      <m:t>=</m:t>
                    </m:r>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24</m:t>
                    </m:r>
                  </m:oMath>
                </a14:m>
                <a:endParaRPr lang="en-US" sz="2400" dirty="0"/>
              </a:p>
              <a:p>
                <a:pPr lvl="1"/>
                <a:endParaRPr lang="en-US" sz="2400" dirty="0"/>
              </a:p>
              <a:p>
                <a:pPr lvl="1"/>
                <a14:m>
                  <m:oMath xmlns:m="http://schemas.openxmlformats.org/officeDocument/2006/math">
                    <m:sSub>
                      <m:sSubPr>
                        <m:ctrlPr>
                          <a:rPr lang="en-AU" sz="2400" i="1" smtClean="0">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𝑐</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1</m:t>
                        </m:r>
                      </m:sub>
                    </m:sSub>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sSubSup>
                      <m:sSubSup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1</m:t>
                        </m:r>
                      </m:sub>
                      <m:sup>
                        <m:r>
                          <a:rPr lang="en-AU" sz="2400" i="1">
                            <a:effectLst/>
                            <a:latin typeface="Cambria Math" panose="02040503050406030204" pitchFamily="18" charset="0"/>
                            <a:ea typeface="DengXian" panose="02010600030101010101" pitchFamily="2" charset="-122"/>
                            <a:cs typeface="Times New Roman" panose="02020603050405020304" pitchFamily="18" charset="0"/>
                          </a:rPr>
                          <m:t>𝑒</m:t>
                        </m:r>
                      </m:sup>
                    </m:sSubSup>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𝑚𝑜𝑑</m:t>
                    </m:r>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𝑛</m:t>
                    </m:r>
                  </m:oMath>
                </a14:m>
                <a:r>
                  <a:rPr lang="en-AU" sz="2400" dirty="0">
                    <a:effectLst/>
                    <a:latin typeface="Calibri" panose="020F0502020204030204" pitchFamily="34" charset="0"/>
                    <a:ea typeface="DengXian" panose="02010600030101010101" pitchFamily="2" charset="-122"/>
                    <a:cs typeface="Times New Roman" panose="02020603050405020304" pitchFamily="18" charset="0"/>
                  </a:rPr>
                  <a:t> </a:t>
                </a:r>
                <a14:m>
                  <m:oMath xmlns:m="http://schemas.openxmlformats.org/officeDocument/2006/math">
                    <m:r>
                      <a:rPr lang="en-AU" sz="2400" i="1">
                        <a:effectLst/>
                        <a:latin typeface="Cambria Math" panose="02040503050406030204" pitchFamily="18" charset="0"/>
                      </a:rPr>
                      <m:t>=</m:t>
                    </m:r>
                    <m:sSup>
                      <m:sSup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AU" sz="2400" i="1">
                            <a:effectLst/>
                            <a:latin typeface="Cambria Math" panose="02040503050406030204" pitchFamily="18" charset="0"/>
                            <a:ea typeface="DengXian" panose="02010600030101010101" pitchFamily="2" charset="-122"/>
                            <a:cs typeface="Times New Roman" panose="02020603050405020304" pitchFamily="18" charset="0"/>
                          </a:rPr>
                          <m:t>3</m:t>
                        </m:r>
                      </m:e>
                      <m:sup>
                        <m:r>
                          <a:rPr lang="en-AU" sz="2400" i="1">
                            <a:effectLst/>
                            <a:latin typeface="Cambria Math" panose="02040503050406030204" pitchFamily="18" charset="0"/>
                            <a:ea typeface="DengXian" panose="02010600030101010101" pitchFamily="2" charset="-122"/>
                            <a:cs typeface="Times New Roman" panose="02020603050405020304" pitchFamily="18" charset="0"/>
                          </a:rPr>
                          <m:t>13</m:t>
                        </m:r>
                      </m:sup>
                    </m:sSup>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 </m:t>
                    </m:r>
                    <m:r>
                      <a:rPr lang="en-AU" sz="2400" i="1">
                        <a:effectLst/>
                        <a:latin typeface="Cambria Math" panose="02040503050406030204" pitchFamily="18" charset="0"/>
                      </a:rPr>
                      <m:t>𝑚𝑜𝑑</m:t>
                    </m:r>
                    <m:r>
                      <a:rPr lang="en-AU" sz="2400" i="1">
                        <a:effectLst/>
                        <a:latin typeface="Cambria Math" panose="02040503050406030204" pitchFamily="18" charset="0"/>
                      </a:rPr>
                      <m:t> </m:t>
                    </m:r>
                    <m:r>
                      <a:rPr lang="en-AU" sz="2400" b="0" i="0" smtClean="0">
                        <a:effectLst/>
                        <a:latin typeface="Cambria Math" panose="02040503050406030204" pitchFamily="18" charset="0"/>
                      </a:rPr>
                      <m:t>55=38</m:t>
                    </m:r>
                  </m:oMath>
                </a14:m>
                <a:endParaRPr lang="en-AU" sz="2400" dirty="0">
                  <a:effectLst/>
                  <a:latin typeface="Calibri" panose="020F0502020204030204" pitchFamily="34" charset="0"/>
                  <a:ea typeface="DengXian" panose="02010600030101010101" pitchFamily="2" charset="-122"/>
                  <a:cs typeface="Times New Roman" panose="02020603050405020304" pitchFamily="18" charset="0"/>
                </a:endParaRPr>
              </a:p>
              <a:p>
                <a:pPr lvl="1"/>
                <a14:m>
                  <m:oMath xmlns:m="http://schemas.openxmlformats.org/officeDocument/2006/math">
                    <m:sSub>
                      <m:sSubPr>
                        <m:ctrlPr>
                          <a:rPr lang="en-AU" sz="2400" i="1" smtClean="0">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𝑐</m:t>
                        </m:r>
                      </m:e>
                      <m:sub>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2</m:t>
                        </m:r>
                      </m:sub>
                    </m:sSub>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sSubSup>
                      <m:sSubSup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2</m:t>
                        </m:r>
                      </m:sub>
                      <m:sup>
                        <m:r>
                          <a:rPr lang="en-AU" sz="2400" i="1">
                            <a:effectLst/>
                            <a:latin typeface="Cambria Math" panose="02040503050406030204" pitchFamily="18" charset="0"/>
                            <a:ea typeface="DengXian" panose="02010600030101010101" pitchFamily="2" charset="-122"/>
                            <a:cs typeface="Times New Roman" panose="02020603050405020304" pitchFamily="18" charset="0"/>
                          </a:rPr>
                          <m:t>𝑒</m:t>
                        </m:r>
                      </m:sup>
                    </m:sSubSup>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𝑚𝑜𝑑</m:t>
                    </m:r>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𝑛</m:t>
                    </m:r>
                  </m:oMath>
                </a14:m>
                <a:r>
                  <a:rPr lang="en-AU" sz="2400" dirty="0">
                    <a:effectLst/>
                    <a:latin typeface="Calibri" panose="020F0502020204030204" pitchFamily="34" charset="0"/>
                    <a:ea typeface="DengXian" panose="02010600030101010101" pitchFamily="2" charset="-122"/>
                    <a:cs typeface="Times New Roman" panose="02020603050405020304" pitchFamily="18" charset="0"/>
                  </a:rPr>
                  <a:t> </a:t>
                </a:r>
                <a14:m>
                  <m:oMath xmlns:m="http://schemas.openxmlformats.org/officeDocument/2006/math">
                    <m:r>
                      <a:rPr lang="en-AU" sz="2400" i="1">
                        <a:effectLst/>
                        <a:latin typeface="Cambria Math" panose="02040503050406030204" pitchFamily="18" charset="0"/>
                      </a:rPr>
                      <m:t>=</m:t>
                    </m:r>
                    <m:sSup>
                      <m:sSup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8</m:t>
                        </m:r>
                      </m:e>
                      <m:sup>
                        <m:r>
                          <a:rPr lang="en-AU" sz="2400" i="1">
                            <a:effectLst/>
                            <a:latin typeface="Cambria Math" panose="02040503050406030204" pitchFamily="18" charset="0"/>
                            <a:ea typeface="DengXian" panose="02010600030101010101" pitchFamily="2" charset="-122"/>
                            <a:cs typeface="Times New Roman" panose="02020603050405020304" pitchFamily="18" charset="0"/>
                          </a:rPr>
                          <m:t>13</m:t>
                        </m:r>
                      </m:sup>
                    </m:sSup>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 </m:t>
                    </m:r>
                    <m:r>
                      <a:rPr lang="en-AU" sz="2400" i="1">
                        <a:effectLst/>
                        <a:latin typeface="Cambria Math" panose="02040503050406030204" pitchFamily="18" charset="0"/>
                      </a:rPr>
                      <m:t>𝑚𝑜𝑑</m:t>
                    </m:r>
                    <m:r>
                      <a:rPr lang="en-AU" sz="2400" i="1">
                        <a:effectLst/>
                        <a:latin typeface="Cambria Math" panose="02040503050406030204" pitchFamily="18" charset="0"/>
                      </a:rPr>
                      <m:t> </m:t>
                    </m:r>
                    <m:r>
                      <a:rPr lang="en-AU" sz="2400" b="0" i="0" smtClean="0">
                        <a:effectLst/>
                        <a:latin typeface="Cambria Math" panose="02040503050406030204" pitchFamily="18" charset="0"/>
                      </a:rPr>
                      <m:t>55=28</m:t>
                    </m:r>
                  </m:oMath>
                </a14:m>
                <a:endParaRPr lang="en-US" sz="2400" dirty="0"/>
              </a:p>
              <a:p>
                <a:pPr lvl="1"/>
                <a14:m>
                  <m:oMath xmlns:m="http://schemas.openxmlformats.org/officeDocument/2006/math">
                    <m:sSub>
                      <m:sSubPr>
                        <m:ctrlPr>
                          <a:rPr lang="en-AU" sz="2400" i="1">
                            <a:effectLst/>
                            <a:latin typeface="Cambria Math" panose="02040503050406030204" pitchFamily="18" charset="0"/>
                          </a:rPr>
                        </m:ctrlPr>
                      </m:sSubPr>
                      <m:e>
                        <m:r>
                          <a:rPr lang="en-AU" sz="2400" i="1">
                            <a:effectLst/>
                            <a:latin typeface="Cambria Math" panose="02040503050406030204" pitchFamily="18" charset="0"/>
                          </a:rPr>
                          <m:t>𝑐</m:t>
                        </m:r>
                      </m:e>
                      <m:sub>
                        <m:r>
                          <a:rPr lang="en-AU" sz="2400" b="0" i="1" smtClean="0">
                            <a:effectLst/>
                            <a:latin typeface="Cambria Math" panose="02040503050406030204" pitchFamily="18" charset="0"/>
                          </a:rPr>
                          <m:t>12</m:t>
                        </m:r>
                      </m:sub>
                    </m:sSub>
                    <m:r>
                      <a:rPr lang="en-AU" sz="2400" i="1">
                        <a:effectLst/>
                        <a:latin typeface="Cambria Math" panose="02040503050406030204" pitchFamily="18" charset="0"/>
                      </a:rPr>
                      <m:t>=</m:t>
                    </m:r>
                    <m:sSub>
                      <m:sSub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𝑐</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1</m:t>
                        </m:r>
                      </m:sub>
                    </m:sSub>
                    <m:r>
                      <a:rPr lang="en-AU" sz="24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𝑐</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2</m:t>
                        </m:r>
                      </m:sub>
                    </m:sSub>
                    <m:r>
                      <a:rPr lang="en-AU" sz="2400" b="0" i="1" smtClean="0">
                        <a:effectLst/>
                        <a:latin typeface="Cambria Math" panose="02040503050406030204" pitchFamily="18" charset="0"/>
                      </a:rPr>
                      <m:t>= </m:t>
                    </m:r>
                    <m:sSubSup>
                      <m:sSubSupPr>
                        <m:ctrlPr>
                          <a:rPr lang="en-AU" sz="2400" i="1" smtClean="0">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1</m:t>
                        </m:r>
                      </m:sub>
                      <m:sup>
                        <m:r>
                          <a:rPr lang="en-AU" sz="2400" i="1">
                            <a:effectLst/>
                            <a:latin typeface="Cambria Math" panose="02040503050406030204" pitchFamily="18" charset="0"/>
                            <a:ea typeface="DengXian" panose="02010600030101010101" pitchFamily="2" charset="-122"/>
                            <a:cs typeface="Times New Roman" panose="02020603050405020304" pitchFamily="18" charset="0"/>
                          </a:rPr>
                          <m:t>𝑒</m:t>
                        </m:r>
                      </m:sup>
                    </m:sSubSup>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𝑚𝑜𝑑</m:t>
                    </m:r>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𝑛</m:t>
                    </m:r>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 ∗</m:t>
                    </m:r>
                    <m:sSubSup>
                      <m:sSubSup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AU" sz="2400" i="1">
                            <a:effectLst/>
                            <a:latin typeface="Cambria Math" panose="02040503050406030204" pitchFamily="18" charset="0"/>
                            <a:ea typeface="DengXian" panose="02010600030101010101" pitchFamily="2" charset="-122"/>
                            <a:cs typeface="Times New Roman" panose="02020603050405020304" pitchFamily="18" charset="0"/>
                          </a:rPr>
                          <m:t>𝑚</m:t>
                        </m:r>
                      </m:e>
                      <m:sub>
                        <m:r>
                          <a:rPr lang="en-AU" sz="2400" i="1">
                            <a:effectLst/>
                            <a:latin typeface="Cambria Math" panose="02040503050406030204" pitchFamily="18" charset="0"/>
                            <a:ea typeface="DengXian" panose="02010600030101010101" pitchFamily="2" charset="-122"/>
                            <a:cs typeface="Times New Roman" panose="02020603050405020304" pitchFamily="18" charset="0"/>
                          </a:rPr>
                          <m:t>2</m:t>
                        </m:r>
                      </m:sub>
                      <m:sup>
                        <m:r>
                          <a:rPr lang="en-AU" sz="2400" i="1">
                            <a:effectLst/>
                            <a:latin typeface="Cambria Math" panose="02040503050406030204" pitchFamily="18" charset="0"/>
                            <a:ea typeface="DengXian" panose="02010600030101010101" pitchFamily="2" charset="-122"/>
                            <a:cs typeface="Times New Roman" panose="02020603050405020304" pitchFamily="18" charset="0"/>
                          </a:rPr>
                          <m:t>𝑒</m:t>
                        </m:r>
                      </m:sup>
                    </m:sSubSup>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𝑚𝑜𝑑</m:t>
                    </m:r>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𝑛</m:t>
                    </m:r>
                    <m:r>
                      <a:rPr lang="en-AU" sz="2400" b="0" i="0" smtClean="0">
                        <a:effectLst/>
                        <a:latin typeface="Cambria Math" panose="02040503050406030204" pitchFamily="18" charset="0"/>
                        <a:ea typeface="DengXian" panose="02010600030101010101" pitchFamily="2" charset="-122"/>
                        <a:cs typeface="Times New Roman" panose="02020603050405020304" pitchFamily="18" charset="0"/>
                      </a:rPr>
                      <m:t>=</m:t>
                    </m:r>
                    <m:sSup>
                      <m:sSupPr>
                        <m:ctrlPr>
                          <a:rPr lang="en-AU" sz="2400" i="1">
                            <a:effectLst/>
                            <a:latin typeface="Cambria Math" panose="02040503050406030204" pitchFamily="18" charset="0"/>
                          </a:rPr>
                        </m:ctrlPr>
                      </m:sSupPr>
                      <m:e>
                        <m:d>
                          <m:dPr>
                            <m:ctrlPr>
                              <a:rPr lang="en-AU" sz="2400" i="1">
                                <a:effectLst/>
                                <a:latin typeface="Cambria Math" panose="02040503050406030204" pitchFamily="18" charset="0"/>
                              </a:rPr>
                            </m:ctrlPr>
                          </m:dPr>
                          <m:e>
                            <m:sSub>
                              <m:sSubPr>
                                <m:ctrlPr>
                                  <a:rPr lang="en-AU" sz="2400" i="1">
                                    <a:effectLst/>
                                    <a:latin typeface="Cambria Math" panose="02040503050406030204" pitchFamily="18" charset="0"/>
                                  </a:rPr>
                                </m:ctrlPr>
                              </m:sSubPr>
                              <m:e>
                                <m:r>
                                  <a:rPr lang="en-AU" sz="2400" i="1">
                                    <a:effectLst/>
                                    <a:latin typeface="Cambria Math" panose="02040503050406030204" pitchFamily="18" charset="0"/>
                                  </a:rPr>
                                  <m:t>𝑚</m:t>
                                </m:r>
                              </m:e>
                              <m:sub>
                                <m:r>
                                  <a:rPr lang="en-AU" sz="2400" i="1">
                                    <a:effectLst/>
                                    <a:latin typeface="Cambria Math" panose="02040503050406030204" pitchFamily="18" charset="0"/>
                                  </a:rPr>
                                  <m:t>1</m:t>
                                </m:r>
                              </m:sub>
                            </m:sSub>
                            <m:r>
                              <a:rPr lang="en-AU" sz="2400" i="1">
                                <a:effectLst/>
                                <a:latin typeface="Cambria Math" panose="02040503050406030204" pitchFamily="18" charset="0"/>
                              </a:rPr>
                              <m:t>∗ </m:t>
                            </m:r>
                            <m:sSub>
                              <m:sSubPr>
                                <m:ctrlPr>
                                  <a:rPr lang="en-AU" sz="2400" i="1">
                                    <a:effectLst/>
                                    <a:latin typeface="Cambria Math" panose="02040503050406030204" pitchFamily="18" charset="0"/>
                                  </a:rPr>
                                </m:ctrlPr>
                              </m:sSubPr>
                              <m:e>
                                <m:r>
                                  <a:rPr lang="en-AU" sz="2400" i="1">
                                    <a:effectLst/>
                                    <a:latin typeface="Cambria Math" panose="02040503050406030204" pitchFamily="18" charset="0"/>
                                  </a:rPr>
                                  <m:t>𝑚</m:t>
                                </m:r>
                              </m:e>
                              <m:sub>
                                <m:r>
                                  <a:rPr lang="en-AU" sz="2400" i="1">
                                    <a:effectLst/>
                                    <a:latin typeface="Cambria Math" panose="02040503050406030204" pitchFamily="18" charset="0"/>
                                  </a:rPr>
                                  <m:t>2</m:t>
                                </m:r>
                              </m:sub>
                            </m:sSub>
                          </m:e>
                        </m:d>
                      </m:e>
                      <m:sup>
                        <m:r>
                          <a:rPr lang="en-AU" sz="2400" i="1">
                            <a:effectLst/>
                            <a:latin typeface="Cambria Math" panose="02040503050406030204" pitchFamily="18" charset="0"/>
                          </a:rPr>
                          <m:t>𝑒</m:t>
                        </m:r>
                      </m:sup>
                    </m:sSup>
                    <m:r>
                      <a:rPr lang="en-AU" sz="2400" i="1">
                        <a:effectLst/>
                        <a:latin typeface="Cambria Math" panose="02040503050406030204" pitchFamily="18" charset="0"/>
                      </a:rPr>
                      <m:t> </m:t>
                    </m:r>
                    <m:r>
                      <a:rPr lang="en-AU" sz="2400" i="1">
                        <a:effectLst/>
                        <a:latin typeface="Cambria Math" panose="02040503050406030204" pitchFamily="18" charset="0"/>
                      </a:rPr>
                      <m:t>𝑚𝑜𝑑</m:t>
                    </m:r>
                    <m:r>
                      <a:rPr lang="en-AU" sz="2400" i="1">
                        <a:effectLst/>
                        <a:latin typeface="Cambria Math" panose="02040503050406030204" pitchFamily="18" charset="0"/>
                      </a:rPr>
                      <m:t> </m:t>
                    </m:r>
                    <m:r>
                      <a:rPr lang="en-AU" sz="2400" i="1">
                        <a:effectLst/>
                        <a:latin typeface="Cambria Math" panose="02040503050406030204" pitchFamily="18" charset="0"/>
                      </a:rPr>
                      <m:t>𝑛</m:t>
                    </m:r>
                    <m:r>
                      <a:rPr lang="en-AU" sz="2400" b="0" i="1" smtClean="0">
                        <a:effectLst/>
                        <a:latin typeface="Cambria Math" panose="02040503050406030204" pitchFamily="18" charset="0"/>
                      </a:rPr>
                      <m:t>=</m:t>
                    </m:r>
                    <m:sSup>
                      <m:sSupPr>
                        <m:ctrlPr>
                          <a:rPr lang="en-AU" sz="2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24</m:t>
                        </m:r>
                      </m:e>
                      <m:sup>
                        <m:r>
                          <a:rPr lang="en-AU" sz="2400" i="1">
                            <a:effectLst/>
                            <a:latin typeface="Cambria Math" panose="02040503050406030204" pitchFamily="18" charset="0"/>
                            <a:ea typeface="DengXian" panose="02010600030101010101" pitchFamily="2" charset="-122"/>
                            <a:cs typeface="Times New Roman" panose="02020603050405020304" pitchFamily="18" charset="0"/>
                          </a:rPr>
                          <m:t>13</m:t>
                        </m:r>
                      </m:sup>
                    </m:sSup>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 </m:t>
                    </m:r>
                    <m:r>
                      <a:rPr lang="en-AU" sz="2400" b="0" i="1" smtClean="0">
                        <a:effectLst/>
                        <a:latin typeface="Cambria Math" panose="02040503050406030204" pitchFamily="18" charset="0"/>
                      </a:rPr>
                      <m:t>𝑚𝑜𝑑</m:t>
                    </m:r>
                    <m:r>
                      <a:rPr lang="en-AU" sz="2400" b="0" i="1" smtClean="0">
                        <a:effectLst/>
                        <a:latin typeface="Cambria Math" panose="02040503050406030204" pitchFamily="18" charset="0"/>
                      </a:rPr>
                      <m:t> 55=19</m:t>
                    </m:r>
                  </m:oMath>
                </a14:m>
                <a:endParaRPr lang="en-US" sz="2400" dirty="0"/>
              </a:p>
              <a:p>
                <a:pPr marL="450000" lvl="1" indent="0">
                  <a:buNone/>
                </a:pPr>
                <a:r>
                  <a:rPr lang="en-US" sz="2400" dirty="0"/>
                  <a:t>															</a:t>
                </a:r>
              </a:p>
              <a:p>
                <a:pPr lvl="1"/>
                <a14:m>
                  <m:oMath xmlns:m="http://schemas.openxmlformats.org/officeDocument/2006/math">
                    <m:sSup>
                      <m:sSupPr>
                        <m:ctrlPr>
                          <a:rPr lang="en-AU" sz="2400" i="1" smtClean="0">
                            <a:effectLst/>
                            <a:latin typeface="Cambria Math" panose="02040503050406030204" pitchFamily="18" charset="0"/>
                            <a:ea typeface="DengXian" panose="02010600030101010101" pitchFamily="2" charset="-122"/>
                            <a:cs typeface="Times New Roman" panose="02020603050405020304" pitchFamily="18" charset="0"/>
                          </a:rPr>
                        </m:ctrlPr>
                      </m:sSupPr>
                      <m:e>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19</m:t>
                        </m:r>
                      </m:e>
                      <m:sup>
                        <m:r>
                          <a:rPr lang="en-AU" sz="2400" i="1">
                            <a:effectLst/>
                            <a:latin typeface="Cambria Math" panose="02040503050406030204" pitchFamily="18" charset="0"/>
                            <a:ea typeface="DengXian" panose="02010600030101010101" pitchFamily="2" charset="-122"/>
                            <a:cs typeface="Times New Roman" panose="02020603050405020304" pitchFamily="18" charset="0"/>
                          </a:rPr>
                          <m:t>3</m:t>
                        </m:r>
                        <m:r>
                          <a:rPr lang="en-AU" sz="2400" b="0" i="1" smtClean="0">
                            <a:effectLst/>
                            <a:latin typeface="Cambria Math" panose="02040503050406030204" pitchFamily="18" charset="0"/>
                            <a:ea typeface="DengXian" panose="02010600030101010101" pitchFamily="2" charset="-122"/>
                            <a:cs typeface="Times New Roman" panose="02020603050405020304" pitchFamily="18" charset="0"/>
                          </a:rPr>
                          <m:t>7</m:t>
                        </m:r>
                      </m:sup>
                    </m:sSup>
                    <m:r>
                      <a:rPr lang="en-AU" sz="2400" i="1">
                        <a:effectLst/>
                        <a:latin typeface="Cambria Math" panose="02040503050406030204" pitchFamily="18" charset="0"/>
                        <a:ea typeface="DengXian" panose="02010600030101010101" pitchFamily="2" charset="-122"/>
                        <a:cs typeface="Times New Roman" panose="02020603050405020304" pitchFamily="18" charset="0"/>
                      </a:rPr>
                      <m:t> </m:t>
                    </m:r>
                    <m:r>
                      <a:rPr lang="en-AU" sz="2400" i="1">
                        <a:effectLst/>
                        <a:latin typeface="Cambria Math" panose="02040503050406030204" pitchFamily="18" charset="0"/>
                        <a:ea typeface="DengXian" panose="02010600030101010101" pitchFamily="2" charset="-122"/>
                        <a:cs typeface="Times New Roman" panose="02020603050405020304" pitchFamily="18" charset="0"/>
                      </a:rPr>
                      <m:t>𝑚𝑜𝑑</m:t>
                    </m:r>
                    <m:r>
                      <a:rPr lang="en-AU" sz="2400" i="1">
                        <a:effectLst/>
                        <a:latin typeface="Cambria Math" panose="02040503050406030204" pitchFamily="18" charset="0"/>
                        <a:ea typeface="DengXian" panose="02010600030101010101" pitchFamily="2" charset="-122"/>
                        <a:cs typeface="Times New Roman" panose="02020603050405020304" pitchFamily="18" charset="0"/>
                      </a:rPr>
                      <m:t> 55=24</m:t>
                    </m:r>
                  </m:oMath>
                </a14:m>
                <a:endParaRPr lang="en-US" sz="2400"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258417" y="1238010"/>
                <a:ext cx="11675165" cy="4751051"/>
              </a:xfrm>
              <a:blipFill>
                <a:blip r:embed="rId3"/>
                <a:stretch>
                  <a:fillRect/>
                </a:stretch>
              </a:blipFill>
            </p:spPr>
            <p:txBody>
              <a:bodyPr/>
              <a:lstStyle/>
              <a:p>
                <a:r>
                  <a:rPr lang="en-AU">
                    <a:noFill/>
                  </a:rPr>
                  <a:t> </a:t>
                </a:r>
              </a:p>
            </p:txBody>
          </p:sp>
        </mc:Fallback>
      </mc:AlternateContent>
      <p:sp>
        <p:nvSpPr>
          <p:cNvPr id="4" name="Title 3"/>
          <p:cNvSpPr>
            <a:spLocks noGrp="1"/>
          </p:cNvSpPr>
          <p:nvPr>
            <p:ph type="title"/>
          </p:nvPr>
        </p:nvSpPr>
        <p:spPr>
          <a:xfrm>
            <a:off x="1103446" y="50065"/>
            <a:ext cx="10353762" cy="995250"/>
          </a:xfrm>
        </p:spPr>
        <p:txBody>
          <a:bodyPr>
            <a:normAutofit/>
          </a:bodyPr>
          <a:lstStyle/>
          <a:p>
            <a:r>
              <a:rPr lang="en-AU" sz="3600" dirty="0"/>
              <a:t>RSA: Homomorphic Multiplication</a:t>
            </a:r>
          </a:p>
        </p:txBody>
      </p:sp>
      <mc:AlternateContent xmlns:mc="http://schemas.openxmlformats.org/markup-compatibility/2006" xmlns:a14="http://schemas.microsoft.com/office/drawing/2010/main">
        <mc:Choice Requires="a14">
          <p:sp>
            <p:nvSpPr>
              <p:cNvPr id="7" name="Rounded Rectangle 6">
                <a:extLst>
                  <a:ext uri="{FF2B5EF4-FFF2-40B4-BE49-F238E27FC236}">
                    <a16:creationId xmlns:a16="http://schemas.microsoft.com/office/drawing/2014/main" id="{5129D2A1-06C6-4A6E-97BB-22FD3C951CEE}"/>
                  </a:ext>
                </a:extLst>
              </p:cNvPr>
              <p:cNvSpPr/>
              <p:nvPr/>
            </p:nvSpPr>
            <p:spPr>
              <a:xfrm>
                <a:off x="4965781" y="1238010"/>
                <a:ext cx="4069732" cy="768085"/>
              </a:xfrm>
              <a:prstGeom prst="roundRect">
                <a:avLst/>
              </a:prstGeom>
              <a:noFill/>
              <a:ln w="15875">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r>
                  <a:rPr lang="en-AU" sz="2400" b="1" dirty="0"/>
                  <a:t>Public Key = {</a:t>
                </a:r>
                <a14:m>
                  <m:oMath xmlns:m="http://schemas.openxmlformats.org/officeDocument/2006/math">
                    <m:r>
                      <a:rPr lang="en-AU" sz="2400" b="0" i="1" smtClean="0">
                        <a:latin typeface="Cambria Math" panose="02040503050406030204" pitchFamily="18" charset="0"/>
                        <a:ea typeface="DengXian" panose="02010600030101010101" pitchFamily="2" charset="-122"/>
                        <a:cs typeface="Times New Roman" panose="02020603050405020304" pitchFamily="18" charset="0"/>
                      </a:rPr>
                      <m:t>𝑒</m:t>
                    </m:r>
                  </m:oMath>
                </a14:m>
                <a:r>
                  <a:rPr lang="en-AU" sz="2400" dirty="0"/>
                  <a:t>, </a:t>
                </a:r>
                <a14:m>
                  <m:oMath xmlns:m="http://schemas.openxmlformats.org/officeDocument/2006/math">
                    <m:r>
                      <a:rPr lang="en-AU" sz="2400" b="0" i="1" smtClean="0">
                        <a:effectLst/>
                        <a:latin typeface="Cambria Math" panose="02040503050406030204" pitchFamily="18" charset="0"/>
                      </a:rPr>
                      <m:t>𝑛</m:t>
                    </m:r>
                  </m:oMath>
                </a14:m>
                <a:r>
                  <a:rPr lang="en-AU" sz="2400" b="1" dirty="0"/>
                  <a:t>} = {</a:t>
                </a:r>
                <a14:m>
                  <m:oMath xmlns:m="http://schemas.openxmlformats.org/officeDocument/2006/math">
                    <m:r>
                      <a:rPr lang="en-AU" sz="2400" b="0" i="0" smtClean="0">
                        <a:latin typeface="Cambria Math" panose="02040503050406030204" pitchFamily="18" charset="0"/>
                      </a:rPr>
                      <m:t>13</m:t>
                    </m:r>
                  </m:oMath>
                </a14:m>
                <a:r>
                  <a:rPr lang="en-AU" sz="2400" dirty="0"/>
                  <a:t>, </a:t>
                </a:r>
                <a14:m>
                  <m:oMath xmlns:m="http://schemas.openxmlformats.org/officeDocument/2006/math">
                    <m:r>
                      <a:rPr lang="en-AU" sz="2400" b="0" i="1" dirty="0">
                        <a:latin typeface="Cambria Math" panose="02040503050406030204" pitchFamily="18" charset="0"/>
                      </a:rPr>
                      <m:t>5</m:t>
                    </m:r>
                    <m:r>
                      <a:rPr lang="en-AU" sz="2400" b="0" i="0" dirty="0" smtClean="0">
                        <a:latin typeface="Cambria Math" panose="02040503050406030204" pitchFamily="18" charset="0"/>
                      </a:rPr>
                      <m:t>5</m:t>
                    </m:r>
                  </m:oMath>
                </a14:m>
                <a:r>
                  <a:rPr lang="en-AU" sz="2400" b="1" dirty="0"/>
                  <a:t>}</a:t>
                </a:r>
              </a:p>
            </p:txBody>
          </p:sp>
        </mc:Choice>
        <mc:Fallback xmlns="">
          <p:sp>
            <p:nvSpPr>
              <p:cNvPr id="7" name="Rounded Rectangle 6">
                <a:extLst>
                  <a:ext uri="{FF2B5EF4-FFF2-40B4-BE49-F238E27FC236}">
                    <a16:creationId xmlns:a16="http://schemas.microsoft.com/office/drawing/2014/main" id="{5129D2A1-06C6-4A6E-97BB-22FD3C951CEE}"/>
                  </a:ext>
                </a:extLst>
              </p:cNvPr>
              <p:cNvSpPr>
                <a:spLocks noRot="1" noChangeAspect="1" noMove="1" noResize="1" noEditPoints="1" noAdjustHandles="1" noChangeArrowheads="1" noChangeShapeType="1" noTextEdit="1"/>
              </p:cNvSpPr>
              <p:nvPr/>
            </p:nvSpPr>
            <p:spPr>
              <a:xfrm>
                <a:off x="4965781" y="1238010"/>
                <a:ext cx="4069732" cy="768085"/>
              </a:xfrm>
              <a:prstGeom prst="roundRect">
                <a:avLst/>
              </a:prstGeom>
              <a:blipFill>
                <a:blip r:embed="rId4"/>
                <a:stretch>
                  <a:fillRect l="-1343" r="-1045"/>
                </a:stretch>
              </a:blipFill>
              <a:ln w="15875">
                <a:solidFill>
                  <a:schemeClr val="accent1"/>
                </a:solid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8" name="Rounded Rectangle 7">
                <a:extLst>
                  <a:ext uri="{FF2B5EF4-FFF2-40B4-BE49-F238E27FC236}">
                    <a16:creationId xmlns:a16="http://schemas.microsoft.com/office/drawing/2014/main" id="{AC30ED5F-AFD9-470D-B5DB-19AD0DA667E0}"/>
                  </a:ext>
                </a:extLst>
              </p:cNvPr>
              <p:cNvSpPr/>
              <p:nvPr/>
            </p:nvSpPr>
            <p:spPr>
              <a:xfrm>
                <a:off x="4965779" y="4467863"/>
                <a:ext cx="4069731" cy="768085"/>
              </a:xfrm>
              <a:prstGeom prst="roundRect">
                <a:avLst/>
              </a:prstGeom>
              <a:noFill/>
              <a:ln w="15875">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r>
                  <a:rPr lang="en-AU" sz="2400" b="1" dirty="0"/>
                  <a:t>Private Key = {</a:t>
                </a:r>
                <a14:m>
                  <m:oMath xmlns:m="http://schemas.openxmlformats.org/officeDocument/2006/math">
                    <m:r>
                      <a:rPr lang="en-AU" sz="2400" i="1" smtClean="0">
                        <a:latin typeface="Cambria Math" panose="02040503050406030204" pitchFamily="18" charset="0"/>
                        <a:ea typeface="DengXian" panose="02010600030101010101" pitchFamily="2" charset="-122"/>
                        <a:cs typeface="Times New Roman" panose="02020603050405020304" pitchFamily="18" charset="0"/>
                      </a:rPr>
                      <m:t>𝑑</m:t>
                    </m:r>
                  </m:oMath>
                </a14:m>
                <a:r>
                  <a:rPr lang="en-AU" sz="2400" b="1" dirty="0"/>
                  <a:t>} = {</a:t>
                </a:r>
                <a14:m>
                  <m:oMath xmlns:m="http://schemas.openxmlformats.org/officeDocument/2006/math">
                    <m:r>
                      <a:rPr lang="en-AU" sz="2400" b="0" i="1" smtClean="0">
                        <a:latin typeface="Cambria Math" panose="02040503050406030204" pitchFamily="18" charset="0"/>
                        <a:ea typeface="DengXian" panose="02010600030101010101" pitchFamily="2" charset="-122"/>
                        <a:cs typeface="Times New Roman" panose="02020603050405020304" pitchFamily="18" charset="0"/>
                      </a:rPr>
                      <m:t>37</m:t>
                    </m:r>
                  </m:oMath>
                </a14:m>
                <a:r>
                  <a:rPr lang="en-AU" sz="2400" b="1" dirty="0"/>
                  <a:t>}</a:t>
                </a:r>
              </a:p>
            </p:txBody>
          </p:sp>
        </mc:Choice>
        <mc:Fallback xmlns="">
          <p:sp>
            <p:nvSpPr>
              <p:cNvPr id="8" name="Rounded Rectangle 7">
                <a:extLst>
                  <a:ext uri="{FF2B5EF4-FFF2-40B4-BE49-F238E27FC236}">
                    <a16:creationId xmlns:a16="http://schemas.microsoft.com/office/drawing/2014/main" id="{AC30ED5F-AFD9-470D-B5DB-19AD0DA667E0}"/>
                  </a:ext>
                </a:extLst>
              </p:cNvPr>
              <p:cNvSpPr>
                <a:spLocks noRot="1" noChangeAspect="1" noMove="1" noResize="1" noEditPoints="1" noAdjustHandles="1" noChangeArrowheads="1" noChangeShapeType="1" noTextEdit="1"/>
              </p:cNvSpPr>
              <p:nvPr/>
            </p:nvSpPr>
            <p:spPr>
              <a:xfrm>
                <a:off x="4965779" y="4467863"/>
                <a:ext cx="4069731" cy="768085"/>
              </a:xfrm>
              <a:prstGeom prst="roundRect">
                <a:avLst/>
              </a:prstGeom>
              <a:blipFill>
                <a:blip r:embed="rId5"/>
                <a:stretch>
                  <a:fillRect l="-1343"/>
                </a:stretch>
              </a:blipFill>
              <a:ln w="15875">
                <a:solidFill>
                  <a:schemeClr val="accent1"/>
                </a:solidFill>
              </a:ln>
            </p:spPr>
            <p:txBody>
              <a:bodyPr/>
              <a:lstStyle/>
              <a:p>
                <a:r>
                  <a:rPr lang="en-AU">
                    <a:noFill/>
                  </a:rPr>
                  <a:t> </a:t>
                </a:r>
              </a:p>
            </p:txBody>
          </p:sp>
        </mc:Fallback>
      </mc:AlternateContent>
      <p:cxnSp>
        <p:nvCxnSpPr>
          <p:cNvPr id="6" name="Connector: Elbow 5">
            <a:extLst>
              <a:ext uri="{FF2B5EF4-FFF2-40B4-BE49-F238E27FC236}">
                <a16:creationId xmlns:a16="http://schemas.microsoft.com/office/drawing/2014/main" id="{01599027-4C35-47E5-9AA2-59A87EFEDE9F}"/>
              </a:ext>
            </a:extLst>
          </p:cNvPr>
          <p:cNvCxnSpPr>
            <a:cxnSpLocks/>
          </p:cNvCxnSpPr>
          <p:nvPr/>
        </p:nvCxnSpPr>
        <p:spPr>
          <a:xfrm rot="5400000" flipH="1" flipV="1">
            <a:off x="2211295" y="3594551"/>
            <a:ext cx="2949891" cy="170486"/>
          </a:xfrm>
          <a:prstGeom prst="bentConnector3">
            <a:avLst>
              <a:gd name="adj1" fmla="val -437"/>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7173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2E451-CAB5-489E-8029-85B18A4CDADB}"/>
              </a:ext>
            </a:extLst>
          </p:cNvPr>
          <p:cNvSpPr>
            <a:spLocks noGrp="1"/>
          </p:cNvSpPr>
          <p:nvPr>
            <p:ph type="title"/>
          </p:nvPr>
        </p:nvSpPr>
        <p:spPr>
          <a:xfrm>
            <a:off x="1104295" y="0"/>
            <a:ext cx="10353762" cy="1257300"/>
          </a:xfrm>
        </p:spPr>
        <p:txBody>
          <a:bodyPr/>
          <a:lstStyle/>
          <a:p>
            <a:r>
              <a:rPr lang="en-AU" dirty="0"/>
              <a:t>Differential Privacy</a:t>
            </a:r>
          </a:p>
        </p:txBody>
      </p:sp>
      <p:sp>
        <p:nvSpPr>
          <p:cNvPr id="3" name="Content Placeholder 2">
            <a:extLst>
              <a:ext uri="{FF2B5EF4-FFF2-40B4-BE49-F238E27FC236}">
                <a16:creationId xmlns:a16="http://schemas.microsoft.com/office/drawing/2014/main" id="{5705EF65-B9D6-4C8D-B798-6F1EF3344DD2}"/>
              </a:ext>
            </a:extLst>
          </p:cNvPr>
          <p:cNvSpPr>
            <a:spLocks noGrp="1"/>
          </p:cNvSpPr>
          <p:nvPr>
            <p:ph idx="1"/>
          </p:nvPr>
        </p:nvSpPr>
        <p:spPr>
          <a:xfrm>
            <a:off x="733943" y="1257300"/>
            <a:ext cx="10724114" cy="3714749"/>
          </a:xfrm>
        </p:spPr>
        <p:txBody>
          <a:bodyPr>
            <a:normAutofit/>
          </a:bodyPr>
          <a:lstStyle/>
          <a:p>
            <a:r>
              <a:rPr lang="en-US" sz="2800" dirty="0">
                <a:solidFill>
                  <a:srgbClr val="FF0000"/>
                </a:solidFill>
              </a:rPr>
              <a:t>Differential privacy (DP) </a:t>
            </a:r>
            <a:r>
              <a:rPr lang="en-US" sz="2800" dirty="0"/>
              <a:t>is also a concept in privacy that aims to provide strong guarantees for protecting the privacy of individuals in a dataset while allowing statistical analysis of the dataset. </a:t>
            </a:r>
          </a:p>
        </p:txBody>
      </p:sp>
    </p:spTree>
    <p:extLst>
      <p:ext uri="{BB962C8B-B14F-4D97-AF65-F5344CB8AC3E}">
        <p14:creationId xmlns:p14="http://schemas.microsoft.com/office/powerpoint/2010/main" val="16226166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2E451-CAB5-489E-8029-85B18A4CDADB}"/>
              </a:ext>
            </a:extLst>
          </p:cNvPr>
          <p:cNvSpPr>
            <a:spLocks noGrp="1"/>
          </p:cNvSpPr>
          <p:nvPr>
            <p:ph type="title"/>
          </p:nvPr>
        </p:nvSpPr>
        <p:spPr>
          <a:xfrm>
            <a:off x="1104295" y="0"/>
            <a:ext cx="10353762" cy="1028700"/>
          </a:xfrm>
        </p:spPr>
        <p:txBody>
          <a:bodyPr/>
          <a:lstStyle/>
          <a:p>
            <a:r>
              <a:rPr lang="en-AU" dirty="0"/>
              <a:t>Differential Privacy</a:t>
            </a:r>
          </a:p>
        </p:txBody>
      </p:sp>
      <p:pic>
        <p:nvPicPr>
          <p:cNvPr id="4" name="Picture 3" descr="A diagram of a data processing process&#10;&#10;Description automatically generated">
            <a:extLst>
              <a:ext uri="{FF2B5EF4-FFF2-40B4-BE49-F238E27FC236}">
                <a16:creationId xmlns:a16="http://schemas.microsoft.com/office/drawing/2014/main" id="{6CCAFDBE-A9F9-F959-8971-7591B6E48569}"/>
              </a:ext>
            </a:extLst>
          </p:cNvPr>
          <p:cNvPicPr>
            <a:picLocks noChangeAspect="1"/>
          </p:cNvPicPr>
          <p:nvPr/>
        </p:nvPicPr>
        <p:blipFill>
          <a:blip r:embed="rId3"/>
          <a:stretch>
            <a:fillRect/>
          </a:stretch>
        </p:blipFill>
        <p:spPr>
          <a:xfrm>
            <a:off x="1464261" y="1242281"/>
            <a:ext cx="9263477" cy="4959737"/>
          </a:xfrm>
          <a:prstGeom prst="rect">
            <a:avLst/>
          </a:prstGeom>
        </p:spPr>
      </p:pic>
    </p:spTree>
    <p:extLst>
      <p:ext uri="{BB962C8B-B14F-4D97-AF65-F5344CB8AC3E}">
        <p14:creationId xmlns:p14="http://schemas.microsoft.com/office/powerpoint/2010/main" val="1983814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2E451-CAB5-489E-8029-85B18A4CDADB}"/>
              </a:ext>
            </a:extLst>
          </p:cNvPr>
          <p:cNvSpPr>
            <a:spLocks noGrp="1"/>
          </p:cNvSpPr>
          <p:nvPr>
            <p:ph type="title"/>
          </p:nvPr>
        </p:nvSpPr>
        <p:spPr>
          <a:xfrm>
            <a:off x="1104295" y="0"/>
            <a:ext cx="10353762" cy="1028700"/>
          </a:xfrm>
        </p:spPr>
        <p:txBody>
          <a:bodyPr/>
          <a:lstStyle/>
          <a:p>
            <a:r>
              <a:rPr lang="en-AU" dirty="0"/>
              <a:t>Differential Privacy</a:t>
            </a:r>
          </a:p>
        </p:txBody>
      </p:sp>
      <p:pic>
        <p:nvPicPr>
          <p:cNvPr id="4" name="Picture 3" descr="A diagram of a data flow&#10;&#10;Description automatically generated">
            <a:extLst>
              <a:ext uri="{FF2B5EF4-FFF2-40B4-BE49-F238E27FC236}">
                <a16:creationId xmlns:a16="http://schemas.microsoft.com/office/drawing/2014/main" id="{910C2AFF-49E4-C546-5EA2-88F3B6686164}"/>
              </a:ext>
            </a:extLst>
          </p:cNvPr>
          <p:cNvPicPr>
            <a:picLocks noChangeAspect="1"/>
          </p:cNvPicPr>
          <p:nvPr/>
        </p:nvPicPr>
        <p:blipFill>
          <a:blip r:embed="rId3"/>
          <a:stretch>
            <a:fillRect/>
          </a:stretch>
        </p:blipFill>
        <p:spPr>
          <a:xfrm>
            <a:off x="1484243" y="1272758"/>
            <a:ext cx="9226827" cy="5025071"/>
          </a:xfrm>
          <a:prstGeom prst="rect">
            <a:avLst/>
          </a:prstGeom>
        </p:spPr>
      </p:pic>
    </p:spTree>
    <p:extLst>
      <p:ext uri="{BB962C8B-B14F-4D97-AF65-F5344CB8AC3E}">
        <p14:creationId xmlns:p14="http://schemas.microsoft.com/office/powerpoint/2010/main" val="5092629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F0848-9C25-4498-8E5B-956A76CA153C}"/>
              </a:ext>
            </a:extLst>
          </p:cNvPr>
          <p:cNvSpPr>
            <a:spLocks noGrp="1"/>
          </p:cNvSpPr>
          <p:nvPr>
            <p:ph type="title"/>
          </p:nvPr>
        </p:nvSpPr>
        <p:spPr>
          <a:xfrm>
            <a:off x="919119" y="66675"/>
            <a:ext cx="10353762" cy="1085850"/>
          </a:xfrm>
        </p:spPr>
        <p:txBody>
          <a:bodyPr/>
          <a:lstStyle/>
          <a:p>
            <a:r>
              <a:rPr lang="en-AU" dirty="0"/>
              <a:t>Differential Privacy</a:t>
            </a:r>
          </a:p>
        </p:txBody>
      </p:sp>
      <p:sp>
        <p:nvSpPr>
          <p:cNvPr id="3" name="Content Placeholder 2">
            <a:extLst>
              <a:ext uri="{FF2B5EF4-FFF2-40B4-BE49-F238E27FC236}">
                <a16:creationId xmlns:a16="http://schemas.microsoft.com/office/drawing/2014/main" id="{FB030D9E-30B5-471A-AB23-5F1A87005463}"/>
              </a:ext>
            </a:extLst>
          </p:cNvPr>
          <p:cNvSpPr>
            <a:spLocks noGrp="1"/>
          </p:cNvSpPr>
          <p:nvPr>
            <p:ph idx="1"/>
          </p:nvPr>
        </p:nvSpPr>
        <p:spPr>
          <a:xfrm>
            <a:off x="637349" y="1166259"/>
            <a:ext cx="10353762" cy="1625067"/>
          </a:xfrm>
        </p:spPr>
        <p:txBody>
          <a:bodyPr/>
          <a:lstStyle/>
          <a:p>
            <a:r>
              <a:rPr lang="en-AU" sz="2800" dirty="0"/>
              <a:t>What is the main limitation of DP in practice?</a:t>
            </a:r>
            <a:endParaRPr lang="en-AU" sz="2600" dirty="0"/>
          </a:p>
          <a:p>
            <a:endParaRPr lang="en-AU" dirty="0"/>
          </a:p>
        </p:txBody>
      </p:sp>
    </p:spTree>
    <p:extLst>
      <p:ext uri="{BB962C8B-B14F-4D97-AF65-F5344CB8AC3E}">
        <p14:creationId xmlns:p14="http://schemas.microsoft.com/office/powerpoint/2010/main" val="17925811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F0848-9C25-4498-8E5B-956A76CA153C}"/>
              </a:ext>
            </a:extLst>
          </p:cNvPr>
          <p:cNvSpPr>
            <a:spLocks noGrp="1"/>
          </p:cNvSpPr>
          <p:nvPr>
            <p:ph type="title"/>
          </p:nvPr>
        </p:nvSpPr>
        <p:spPr>
          <a:xfrm>
            <a:off x="919119" y="66675"/>
            <a:ext cx="10353762" cy="1085850"/>
          </a:xfrm>
        </p:spPr>
        <p:txBody>
          <a:bodyPr/>
          <a:lstStyle/>
          <a:p>
            <a:r>
              <a:rPr lang="en-AU" dirty="0"/>
              <a:t>Differential Privacy</a:t>
            </a:r>
          </a:p>
        </p:txBody>
      </p:sp>
      <p:sp>
        <p:nvSpPr>
          <p:cNvPr id="3" name="Content Placeholder 2">
            <a:extLst>
              <a:ext uri="{FF2B5EF4-FFF2-40B4-BE49-F238E27FC236}">
                <a16:creationId xmlns:a16="http://schemas.microsoft.com/office/drawing/2014/main" id="{FB030D9E-30B5-471A-AB23-5F1A87005463}"/>
              </a:ext>
            </a:extLst>
          </p:cNvPr>
          <p:cNvSpPr>
            <a:spLocks noGrp="1"/>
          </p:cNvSpPr>
          <p:nvPr>
            <p:ph idx="1"/>
          </p:nvPr>
        </p:nvSpPr>
        <p:spPr>
          <a:xfrm>
            <a:off x="637349" y="1166259"/>
            <a:ext cx="10353762" cy="4624941"/>
          </a:xfrm>
        </p:spPr>
        <p:txBody>
          <a:bodyPr>
            <a:normAutofit/>
          </a:bodyPr>
          <a:lstStyle/>
          <a:p>
            <a:r>
              <a:rPr lang="en-AU" sz="2800" dirty="0"/>
              <a:t>What is the main limitation of DP in practice?</a:t>
            </a:r>
            <a:endParaRPr lang="en-AU" sz="2600" dirty="0"/>
          </a:p>
          <a:p>
            <a:pPr lvl="1"/>
            <a:r>
              <a:rPr lang="en-US" sz="2800" dirty="0"/>
              <a:t>e.g., limited accuracy and high computational complexity.</a:t>
            </a:r>
          </a:p>
          <a:p>
            <a:pPr lvl="1"/>
            <a:endParaRPr lang="en-US" sz="2800" dirty="0"/>
          </a:p>
          <a:p>
            <a:endParaRPr lang="en-AU" dirty="0"/>
          </a:p>
        </p:txBody>
      </p:sp>
    </p:spTree>
    <p:extLst>
      <p:ext uri="{BB962C8B-B14F-4D97-AF65-F5344CB8AC3E}">
        <p14:creationId xmlns:p14="http://schemas.microsoft.com/office/powerpoint/2010/main" val="35189808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txBox="1">
            <a:spLocks/>
          </p:cNvSpPr>
          <p:nvPr/>
        </p:nvSpPr>
        <p:spPr>
          <a:xfrm>
            <a:off x="2700749" y="293877"/>
            <a:ext cx="6225987" cy="9760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4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Rowhammer</a:t>
            </a:r>
            <a:endParaRPr lang="en-US"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endParaRPr>
          </a:p>
        </p:txBody>
      </p:sp>
      <p:sp>
        <p:nvSpPr>
          <p:cNvPr id="11" name="Content Placeholder 2">
            <a:extLst>
              <a:ext uri="{FF2B5EF4-FFF2-40B4-BE49-F238E27FC236}">
                <a16:creationId xmlns:a16="http://schemas.microsoft.com/office/drawing/2014/main" id="{21A16768-2ACF-4876-871D-5FE311CCE896}"/>
              </a:ext>
            </a:extLst>
          </p:cNvPr>
          <p:cNvSpPr>
            <a:spLocks noGrp="1"/>
          </p:cNvSpPr>
          <p:nvPr>
            <p:ph idx="1"/>
          </p:nvPr>
        </p:nvSpPr>
        <p:spPr>
          <a:xfrm>
            <a:off x="340356" y="1047626"/>
            <a:ext cx="11260275" cy="1285289"/>
          </a:xfrm>
        </p:spPr>
        <p:txBody>
          <a:bodyPr>
            <a:normAutofit/>
          </a:bodyPr>
          <a:lstStyle/>
          <a:p>
            <a:r>
              <a:rPr lang="en-AU" sz="2800" dirty="0" err="1"/>
              <a:t>Rowhammer</a:t>
            </a:r>
            <a:r>
              <a:rPr lang="en-AU" sz="2800" dirty="0"/>
              <a:t> </a:t>
            </a:r>
            <a:r>
              <a:rPr lang="en-US" sz="2800" dirty="0"/>
              <a:t>is a severe security vulnerability in dynamic random-access memory (DRAM), which can be induced by an unprivileged attacker</a:t>
            </a:r>
            <a:r>
              <a:rPr lang="en-AU" sz="2800" dirty="0"/>
              <a:t>.</a:t>
            </a:r>
            <a:endParaRPr lang="en-AU" sz="2600" dirty="0"/>
          </a:p>
          <a:p>
            <a:endParaRPr lang="en-AU" dirty="0"/>
          </a:p>
        </p:txBody>
      </p:sp>
      <p:sp>
        <p:nvSpPr>
          <p:cNvPr id="14" name="Rounded Rectangle 8">
            <a:extLst>
              <a:ext uri="{FF2B5EF4-FFF2-40B4-BE49-F238E27FC236}">
                <a16:creationId xmlns:a16="http://schemas.microsoft.com/office/drawing/2014/main" id="{8201901C-B4A4-4FF6-8ED9-5B3B4F837DD2}"/>
              </a:ext>
            </a:extLst>
          </p:cNvPr>
          <p:cNvSpPr/>
          <p:nvPr/>
        </p:nvSpPr>
        <p:spPr>
          <a:xfrm>
            <a:off x="591369" y="2412524"/>
            <a:ext cx="2109380" cy="608177"/>
          </a:xfrm>
          <a:prstGeom prst="roundRect">
            <a:avLst/>
          </a:prstGeom>
          <a:noFill/>
          <a:ln w="15875">
            <a:solidFill>
              <a:schemeClr val="accent1"/>
            </a:solidFill>
          </a:ln>
        </p:spPr>
        <p:style>
          <a:lnRef idx="3">
            <a:schemeClr val="lt1"/>
          </a:lnRef>
          <a:fillRef idx="1">
            <a:schemeClr val="accent4"/>
          </a:fillRef>
          <a:effectRef idx="1">
            <a:schemeClr val="accent4"/>
          </a:effectRef>
          <a:fontRef idx="minor">
            <a:schemeClr val="lt1"/>
          </a:fontRef>
        </p:style>
        <p:txBody>
          <a:bodyPr rtlCol="0" anchor="ctr"/>
          <a:lstStyle/>
          <a:p>
            <a:r>
              <a:rPr lang="en-AU" sz="2000" dirty="0"/>
              <a:t>DRAM Memory</a:t>
            </a:r>
            <a:endParaRPr lang="en-AU" sz="20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15" name="Rounded Rectangle 8">
            <a:extLst>
              <a:ext uri="{FF2B5EF4-FFF2-40B4-BE49-F238E27FC236}">
                <a16:creationId xmlns:a16="http://schemas.microsoft.com/office/drawing/2014/main" id="{30F27D91-3149-40D3-BE90-C9D61D3446DF}"/>
              </a:ext>
            </a:extLst>
          </p:cNvPr>
          <p:cNvSpPr/>
          <p:nvPr/>
        </p:nvSpPr>
        <p:spPr>
          <a:xfrm>
            <a:off x="587018" y="4083645"/>
            <a:ext cx="2113731" cy="608177"/>
          </a:xfrm>
          <a:prstGeom prst="roundRect">
            <a:avLst/>
          </a:prstGeom>
          <a:noFill/>
          <a:ln w="15875">
            <a:solidFill>
              <a:schemeClr val="accent1"/>
            </a:solidFill>
          </a:ln>
        </p:spPr>
        <p:style>
          <a:lnRef idx="3">
            <a:schemeClr val="lt1"/>
          </a:lnRef>
          <a:fillRef idx="1">
            <a:schemeClr val="accent4"/>
          </a:fillRef>
          <a:effectRef idx="1">
            <a:schemeClr val="accent4"/>
          </a:effectRef>
          <a:fontRef idx="minor">
            <a:schemeClr val="lt1"/>
          </a:fontRef>
        </p:style>
        <p:txBody>
          <a:bodyPr rtlCol="0" anchor="ctr"/>
          <a:lstStyle/>
          <a:p>
            <a:r>
              <a:rPr lang="en-AU" sz="2000" dirty="0"/>
              <a:t>Disk Storage</a:t>
            </a:r>
            <a:endParaRPr lang="en-AU" sz="20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338927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txBox="1">
            <a:spLocks/>
          </p:cNvSpPr>
          <p:nvPr/>
        </p:nvSpPr>
        <p:spPr>
          <a:xfrm>
            <a:off x="2700749" y="293877"/>
            <a:ext cx="6225987" cy="9760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4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Rowhammer</a:t>
            </a:r>
            <a:endParaRPr lang="en-US"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endParaRPr>
          </a:p>
        </p:txBody>
      </p:sp>
      <p:sp>
        <p:nvSpPr>
          <p:cNvPr id="11" name="Content Placeholder 2">
            <a:extLst>
              <a:ext uri="{FF2B5EF4-FFF2-40B4-BE49-F238E27FC236}">
                <a16:creationId xmlns:a16="http://schemas.microsoft.com/office/drawing/2014/main" id="{21A16768-2ACF-4876-871D-5FE311CCE896}"/>
              </a:ext>
            </a:extLst>
          </p:cNvPr>
          <p:cNvSpPr>
            <a:spLocks noGrp="1"/>
          </p:cNvSpPr>
          <p:nvPr>
            <p:ph idx="1"/>
          </p:nvPr>
        </p:nvSpPr>
        <p:spPr>
          <a:xfrm>
            <a:off x="340356" y="1047627"/>
            <a:ext cx="11260275" cy="1219324"/>
          </a:xfrm>
        </p:spPr>
        <p:txBody>
          <a:bodyPr>
            <a:normAutofit/>
          </a:bodyPr>
          <a:lstStyle/>
          <a:p>
            <a:r>
              <a:rPr lang="en-AU" sz="2800" dirty="0" err="1"/>
              <a:t>Rowhammer</a:t>
            </a:r>
            <a:r>
              <a:rPr lang="en-AU" sz="2800" dirty="0"/>
              <a:t> </a:t>
            </a:r>
            <a:r>
              <a:rPr lang="en-US" sz="2800" dirty="0"/>
              <a:t>is a severe security vulnerability in dynamic random-access memory (DRAM), which can be induced by an unprivileged attacker</a:t>
            </a:r>
            <a:r>
              <a:rPr lang="en-AU" sz="2800" dirty="0"/>
              <a:t>. </a:t>
            </a:r>
          </a:p>
          <a:p>
            <a:pPr marL="450000" lvl="1" indent="0">
              <a:buNone/>
            </a:pPr>
            <a:endParaRPr lang="en-US" sz="2800" dirty="0"/>
          </a:p>
          <a:p>
            <a:pPr lvl="1"/>
            <a:endParaRPr lang="en-AU" sz="2600" dirty="0"/>
          </a:p>
          <a:p>
            <a:endParaRPr lang="en-AU" dirty="0"/>
          </a:p>
        </p:txBody>
      </p:sp>
      <p:sp>
        <p:nvSpPr>
          <p:cNvPr id="7" name="Content Placeholder 2">
            <a:extLst>
              <a:ext uri="{FF2B5EF4-FFF2-40B4-BE49-F238E27FC236}">
                <a16:creationId xmlns:a16="http://schemas.microsoft.com/office/drawing/2014/main" id="{36A5D6AB-B953-4D3C-A75F-CD7709850122}"/>
              </a:ext>
            </a:extLst>
          </p:cNvPr>
          <p:cNvSpPr txBox="1">
            <a:spLocks/>
          </p:cNvSpPr>
          <p:nvPr/>
        </p:nvSpPr>
        <p:spPr>
          <a:xfrm>
            <a:off x="3219451" y="2404212"/>
            <a:ext cx="6096000" cy="777138"/>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2000" dirty="0"/>
              <a:t>DRAM is volatile memory that stores data temporarily while the computer is running. </a:t>
            </a:r>
            <a:endParaRPr lang="en-AU" sz="2000" dirty="0"/>
          </a:p>
        </p:txBody>
      </p:sp>
      <p:sp>
        <p:nvSpPr>
          <p:cNvPr id="9" name="Content Placeholder 2">
            <a:extLst>
              <a:ext uri="{FF2B5EF4-FFF2-40B4-BE49-F238E27FC236}">
                <a16:creationId xmlns:a16="http://schemas.microsoft.com/office/drawing/2014/main" id="{3FA41315-8B46-4ADA-B25B-5CBE25F58F03}"/>
              </a:ext>
            </a:extLst>
          </p:cNvPr>
          <p:cNvSpPr txBox="1">
            <a:spLocks/>
          </p:cNvSpPr>
          <p:nvPr/>
        </p:nvSpPr>
        <p:spPr>
          <a:xfrm>
            <a:off x="3219450" y="3999164"/>
            <a:ext cx="6324599" cy="972886"/>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2000" dirty="0"/>
              <a:t>Disk space refers to the amount of non-volatile storage space available on a disk drive. </a:t>
            </a:r>
            <a:endParaRPr lang="en-AU" sz="2000" dirty="0"/>
          </a:p>
        </p:txBody>
      </p:sp>
      <p:sp>
        <p:nvSpPr>
          <p:cNvPr id="10" name="Rounded Rectangle 8">
            <a:extLst>
              <a:ext uri="{FF2B5EF4-FFF2-40B4-BE49-F238E27FC236}">
                <a16:creationId xmlns:a16="http://schemas.microsoft.com/office/drawing/2014/main" id="{EAA86D4A-44E7-45F4-9AD4-F5782517F463}"/>
              </a:ext>
            </a:extLst>
          </p:cNvPr>
          <p:cNvSpPr/>
          <p:nvPr/>
        </p:nvSpPr>
        <p:spPr>
          <a:xfrm>
            <a:off x="591369" y="2412524"/>
            <a:ext cx="2109380" cy="608177"/>
          </a:xfrm>
          <a:prstGeom prst="roundRect">
            <a:avLst/>
          </a:prstGeom>
          <a:noFill/>
          <a:ln w="15875">
            <a:solidFill>
              <a:schemeClr val="accent1"/>
            </a:solidFill>
          </a:ln>
        </p:spPr>
        <p:style>
          <a:lnRef idx="3">
            <a:schemeClr val="lt1"/>
          </a:lnRef>
          <a:fillRef idx="1">
            <a:schemeClr val="accent4"/>
          </a:fillRef>
          <a:effectRef idx="1">
            <a:schemeClr val="accent4"/>
          </a:effectRef>
          <a:fontRef idx="minor">
            <a:schemeClr val="lt1"/>
          </a:fontRef>
        </p:style>
        <p:txBody>
          <a:bodyPr rtlCol="0" anchor="ctr"/>
          <a:lstStyle/>
          <a:p>
            <a:r>
              <a:rPr lang="en-AU" sz="2000" dirty="0"/>
              <a:t>DRAM Memory</a:t>
            </a:r>
            <a:endParaRPr lang="en-AU" sz="20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12" name="Rounded Rectangle 8">
            <a:extLst>
              <a:ext uri="{FF2B5EF4-FFF2-40B4-BE49-F238E27FC236}">
                <a16:creationId xmlns:a16="http://schemas.microsoft.com/office/drawing/2014/main" id="{D49AA5A9-83B6-4B72-B897-98E2B551B064}"/>
              </a:ext>
            </a:extLst>
          </p:cNvPr>
          <p:cNvSpPr/>
          <p:nvPr/>
        </p:nvSpPr>
        <p:spPr>
          <a:xfrm>
            <a:off x="587018" y="4083645"/>
            <a:ext cx="2113731" cy="608177"/>
          </a:xfrm>
          <a:prstGeom prst="roundRect">
            <a:avLst/>
          </a:prstGeom>
          <a:noFill/>
          <a:ln w="15875">
            <a:solidFill>
              <a:schemeClr val="accent1"/>
            </a:solidFill>
          </a:ln>
        </p:spPr>
        <p:style>
          <a:lnRef idx="3">
            <a:schemeClr val="lt1"/>
          </a:lnRef>
          <a:fillRef idx="1">
            <a:schemeClr val="accent4"/>
          </a:fillRef>
          <a:effectRef idx="1">
            <a:schemeClr val="accent4"/>
          </a:effectRef>
          <a:fontRef idx="minor">
            <a:schemeClr val="lt1"/>
          </a:fontRef>
        </p:style>
        <p:txBody>
          <a:bodyPr rtlCol="0" anchor="ctr"/>
          <a:lstStyle/>
          <a:p>
            <a:r>
              <a:rPr lang="en-AU" sz="2000" dirty="0"/>
              <a:t>Disk Storage</a:t>
            </a:r>
            <a:endParaRPr lang="en-AU" sz="20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620857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txBox="1">
            <a:spLocks/>
          </p:cNvSpPr>
          <p:nvPr/>
        </p:nvSpPr>
        <p:spPr>
          <a:xfrm>
            <a:off x="2700749" y="293877"/>
            <a:ext cx="6225987" cy="9760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4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Rowhammer</a:t>
            </a:r>
            <a:endParaRPr lang="en-US"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endParaRPr>
          </a:p>
        </p:txBody>
      </p:sp>
      <p:sp>
        <p:nvSpPr>
          <p:cNvPr id="11" name="Content Placeholder 2">
            <a:extLst>
              <a:ext uri="{FF2B5EF4-FFF2-40B4-BE49-F238E27FC236}">
                <a16:creationId xmlns:a16="http://schemas.microsoft.com/office/drawing/2014/main" id="{21A16768-2ACF-4876-871D-5FE311CCE896}"/>
              </a:ext>
            </a:extLst>
          </p:cNvPr>
          <p:cNvSpPr>
            <a:spLocks noGrp="1"/>
          </p:cNvSpPr>
          <p:nvPr>
            <p:ph idx="1"/>
          </p:nvPr>
        </p:nvSpPr>
        <p:spPr>
          <a:xfrm>
            <a:off x="340356" y="1047626"/>
            <a:ext cx="11260275" cy="5289177"/>
          </a:xfrm>
        </p:spPr>
        <p:txBody>
          <a:bodyPr>
            <a:normAutofit/>
          </a:bodyPr>
          <a:lstStyle/>
          <a:p>
            <a:r>
              <a:rPr lang="en-AU" sz="2800" dirty="0" err="1"/>
              <a:t>Rowhammer</a:t>
            </a:r>
            <a:r>
              <a:rPr lang="en-AU" sz="2800" dirty="0"/>
              <a:t> </a:t>
            </a:r>
            <a:r>
              <a:rPr lang="en-US" sz="2800" dirty="0"/>
              <a:t>is a severe security vulnerability in dynamic random-access memory (DRAM), which can be induced by an unprivileged attacker</a:t>
            </a:r>
            <a:r>
              <a:rPr lang="en-AU" sz="2800" dirty="0"/>
              <a:t>. </a:t>
            </a:r>
          </a:p>
          <a:p>
            <a:r>
              <a:rPr lang="en-AU" sz="2800" dirty="0" err="1"/>
              <a:t>Rowhammer</a:t>
            </a:r>
            <a:r>
              <a:rPr lang="en-AU" sz="2800" dirty="0"/>
              <a:t> can badly affect any devices that use DRAM, including but not limited to:</a:t>
            </a:r>
          </a:p>
          <a:p>
            <a:pPr lvl="1"/>
            <a:r>
              <a:rPr lang="en-AU" sz="2800" dirty="0"/>
              <a:t>Personal computers such as Desktops and laptops.</a:t>
            </a:r>
          </a:p>
          <a:p>
            <a:pPr lvl="1"/>
            <a:r>
              <a:rPr lang="en-AU" sz="2800" dirty="0"/>
              <a:t>Mobile devices such as smartphones and tablets.</a:t>
            </a:r>
          </a:p>
          <a:p>
            <a:pPr lvl="1"/>
            <a:r>
              <a:rPr lang="en-AU" sz="2800" dirty="0"/>
              <a:t>Servers</a:t>
            </a:r>
            <a:endParaRPr lang="en-US" sz="2800" dirty="0"/>
          </a:p>
          <a:p>
            <a:pPr marL="450000" lvl="1" indent="0">
              <a:buNone/>
            </a:pPr>
            <a:endParaRPr lang="en-US" sz="2800" dirty="0"/>
          </a:p>
          <a:p>
            <a:pPr lvl="1"/>
            <a:endParaRPr lang="en-AU" sz="2600" dirty="0"/>
          </a:p>
          <a:p>
            <a:endParaRPr lang="en-AU" dirty="0"/>
          </a:p>
        </p:txBody>
      </p:sp>
    </p:spTree>
    <p:extLst>
      <p:ext uri="{BB962C8B-B14F-4D97-AF65-F5344CB8AC3E}">
        <p14:creationId xmlns:p14="http://schemas.microsoft.com/office/powerpoint/2010/main" val="37691237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txBox="1">
            <a:spLocks/>
          </p:cNvSpPr>
          <p:nvPr/>
        </p:nvSpPr>
        <p:spPr>
          <a:xfrm>
            <a:off x="2983006" y="296698"/>
            <a:ext cx="6225987" cy="7701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4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Rowhammer</a:t>
            </a:r>
            <a:endParaRPr lang="en-US"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endParaRPr>
          </a:p>
        </p:txBody>
      </p:sp>
      <p:sp>
        <p:nvSpPr>
          <p:cNvPr id="10" name="Content Placeholder 2"/>
          <p:cNvSpPr txBox="1">
            <a:spLocks/>
          </p:cNvSpPr>
          <p:nvPr/>
        </p:nvSpPr>
        <p:spPr>
          <a:xfrm>
            <a:off x="5899191" y="6463200"/>
            <a:ext cx="6619603" cy="39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14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https://thehackernews.com/2021/04/new-javascript-exploit-can-now-carry.html</a:t>
            </a:r>
          </a:p>
        </p:txBody>
      </p:sp>
      <p:pic>
        <p:nvPicPr>
          <p:cNvPr id="1026" name="Picture 2" descr="New JavaScript Exploit Can Now Carry Out DDR4 Rowhammer Attacks">
            <a:extLst>
              <a:ext uri="{FF2B5EF4-FFF2-40B4-BE49-F238E27FC236}">
                <a16:creationId xmlns:a16="http://schemas.microsoft.com/office/drawing/2014/main" id="{FB80ADE4-B819-4B4D-9A10-DE373DCC5A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3218" y="1272792"/>
            <a:ext cx="8024627" cy="4188679"/>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p:cNvSpPr txBox="1">
            <a:spLocks/>
          </p:cNvSpPr>
          <p:nvPr/>
        </p:nvSpPr>
        <p:spPr>
          <a:xfrm>
            <a:off x="5899191" y="4828611"/>
            <a:ext cx="3977474" cy="56917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400" dirty="0"/>
              <a:t>Frequently accessing </a:t>
            </a:r>
          </a:p>
        </p:txBody>
      </p:sp>
      <p:sp>
        <p:nvSpPr>
          <p:cNvPr id="9" name="Content Placeholder 2"/>
          <p:cNvSpPr txBox="1">
            <a:spLocks/>
          </p:cNvSpPr>
          <p:nvPr/>
        </p:nvSpPr>
        <p:spPr>
          <a:xfrm>
            <a:off x="3329799" y="4827451"/>
            <a:ext cx="2230572" cy="6084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400" dirty="0"/>
              <a:t>DRAM rows</a:t>
            </a:r>
          </a:p>
        </p:txBody>
      </p:sp>
      <p:sp>
        <p:nvSpPr>
          <p:cNvPr id="13" name="Content Placeholder 2">
            <a:extLst>
              <a:ext uri="{FF2B5EF4-FFF2-40B4-BE49-F238E27FC236}">
                <a16:creationId xmlns:a16="http://schemas.microsoft.com/office/drawing/2014/main" id="{EAE4D6D6-AABF-4BAB-80CD-AC277DF22ED9}"/>
              </a:ext>
            </a:extLst>
          </p:cNvPr>
          <p:cNvSpPr txBox="1">
            <a:spLocks/>
          </p:cNvSpPr>
          <p:nvPr/>
        </p:nvSpPr>
        <p:spPr>
          <a:xfrm>
            <a:off x="9448800" y="4827451"/>
            <a:ext cx="2584109" cy="5715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400" dirty="0" err="1"/>
              <a:t>Rowhammer</a:t>
            </a:r>
            <a:endParaRPr lang="en-US" sz="2400" dirty="0"/>
          </a:p>
        </p:txBody>
      </p:sp>
    </p:spTree>
    <p:extLst>
      <p:ext uri="{BB962C8B-B14F-4D97-AF65-F5344CB8AC3E}">
        <p14:creationId xmlns:p14="http://schemas.microsoft.com/office/powerpoint/2010/main" val="22825179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0362168" y="5727350"/>
            <a:ext cx="1829832" cy="276999"/>
          </a:xfrm>
          <a:prstGeom prst="rect">
            <a:avLst/>
          </a:prstGeom>
        </p:spPr>
        <p:txBody>
          <a:bodyPr wrap="square">
            <a:spAutoFit/>
          </a:bodyPr>
          <a:lstStyle/>
          <a:p>
            <a:r>
              <a:rPr lang="en-AU" sz="1200" dirty="0"/>
              <a:t>Diagram</a:t>
            </a:r>
            <a:r>
              <a:rPr lang="en-AU" sz="1200" dirty="0">
                <a:latin typeface="Arial" panose="020B0604020202020204" pitchFamily="34" charset="0"/>
              </a:rPr>
              <a:t> </a:t>
            </a:r>
            <a:r>
              <a:rPr lang="en-AU" sz="1200" dirty="0"/>
              <a:t>from Kim et al.</a:t>
            </a:r>
          </a:p>
        </p:txBody>
      </p:sp>
      <p:sp>
        <p:nvSpPr>
          <p:cNvPr id="9" name="Rectangle 8"/>
          <p:cNvSpPr/>
          <p:nvPr/>
        </p:nvSpPr>
        <p:spPr>
          <a:xfrm>
            <a:off x="4887448" y="5178854"/>
            <a:ext cx="2019300" cy="523220"/>
          </a:xfrm>
          <a:prstGeom prst="rect">
            <a:avLst/>
          </a:prstGeom>
        </p:spPr>
        <p:txBody>
          <a:bodyPr wrap="square">
            <a:spAutoFit/>
          </a:bodyPr>
          <a:lstStyle/>
          <a:p>
            <a:r>
              <a:rPr lang="en-AU" sz="2800" dirty="0">
                <a:solidFill>
                  <a:srgbClr val="C00000"/>
                </a:solidFill>
              </a:rPr>
              <a:t>Bank Layout</a:t>
            </a:r>
          </a:p>
        </p:txBody>
      </p:sp>
      <p:sp>
        <p:nvSpPr>
          <p:cNvPr id="12" name="Content Placeholder 2"/>
          <p:cNvSpPr txBox="1">
            <a:spLocks/>
          </p:cNvSpPr>
          <p:nvPr/>
        </p:nvSpPr>
        <p:spPr>
          <a:xfrm>
            <a:off x="3360651" y="3167"/>
            <a:ext cx="5633224" cy="134393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sz="2400" dirty="0"/>
          </a:p>
          <a:p>
            <a:pPr marL="0" indent="0">
              <a:buNone/>
            </a:pPr>
            <a:r>
              <a:rPr lang="en-AU" sz="43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Structure of A </a:t>
            </a:r>
            <a:r>
              <a:rPr lang="en-AU" sz="43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DRAM Bank</a:t>
            </a:r>
            <a:endParaRPr lang="en-US" sz="43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endParaRPr>
          </a:p>
        </p:txBody>
      </p:sp>
      <p:pic>
        <p:nvPicPr>
          <p:cNvPr id="3" name="Picture 2">
            <a:extLst>
              <a:ext uri="{FF2B5EF4-FFF2-40B4-BE49-F238E27FC236}">
                <a16:creationId xmlns:a16="http://schemas.microsoft.com/office/drawing/2014/main" id="{24ADB619-4CE1-41CA-BB40-F9F455300BA6}"/>
              </a:ext>
            </a:extLst>
          </p:cNvPr>
          <p:cNvPicPr>
            <a:picLocks noChangeAspect="1"/>
          </p:cNvPicPr>
          <p:nvPr/>
        </p:nvPicPr>
        <p:blipFill>
          <a:blip r:embed="rId3"/>
          <a:stretch>
            <a:fillRect/>
          </a:stretch>
        </p:blipFill>
        <p:spPr>
          <a:xfrm>
            <a:off x="4096101" y="1494960"/>
            <a:ext cx="3601995" cy="3540527"/>
          </a:xfrm>
          <a:prstGeom prst="rect">
            <a:avLst/>
          </a:prstGeom>
        </p:spPr>
      </p:pic>
      <p:sp>
        <p:nvSpPr>
          <p:cNvPr id="15" name="Rounded Rectangular Callout 14">
            <a:extLst>
              <a:ext uri="{FF2B5EF4-FFF2-40B4-BE49-F238E27FC236}">
                <a16:creationId xmlns:a16="http://schemas.microsoft.com/office/drawing/2014/main" id="{9B6F6BDE-0281-A947-836B-42C9E1E8A742}"/>
              </a:ext>
            </a:extLst>
          </p:cNvPr>
          <p:cNvSpPr/>
          <p:nvPr/>
        </p:nvSpPr>
        <p:spPr>
          <a:xfrm>
            <a:off x="1367877" y="2499685"/>
            <a:ext cx="2916383" cy="1219444"/>
          </a:xfrm>
          <a:prstGeom prst="wedgeRoundRectCallout">
            <a:avLst>
              <a:gd name="adj1" fmla="val 66099"/>
              <a:gd name="adj2" fmla="val 26520"/>
              <a:gd name="adj3" fmla="val 16667"/>
            </a:avLst>
          </a:prstGeom>
          <a:solidFill>
            <a:schemeClr val="bg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b="1" dirty="0">
                <a:solidFill>
                  <a:schemeClr val="tx1"/>
                </a:solidFill>
              </a:rPr>
              <a:t>Each cell is charged or discharged</a:t>
            </a:r>
            <a:endParaRPr lang="en-US" sz="2400" b="1" dirty="0">
              <a:solidFill>
                <a:schemeClr val="tx1"/>
              </a:solidFill>
            </a:endParaRPr>
          </a:p>
        </p:txBody>
      </p:sp>
      <p:sp>
        <p:nvSpPr>
          <p:cNvPr id="11" name="Rounded Rectangular Callout 10">
            <a:extLst>
              <a:ext uri="{FF2B5EF4-FFF2-40B4-BE49-F238E27FC236}">
                <a16:creationId xmlns:a16="http://schemas.microsoft.com/office/drawing/2014/main" id="{9B6F6BDE-0281-A947-836B-42C9E1E8A742}"/>
              </a:ext>
            </a:extLst>
          </p:cNvPr>
          <p:cNvSpPr/>
          <p:nvPr/>
        </p:nvSpPr>
        <p:spPr>
          <a:xfrm>
            <a:off x="7956618" y="2499685"/>
            <a:ext cx="2498315" cy="1219444"/>
          </a:xfrm>
          <a:prstGeom prst="wedgeRoundRectCallout">
            <a:avLst>
              <a:gd name="adj1" fmla="val -70534"/>
              <a:gd name="adj2" fmla="val -58952"/>
              <a:gd name="adj3" fmla="val 16667"/>
            </a:avLst>
          </a:prstGeom>
          <a:solidFill>
            <a:schemeClr val="bg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b="1" dirty="0">
                <a:solidFill>
                  <a:schemeClr val="tx1"/>
                </a:solidFill>
              </a:rPr>
              <a:t>A bank has rows of cells</a:t>
            </a:r>
            <a:endParaRPr lang="en-US" sz="2400" b="1" dirty="0">
              <a:solidFill>
                <a:schemeClr val="tx1"/>
              </a:solidFill>
            </a:endParaRPr>
          </a:p>
        </p:txBody>
      </p:sp>
    </p:spTree>
    <p:extLst>
      <p:ext uri="{BB962C8B-B14F-4D97-AF65-F5344CB8AC3E}">
        <p14:creationId xmlns:p14="http://schemas.microsoft.com/office/powerpoint/2010/main" val="28380384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p:cNvSpPr txBox="1">
            <a:spLocks/>
          </p:cNvSpPr>
          <p:nvPr/>
        </p:nvSpPr>
        <p:spPr>
          <a:xfrm>
            <a:off x="4114989" y="265574"/>
            <a:ext cx="5088646" cy="60768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AU"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Memory access</a:t>
            </a:r>
            <a:endParaRPr lang="en-US"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endParaRPr>
          </a:p>
        </p:txBody>
      </p:sp>
      <p:sp>
        <p:nvSpPr>
          <p:cNvPr id="13" name="Rectangle 12"/>
          <p:cNvSpPr/>
          <p:nvPr/>
        </p:nvSpPr>
        <p:spPr>
          <a:xfrm>
            <a:off x="228600" y="2068380"/>
            <a:ext cx="5337094" cy="2339102"/>
          </a:xfrm>
          <a:prstGeom prst="rect">
            <a:avLst/>
          </a:prstGeom>
        </p:spPr>
        <p:txBody>
          <a:bodyPr wrap="square">
            <a:spAutoFit/>
          </a:bodyPr>
          <a:lstStyle/>
          <a:p>
            <a:pPr marL="324000" indent="-342900">
              <a:lnSpc>
                <a:spcPct val="150000"/>
              </a:lnSpc>
              <a:buFont typeface="Calibri" panose="020F0502020204030204" pitchFamily="34" charset="0"/>
              <a:buChar char="‒"/>
            </a:pPr>
            <a:r>
              <a:rPr lang="en-AU" sz="2800" b="1" dirty="0"/>
              <a:t>Activating/opening a row</a:t>
            </a:r>
          </a:p>
          <a:p>
            <a:pPr marL="324000" indent="-342900">
              <a:lnSpc>
                <a:spcPct val="150000"/>
              </a:lnSpc>
              <a:buFont typeface="Calibri" panose="020F0502020204030204" pitchFamily="34" charset="0"/>
              <a:buChar char="‒"/>
            </a:pPr>
            <a:r>
              <a:rPr lang="en-AU" sz="2800" b="1" dirty="0"/>
              <a:t>Accessing row buffer</a:t>
            </a:r>
          </a:p>
          <a:p>
            <a:pPr marL="324000" indent="-342900">
              <a:lnSpc>
                <a:spcPct val="150000"/>
              </a:lnSpc>
              <a:buFont typeface="Calibri" panose="020F0502020204030204" pitchFamily="34" charset="0"/>
              <a:buChar char="‒"/>
            </a:pPr>
            <a:r>
              <a:rPr lang="en-AU" sz="2800" b="1" dirty="0"/>
              <a:t>Deactivating/closing the row</a:t>
            </a:r>
          </a:p>
          <a:p>
            <a:pPr marL="342900" indent="-342900">
              <a:buFont typeface="Wingdings" panose="05000000000000000000" pitchFamily="2" charset="2"/>
              <a:buChar char="Ø"/>
            </a:pPr>
            <a:endParaRPr lang="en-AU" sz="2000" dirty="0"/>
          </a:p>
        </p:txBody>
      </p:sp>
      <p:pic>
        <p:nvPicPr>
          <p:cNvPr id="81" name="Picture 8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6850" y="1159971"/>
            <a:ext cx="5870874" cy="4824774"/>
          </a:xfrm>
          <a:prstGeom prst="rect">
            <a:avLst/>
          </a:prstGeom>
        </p:spPr>
      </p:pic>
    </p:spTree>
    <p:extLst>
      <p:ext uri="{BB962C8B-B14F-4D97-AF65-F5344CB8AC3E}">
        <p14:creationId xmlns:p14="http://schemas.microsoft.com/office/powerpoint/2010/main" val="9712692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p:cNvSpPr txBox="1">
            <a:spLocks/>
          </p:cNvSpPr>
          <p:nvPr/>
        </p:nvSpPr>
        <p:spPr>
          <a:xfrm>
            <a:off x="4226566" y="209550"/>
            <a:ext cx="3850634" cy="910594"/>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sz="2400" dirty="0"/>
          </a:p>
          <a:p>
            <a:pPr marL="0" indent="0">
              <a:buNone/>
            </a:pPr>
            <a:r>
              <a:rPr lang="en-AU" sz="47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DRAM refresh</a:t>
            </a:r>
            <a:endParaRPr lang="en-US" sz="47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endParaRPr>
          </a:p>
        </p:txBody>
      </p:sp>
      <p:sp>
        <p:nvSpPr>
          <p:cNvPr id="13" name="Rectangle 12"/>
          <p:cNvSpPr/>
          <p:nvPr/>
        </p:nvSpPr>
        <p:spPr>
          <a:xfrm>
            <a:off x="580766" y="1432170"/>
            <a:ext cx="10985157" cy="3139321"/>
          </a:xfrm>
          <a:prstGeom prst="rect">
            <a:avLst/>
          </a:prstGeom>
        </p:spPr>
        <p:txBody>
          <a:bodyPr wrap="square">
            <a:spAutoFit/>
          </a:bodyPr>
          <a:lstStyle/>
          <a:p>
            <a:pPr marL="324000" indent="-342900">
              <a:lnSpc>
                <a:spcPct val="150000"/>
              </a:lnSpc>
              <a:spcBef>
                <a:spcPts val="600"/>
              </a:spcBef>
              <a:spcAft>
                <a:spcPts val="600"/>
              </a:spcAft>
              <a:buFont typeface="Calibri" panose="020F0502020204030204" pitchFamily="34" charset="0"/>
              <a:buChar char="‒"/>
            </a:pPr>
            <a:r>
              <a:rPr lang="en-AU" sz="2800" b="1" dirty="0"/>
              <a:t>Cells can </a:t>
            </a:r>
            <a:r>
              <a:rPr lang="en-AU" sz="2800" b="1" dirty="0">
                <a:solidFill>
                  <a:srgbClr val="C00000"/>
                </a:solidFill>
              </a:rPr>
              <a:t>lose charge </a:t>
            </a:r>
            <a:r>
              <a:rPr lang="en-AU" sz="2800" b="1" dirty="0"/>
              <a:t>over time</a:t>
            </a:r>
          </a:p>
          <a:p>
            <a:pPr marL="324000" indent="-342900">
              <a:lnSpc>
                <a:spcPct val="150000"/>
              </a:lnSpc>
              <a:spcBef>
                <a:spcPts val="600"/>
              </a:spcBef>
              <a:spcAft>
                <a:spcPts val="600"/>
              </a:spcAft>
              <a:buFont typeface="Calibri" panose="020F0502020204030204" pitchFamily="34" charset="0"/>
              <a:buChar char="‒"/>
            </a:pPr>
            <a:r>
              <a:rPr lang="en-AU" sz="2800" b="1" dirty="0"/>
              <a:t>A row of cells needs to be </a:t>
            </a:r>
            <a:r>
              <a:rPr lang="en-AU" sz="2800" b="1" dirty="0">
                <a:solidFill>
                  <a:srgbClr val="C00000"/>
                </a:solidFill>
              </a:rPr>
              <a:t>periodically charged/refreshed</a:t>
            </a:r>
          </a:p>
          <a:p>
            <a:pPr marL="324000" indent="-342900">
              <a:lnSpc>
                <a:spcPct val="150000"/>
              </a:lnSpc>
              <a:spcBef>
                <a:spcPts val="600"/>
              </a:spcBef>
              <a:spcAft>
                <a:spcPts val="600"/>
              </a:spcAft>
              <a:buFont typeface="Calibri" panose="020F0502020204030204" pitchFamily="34" charset="0"/>
              <a:buChar char="‒"/>
            </a:pPr>
            <a:r>
              <a:rPr lang="en-AU" sz="2800" b="1" dirty="0"/>
              <a:t>The refresh interval is typically </a:t>
            </a:r>
            <a:r>
              <a:rPr lang="en-AU" sz="2800" b="1" dirty="0">
                <a:solidFill>
                  <a:srgbClr val="C00000"/>
                </a:solidFill>
              </a:rPr>
              <a:t>64 </a:t>
            </a:r>
            <a:r>
              <a:rPr lang="en-AU" sz="2800" b="1" dirty="0" err="1">
                <a:solidFill>
                  <a:srgbClr val="C00000"/>
                </a:solidFill>
              </a:rPr>
              <a:t>ms</a:t>
            </a:r>
            <a:endParaRPr lang="en-AU" sz="2800" b="1" dirty="0">
              <a:solidFill>
                <a:srgbClr val="C00000"/>
              </a:solidFill>
            </a:endParaRPr>
          </a:p>
          <a:p>
            <a:pPr marL="324000" indent="-342900">
              <a:lnSpc>
                <a:spcPct val="150000"/>
              </a:lnSpc>
              <a:buFont typeface="Wingdings" panose="05000000000000000000" pitchFamily="2" charset="2"/>
              <a:buChar char="Ø"/>
            </a:pPr>
            <a:endParaRPr lang="en-AU" dirty="0"/>
          </a:p>
          <a:p>
            <a:pPr marL="342900" indent="-342900">
              <a:buFont typeface="Wingdings" panose="05000000000000000000" pitchFamily="2" charset="2"/>
              <a:buChar char="Ø"/>
            </a:pPr>
            <a:endParaRPr lang="en-AU" sz="2000" dirty="0"/>
          </a:p>
        </p:txBody>
      </p:sp>
    </p:spTree>
    <p:extLst>
      <p:ext uri="{BB962C8B-B14F-4D97-AF65-F5344CB8AC3E}">
        <p14:creationId xmlns:p14="http://schemas.microsoft.com/office/powerpoint/2010/main" val="2217111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6785" y="1245349"/>
            <a:ext cx="5600279" cy="4367302"/>
          </a:xfrm>
          <a:prstGeom prst="rect">
            <a:avLst/>
          </a:prstGeom>
        </p:spPr>
      </p:pic>
      <p:sp>
        <p:nvSpPr>
          <p:cNvPr id="8" name="Content Placeholder 2"/>
          <p:cNvSpPr txBox="1">
            <a:spLocks/>
          </p:cNvSpPr>
          <p:nvPr/>
        </p:nvSpPr>
        <p:spPr>
          <a:xfrm>
            <a:off x="3712216" y="0"/>
            <a:ext cx="4791950" cy="910594"/>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sz="2400" dirty="0"/>
          </a:p>
          <a:p>
            <a:pPr marL="0" indent="0">
              <a:buNone/>
            </a:pPr>
            <a:r>
              <a:rPr lang="en-AU" sz="47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Rowhammer</a:t>
            </a:r>
            <a:endParaRPr lang="en-US" sz="47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endParaRPr>
          </a:p>
        </p:txBody>
      </p:sp>
      <p:sp>
        <p:nvSpPr>
          <p:cNvPr id="5" name="Rectangle 4"/>
          <p:cNvSpPr/>
          <p:nvPr/>
        </p:nvSpPr>
        <p:spPr>
          <a:xfrm>
            <a:off x="288503" y="1002928"/>
            <a:ext cx="5522352" cy="1083566"/>
          </a:xfrm>
          <a:prstGeom prst="rect">
            <a:avLst/>
          </a:prstGeom>
        </p:spPr>
        <p:txBody>
          <a:bodyPr wrap="square">
            <a:spAutoFit/>
          </a:bodyPr>
          <a:lstStyle/>
          <a:p>
            <a:pPr marL="324000" indent="-342900">
              <a:lnSpc>
                <a:spcPct val="150000"/>
              </a:lnSpc>
              <a:buFont typeface="Wingdings" panose="05000000000000000000" pitchFamily="2" charset="2"/>
              <a:buChar char="Ø"/>
            </a:pPr>
            <a:endParaRPr lang="en-AU" dirty="0"/>
          </a:p>
          <a:p>
            <a:pPr>
              <a:lnSpc>
                <a:spcPct val="150000"/>
              </a:lnSpc>
            </a:pPr>
            <a:r>
              <a:rPr lang="en-AU" sz="2800" b="1" dirty="0"/>
              <a:t>Kim et al. </a:t>
            </a:r>
            <a:r>
              <a:rPr lang="en-AU" sz="2800" b="1" i="1" dirty="0">
                <a:solidFill>
                  <a:srgbClr val="C00000"/>
                </a:solidFill>
              </a:rPr>
              <a:t>key observation</a:t>
            </a:r>
            <a:r>
              <a:rPr lang="en-AU" sz="2800" i="1" dirty="0"/>
              <a:t> </a:t>
            </a:r>
            <a:r>
              <a:rPr lang="en-AU" sz="1400" dirty="0"/>
              <a:t>(ISCA’14)</a:t>
            </a:r>
          </a:p>
        </p:txBody>
      </p:sp>
      <p:sp>
        <p:nvSpPr>
          <p:cNvPr id="7" name="Rectangle 6"/>
          <p:cNvSpPr/>
          <p:nvPr/>
        </p:nvSpPr>
        <p:spPr>
          <a:xfrm>
            <a:off x="216431" y="2307985"/>
            <a:ext cx="4851908" cy="2877711"/>
          </a:xfrm>
          <a:prstGeom prst="rect">
            <a:avLst/>
          </a:prstGeom>
        </p:spPr>
        <p:txBody>
          <a:bodyPr wrap="square">
            <a:spAutoFit/>
          </a:bodyPr>
          <a:lstStyle/>
          <a:p>
            <a:pPr>
              <a:lnSpc>
                <a:spcPct val="150000"/>
              </a:lnSpc>
              <a:spcBef>
                <a:spcPts val="600"/>
              </a:spcBef>
              <a:spcAft>
                <a:spcPts val="600"/>
              </a:spcAft>
            </a:pPr>
            <a:r>
              <a:rPr lang="en-AU" sz="2400" b="1" dirty="0"/>
              <a:t>Frequently opening rows </a:t>
            </a:r>
            <a:r>
              <a:rPr lang="en-AU" sz="2400" b="1" i="1" dirty="0">
                <a:solidFill>
                  <a:srgbClr val="C00000"/>
                </a:solidFill>
              </a:rPr>
              <a:t>n+1</a:t>
            </a:r>
            <a:r>
              <a:rPr lang="en-AU" sz="2400" b="1" dirty="0">
                <a:solidFill>
                  <a:srgbClr val="C00000"/>
                </a:solidFill>
              </a:rPr>
              <a:t> </a:t>
            </a:r>
            <a:r>
              <a:rPr lang="en-AU" sz="2400" b="1" dirty="0"/>
              <a:t>&amp; </a:t>
            </a:r>
            <a:r>
              <a:rPr lang="en-AU" sz="2400" b="1" i="1" dirty="0">
                <a:solidFill>
                  <a:srgbClr val="C00000"/>
                </a:solidFill>
              </a:rPr>
              <a:t>n-1</a:t>
            </a:r>
            <a:r>
              <a:rPr lang="en-AU" sz="2400" b="1" i="1" dirty="0"/>
              <a:t> </a:t>
            </a:r>
            <a:r>
              <a:rPr lang="en-AU" sz="2400" b="1" dirty="0"/>
              <a:t>cause permanent charge leakage in row</a:t>
            </a:r>
            <a:r>
              <a:rPr lang="en-AU" sz="2400" b="1" dirty="0">
                <a:solidFill>
                  <a:srgbClr val="C00000"/>
                </a:solidFill>
              </a:rPr>
              <a:t> </a:t>
            </a:r>
            <a:r>
              <a:rPr lang="en-AU" sz="2400" b="1" i="1" dirty="0">
                <a:solidFill>
                  <a:srgbClr val="C00000"/>
                </a:solidFill>
              </a:rPr>
              <a:t>n. </a:t>
            </a:r>
            <a:r>
              <a:rPr lang="en-AU" sz="2400" b="1" dirty="0"/>
              <a:t>Permanent charge leakage </a:t>
            </a:r>
            <a:r>
              <a:rPr lang="en-AU" sz="2400" b="1" dirty="0">
                <a:solidFill>
                  <a:srgbClr val="C00000"/>
                </a:solidFill>
              </a:rPr>
              <a:t>means bit flips </a:t>
            </a:r>
            <a:r>
              <a:rPr lang="en-AU" sz="2400" b="1" i="1" dirty="0">
                <a:solidFill>
                  <a:srgbClr val="C00000"/>
                </a:solidFill>
              </a:rPr>
              <a:t> </a:t>
            </a:r>
          </a:p>
          <a:p>
            <a:pPr marL="324000" indent="-342900">
              <a:lnSpc>
                <a:spcPct val="150000"/>
              </a:lnSpc>
              <a:buFont typeface="Wingdings" panose="05000000000000000000" pitchFamily="2" charset="2"/>
              <a:buChar char="Ø"/>
            </a:pPr>
            <a:endParaRPr lang="en-AU" sz="1200" dirty="0"/>
          </a:p>
          <a:p>
            <a:pPr marL="342900" indent="-342900">
              <a:buFont typeface="Wingdings" panose="05000000000000000000" pitchFamily="2" charset="2"/>
              <a:buChar char="Ø"/>
            </a:pPr>
            <a:endParaRPr lang="en-AU" sz="1400" dirty="0"/>
          </a:p>
        </p:txBody>
      </p:sp>
    </p:spTree>
    <p:extLst>
      <p:ext uri="{BB962C8B-B14F-4D97-AF65-F5344CB8AC3E}">
        <p14:creationId xmlns:p14="http://schemas.microsoft.com/office/powerpoint/2010/main" val="27570934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20364" y="1245349"/>
            <a:ext cx="5600279" cy="4367302"/>
          </a:xfrm>
          <a:prstGeom prst="rect">
            <a:avLst/>
          </a:prstGeom>
        </p:spPr>
      </p:pic>
      <p:sp>
        <p:nvSpPr>
          <p:cNvPr id="8" name="Content Placeholder 2"/>
          <p:cNvSpPr txBox="1">
            <a:spLocks/>
          </p:cNvSpPr>
          <p:nvPr/>
        </p:nvSpPr>
        <p:spPr>
          <a:xfrm>
            <a:off x="3712216" y="0"/>
            <a:ext cx="4791950" cy="910594"/>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sz="2400" dirty="0"/>
          </a:p>
          <a:p>
            <a:pPr marL="0" indent="0">
              <a:buNone/>
            </a:pPr>
            <a:r>
              <a:rPr lang="en-AU" sz="47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Rowhammer</a:t>
            </a:r>
            <a:endParaRPr lang="en-US" sz="47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endParaRPr>
          </a:p>
        </p:txBody>
      </p:sp>
      <p:sp>
        <p:nvSpPr>
          <p:cNvPr id="9" name="Rectangle 8">
            <a:extLst>
              <a:ext uri="{FF2B5EF4-FFF2-40B4-BE49-F238E27FC236}">
                <a16:creationId xmlns:a16="http://schemas.microsoft.com/office/drawing/2014/main" id="{E17AD4C2-0421-4820-928D-49D15671D8A5}"/>
              </a:ext>
            </a:extLst>
          </p:cNvPr>
          <p:cNvSpPr/>
          <p:nvPr/>
        </p:nvSpPr>
        <p:spPr>
          <a:xfrm>
            <a:off x="622211" y="1548363"/>
            <a:ext cx="3349287" cy="724301"/>
          </a:xfrm>
          <a:prstGeom prst="rect">
            <a:avLst/>
          </a:prstGeom>
        </p:spPr>
        <p:txBody>
          <a:bodyPr wrap="square">
            <a:spAutoFit/>
          </a:bodyPr>
          <a:lstStyle/>
          <a:p>
            <a:pPr marL="324000" indent="-342900">
              <a:lnSpc>
                <a:spcPct val="200000"/>
              </a:lnSpc>
              <a:buFont typeface="Calibri" panose="020F0502020204030204" pitchFamily="34" charset="0"/>
              <a:buChar char="‒"/>
            </a:pPr>
            <a:r>
              <a:rPr lang="en-AU" sz="2400" b="1" dirty="0"/>
              <a:t>Double-sided hammer</a:t>
            </a:r>
          </a:p>
        </p:txBody>
      </p:sp>
    </p:spTree>
    <p:extLst>
      <p:ext uri="{BB962C8B-B14F-4D97-AF65-F5344CB8AC3E}">
        <p14:creationId xmlns:p14="http://schemas.microsoft.com/office/powerpoint/2010/main" val="42191770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0252629" y="1277885"/>
            <a:ext cx="1939371" cy="276999"/>
          </a:xfrm>
          <a:prstGeom prst="rect">
            <a:avLst/>
          </a:prstGeom>
        </p:spPr>
        <p:txBody>
          <a:bodyPr wrap="square">
            <a:spAutoFit/>
          </a:bodyPr>
          <a:lstStyle/>
          <a:p>
            <a:r>
              <a:rPr lang="en-AU" sz="1200" dirty="0"/>
              <a:t>Code</a:t>
            </a:r>
            <a:r>
              <a:rPr lang="en-AU" sz="1200" dirty="0">
                <a:latin typeface="Arial" panose="020B0604020202020204" pitchFamily="34" charset="0"/>
              </a:rPr>
              <a:t> </a:t>
            </a:r>
            <a:r>
              <a:rPr lang="en-AU" sz="1200" dirty="0"/>
              <a:t>from Kim et al.</a:t>
            </a:r>
          </a:p>
        </p:txBody>
      </p:sp>
      <p:sp>
        <p:nvSpPr>
          <p:cNvPr id="7" name="Rectangle 6"/>
          <p:cNvSpPr/>
          <p:nvPr/>
        </p:nvSpPr>
        <p:spPr>
          <a:xfrm>
            <a:off x="619431" y="3043355"/>
            <a:ext cx="5747226" cy="1139799"/>
          </a:xfrm>
          <a:prstGeom prst="rect">
            <a:avLst/>
          </a:prstGeom>
        </p:spPr>
        <p:txBody>
          <a:bodyPr wrap="square">
            <a:spAutoFit/>
          </a:bodyPr>
          <a:lstStyle/>
          <a:p>
            <a:pPr marL="342900" indent="-342900">
              <a:lnSpc>
                <a:spcPct val="150000"/>
              </a:lnSpc>
              <a:buFont typeface="Wingdings" panose="05000000000000000000" pitchFamily="2" charset="2"/>
              <a:buChar char="v"/>
            </a:pPr>
            <a:r>
              <a:rPr lang="en-AU" sz="2400" b="1" dirty="0">
                <a:solidFill>
                  <a:srgbClr val="5BC2E7"/>
                </a:solidFill>
              </a:rPr>
              <a:t>Flush/Evict CPU cache (e.g., clflush)</a:t>
            </a:r>
          </a:p>
          <a:p>
            <a:pPr marL="342900" indent="-342900">
              <a:lnSpc>
                <a:spcPct val="150000"/>
              </a:lnSpc>
              <a:buFont typeface="Wingdings" panose="05000000000000000000" pitchFamily="2" charset="2"/>
              <a:buChar char="q"/>
            </a:pPr>
            <a:r>
              <a:rPr lang="en-AU" sz="2400" b="1" dirty="0">
                <a:solidFill>
                  <a:srgbClr val="C00000"/>
                </a:solidFill>
              </a:rPr>
              <a:t>Clear row buffer (e.g., alternate access)</a:t>
            </a:r>
          </a:p>
        </p:txBody>
      </p:sp>
      <p:sp>
        <p:nvSpPr>
          <p:cNvPr id="8" name="Content Placeholder 2"/>
          <p:cNvSpPr txBox="1">
            <a:spLocks/>
          </p:cNvSpPr>
          <p:nvPr/>
        </p:nvSpPr>
        <p:spPr>
          <a:xfrm>
            <a:off x="3749162" y="134038"/>
            <a:ext cx="4683843" cy="95282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sz="2400" dirty="0"/>
          </a:p>
          <a:p>
            <a:pPr marL="0" indent="0">
              <a:buNone/>
            </a:pPr>
            <a:r>
              <a:rPr lang="en-US" sz="43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Rowhammer</a:t>
            </a:r>
            <a:r>
              <a:rPr lang="en-US" sz="43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 code</a:t>
            </a:r>
          </a:p>
        </p:txBody>
      </p:sp>
      <p:sp>
        <p:nvSpPr>
          <p:cNvPr id="9" name="Rectangle 8"/>
          <p:cNvSpPr/>
          <p:nvPr/>
        </p:nvSpPr>
        <p:spPr>
          <a:xfrm>
            <a:off x="6366657" y="1723417"/>
            <a:ext cx="5378715" cy="42122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spcBef>
                <a:spcPts val="600"/>
              </a:spcBef>
              <a:spcAft>
                <a:spcPts val="600"/>
              </a:spcAft>
            </a:pPr>
            <a:r>
              <a:rPr lang="en-AU" sz="2400" dirty="0">
                <a:solidFill>
                  <a:schemeClr val="tx1"/>
                </a:solidFill>
              </a:rPr>
              <a:t>1 loop:</a:t>
            </a:r>
          </a:p>
          <a:p>
            <a:pPr marL="342900" indent="-342900">
              <a:spcBef>
                <a:spcPts val="600"/>
              </a:spcBef>
              <a:spcAft>
                <a:spcPts val="600"/>
              </a:spcAft>
              <a:buFont typeface="Wingdings" panose="05000000000000000000" pitchFamily="2" charset="2"/>
              <a:buChar char="q"/>
            </a:pPr>
            <a:r>
              <a:rPr lang="en-AU" sz="2400" dirty="0">
                <a:solidFill>
                  <a:srgbClr val="C00000"/>
                </a:solidFill>
              </a:rPr>
              <a:t>2 	mov (X), %eax</a:t>
            </a:r>
          </a:p>
          <a:p>
            <a:pPr marL="342900" indent="-342900">
              <a:spcBef>
                <a:spcPts val="600"/>
              </a:spcBef>
              <a:spcAft>
                <a:spcPts val="600"/>
              </a:spcAft>
              <a:buFont typeface="Wingdings" panose="05000000000000000000" pitchFamily="2" charset="2"/>
              <a:buChar char="q"/>
            </a:pPr>
            <a:r>
              <a:rPr lang="en-AU" sz="2400" dirty="0">
                <a:solidFill>
                  <a:srgbClr val="C00000"/>
                </a:solidFill>
              </a:rPr>
              <a:t>3 	mov (Y), %ebx</a:t>
            </a:r>
          </a:p>
          <a:p>
            <a:pPr marL="342900" indent="-342900">
              <a:spcBef>
                <a:spcPts val="600"/>
              </a:spcBef>
              <a:spcAft>
                <a:spcPts val="600"/>
              </a:spcAft>
              <a:buFont typeface="Wingdings" panose="05000000000000000000" pitchFamily="2" charset="2"/>
              <a:buChar char="v"/>
            </a:pPr>
            <a:r>
              <a:rPr lang="en-AU" sz="2400" dirty="0">
                <a:solidFill>
                  <a:srgbClr val="5BC2E7"/>
                </a:solidFill>
              </a:rPr>
              <a:t>4	clflush (X)</a:t>
            </a:r>
          </a:p>
          <a:p>
            <a:pPr marL="342900" indent="-342900">
              <a:spcBef>
                <a:spcPts val="600"/>
              </a:spcBef>
              <a:spcAft>
                <a:spcPts val="600"/>
              </a:spcAft>
              <a:buFont typeface="Wingdings" panose="05000000000000000000" pitchFamily="2" charset="2"/>
              <a:buChar char="v"/>
            </a:pPr>
            <a:r>
              <a:rPr lang="en-AU" sz="2400" dirty="0">
                <a:solidFill>
                  <a:srgbClr val="5BC2E7"/>
                </a:solidFill>
              </a:rPr>
              <a:t>5 	clflush (Y)</a:t>
            </a:r>
          </a:p>
          <a:p>
            <a:pPr>
              <a:spcBef>
                <a:spcPts val="600"/>
              </a:spcBef>
              <a:spcAft>
                <a:spcPts val="600"/>
              </a:spcAft>
            </a:pPr>
            <a:r>
              <a:rPr lang="en-AU" sz="2400" dirty="0">
                <a:solidFill>
                  <a:schemeClr val="tx1"/>
                </a:solidFill>
              </a:rPr>
              <a:t>6 	</a:t>
            </a:r>
            <a:r>
              <a:rPr lang="en-AU" sz="2400" dirty="0" err="1">
                <a:solidFill>
                  <a:schemeClr val="tx1"/>
                </a:solidFill>
              </a:rPr>
              <a:t>jmp</a:t>
            </a:r>
            <a:r>
              <a:rPr lang="en-AU" sz="2400" dirty="0">
                <a:solidFill>
                  <a:schemeClr val="tx1"/>
                </a:solidFill>
              </a:rPr>
              <a:t> loop</a:t>
            </a:r>
            <a:endParaRPr lang="en-AU" sz="2800" dirty="0">
              <a:solidFill>
                <a:schemeClr val="tx1"/>
              </a:solidFill>
            </a:endParaRPr>
          </a:p>
        </p:txBody>
      </p:sp>
    </p:spTree>
    <p:extLst>
      <p:ext uri="{BB962C8B-B14F-4D97-AF65-F5344CB8AC3E}">
        <p14:creationId xmlns:p14="http://schemas.microsoft.com/office/powerpoint/2010/main" val="27445036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9FEE3A1-2E69-467B-9EDC-3A8E8B17E4E4}"/>
              </a:ext>
            </a:extLst>
          </p:cNvPr>
          <p:cNvSpPr txBox="1"/>
          <p:nvPr/>
        </p:nvSpPr>
        <p:spPr>
          <a:xfrm>
            <a:off x="630566" y="1306053"/>
            <a:ext cx="2972856" cy="1179573"/>
          </a:xfrm>
          <a:prstGeom prst="rect">
            <a:avLst/>
          </a:prstGeom>
          <a:noFill/>
        </p:spPr>
        <p:txBody>
          <a:bodyPr wrap="square" lIns="73152" tIns="54864" rIns="73152" bIns="54864">
            <a:noAutofit/>
          </a:bodyPr>
          <a:lstStyle/>
          <a:p>
            <a:pPr algn="ctr"/>
            <a:r>
              <a:rPr sz="2400" b="1" dirty="0"/>
              <a:t>DP algorithm
mathematically secure</a:t>
            </a:r>
          </a:p>
        </p:txBody>
      </p:sp>
      <p:sp>
        <p:nvSpPr>
          <p:cNvPr id="9" name="TextBox 8">
            <a:extLst>
              <a:ext uri="{FF2B5EF4-FFF2-40B4-BE49-F238E27FC236}">
                <a16:creationId xmlns:a16="http://schemas.microsoft.com/office/drawing/2014/main" id="{3F2366D6-5FED-417A-B5BE-F6DC6E4C5CCB}"/>
              </a:ext>
            </a:extLst>
          </p:cNvPr>
          <p:cNvSpPr txBox="1"/>
          <p:nvPr/>
        </p:nvSpPr>
        <p:spPr>
          <a:xfrm>
            <a:off x="4619464" y="1045447"/>
            <a:ext cx="2379434" cy="566928"/>
          </a:xfrm>
          <a:prstGeom prst="rect">
            <a:avLst/>
          </a:prstGeom>
          <a:noFill/>
        </p:spPr>
        <p:txBody>
          <a:bodyPr wrap="square" lIns="73152" tIns="54864" rIns="73152" bIns="54864">
            <a:noAutofit/>
          </a:bodyPr>
          <a:lstStyle/>
          <a:p>
            <a:pPr algn="ctr"/>
            <a:r>
              <a:rPr lang="en-AU" sz="2400" b="1" dirty="0"/>
              <a:t>Google </a:t>
            </a:r>
            <a:r>
              <a:rPr sz="2400" b="1" dirty="0"/>
              <a:t>implements DP</a:t>
            </a:r>
            <a:r>
              <a:rPr lang="en-AU" sz="2400" b="1" dirty="0"/>
              <a:t> as a software library</a:t>
            </a:r>
            <a:endParaRPr sz="2400" b="1" dirty="0"/>
          </a:p>
        </p:txBody>
      </p:sp>
      <p:sp>
        <p:nvSpPr>
          <p:cNvPr id="11" name="TextBox 10">
            <a:extLst>
              <a:ext uri="{FF2B5EF4-FFF2-40B4-BE49-F238E27FC236}">
                <a16:creationId xmlns:a16="http://schemas.microsoft.com/office/drawing/2014/main" id="{76617CC8-6468-4FA8-90F4-F2A908F32E20}"/>
              </a:ext>
            </a:extLst>
          </p:cNvPr>
          <p:cNvSpPr txBox="1"/>
          <p:nvPr/>
        </p:nvSpPr>
        <p:spPr>
          <a:xfrm>
            <a:off x="743795" y="2485626"/>
            <a:ext cx="5745796" cy="3157995"/>
          </a:xfrm>
          <a:prstGeom prst="rect">
            <a:avLst/>
          </a:prstGeom>
          <a:noFill/>
          <a:ln>
            <a:solidFill>
              <a:schemeClr val="accent1"/>
            </a:solidFill>
          </a:ln>
        </p:spPr>
        <p:txBody>
          <a:bodyPr wrap="square" lIns="73152" tIns="54864" rIns="73152" bIns="54864">
            <a:noAutofit/>
          </a:bodyPr>
          <a:lstStyle/>
          <a:p>
            <a:pPr algn="ctr"/>
            <a:endParaRPr lang="en-AU" sz="2400" b="1" dirty="0"/>
          </a:p>
        </p:txBody>
      </p:sp>
      <p:sp>
        <p:nvSpPr>
          <p:cNvPr id="13" name="TextBox 12">
            <a:extLst>
              <a:ext uri="{FF2B5EF4-FFF2-40B4-BE49-F238E27FC236}">
                <a16:creationId xmlns:a16="http://schemas.microsoft.com/office/drawing/2014/main" id="{163968B1-4B2A-4679-B69C-0D5E76C32841}"/>
              </a:ext>
            </a:extLst>
          </p:cNvPr>
          <p:cNvSpPr txBox="1"/>
          <p:nvPr/>
        </p:nvSpPr>
        <p:spPr>
          <a:xfrm>
            <a:off x="7425535" y="3676285"/>
            <a:ext cx="3088893" cy="981223"/>
          </a:xfrm>
          <a:prstGeom prst="rect">
            <a:avLst/>
          </a:prstGeom>
          <a:noFill/>
        </p:spPr>
        <p:txBody>
          <a:bodyPr wrap="square" lIns="73152" tIns="54864" rIns="73152" bIns="54864">
            <a:noAutofit/>
          </a:bodyPr>
          <a:lstStyle/>
          <a:p>
            <a:pPr algn="ctr"/>
            <a:r>
              <a:rPr sz="2400" b="1" dirty="0" err="1"/>
              <a:t>Rowhammer</a:t>
            </a:r>
            <a:r>
              <a:rPr lang="en-AU" sz="2400" b="1" dirty="0"/>
              <a:t> </a:t>
            </a:r>
            <a:r>
              <a:rPr sz="2400" b="1" dirty="0"/>
              <a:t>bit flip</a:t>
            </a:r>
          </a:p>
        </p:txBody>
      </p:sp>
      <p:sp>
        <p:nvSpPr>
          <p:cNvPr id="18" name="TextBox 17">
            <a:extLst>
              <a:ext uri="{FF2B5EF4-FFF2-40B4-BE49-F238E27FC236}">
                <a16:creationId xmlns:a16="http://schemas.microsoft.com/office/drawing/2014/main" id="{897E6787-FC5C-46E5-9BC9-FFBB327D70E2}"/>
              </a:ext>
            </a:extLst>
          </p:cNvPr>
          <p:cNvSpPr txBox="1"/>
          <p:nvPr/>
        </p:nvSpPr>
        <p:spPr>
          <a:xfrm>
            <a:off x="2058399" y="201426"/>
            <a:ext cx="8185253" cy="707886"/>
          </a:xfrm>
          <a:prstGeom prst="rect">
            <a:avLst/>
          </a:prstGeom>
          <a:noFill/>
        </p:spPr>
        <p:txBody>
          <a:bodyPr wrap="none">
            <a:spAutoFit/>
          </a:bodyPr>
          <a:lstStyle/>
          <a:p>
            <a:pPr algn="ctr"/>
            <a:r>
              <a:rPr sz="4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Rowhammer</a:t>
            </a:r>
            <a:r>
              <a:rPr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 against Differential Privacy</a:t>
            </a:r>
          </a:p>
        </p:txBody>
      </p:sp>
      <p:cxnSp>
        <p:nvCxnSpPr>
          <p:cNvPr id="20" name="Straight Arrow Connector 19">
            <a:extLst>
              <a:ext uri="{FF2B5EF4-FFF2-40B4-BE49-F238E27FC236}">
                <a16:creationId xmlns:a16="http://schemas.microsoft.com/office/drawing/2014/main" id="{007EE6CA-97D6-47CA-A36E-8DE6C13D287D}"/>
              </a:ext>
            </a:extLst>
          </p:cNvPr>
          <p:cNvCxnSpPr/>
          <p:nvPr/>
        </p:nvCxnSpPr>
        <p:spPr>
          <a:xfrm>
            <a:off x="3603422" y="1690103"/>
            <a:ext cx="86868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59FFC60-BA90-4BE5-9834-FCB2EA5F61AD}"/>
              </a:ext>
            </a:extLst>
          </p:cNvPr>
          <p:cNvSpPr txBox="1"/>
          <p:nvPr/>
        </p:nvSpPr>
        <p:spPr>
          <a:xfrm>
            <a:off x="587387" y="2642049"/>
            <a:ext cx="5501977" cy="400110"/>
          </a:xfrm>
          <a:prstGeom prst="rect">
            <a:avLst/>
          </a:prstGeom>
          <a:noFill/>
        </p:spPr>
        <p:txBody>
          <a:bodyPr wrap="square">
            <a:spAutoFit/>
          </a:bodyPr>
          <a:lstStyle/>
          <a:p>
            <a:pPr algn="ctr"/>
            <a:r>
              <a:rPr lang="en-AU" sz="2000" b="1" dirty="0"/>
              <a:t>   (DP parameters are loaded into memory)</a:t>
            </a:r>
          </a:p>
        </p:txBody>
      </p:sp>
      <p:cxnSp>
        <p:nvCxnSpPr>
          <p:cNvPr id="29" name="Straight Arrow Connector 28">
            <a:extLst>
              <a:ext uri="{FF2B5EF4-FFF2-40B4-BE49-F238E27FC236}">
                <a16:creationId xmlns:a16="http://schemas.microsoft.com/office/drawing/2014/main" id="{38C9F5B4-6B84-4468-955D-F691997D1C84}"/>
              </a:ext>
            </a:extLst>
          </p:cNvPr>
          <p:cNvCxnSpPr>
            <a:cxnSpLocks/>
          </p:cNvCxnSpPr>
          <p:nvPr/>
        </p:nvCxnSpPr>
        <p:spPr>
          <a:xfrm flipH="1">
            <a:off x="6489592" y="4216763"/>
            <a:ext cx="1357236" cy="186924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A275D55-4473-48FA-8992-A522B90BF2CE}"/>
              </a:ext>
            </a:extLst>
          </p:cNvPr>
          <p:cNvSpPr txBox="1"/>
          <p:nvPr/>
        </p:nvSpPr>
        <p:spPr>
          <a:xfrm>
            <a:off x="4379436" y="5205379"/>
            <a:ext cx="2110154" cy="481091"/>
          </a:xfrm>
          <a:prstGeom prst="rect">
            <a:avLst/>
          </a:prstGeom>
          <a:noFill/>
        </p:spPr>
        <p:txBody>
          <a:bodyPr wrap="square" lIns="73152" tIns="54864" rIns="73152" bIns="54864">
            <a:noAutofit/>
          </a:bodyPr>
          <a:lstStyle/>
          <a:p>
            <a:pPr algn="ctr"/>
            <a:r>
              <a:rPr lang="en-AU" sz="2400" b="1" dirty="0"/>
              <a:t>web application</a:t>
            </a:r>
          </a:p>
        </p:txBody>
      </p:sp>
      <p:sp>
        <p:nvSpPr>
          <p:cNvPr id="14" name="TextBox 13">
            <a:extLst>
              <a:ext uri="{FF2B5EF4-FFF2-40B4-BE49-F238E27FC236}">
                <a16:creationId xmlns:a16="http://schemas.microsoft.com/office/drawing/2014/main" id="{986E252E-D095-4E93-8DAD-BB73E2E9F55C}"/>
              </a:ext>
            </a:extLst>
          </p:cNvPr>
          <p:cNvSpPr txBox="1"/>
          <p:nvPr/>
        </p:nvSpPr>
        <p:spPr>
          <a:xfrm>
            <a:off x="743794" y="4001786"/>
            <a:ext cx="2110154" cy="369755"/>
          </a:xfrm>
          <a:prstGeom prst="rect">
            <a:avLst/>
          </a:prstGeom>
          <a:noFill/>
        </p:spPr>
        <p:txBody>
          <a:bodyPr wrap="square" lIns="73152" tIns="54864" rIns="73152" bIns="54864">
            <a:noAutofit/>
          </a:bodyPr>
          <a:lstStyle/>
          <a:p>
            <a:pPr algn="ctr"/>
            <a:r>
              <a:rPr lang="en-AU" sz="2400" b="1" dirty="0"/>
              <a:t>Web server</a:t>
            </a:r>
            <a:endParaRPr sz="2400" b="1" dirty="0"/>
          </a:p>
        </p:txBody>
      </p:sp>
      <p:sp>
        <p:nvSpPr>
          <p:cNvPr id="15" name="TextBox 14">
            <a:extLst>
              <a:ext uri="{FF2B5EF4-FFF2-40B4-BE49-F238E27FC236}">
                <a16:creationId xmlns:a16="http://schemas.microsoft.com/office/drawing/2014/main" id="{A73F2177-1B15-4BD4-9C7F-B2A6764430E8}"/>
              </a:ext>
            </a:extLst>
          </p:cNvPr>
          <p:cNvSpPr txBox="1"/>
          <p:nvPr/>
        </p:nvSpPr>
        <p:spPr>
          <a:xfrm>
            <a:off x="921861" y="2917049"/>
            <a:ext cx="2110154" cy="654810"/>
          </a:xfrm>
          <a:prstGeom prst="rect">
            <a:avLst/>
          </a:prstGeom>
          <a:noFill/>
        </p:spPr>
        <p:txBody>
          <a:bodyPr wrap="square" lIns="73152" tIns="54864" rIns="73152" bIns="54864">
            <a:noAutofit/>
          </a:bodyPr>
          <a:lstStyle/>
          <a:p>
            <a:pPr algn="ctr"/>
            <a:r>
              <a:rPr lang="en-AU" sz="2400" b="1" dirty="0"/>
              <a:t>DP library</a:t>
            </a:r>
            <a:endParaRPr sz="2400" b="1" dirty="0"/>
          </a:p>
        </p:txBody>
      </p:sp>
      <p:cxnSp>
        <p:nvCxnSpPr>
          <p:cNvPr id="16" name="Straight Arrow Connector 15">
            <a:extLst>
              <a:ext uri="{FF2B5EF4-FFF2-40B4-BE49-F238E27FC236}">
                <a16:creationId xmlns:a16="http://schemas.microsoft.com/office/drawing/2014/main" id="{5A361B39-D537-42FF-A1B9-85E709AAD49C}"/>
              </a:ext>
            </a:extLst>
          </p:cNvPr>
          <p:cNvCxnSpPr>
            <a:cxnSpLocks/>
          </p:cNvCxnSpPr>
          <p:nvPr/>
        </p:nvCxnSpPr>
        <p:spPr>
          <a:xfrm flipV="1">
            <a:off x="1827551" y="3336059"/>
            <a:ext cx="0" cy="680453"/>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ADC9E20-31AC-45A0-8780-FE8B864AF60D}"/>
              </a:ext>
            </a:extLst>
          </p:cNvPr>
          <p:cNvSpPr txBox="1"/>
          <p:nvPr/>
        </p:nvSpPr>
        <p:spPr>
          <a:xfrm>
            <a:off x="743794" y="5020502"/>
            <a:ext cx="2110154" cy="369755"/>
          </a:xfrm>
          <a:prstGeom prst="rect">
            <a:avLst/>
          </a:prstGeom>
          <a:noFill/>
        </p:spPr>
        <p:txBody>
          <a:bodyPr wrap="square" lIns="73152" tIns="54864" rIns="73152" bIns="54864">
            <a:noAutofit/>
          </a:bodyPr>
          <a:lstStyle/>
          <a:p>
            <a:pPr algn="ctr"/>
            <a:r>
              <a:rPr lang="en-AU" sz="2400" b="1" dirty="0"/>
              <a:t>Database</a:t>
            </a:r>
            <a:endParaRPr sz="2400" b="1" dirty="0"/>
          </a:p>
        </p:txBody>
      </p:sp>
      <p:sp>
        <p:nvSpPr>
          <p:cNvPr id="23" name="TextBox 22">
            <a:extLst>
              <a:ext uri="{FF2B5EF4-FFF2-40B4-BE49-F238E27FC236}">
                <a16:creationId xmlns:a16="http://schemas.microsoft.com/office/drawing/2014/main" id="{E108B765-4458-4419-BD17-A2B3B6002E30}"/>
              </a:ext>
            </a:extLst>
          </p:cNvPr>
          <p:cNvSpPr txBox="1"/>
          <p:nvPr/>
        </p:nvSpPr>
        <p:spPr>
          <a:xfrm>
            <a:off x="1625937" y="4483674"/>
            <a:ext cx="1989365" cy="566928"/>
          </a:xfrm>
          <a:prstGeom prst="rect">
            <a:avLst/>
          </a:prstGeom>
          <a:noFill/>
        </p:spPr>
        <p:txBody>
          <a:bodyPr wrap="square" lIns="73152" tIns="54864" rIns="73152" bIns="54864">
            <a:noAutofit/>
          </a:bodyPr>
          <a:lstStyle/>
          <a:p>
            <a:pPr algn="ctr"/>
            <a:r>
              <a:rPr lang="en-AU" sz="2400" b="1" dirty="0"/>
              <a:t>True result</a:t>
            </a:r>
          </a:p>
        </p:txBody>
      </p:sp>
      <p:cxnSp>
        <p:nvCxnSpPr>
          <p:cNvPr id="24" name="Straight Arrow Connector 23">
            <a:extLst>
              <a:ext uri="{FF2B5EF4-FFF2-40B4-BE49-F238E27FC236}">
                <a16:creationId xmlns:a16="http://schemas.microsoft.com/office/drawing/2014/main" id="{3B9DE729-8F79-41DA-BA2F-B07E2990AF2D}"/>
              </a:ext>
            </a:extLst>
          </p:cNvPr>
          <p:cNvCxnSpPr>
            <a:cxnSpLocks/>
          </p:cNvCxnSpPr>
          <p:nvPr/>
        </p:nvCxnSpPr>
        <p:spPr>
          <a:xfrm>
            <a:off x="1827551" y="4462049"/>
            <a:ext cx="0" cy="558453"/>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19ABEC4D-0378-4DA4-B7F6-0875D7141369}"/>
              </a:ext>
            </a:extLst>
          </p:cNvPr>
          <p:cNvSpPr txBox="1"/>
          <p:nvPr/>
        </p:nvSpPr>
        <p:spPr>
          <a:xfrm>
            <a:off x="1592948" y="3393246"/>
            <a:ext cx="1512092" cy="621792"/>
          </a:xfrm>
          <a:prstGeom prst="rect">
            <a:avLst/>
          </a:prstGeom>
          <a:noFill/>
        </p:spPr>
        <p:txBody>
          <a:bodyPr wrap="square" lIns="73152" tIns="54864" rIns="73152" bIns="54864">
            <a:noAutofit/>
          </a:bodyPr>
          <a:lstStyle/>
          <a:p>
            <a:pPr algn="ctr"/>
            <a:r>
              <a:rPr sz="2400" b="1" dirty="0"/>
              <a:t>+noise</a:t>
            </a:r>
          </a:p>
        </p:txBody>
      </p:sp>
      <p:sp>
        <p:nvSpPr>
          <p:cNvPr id="33" name="TextBox 32">
            <a:extLst>
              <a:ext uri="{FF2B5EF4-FFF2-40B4-BE49-F238E27FC236}">
                <a16:creationId xmlns:a16="http://schemas.microsoft.com/office/drawing/2014/main" id="{CA1382D7-B845-45C4-8987-30F5D5A9FD2F}"/>
              </a:ext>
            </a:extLst>
          </p:cNvPr>
          <p:cNvSpPr txBox="1"/>
          <p:nvPr/>
        </p:nvSpPr>
        <p:spPr>
          <a:xfrm>
            <a:off x="3266187" y="4004446"/>
            <a:ext cx="3105200" cy="534548"/>
          </a:xfrm>
          <a:prstGeom prst="rect">
            <a:avLst/>
          </a:prstGeom>
          <a:noFill/>
        </p:spPr>
        <p:txBody>
          <a:bodyPr wrap="square" lIns="73152" tIns="54864" rIns="73152" bIns="54864">
            <a:noAutofit/>
          </a:bodyPr>
          <a:lstStyle/>
          <a:p>
            <a:pPr algn="ctr"/>
            <a:r>
              <a:rPr sz="2400" b="1" dirty="0"/>
              <a:t>Released</a:t>
            </a:r>
            <a:r>
              <a:rPr lang="en-AU" sz="2400" b="1" dirty="0"/>
              <a:t> DP </a:t>
            </a:r>
            <a:r>
              <a:rPr sz="2400" b="1" dirty="0"/>
              <a:t>output</a:t>
            </a:r>
          </a:p>
        </p:txBody>
      </p:sp>
      <p:cxnSp>
        <p:nvCxnSpPr>
          <p:cNvPr id="34" name="Straight Arrow Connector 33">
            <a:extLst>
              <a:ext uri="{FF2B5EF4-FFF2-40B4-BE49-F238E27FC236}">
                <a16:creationId xmlns:a16="http://schemas.microsoft.com/office/drawing/2014/main" id="{B57BC2C3-7833-484D-AFF8-7B0B6158E06C}"/>
              </a:ext>
            </a:extLst>
          </p:cNvPr>
          <p:cNvCxnSpPr/>
          <p:nvPr/>
        </p:nvCxnSpPr>
        <p:spPr>
          <a:xfrm>
            <a:off x="2620620" y="4245695"/>
            <a:ext cx="86868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F15BC67-ED31-4F03-9B4F-B350F7DFC378}"/>
              </a:ext>
            </a:extLst>
          </p:cNvPr>
          <p:cNvSpPr txBox="1"/>
          <p:nvPr/>
        </p:nvSpPr>
        <p:spPr>
          <a:xfrm>
            <a:off x="6718188" y="2485625"/>
            <a:ext cx="4470340" cy="3157995"/>
          </a:xfrm>
          <a:prstGeom prst="rect">
            <a:avLst/>
          </a:prstGeom>
          <a:noFill/>
          <a:ln>
            <a:solidFill>
              <a:schemeClr val="accent1"/>
            </a:solidFill>
          </a:ln>
        </p:spPr>
        <p:txBody>
          <a:bodyPr wrap="square" lIns="73152" tIns="54864" rIns="73152" bIns="54864">
            <a:noAutofit/>
          </a:bodyPr>
          <a:lstStyle/>
          <a:p>
            <a:pPr algn="ctr"/>
            <a:endParaRPr lang="en-AU" sz="2400" b="1" dirty="0"/>
          </a:p>
        </p:txBody>
      </p:sp>
      <p:sp>
        <p:nvSpPr>
          <p:cNvPr id="36" name="TextBox 35">
            <a:extLst>
              <a:ext uri="{FF2B5EF4-FFF2-40B4-BE49-F238E27FC236}">
                <a16:creationId xmlns:a16="http://schemas.microsoft.com/office/drawing/2014/main" id="{33F8C3F4-08FB-47B7-8A26-5DFB95D7F5CC}"/>
              </a:ext>
            </a:extLst>
          </p:cNvPr>
          <p:cNvSpPr txBox="1"/>
          <p:nvPr/>
        </p:nvSpPr>
        <p:spPr>
          <a:xfrm>
            <a:off x="9470557" y="5137802"/>
            <a:ext cx="1946568" cy="481091"/>
          </a:xfrm>
          <a:prstGeom prst="rect">
            <a:avLst/>
          </a:prstGeom>
          <a:noFill/>
        </p:spPr>
        <p:txBody>
          <a:bodyPr wrap="square" lIns="73152" tIns="54864" rIns="73152" bIns="54864">
            <a:noAutofit/>
          </a:bodyPr>
          <a:lstStyle/>
          <a:p>
            <a:pPr algn="ctr"/>
            <a:r>
              <a:rPr lang="en-AU" sz="2400" b="1" dirty="0"/>
              <a:t>an attacker</a:t>
            </a:r>
          </a:p>
        </p:txBody>
      </p:sp>
      <p:sp>
        <p:nvSpPr>
          <p:cNvPr id="39" name="TextBox 38">
            <a:extLst>
              <a:ext uri="{FF2B5EF4-FFF2-40B4-BE49-F238E27FC236}">
                <a16:creationId xmlns:a16="http://schemas.microsoft.com/office/drawing/2014/main" id="{DF6230F6-5701-4CA2-AB9F-41ACDFDDB08F}"/>
              </a:ext>
            </a:extLst>
          </p:cNvPr>
          <p:cNvSpPr txBox="1"/>
          <p:nvPr/>
        </p:nvSpPr>
        <p:spPr>
          <a:xfrm>
            <a:off x="742403" y="5848168"/>
            <a:ext cx="10446125" cy="570132"/>
          </a:xfrm>
          <a:prstGeom prst="rect">
            <a:avLst/>
          </a:prstGeom>
          <a:noFill/>
          <a:ln>
            <a:solidFill>
              <a:schemeClr val="accent1"/>
            </a:solidFill>
          </a:ln>
        </p:spPr>
        <p:txBody>
          <a:bodyPr wrap="square" lIns="73152" tIns="54864" rIns="73152" bIns="54864">
            <a:noAutofit/>
          </a:bodyPr>
          <a:lstStyle/>
          <a:p>
            <a:pPr algn="ctr"/>
            <a:r>
              <a:rPr lang="en-AU" sz="2400" b="1" dirty="0"/>
              <a:t>DRAM memory</a:t>
            </a:r>
          </a:p>
        </p:txBody>
      </p:sp>
      <p:cxnSp>
        <p:nvCxnSpPr>
          <p:cNvPr id="42" name="Straight Arrow Connector 41">
            <a:extLst>
              <a:ext uri="{FF2B5EF4-FFF2-40B4-BE49-F238E27FC236}">
                <a16:creationId xmlns:a16="http://schemas.microsoft.com/office/drawing/2014/main" id="{3BCAE5EE-3453-4C5A-9B54-E816CF5C7431}"/>
              </a:ext>
            </a:extLst>
          </p:cNvPr>
          <p:cNvCxnSpPr>
            <a:cxnSpLocks/>
          </p:cNvCxnSpPr>
          <p:nvPr/>
        </p:nvCxnSpPr>
        <p:spPr>
          <a:xfrm flipH="1" flipV="1">
            <a:off x="5630780" y="3020319"/>
            <a:ext cx="858810" cy="306569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30847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55CD883-9A91-4912-81BC-5F390A452D22}"/>
              </a:ext>
            </a:extLst>
          </p:cNvPr>
          <p:cNvCxnSpPr>
            <a:cxnSpLocks/>
          </p:cNvCxnSpPr>
          <p:nvPr/>
        </p:nvCxnSpPr>
        <p:spPr>
          <a:xfrm>
            <a:off x="3667371" y="2816310"/>
            <a:ext cx="5991324"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A8F8C8CB-66FC-4D93-8504-1E750C2204A0}"/>
              </a:ext>
            </a:extLst>
          </p:cNvPr>
          <p:cNvCxnSpPr>
            <a:cxnSpLocks/>
          </p:cNvCxnSpPr>
          <p:nvPr/>
        </p:nvCxnSpPr>
        <p:spPr>
          <a:xfrm>
            <a:off x="3693509" y="3601312"/>
            <a:ext cx="5991324" cy="0"/>
          </a:xfrm>
          <a:prstGeom prst="line">
            <a:avLst/>
          </a:prstGeom>
          <a:solidFill>
            <a:schemeClr val="bg1">
              <a:lumMod val="7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9" name="Straight Connector 8">
            <a:extLst>
              <a:ext uri="{FF2B5EF4-FFF2-40B4-BE49-F238E27FC236}">
                <a16:creationId xmlns:a16="http://schemas.microsoft.com/office/drawing/2014/main" id="{B6E9F868-5423-4C83-A04C-1CAAB57F6205}"/>
              </a:ext>
            </a:extLst>
          </p:cNvPr>
          <p:cNvCxnSpPr>
            <a:cxnSpLocks/>
          </p:cNvCxnSpPr>
          <p:nvPr/>
        </p:nvCxnSpPr>
        <p:spPr>
          <a:xfrm>
            <a:off x="3683293" y="4456316"/>
            <a:ext cx="5991324"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矩形 28">
            <a:extLst>
              <a:ext uri="{FF2B5EF4-FFF2-40B4-BE49-F238E27FC236}">
                <a16:creationId xmlns:a16="http://schemas.microsoft.com/office/drawing/2014/main" id="{AB5D5662-E7C7-4FD5-9728-988E5065E180}"/>
              </a:ext>
            </a:extLst>
          </p:cNvPr>
          <p:cNvSpPr>
            <a:spLocks/>
          </p:cNvSpPr>
          <p:nvPr/>
        </p:nvSpPr>
        <p:spPr>
          <a:xfrm>
            <a:off x="1475665" y="2622341"/>
            <a:ext cx="2247339" cy="3646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attacker process A</a:t>
            </a:r>
            <a:endParaRPr lang="en-US" sz="2000" i="1" dirty="0">
              <a:solidFill>
                <a:schemeClr val="tx1"/>
              </a:solidFill>
            </a:endParaRPr>
          </a:p>
        </p:txBody>
      </p:sp>
      <p:sp>
        <p:nvSpPr>
          <p:cNvPr id="11" name="矩形 28">
            <a:extLst>
              <a:ext uri="{FF2B5EF4-FFF2-40B4-BE49-F238E27FC236}">
                <a16:creationId xmlns:a16="http://schemas.microsoft.com/office/drawing/2014/main" id="{2DF40E73-3070-42F4-A6CE-612B31B87336}"/>
              </a:ext>
            </a:extLst>
          </p:cNvPr>
          <p:cNvSpPr>
            <a:spLocks/>
          </p:cNvSpPr>
          <p:nvPr/>
        </p:nvSpPr>
        <p:spPr>
          <a:xfrm>
            <a:off x="1600198" y="3342909"/>
            <a:ext cx="2247339" cy="4271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victim process B</a:t>
            </a:r>
            <a:r>
              <a:rPr lang="en-US" sz="2000" i="1" dirty="0">
                <a:solidFill>
                  <a:schemeClr val="tx1"/>
                </a:solidFill>
              </a:rPr>
              <a:t> </a:t>
            </a:r>
          </a:p>
        </p:txBody>
      </p:sp>
      <p:sp>
        <p:nvSpPr>
          <p:cNvPr id="12" name="矩形 54">
            <a:extLst>
              <a:ext uri="{FF2B5EF4-FFF2-40B4-BE49-F238E27FC236}">
                <a16:creationId xmlns:a16="http://schemas.microsoft.com/office/drawing/2014/main" id="{28F5C1D2-E00E-439C-92A6-F433D1934876}"/>
              </a:ext>
            </a:extLst>
          </p:cNvPr>
          <p:cNvSpPr>
            <a:spLocks/>
          </p:cNvSpPr>
          <p:nvPr/>
        </p:nvSpPr>
        <p:spPr>
          <a:xfrm>
            <a:off x="4148412" y="3387755"/>
            <a:ext cx="466256" cy="427126"/>
          </a:xfrm>
          <a:prstGeom prst="rect">
            <a:avLst/>
          </a:prstGeom>
          <a:solidFill>
            <a:srgbClr val="C0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4" name="矩形 54">
            <a:extLst>
              <a:ext uri="{FF2B5EF4-FFF2-40B4-BE49-F238E27FC236}">
                <a16:creationId xmlns:a16="http://schemas.microsoft.com/office/drawing/2014/main" id="{FE12BE55-224C-408B-BC38-4E47C5B3505A}"/>
              </a:ext>
            </a:extLst>
          </p:cNvPr>
          <p:cNvSpPr>
            <a:spLocks/>
          </p:cNvSpPr>
          <p:nvPr/>
        </p:nvSpPr>
        <p:spPr>
          <a:xfrm>
            <a:off x="5069570" y="3387756"/>
            <a:ext cx="466256" cy="427126"/>
          </a:xfrm>
          <a:prstGeom prst="rect">
            <a:avLst/>
          </a:prstGeom>
          <a:solidFill>
            <a:srgbClr val="C0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5" name="矩形 54">
            <a:extLst>
              <a:ext uri="{FF2B5EF4-FFF2-40B4-BE49-F238E27FC236}">
                <a16:creationId xmlns:a16="http://schemas.microsoft.com/office/drawing/2014/main" id="{99FF5E83-E680-49C8-8476-0BAEE111DE32}"/>
              </a:ext>
            </a:extLst>
          </p:cNvPr>
          <p:cNvSpPr>
            <a:spLocks/>
          </p:cNvSpPr>
          <p:nvPr/>
        </p:nvSpPr>
        <p:spPr>
          <a:xfrm>
            <a:off x="5989786" y="3387755"/>
            <a:ext cx="466256" cy="427126"/>
          </a:xfrm>
          <a:prstGeom prst="rect">
            <a:avLst/>
          </a:prstGeom>
          <a:solidFill>
            <a:srgbClr val="C0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6" name="矩形 54">
            <a:extLst>
              <a:ext uri="{FF2B5EF4-FFF2-40B4-BE49-F238E27FC236}">
                <a16:creationId xmlns:a16="http://schemas.microsoft.com/office/drawing/2014/main" id="{1939308D-EE06-44B2-8C4E-B590791B1C94}"/>
              </a:ext>
            </a:extLst>
          </p:cNvPr>
          <p:cNvSpPr>
            <a:spLocks/>
          </p:cNvSpPr>
          <p:nvPr/>
        </p:nvSpPr>
        <p:spPr>
          <a:xfrm>
            <a:off x="6896356" y="3387756"/>
            <a:ext cx="466256" cy="427126"/>
          </a:xfrm>
          <a:prstGeom prst="rect">
            <a:avLst/>
          </a:prstGeom>
          <a:solidFill>
            <a:srgbClr val="C0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7" name="矩形 54">
            <a:extLst>
              <a:ext uri="{FF2B5EF4-FFF2-40B4-BE49-F238E27FC236}">
                <a16:creationId xmlns:a16="http://schemas.microsoft.com/office/drawing/2014/main" id="{3B8D8E7A-35B5-445F-A394-2D40E00D05F4}"/>
              </a:ext>
            </a:extLst>
          </p:cNvPr>
          <p:cNvSpPr>
            <a:spLocks/>
          </p:cNvSpPr>
          <p:nvPr/>
        </p:nvSpPr>
        <p:spPr>
          <a:xfrm>
            <a:off x="7830225" y="3387755"/>
            <a:ext cx="466256" cy="427126"/>
          </a:xfrm>
          <a:prstGeom prst="rect">
            <a:avLst/>
          </a:prstGeom>
          <a:solidFill>
            <a:srgbClr val="C0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8" name="矩形 54">
            <a:extLst>
              <a:ext uri="{FF2B5EF4-FFF2-40B4-BE49-F238E27FC236}">
                <a16:creationId xmlns:a16="http://schemas.microsoft.com/office/drawing/2014/main" id="{5FD845ED-C989-472D-B4BD-01D849BD2AAD}"/>
              </a:ext>
            </a:extLst>
          </p:cNvPr>
          <p:cNvSpPr>
            <a:spLocks/>
          </p:cNvSpPr>
          <p:nvPr/>
        </p:nvSpPr>
        <p:spPr>
          <a:xfrm>
            <a:off x="8692311" y="3387756"/>
            <a:ext cx="466256" cy="427126"/>
          </a:xfrm>
          <a:prstGeom prst="rect">
            <a:avLst/>
          </a:prstGeom>
          <a:solidFill>
            <a:srgbClr val="C0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9" name="矩形 54">
            <a:extLst>
              <a:ext uri="{FF2B5EF4-FFF2-40B4-BE49-F238E27FC236}">
                <a16:creationId xmlns:a16="http://schemas.microsoft.com/office/drawing/2014/main" id="{70800796-2465-4FA1-8786-44A18F8A1433}"/>
              </a:ext>
            </a:extLst>
          </p:cNvPr>
          <p:cNvSpPr>
            <a:spLocks/>
          </p:cNvSpPr>
          <p:nvPr/>
        </p:nvSpPr>
        <p:spPr>
          <a:xfrm>
            <a:off x="4148412" y="2559790"/>
            <a:ext cx="466256" cy="427126"/>
          </a:xfrm>
          <a:prstGeom prst="rect">
            <a:avLst/>
          </a:prstGeom>
          <a:solidFill>
            <a:schemeClr val="tx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0" name="矩形 54">
            <a:extLst>
              <a:ext uri="{FF2B5EF4-FFF2-40B4-BE49-F238E27FC236}">
                <a16:creationId xmlns:a16="http://schemas.microsoft.com/office/drawing/2014/main" id="{BAC5D774-B564-4D93-8D25-32A6D52AB730}"/>
              </a:ext>
            </a:extLst>
          </p:cNvPr>
          <p:cNvSpPr>
            <a:spLocks/>
          </p:cNvSpPr>
          <p:nvPr/>
        </p:nvSpPr>
        <p:spPr>
          <a:xfrm>
            <a:off x="5056481" y="2559794"/>
            <a:ext cx="466256" cy="427126"/>
          </a:xfrm>
          <a:prstGeom prst="rect">
            <a:avLst/>
          </a:prstGeom>
          <a:solidFill>
            <a:schemeClr val="tx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1" name="矩形 54">
            <a:extLst>
              <a:ext uri="{FF2B5EF4-FFF2-40B4-BE49-F238E27FC236}">
                <a16:creationId xmlns:a16="http://schemas.microsoft.com/office/drawing/2014/main" id="{054397A3-B9FF-4EEF-9A28-E6F1C04D4F83}"/>
              </a:ext>
            </a:extLst>
          </p:cNvPr>
          <p:cNvSpPr>
            <a:spLocks/>
          </p:cNvSpPr>
          <p:nvPr/>
        </p:nvSpPr>
        <p:spPr>
          <a:xfrm>
            <a:off x="5986747" y="2559791"/>
            <a:ext cx="466256" cy="427126"/>
          </a:xfrm>
          <a:prstGeom prst="rect">
            <a:avLst/>
          </a:prstGeom>
          <a:solidFill>
            <a:schemeClr val="tx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2" name="矩形 54">
            <a:extLst>
              <a:ext uri="{FF2B5EF4-FFF2-40B4-BE49-F238E27FC236}">
                <a16:creationId xmlns:a16="http://schemas.microsoft.com/office/drawing/2014/main" id="{25F45640-2D4F-4101-8CA4-4C6B6F6CF653}"/>
              </a:ext>
            </a:extLst>
          </p:cNvPr>
          <p:cNvSpPr>
            <a:spLocks/>
          </p:cNvSpPr>
          <p:nvPr/>
        </p:nvSpPr>
        <p:spPr>
          <a:xfrm>
            <a:off x="6894813" y="2554099"/>
            <a:ext cx="466256" cy="427126"/>
          </a:xfrm>
          <a:prstGeom prst="rect">
            <a:avLst/>
          </a:prstGeom>
          <a:solidFill>
            <a:schemeClr val="tx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3" name="矩形 54">
            <a:extLst>
              <a:ext uri="{FF2B5EF4-FFF2-40B4-BE49-F238E27FC236}">
                <a16:creationId xmlns:a16="http://schemas.microsoft.com/office/drawing/2014/main" id="{F09AB6D3-698C-44AF-85A7-0A10FB76E72F}"/>
              </a:ext>
            </a:extLst>
          </p:cNvPr>
          <p:cNvSpPr>
            <a:spLocks/>
          </p:cNvSpPr>
          <p:nvPr/>
        </p:nvSpPr>
        <p:spPr>
          <a:xfrm>
            <a:off x="7830225" y="2559913"/>
            <a:ext cx="466256" cy="427126"/>
          </a:xfrm>
          <a:prstGeom prst="rect">
            <a:avLst/>
          </a:prstGeom>
          <a:solidFill>
            <a:schemeClr val="tx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4" name="矩形 54">
            <a:extLst>
              <a:ext uri="{FF2B5EF4-FFF2-40B4-BE49-F238E27FC236}">
                <a16:creationId xmlns:a16="http://schemas.microsoft.com/office/drawing/2014/main" id="{63934797-C0A0-4B4F-8528-FEDFDDBACF6B}"/>
              </a:ext>
            </a:extLst>
          </p:cNvPr>
          <p:cNvSpPr>
            <a:spLocks/>
          </p:cNvSpPr>
          <p:nvPr/>
        </p:nvSpPr>
        <p:spPr>
          <a:xfrm>
            <a:off x="8676676" y="2554099"/>
            <a:ext cx="466256" cy="427126"/>
          </a:xfrm>
          <a:prstGeom prst="rect">
            <a:avLst/>
          </a:prstGeom>
          <a:solidFill>
            <a:schemeClr val="tx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5" name="矩形 54">
            <a:extLst>
              <a:ext uri="{FF2B5EF4-FFF2-40B4-BE49-F238E27FC236}">
                <a16:creationId xmlns:a16="http://schemas.microsoft.com/office/drawing/2014/main" id="{45AB62AB-8218-4737-A87E-7FE73A62D0C5}"/>
              </a:ext>
            </a:extLst>
          </p:cNvPr>
          <p:cNvSpPr>
            <a:spLocks/>
          </p:cNvSpPr>
          <p:nvPr/>
        </p:nvSpPr>
        <p:spPr>
          <a:xfrm>
            <a:off x="4146404" y="4199798"/>
            <a:ext cx="466256" cy="427126"/>
          </a:xfrm>
          <a:prstGeom prst="rect">
            <a:avLst/>
          </a:prstGeom>
          <a:solidFill>
            <a:schemeClr val="tx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6" name="矩形 54">
            <a:extLst>
              <a:ext uri="{FF2B5EF4-FFF2-40B4-BE49-F238E27FC236}">
                <a16:creationId xmlns:a16="http://schemas.microsoft.com/office/drawing/2014/main" id="{A2EF647A-9E68-4F8E-BAD8-35663DDEC08A}"/>
              </a:ext>
            </a:extLst>
          </p:cNvPr>
          <p:cNvSpPr>
            <a:spLocks/>
          </p:cNvSpPr>
          <p:nvPr/>
        </p:nvSpPr>
        <p:spPr>
          <a:xfrm>
            <a:off x="5086053" y="4199799"/>
            <a:ext cx="466256" cy="427126"/>
          </a:xfrm>
          <a:prstGeom prst="rect">
            <a:avLst/>
          </a:prstGeom>
          <a:solidFill>
            <a:schemeClr val="tx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7" name="矩形 54">
            <a:extLst>
              <a:ext uri="{FF2B5EF4-FFF2-40B4-BE49-F238E27FC236}">
                <a16:creationId xmlns:a16="http://schemas.microsoft.com/office/drawing/2014/main" id="{1E8A5428-C6D5-4574-AF02-0C7B67F8FB5A}"/>
              </a:ext>
            </a:extLst>
          </p:cNvPr>
          <p:cNvSpPr>
            <a:spLocks/>
          </p:cNvSpPr>
          <p:nvPr/>
        </p:nvSpPr>
        <p:spPr>
          <a:xfrm>
            <a:off x="6002665" y="4199798"/>
            <a:ext cx="466256" cy="427126"/>
          </a:xfrm>
          <a:prstGeom prst="rect">
            <a:avLst/>
          </a:prstGeom>
          <a:solidFill>
            <a:schemeClr val="tx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8" name="矩形 54">
            <a:extLst>
              <a:ext uri="{FF2B5EF4-FFF2-40B4-BE49-F238E27FC236}">
                <a16:creationId xmlns:a16="http://schemas.microsoft.com/office/drawing/2014/main" id="{20409474-6862-43A9-9FCB-AF4A9B7A966E}"/>
              </a:ext>
            </a:extLst>
          </p:cNvPr>
          <p:cNvSpPr>
            <a:spLocks/>
          </p:cNvSpPr>
          <p:nvPr/>
        </p:nvSpPr>
        <p:spPr>
          <a:xfrm>
            <a:off x="6910735" y="4194104"/>
            <a:ext cx="466256" cy="427126"/>
          </a:xfrm>
          <a:prstGeom prst="rect">
            <a:avLst/>
          </a:prstGeom>
          <a:solidFill>
            <a:schemeClr val="tx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9" name="矩形 54">
            <a:extLst>
              <a:ext uri="{FF2B5EF4-FFF2-40B4-BE49-F238E27FC236}">
                <a16:creationId xmlns:a16="http://schemas.microsoft.com/office/drawing/2014/main" id="{71A9F19C-628C-4059-A1F7-EE0A4CF2CBFA}"/>
              </a:ext>
            </a:extLst>
          </p:cNvPr>
          <p:cNvSpPr>
            <a:spLocks/>
          </p:cNvSpPr>
          <p:nvPr/>
        </p:nvSpPr>
        <p:spPr>
          <a:xfrm>
            <a:off x="7846146" y="4199920"/>
            <a:ext cx="466256" cy="427126"/>
          </a:xfrm>
          <a:prstGeom prst="rect">
            <a:avLst/>
          </a:prstGeom>
          <a:solidFill>
            <a:schemeClr val="tx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30" name="矩形 54">
            <a:extLst>
              <a:ext uri="{FF2B5EF4-FFF2-40B4-BE49-F238E27FC236}">
                <a16:creationId xmlns:a16="http://schemas.microsoft.com/office/drawing/2014/main" id="{AE25E768-693C-42D2-842B-61E1C7ABF283}"/>
              </a:ext>
            </a:extLst>
          </p:cNvPr>
          <p:cNvSpPr>
            <a:spLocks/>
          </p:cNvSpPr>
          <p:nvPr/>
        </p:nvSpPr>
        <p:spPr>
          <a:xfrm>
            <a:off x="8692596" y="4194104"/>
            <a:ext cx="466256" cy="427126"/>
          </a:xfrm>
          <a:prstGeom prst="rect">
            <a:avLst/>
          </a:prstGeom>
          <a:solidFill>
            <a:schemeClr val="tx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43" name="Picture 42">
            <a:extLst>
              <a:ext uri="{FF2B5EF4-FFF2-40B4-BE49-F238E27FC236}">
                <a16:creationId xmlns:a16="http://schemas.microsoft.com/office/drawing/2014/main" id="{3855BA08-8705-46F1-865F-43EE726F4B95}"/>
              </a:ext>
            </a:extLst>
          </p:cNvPr>
          <p:cNvPicPr>
            <a:picLocks noChangeAspect="1"/>
          </p:cNvPicPr>
          <p:nvPr/>
        </p:nvPicPr>
        <p:blipFill>
          <a:blip r:embed="rId3">
            <a:duotone>
              <a:prstClr val="black"/>
              <a:srgbClr val="FFC000">
                <a:tint val="45000"/>
                <a:satMod val="400000"/>
              </a:srgbClr>
            </a:duotone>
            <a:extLst>
              <a:ext uri="{28A0092B-C50C-407E-A947-70E740481C1C}">
                <a14:useLocalDpi xmlns:a14="http://schemas.microsoft.com/office/drawing/2010/main" val="0"/>
              </a:ext>
            </a:extLst>
          </a:blip>
          <a:stretch>
            <a:fillRect/>
          </a:stretch>
        </p:blipFill>
        <p:spPr>
          <a:xfrm rot="17263837">
            <a:off x="10073460" y="3180678"/>
            <a:ext cx="660330" cy="710699"/>
          </a:xfrm>
          <a:prstGeom prst="rect">
            <a:avLst/>
          </a:prstGeom>
          <a:noFill/>
          <a:effectLst/>
        </p:spPr>
      </p:pic>
      <p:sp>
        <p:nvSpPr>
          <p:cNvPr id="44" name="Freeform 50">
            <a:extLst>
              <a:ext uri="{FF2B5EF4-FFF2-40B4-BE49-F238E27FC236}">
                <a16:creationId xmlns:a16="http://schemas.microsoft.com/office/drawing/2014/main" id="{CB6C84AD-88BB-4F46-A14C-CA3D0C70E513}"/>
              </a:ext>
            </a:extLst>
          </p:cNvPr>
          <p:cNvSpPr/>
          <p:nvPr/>
        </p:nvSpPr>
        <p:spPr>
          <a:xfrm rot="232861" flipH="1">
            <a:off x="10378357" y="3603871"/>
            <a:ext cx="168027" cy="186314"/>
          </a:xfrm>
          <a:custGeom>
            <a:avLst/>
            <a:gdLst>
              <a:gd name="connsiteX0" fmla="*/ 29964 w 391419"/>
              <a:gd name="connsiteY0" fmla="*/ 283164 h 485803"/>
              <a:gd name="connsiteX1" fmla="*/ 214603 w 391419"/>
              <a:gd name="connsiteY1" fmla="*/ 485387 h 485803"/>
              <a:gd name="connsiteX2" fmla="*/ 390449 w 391419"/>
              <a:gd name="connsiteY2" fmla="*/ 327125 h 485803"/>
              <a:gd name="connsiteX3" fmla="*/ 276149 w 391419"/>
              <a:gd name="connsiteY3" fmla="*/ 36979 h 485803"/>
              <a:gd name="connsiteX4" fmla="*/ 82718 w 391419"/>
              <a:gd name="connsiteY4" fmla="*/ 10602 h 485803"/>
              <a:gd name="connsiteX5" fmla="*/ 205811 w 391419"/>
              <a:gd name="connsiteY5" fmla="*/ 98525 h 485803"/>
              <a:gd name="connsiteX6" fmla="*/ 82718 w 391419"/>
              <a:gd name="connsiteY6" fmla="*/ 124902 h 485803"/>
              <a:gd name="connsiteX7" fmla="*/ 153057 w 391419"/>
              <a:gd name="connsiteY7" fmla="*/ 195241 h 485803"/>
              <a:gd name="connsiteX8" fmla="*/ 12380 w 391419"/>
              <a:gd name="connsiteY8" fmla="*/ 212825 h 485803"/>
              <a:gd name="connsiteX9" fmla="*/ 29964 w 391419"/>
              <a:gd name="connsiteY9" fmla="*/ 283164 h 485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1419" h="485803">
                <a:moveTo>
                  <a:pt x="29964" y="283164"/>
                </a:moveTo>
                <a:cubicBezTo>
                  <a:pt x="63668" y="328591"/>
                  <a:pt x="154522" y="478060"/>
                  <a:pt x="214603" y="485387"/>
                </a:cubicBezTo>
                <a:cubicBezTo>
                  <a:pt x="274684" y="492714"/>
                  <a:pt x="380191" y="401860"/>
                  <a:pt x="390449" y="327125"/>
                </a:cubicBezTo>
                <a:cubicBezTo>
                  <a:pt x="400707" y="252390"/>
                  <a:pt x="327437" y="89733"/>
                  <a:pt x="276149" y="36979"/>
                </a:cubicBezTo>
                <a:cubicBezTo>
                  <a:pt x="224861" y="-15775"/>
                  <a:pt x="94441" y="344"/>
                  <a:pt x="82718" y="10602"/>
                </a:cubicBezTo>
                <a:cubicBezTo>
                  <a:pt x="70995" y="20860"/>
                  <a:pt x="205811" y="79475"/>
                  <a:pt x="205811" y="98525"/>
                </a:cubicBezTo>
                <a:cubicBezTo>
                  <a:pt x="205811" y="117575"/>
                  <a:pt x="91510" y="108783"/>
                  <a:pt x="82718" y="124902"/>
                </a:cubicBezTo>
                <a:cubicBezTo>
                  <a:pt x="73926" y="141021"/>
                  <a:pt x="164780" y="180587"/>
                  <a:pt x="153057" y="195241"/>
                </a:cubicBezTo>
                <a:cubicBezTo>
                  <a:pt x="141334" y="209895"/>
                  <a:pt x="32896" y="199637"/>
                  <a:pt x="12380" y="212825"/>
                </a:cubicBezTo>
                <a:cubicBezTo>
                  <a:pt x="-8136" y="226013"/>
                  <a:pt x="-3740" y="237737"/>
                  <a:pt x="29964" y="283164"/>
                </a:cubicBezTo>
                <a:close/>
              </a:path>
            </a:pathLst>
          </a:cu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04" dirty="0">
              <a:solidFill>
                <a:schemeClr val="tx1"/>
              </a:solidFill>
            </a:endParaRPr>
          </a:p>
        </p:txBody>
      </p:sp>
      <p:sp>
        <p:nvSpPr>
          <p:cNvPr id="45" name="Flowchart: Connector 69">
            <a:extLst>
              <a:ext uri="{FF2B5EF4-FFF2-40B4-BE49-F238E27FC236}">
                <a16:creationId xmlns:a16="http://schemas.microsoft.com/office/drawing/2014/main" id="{4ED7950A-414D-4179-A1D5-2A9D50915AEF}"/>
              </a:ext>
            </a:extLst>
          </p:cNvPr>
          <p:cNvSpPr/>
          <p:nvPr/>
        </p:nvSpPr>
        <p:spPr>
          <a:xfrm>
            <a:off x="10553528" y="3232131"/>
            <a:ext cx="417036" cy="405337"/>
          </a:xfrm>
          <a:prstGeom prst="flowChartConnector">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04">
              <a:solidFill>
                <a:schemeClr val="tx1"/>
              </a:solidFill>
            </a:endParaRPr>
          </a:p>
        </p:txBody>
      </p:sp>
      <p:sp>
        <p:nvSpPr>
          <p:cNvPr id="46" name="Chord 45">
            <a:extLst>
              <a:ext uri="{FF2B5EF4-FFF2-40B4-BE49-F238E27FC236}">
                <a16:creationId xmlns:a16="http://schemas.microsoft.com/office/drawing/2014/main" id="{4DE91843-B7CA-47C3-90AE-98E9CA324B03}"/>
              </a:ext>
            </a:extLst>
          </p:cNvPr>
          <p:cNvSpPr/>
          <p:nvPr/>
        </p:nvSpPr>
        <p:spPr>
          <a:xfrm rot="17516993">
            <a:off x="10599932" y="3289172"/>
            <a:ext cx="158810" cy="169196"/>
          </a:xfrm>
          <a:prstGeom prst="chord">
            <a:avLst>
              <a:gd name="adj1" fmla="val 4051004"/>
              <a:gd name="adj2" fmla="val 17581612"/>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86" b="1">
              <a:solidFill>
                <a:schemeClr val="tx1"/>
              </a:solidFill>
            </a:endParaRPr>
          </a:p>
        </p:txBody>
      </p:sp>
      <p:cxnSp>
        <p:nvCxnSpPr>
          <p:cNvPr id="48" name="Straight Connector 47">
            <a:extLst>
              <a:ext uri="{FF2B5EF4-FFF2-40B4-BE49-F238E27FC236}">
                <a16:creationId xmlns:a16="http://schemas.microsoft.com/office/drawing/2014/main" id="{09A2E3B0-DA0A-442F-B646-1D225705C1DC}"/>
              </a:ext>
            </a:extLst>
          </p:cNvPr>
          <p:cNvCxnSpPr>
            <a:cxnSpLocks/>
          </p:cNvCxnSpPr>
          <p:nvPr/>
        </p:nvCxnSpPr>
        <p:spPr>
          <a:xfrm>
            <a:off x="10679220" y="3541213"/>
            <a:ext cx="168237" cy="0"/>
          </a:xfrm>
          <a:prstGeom prst="line">
            <a:avLst/>
          </a:prstGeom>
          <a:solidFill>
            <a:schemeClr val="tx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cxnSp>
      <p:sp>
        <p:nvSpPr>
          <p:cNvPr id="49" name="Snip Same Side Corner Rectangle 92">
            <a:extLst>
              <a:ext uri="{FF2B5EF4-FFF2-40B4-BE49-F238E27FC236}">
                <a16:creationId xmlns:a16="http://schemas.microsoft.com/office/drawing/2014/main" id="{43E6B3E2-01C7-4BEA-9C04-25460B52A77F}"/>
              </a:ext>
            </a:extLst>
          </p:cNvPr>
          <p:cNvSpPr/>
          <p:nvPr/>
        </p:nvSpPr>
        <p:spPr>
          <a:xfrm>
            <a:off x="10553640" y="3640004"/>
            <a:ext cx="419960" cy="311516"/>
          </a:xfrm>
          <a:prstGeom prst="snip2SameRect">
            <a:avLst>
              <a:gd name="adj1" fmla="val 21795"/>
              <a:gd name="adj2" fmla="val 0"/>
            </a:avLst>
          </a:prstGeom>
          <a:solidFill>
            <a:schemeClr val="tx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i="1" dirty="0">
              <a:solidFill>
                <a:schemeClr val="tx1"/>
              </a:solidFill>
              <a:ea typeface="Cambria Math" panose="02040503050406030204" pitchFamily="18" charset="0"/>
            </a:endParaRPr>
          </a:p>
        </p:txBody>
      </p:sp>
      <p:cxnSp>
        <p:nvCxnSpPr>
          <p:cNvPr id="50" name="Straight Arrow Connector 49">
            <a:extLst>
              <a:ext uri="{FF2B5EF4-FFF2-40B4-BE49-F238E27FC236}">
                <a16:creationId xmlns:a16="http://schemas.microsoft.com/office/drawing/2014/main" id="{A810FAB7-D9B2-4A84-95B5-F6BFF1DF9A27}"/>
              </a:ext>
            </a:extLst>
          </p:cNvPr>
          <p:cNvCxnSpPr>
            <a:cxnSpLocks/>
          </p:cNvCxnSpPr>
          <p:nvPr/>
        </p:nvCxnSpPr>
        <p:spPr>
          <a:xfrm flipH="1" flipV="1">
            <a:off x="9764266" y="2816314"/>
            <a:ext cx="461083" cy="46960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4B908282-A651-4288-A6C3-3D1B04AD6575}"/>
              </a:ext>
            </a:extLst>
          </p:cNvPr>
          <p:cNvCxnSpPr>
            <a:cxnSpLocks/>
          </p:cNvCxnSpPr>
          <p:nvPr/>
        </p:nvCxnSpPr>
        <p:spPr>
          <a:xfrm flipH="1">
            <a:off x="9790408" y="3814881"/>
            <a:ext cx="434941" cy="64144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4" name="Chord 53">
            <a:extLst>
              <a:ext uri="{FF2B5EF4-FFF2-40B4-BE49-F238E27FC236}">
                <a16:creationId xmlns:a16="http://schemas.microsoft.com/office/drawing/2014/main" id="{DB015338-B3E3-4D22-89EC-3AEF9CEEBD4B}"/>
              </a:ext>
            </a:extLst>
          </p:cNvPr>
          <p:cNvSpPr/>
          <p:nvPr/>
        </p:nvSpPr>
        <p:spPr>
          <a:xfrm rot="13789864">
            <a:off x="10777732" y="3289172"/>
            <a:ext cx="158810" cy="169196"/>
          </a:xfrm>
          <a:prstGeom prst="chord">
            <a:avLst>
              <a:gd name="adj1" fmla="val 4051004"/>
              <a:gd name="adj2" fmla="val 17581612"/>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86" b="1">
              <a:solidFill>
                <a:schemeClr val="tx1"/>
              </a:solidFill>
            </a:endParaRPr>
          </a:p>
        </p:txBody>
      </p:sp>
      <p:sp>
        <p:nvSpPr>
          <p:cNvPr id="53" name="矩形 28">
            <a:extLst>
              <a:ext uri="{FF2B5EF4-FFF2-40B4-BE49-F238E27FC236}">
                <a16:creationId xmlns:a16="http://schemas.microsoft.com/office/drawing/2014/main" id="{5A70E95E-E479-4EBB-A49B-D69C56E5418B}"/>
              </a:ext>
            </a:extLst>
          </p:cNvPr>
          <p:cNvSpPr>
            <a:spLocks/>
          </p:cNvSpPr>
          <p:nvPr/>
        </p:nvSpPr>
        <p:spPr>
          <a:xfrm>
            <a:off x="1518871" y="4257373"/>
            <a:ext cx="2247339" cy="3646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attacker process A</a:t>
            </a:r>
            <a:endParaRPr lang="en-US" sz="2000" i="1" dirty="0">
              <a:solidFill>
                <a:schemeClr val="tx1"/>
              </a:solidFill>
            </a:endParaRPr>
          </a:p>
        </p:txBody>
      </p:sp>
      <p:sp>
        <p:nvSpPr>
          <p:cNvPr id="52" name="TextBox 51">
            <a:extLst>
              <a:ext uri="{FF2B5EF4-FFF2-40B4-BE49-F238E27FC236}">
                <a16:creationId xmlns:a16="http://schemas.microsoft.com/office/drawing/2014/main" id="{17D3FFDB-2966-4990-98BD-941ACC06E19E}"/>
              </a:ext>
            </a:extLst>
          </p:cNvPr>
          <p:cNvSpPr txBox="1"/>
          <p:nvPr/>
        </p:nvSpPr>
        <p:spPr>
          <a:xfrm>
            <a:off x="2058399" y="461772"/>
            <a:ext cx="8185253" cy="707886"/>
          </a:xfrm>
          <a:prstGeom prst="rect">
            <a:avLst/>
          </a:prstGeom>
          <a:noFill/>
        </p:spPr>
        <p:txBody>
          <a:bodyPr wrap="none">
            <a:spAutoFit/>
          </a:bodyPr>
          <a:lstStyle/>
          <a:p>
            <a:pPr algn="ctr"/>
            <a:r>
              <a:rPr sz="4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Rowhammer</a:t>
            </a:r>
            <a:r>
              <a:rPr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 against Differential Privacy</a:t>
            </a:r>
          </a:p>
        </p:txBody>
      </p:sp>
      <p:sp>
        <p:nvSpPr>
          <p:cNvPr id="55" name="矩形 28">
            <a:extLst>
              <a:ext uri="{FF2B5EF4-FFF2-40B4-BE49-F238E27FC236}">
                <a16:creationId xmlns:a16="http://schemas.microsoft.com/office/drawing/2014/main" id="{0A2EBE12-4E99-4958-9F95-E803645F230E}"/>
              </a:ext>
            </a:extLst>
          </p:cNvPr>
          <p:cNvSpPr>
            <a:spLocks/>
          </p:cNvSpPr>
          <p:nvPr/>
        </p:nvSpPr>
        <p:spPr>
          <a:xfrm>
            <a:off x="3235998" y="2031309"/>
            <a:ext cx="2247339" cy="3646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cell</a:t>
            </a:r>
            <a:endParaRPr lang="en-US" sz="2000" i="1" dirty="0">
              <a:solidFill>
                <a:schemeClr val="tx1"/>
              </a:solidFill>
            </a:endParaRPr>
          </a:p>
        </p:txBody>
      </p:sp>
    </p:spTree>
    <p:extLst>
      <p:ext uri="{BB962C8B-B14F-4D97-AF65-F5344CB8AC3E}">
        <p14:creationId xmlns:p14="http://schemas.microsoft.com/office/powerpoint/2010/main" val="24805683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F2366D6-5FED-417A-B5BE-F6DC6E4C5CCB}"/>
              </a:ext>
            </a:extLst>
          </p:cNvPr>
          <p:cNvSpPr txBox="1"/>
          <p:nvPr/>
        </p:nvSpPr>
        <p:spPr>
          <a:xfrm>
            <a:off x="3757283" y="1950317"/>
            <a:ext cx="2379434" cy="566928"/>
          </a:xfrm>
          <a:prstGeom prst="rect">
            <a:avLst/>
          </a:prstGeom>
          <a:noFill/>
        </p:spPr>
        <p:txBody>
          <a:bodyPr wrap="square" lIns="73152" tIns="54864" rIns="73152" bIns="54864">
            <a:noAutofit/>
          </a:bodyPr>
          <a:lstStyle/>
          <a:p>
            <a:pPr algn="ctr"/>
            <a:r>
              <a:rPr lang="en-AU" sz="2400" b="1" dirty="0"/>
              <a:t>True result</a:t>
            </a:r>
          </a:p>
        </p:txBody>
      </p:sp>
      <p:sp>
        <p:nvSpPr>
          <p:cNvPr id="18" name="TextBox 17">
            <a:extLst>
              <a:ext uri="{FF2B5EF4-FFF2-40B4-BE49-F238E27FC236}">
                <a16:creationId xmlns:a16="http://schemas.microsoft.com/office/drawing/2014/main" id="{897E6787-FC5C-46E5-9BC9-FFBB327D70E2}"/>
              </a:ext>
            </a:extLst>
          </p:cNvPr>
          <p:cNvSpPr txBox="1"/>
          <p:nvPr/>
        </p:nvSpPr>
        <p:spPr>
          <a:xfrm>
            <a:off x="2058399" y="253334"/>
            <a:ext cx="8185253" cy="707886"/>
          </a:xfrm>
          <a:prstGeom prst="rect">
            <a:avLst/>
          </a:prstGeom>
          <a:noFill/>
        </p:spPr>
        <p:txBody>
          <a:bodyPr wrap="none">
            <a:spAutoFit/>
          </a:bodyPr>
          <a:lstStyle/>
          <a:p>
            <a:pPr algn="ctr"/>
            <a:r>
              <a:rPr sz="4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Rowhammer</a:t>
            </a:r>
            <a:r>
              <a:rPr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 against Differential Privacy</a:t>
            </a:r>
          </a:p>
        </p:txBody>
      </p:sp>
      <p:cxnSp>
        <p:nvCxnSpPr>
          <p:cNvPr id="20" name="Straight Arrow Connector 19">
            <a:extLst>
              <a:ext uri="{FF2B5EF4-FFF2-40B4-BE49-F238E27FC236}">
                <a16:creationId xmlns:a16="http://schemas.microsoft.com/office/drawing/2014/main" id="{007EE6CA-97D6-47CA-A36E-8DE6C13D287D}"/>
              </a:ext>
            </a:extLst>
          </p:cNvPr>
          <p:cNvCxnSpPr/>
          <p:nvPr/>
        </p:nvCxnSpPr>
        <p:spPr>
          <a:xfrm>
            <a:off x="3215103" y="2247637"/>
            <a:ext cx="86868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035AAD6F-5812-4718-A0A4-291369614FD7}"/>
              </a:ext>
            </a:extLst>
          </p:cNvPr>
          <p:cNvCxnSpPr>
            <a:cxnSpLocks/>
          </p:cNvCxnSpPr>
          <p:nvPr/>
        </p:nvCxnSpPr>
        <p:spPr>
          <a:xfrm flipV="1">
            <a:off x="6605138" y="2363443"/>
            <a:ext cx="0" cy="74421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0A9AB5C-C185-4E8D-B101-2E7A6ED30327}"/>
              </a:ext>
            </a:extLst>
          </p:cNvPr>
          <p:cNvSpPr txBox="1"/>
          <p:nvPr/>
        </p:nvSpPr>
        <p:spPr>
          <a:xfrm>
            <a:off x="1586283" y="1973317"/>
            <a:ext cx="1773936" cy="274320"/>
          </a:xfrm>
          <a:prstGeom prst="rect">
            <a:avLst/>
          </a:prstGeom>
          <a:noFill/>
        </p:spPr>
        <p:txBody>
          <a:bodyPr wrap="square" lIns="73152" tIns="54864" rIns="73152" bIns="54864">
            <a:noAutofit/>
          </a:bodyPr>
          <a:lstStyle/>
          <a:p>
            <a:pPr algn="ctr"/>
            <a:r>
              <a:rPr sz="2400" b="1" dirty="0"/>
              <a:t>Database</a:t>
            </a:r>
          </a:p>
        </p:txBody>
      </p:sp>
      <p:sp>
        <p:nvSpPr>
          <p:cNvPr id="14" name="TextBox 13">
            <a:extLst>
              <a:ext uri="{FF2B5EF4-FFF2-40B4-BE49-F238E27FC236}">
                <a16:creationId xmlns:a16="http://schemas.microsoft.com/office/drawing/2014/main" id="{E87D3D48-D284-4FF9-BAC6-65D39A05C61F}"/>
              </a:ext>
            </a:extLst>
          </p:cNvPr>
          <p:cNvSpPr txBox="1"/>
          <p:nvPr/>
        </p:nvSpPr>
        <p:spPr>
          <a:xfrm>
            <a:off x="5236285" y="3111598"/>
            <a:ext cx="2837672" cy="621792"/>
          </a:xfrm>
          <a:prstGeom prst="rect">
            <a:avLst/>
          </a:prstGeom>
          <a:noFill/>
        </p:spPr>
        <p:txBody>
          <a:bodyPr wrap="square" lIns="73152" tIns="54864" rIns="73152" bIns="54864">
            <a:noAutofit/>
          </a:bodyPr>
          <a:lstStyle/>
          <a:p>
            <a:pPr algn="ctr"/>
            <a:r>
              <a:rPr sz="2400" b="1" dirty="0"/>
              <a:t>DP </a:t>
            </a:r>
            <a:r>
              <a:rPr lang="en-AU" sz="2400" b="1" dirty="0"/>
              <a:t>noise-generator</a:t>
            </a:r>
          </a:p>
          <a:p>
            <a:pPr algn="ctr"/>
            <a:r>
              <a:rPr lang="en-AU" sz="2400" b="1" dirty="0"/>
              <a:t>(</a:t>
            </a:r>
            <a:r>
              <a:rPr lang="en-US" sz="2400" dirty="0">
                <a:effectLst/>
                <a:latin typeface="Calibri"/>
                <a:ea typeface="DengXian"/>
                <a:cs typeface="Times New Roman"/>
              </a:rPr>
              <a:t>Laplace mechanism</a:t>
            </a:r>
            <a:r>
              <a:rPr lang="en-AU" sz="2400" b="1" dirty="0"/>
              <a:t>)</a:t>
            </a:r>
            <a:endParaRPr sz="2400" b="1" dirty="0"/>
          </a:p>
        </p:txBody>
      </p:sp>
      <p:cxnSp>
        <p:nvCxnSpPr>
          <p:cNvPr id="15" name="Straight Arrow Connector 14">
            <a:extLst>
              <a:ext uri="{FF2B5EF4-FFF2-40B4-BE49-F238E27FC236}">
                <a16:creationId xmlns:a16="http://schemas.microsoft.com/office/drawing/2014/main" id="{039AF7A5-2D15-4A21-BE5A-E8198B30BC0A}"/>
              </a:ext>
            </a:extLst>
          </p:cNvPr>
          <p:cNvCxnSpPr/>
          <p:nvPr/>
        </p:nvCxnSpPr>
        <p:spPr>
          <a:xfrm>
            <a:off x="5871793" y="2247637"/>
            <a:ext cx="86868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FCCFDC5-3DBE-4FB5-AD04-9E6EE05B355F}"/>
              </a:ext>
            </a:extLst>
          </p:cNvPr>
          <p:cNvSpPr txBox="1"/>
          <p:nvPr/>
        </p:nvSpPr>
        <p:spPr>
          <a:xfrm>
            <a:off x="6508621" y="1979406"/>
            <a:ext cx="3105200" cy="534548"/>
          </a:xfrm>
          <a:prstGeom prst="rect">
            <a:avLst/>
          </a:prstGeom>
          <a:noFill/>
        </p:spPr>
        <p:txBody>
          <a:bodyPr wrap="square" lIns="73152" tIns="54864" rIns="73152" bIns="54864">
            <a:noAutofit/>
          </a:bodyPr>
          <a:lstStyle/>
          <a:p>
            <a:pPr algn="ctr"/>
            <a:r>
              <a:rPr sz="2400" b="1" dirty="0"/>
              <a:t>Released</a:t>
            </a:r>
            <a:r>
              <a:rPr lang="en-AU" sz="2400" b="1" dirty="0"/>
              <a:t> DP </a:t>
            </a:r>
            <a:r>
              <a:rPr sz="2400" b="1" dirty="0"/>
              <a:t>output</a:t>
            </a:r>
          </a:p>
        </p:txBody>
      </p:sp>
      <p:sp>
        <p:nvSpPr>
          <p:cNvPr id="17" name="TextBox 16">
            <a:extLst>
              <a:ext uri="{FF2B5EF4-FFF2-40B4-BE49-F238E27FC236}">
                <a16:creationId xmlns:a16="http://schemas.microsoft.com/office/drawing/2014/main" id="{76D98CDA-95FF-4F3F-AD95-1D5046B27549}"/>
              </a:ext>
            </a:extLst>
          </p:cNvPr>
          <p:cNvSpPr txBox="1"/>
          <p:nvPr/>
        </p:nvSpPr>
        <p:spPr>
          <a:xfrm>
            <a:off x="5380671" y="2499908"/>
            <a:ext cx="1512092" cy="621792"/>
          </a:xfrm>
          <a:prstGeom prst="rect">
            <a:avLst/>
          </a:prstGeom>
          <a:noFill/>
        </p:spPr>
        <p:txBody>
          <a:bodyPr wrap="square" lIns="73152" tIns="54864" rIns="73152" bIns="54864">
            <a:noAutofit/>
          </a:bodyPr>
          <a:lstStyle/>
          <a:p>
            <a:pPr algn="ctr"/>
            <a:r>
              <a:rPr sz="2400" b="1" dirty="0"/>
              <a:t>+noise</a:t>
            </a:r>
          </a:p>
        </p:txBody>
      </p:sp>
      <p:sp>
        <p:nvSpPr>
          <p:cNvPr id="19" name="TextBox 18">
            <a:extLst>
              <a:ext uri="{FF2B5EF4-FFF2-40B4-BE49-F238E27FC236}">
                <a16:creationId xmlns:a16="http://schemas.microsoft.com/office/drawing/2014/main" id="{157A33A2-5F7D-4BCD-A957-C38240F5BAFD}"/>
              </a:ext>
            </a:extLst>
          </p:cNvPr>
          <p:cNvSpPr txBox="1"/>
          <p:nvPr/>
        </p:nvSpPr>
        <p:spPr>
          <a:xfrm>
            <a:off x="916890" y="3049934"/>
            <a:ext cx="3888041" cy="372560"/>
          </a:xfrm>
          <a:prstGeom prst="rect">
            <a:avLst/>
          </a:prstGeom>
          <a:noFill/>
        </p:spPr>
        <p:txBody>
          <a:bodyPr wrap="square" lIns="73152" tIns="54864" rIns="73152" bIns="54864">
            <a:noAutofit/>
          </a:bodyPr>
          <a:lstStyle/>
          <a:p>
            <a:pPr algn="ctr"/>
            <a:r>
              <a:rPr sz="2400" b="1" dirty="0" err="1"/>
              <a:t>Rowhammer</a:t>
            </a:r>
            <a:r>
              <a:rPr sz="2400" b="1" dirty="0"/>
              <a:t> corrupts
a </a:t>
            </a:r>
            <a:r>
              <a:rPr lang="en-AU" sz="2400" b="1" dirty="0"/>
              <a:t>key</a:t>
            </a:r>
            <a:r>
              <a:rPr sz="2400" b="1" dirty="0"/>
              <a:t> parameter</a:t>
            </a:r>
          </a:p>
        </p:txBody>
      </p:sp>
      <p:cxnSp>
        <p:nvCxnSpPr>
          <p:cNvPr id="22" name="Straight Arrow Connector 21">
            <a:extLst>
              <a:ext uri="{FF2B5EF4-FFF2-40B4-BE49-F238E27FC236}">
                <a16:creationId xmlns:a16="http://schemas.microsoft.com/office/drawing/2014/main" id="{4B0CEAB5-3DB4-4253-B604-3E7D0B16B0DB}"/>
              </a:ext>
            </a:extLst>
          </p:cNvPr>
          <p:cNvCxnSpPr/>
          <p:nvPr/>
        </p:nvCxnSpPr>
        <p:spPr>
          <a:xfrm>
            <a:off x="4492536" y="3373380"/>
            <a:ext cx="86868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81229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8CEF55D9-8D46-49C6-B1C5-82F29BD30121}"/>
              </a:ext>
            </a:extLst>
          </p:cNvPr>
          <p:cNvSpPr txBox="1"/>
          <p:nvPr/>
        </p:nvSpPr>
        <p:spPr>
          <a:xfrm>
            <a:off x="228600" y="54864"/>
            <a:ext cx="11475720" cy="670953"/>
          </a:xfrm>
          <a:prstGeom prst="rect">
            <a:avLst/>
          </a:prstGeom>
          <a:noFill/>
        </p:spPr>
        <p:txBody>
          <a:bodyPr wrap="square" lIns="45720" tIns="27432" rIns="45720" bIns="27432">
            <a:spAutoFit/>
          </a:bodyPr>
          <a:lstStyle/>
          <a:p>
            <a:pPr algn="ctr"/>
            <a:r>
              <a:rPr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Laplace</a:t>
            </a:r>
            <a:r>
              <a:rPr lang="en-AU"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-based</a:t>
            </a:r>
            <a:r>
              <a:rPr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 </a:t>
            </a:r>
            <a:r>
              <a:rPr lang="en-AU"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N</a:t>
            </a:r>
            <a:r>
              <a:rPr sz="4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oise</a:t>
            </a:r>
            <a:endParaRPr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endParaRPr>
          </a:p>
        </p:txBody>
      </p:sp>
      <p:sp>
        <p:nvSpPr>
          <p:cNvPr id="21" name="TextBox 20">
            <a:extLst>
              <a:ext uri="{FF2B5EF4-FFF2-40B4-BE49-F238E27FC236}">
                <a16:creationId xmlns:a16="http://schemas.microsoft.com/office/drawing/2014/main" id="{1DC5D420-4801-4F88-ACE9-355C1AE9FC95}"/>
              </a:ext>
            </a:extLst>
          </p:cNvPr>
          <p:cNvSpPr txBox="1"/>
          <p:nvPr/>
        </p:nvSpPr>
        <p:spPr>
          <a:xfrm>
            <a:off x="563880" y="892924"/>
            <a:ext cx="8186420" cy="424732"/>
          </a:xfrm>
          <a:prstGeom prst="rect">
            <a:avLst/>
          </a:prstGeom>
          <a:noFill/>
        </p:spPr>
        <p:txBody>
          <a:bodyPr wrap="square" lIns="45720" tIns="27432" rIns="45720" bIns="27432">
            <a:spAutoFit/>
          </a:bodyPr>
          <a:lstStyle/>
          <a:p>
            <a:r>
              <a:rPr sz="2400" b="0" dirty="0">
                <a:solidFill>
                  <a:srgbClr val="FFFFFF"/>
                </a:solidFill>
              </a:rPr>
              <a:t>DP output = true average + X</a:t>
            </a:r>
            <a:r>
              <a:rPr lang="en-AU" sz="2400" dirty="0">
                <a:solidFill>
                  <a:srgbClr val="FFFFFF"/>
                </a:solidFill>
              </a:rPr>
              <a:t>, </a:t>
            </a:r>
            <a:r>
              <a:rPr lang="en-AU" sz="2400" b="0" dirty="0">
                <a:solidFill>
                  <a:srgbClr val="FFFFFF"/>
                </a:solidFill>
              </a:rPr>
              <a:t>w</a:t>
            </a:r>
            <a:r>
              <a:rPr sz="2400" b="0" dirty="0">
                <a:solidFill>
                  <a:srgbClr val="FFFFFF"/>
                </a:solidFill>
              </a:rPr>
              <a:t>here X </a:t>
            </a:r>
            <a:r>
              <a:rPr lang="en-AU" sz="2400" b="0" dirty="0">
                <a:solidFill>
                  <a:srgbClr val="FFFFFF"/>
                </a:solidFill>
              </a:rPr>
              <a:t>~</a:t>
            </a:r>
            <a:r>
              <a:rPr sz="2400" b="0" dirty="0">
                <a:solidFill>
                  <a:srgbClr val="FFFFFF"/>
                </a:solidFill>
              </a:rPr>
              <a:t> Laplace(0, b)</a:t>
            </a:r>
          </a:p>
        </p:txBody>
      </p:sp>
      <p:sp>
        <p:nvSpPr>
          <p:cNvPr id="36" name="Text 7">
            <a:extLst>
              <a:ext uri="{FF2B5EF4-FFF2-40B4-BE49-F238E27FC236}">
                <a16:creationId xmlns:a16="http://schemas.microsoft.com/office/drawing/2014/main" id="{10AA87CA-1C18-4F40-84EE-BF920D865DDC}"/>
              </a:ext>
            </a:extLst>
          </p:cNvPr>
          <p:cNvSpPr/>
          <p:nvPr/>
        </p:nvSpPr>
        <p:spPr>
          <a:xfrm>
            <a:off x="563880" y="1358149"/>
            <a:ext cx="9837420" cy="547238"/>
          </a:xfrm>
          <a:prstGeom prst="rect">
            <a:avLst/>
          </a:prstGeom>
          <a:noFill/>
          <a:ln/>
        </p:spPr>
        <p:txBody>
          <a:bodyPr wrap="square" lIns="635" tIns="635" rIns="635" bIns="635" rtlCol="0" anchor="ctr">
            <a:normAutofit/>
          </a:bodyPr>
          <a:lstStyle/>
          <a:p>
            <a:pPr marL="0" indent="0" algn="l">
              <a:buNone/>
            </a:pPr>
            <a:r>
              <a:rPr lang="en-US" sz="2400" dirty="0">
                <a:solidFill>
                  <a:srgbClr val="FFFFFF"/>
                </a:solidFill>
              </a:rPr>
              <a:t>0 is the </a:t>
            </a:r>
            <a:r>
              <a:rPr lang="en-US" sz="2400" dirty="0" err="1">
                <a:solidFill>
                  <a:srgbClr val="FFFFFF"/>
                </a:solidFill>
              </a:rPr>
              <a:t>centre</a:t>
            </a:r>
            <a:r>
              <a:rPr lang="en-US" sz="2400" dirty="0">
                <a:solidFill>
                  <a:srgbClr val="FFFFFF"/>
                </a:solidFill>
              </a:rPr>
              <a:t> of the noise, so positive and negative noise are both possible</a:t>
            </a:r>
          </a:p>
        </p:txBody>
      </p:sp>
      <p:sp>
        <p:nvSpPr>
          <p:cNvPr id="38" name="Shape 20">
            <a:extLst>
              <a:ext uri="{FF2B5EF4-FFF2-40B4-BE49-F238E27FC236}">
                <a16:creationId xmlns:a16="http://schemas.microsoft.com/office/drawing/2014/main" id="{38F3BF1D-7B4E-4026-9FB7-BAD3CE5C7BA5}"/>
              </a:ext>
            </a:extLst>
          </p:cNvPr>
          <p:cNvSpPr/>
          <p:nvPr/>
        </p:nvSpPr>
        <p:spPr>
          <a:xfrm>
            <a:off x="518160" y="3302019"/>
            <a:ext cx="10645140" cy="0"/>
          </a:xfrm>
          <a:prstGeom prst="line">
            <a:avLst/>
          </a:prstGeom>
          <a:noFill/>
          <a:ln w="19050">
            <a:solidFill>
              <a:schemeClr val="tx1"/>
            </a:solidFill>
            <a:prstDash val="solid"/>
            <a:headEnd type="none"/>
            <a:tailEnd type="triangle"/>
          </a:ln>
        </p:spPr>
        <p:txBody>
          <a:bodyPr/>
          <a:lstStyle/>
          <a:p>
            <a:endParaRPr lang="en-AU" dirty="0"/>
          </a:p>
        </p:txBody>
      </p:sp>
      <p:sp>
        <p:nvSpPr>
          <p:cNvPr id="39" name="Shape 21">
            <a:extLst>
              <a:ext uri="{FF2B5EF4-FFF2-40B4-BE49-F238E27FC236}">
                <a16:creationId xmlns:a16="http://schemas.microsoft.com/office/drawing/2014/main" id="{90EB3E9A-DD65-4A77-A7D8-C7389390B145}"/>
              </a:ext>
            </a:extLst>
          </p:cNvPr>
          <p:cNvSpPr/>
          <p:nvPr/>
        </p:nvSpPr>
        <p:spPr>
          <a:xfrm>
            <a:off x="5501640" y="3137427"/>
            <a:ext cx="0" cy="329184"/>
          </a:xfrm>
          <a:prstGeom prst="line">
            <a:avLst/>
          </a:prstGeom>
          <a:noFill/>
          <a:ln w="19050">
            <a:solidFill>
              <a:schemeClr val="tx1"/>
            </a:solidFill>
            <a:prstDash val="solid"/>
          </a:ln>
        </p:spPr>
      </p:sp>
      <p:sp>
        <p:nvSpPr>
          <p:cNvPr id="40" name="Text 22">
            <a:extLst>
              <a:ext uri="{FF2B5EF4-FFF2-40B4-BE49-F238E27FC236}">
                <a16:creationId xmlns:a16="http://schemas.microsoft.com/office/drawing/2014/main" id="{0DD25BC1-BC8D-4C5A-8E97-8E45FD3F2062}"/>
              </a:ext>
            </a:extLst>
          </p:cNvPr>
          <p:cNvSpPr/>
          <p:nvPr/>
        </p:nvSpPr>
        <p:spPr>
          <a:xfrm>
            <a:off x="563880" y="2799099"/>
            <a:ext cx="2011680" cy="274320"/>
          </a:xfrm>
          <a:prstGeom prst="rect">
            <a:avLst/>
          </a:prstGeom>
          <a:noFill/>
          <a:ln/>
        </p:spPr>
        <p:txBody>
          <a:bodyPr wrap="square" lIns="635" tIns="635" rIns="635" bIns="635" rtlCol="0" anchor="ctr">
            <a:normAutofit fontScale="92500" lnSpcReduction="20000"/>
          </a:bodyPr>
          <a:lstStyle/>
          <a:p>
            <a:pPr marL="0" indent="0" algn="l">
              <a:buNone/>
            </a:pPr>
            <a:r>
              <a:rPr lang="en-US" sz="2400" dirty="0">
                <a:solidFill>
                  <a:srgbClr val="FFFFFF"/>
                </a:solidFill>
              </a:rPr>
              <a:t>negative noise</a:t>
            </a:r>
          </a:p>
        </p:txBody>
      </p:sp>
      <p:sp>
        <p:nvSpPr>
          <p:cNvPr id="41" name="Text 23">
            <a:extLst>
              <a:ext uri="{FF2B5EF4-FFF2-40B4-BE49-F238E27FC236}">
                <a16:creationId xmlns:a16="http://schemas.microsoft.com/office/drawing/2014/main" id="{58591D1A-C598-473A-BC3A-336490C63CFC}"/>
              </a:ext>
            </a:extLst>
          </p:cNvPr>
          <p:cNvSpPr/>
          <p:nvPr/>
        </p:nvSpPr>
        <p:spPr>
          <a:xfrm>
            <a:off x="5341620" y="2725947"/>
            <a:ext cx="320040" cy="274320"/>
          </a:xfrm>
          <a:prstGeom prst="rect">
            <a:avLst/>
          </a:prstGeom>
          <a:noFill/>
          <a:ln/>
        </p:spPr>
        <p:txBody>
          <a:bodyPr wrap="square" lIns="635" tIns="635" rIns="635" bIns="635" rtlCol="0" anchor="ctr">
            <a:normAutofit fontScale="92500" lnSpcReduction="20000"/>
          </a:bodyPr>
          <a:lstStyle/>
          <a:p>
            <a:pPr marL="0" indent="0" algn="ctr">
              <a:buNone/>
            </a:pPr>
            <a:r>
              <a:rPr lang="en-US" sz="2200" dirty="0">
                <a:solidFill>
                  <a:srgbClr val="FFFFFF"/>
                </a:solidFill>
              </a:rPr>
              <a:t>0</a:t>
            </a:r>
          </a:p>
        </p:txBody>
      </p:sp>
      <p:sp>
        <p:nvSpPr>
          <p:cNvPr id="42" name="Text 24">
            <a:extLst>
              <a:ext uri="{FF2B5EF4-FFF2-40B4-BE49-F238E27FC236}">
                <a16:creationId xmlns:a16="http://schemas.microsoft.com/office/drawing/2014/main" id="{CE9EBFB8-0FDF-40B1-87DD-421241CE9E0F}"/>
              </a:ext>
            </a:extLst>
          </p:cNvPr>
          <p:cNvSpPr/>
          <p:nvPr/>
        </p:nvSpPr>
        <p:spPr>
          <a:xfrm>
            <a:off x="9042400" y="2788609"/>
            <a:ext cx="2011680" cy="274320"/>
          </a:xfrm>
          <a:prstGeom prst="rect">
            <a:avLst/>
          </a:prstGeom>
          <a:noFill/>
          <a:ln/>
        </p:spPr>
        <p:txBody>
          <a:bodyPr wrap="square" lIns="635" tIns="635" rIns="635" bIns="635" rtlCol="0" anchor="ctr">
            <a:normAutofit fontScale="92500" lnSpcReduction="20000"/>
          </a:bodyPr>
          <a:lstStyle/>
          <a:p>
            <a:pPr marL="0" indent="0" algn="r">
              <a:buNone/>
            </a:pPr>
            <a:r>
              <a:rPr lang="en-US" sz="2200" dirty="0">
                <a:solidFill>
                  <a:srgbClr val="FFFFFF"/>
                </a:solidFill>
              </a:rPr>
              <a:t>positive noise</a:t>
            </a:r>
          </a:p>
        </p:txBody>
      </p:sp>
    </p:spTree>
    <p:extLst>
      <p:ext uri="{BB962C8B-B14F-4D97-AF65-F5344CB8AC3E}">
        <p14:creationId xmlns:p14="http://schemas.microsoft.com/office/powerpoint/2010/main" val="27690868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8CEF55D9-8D46-49C6-B1C5-82F29BD30121}"/>
              </a:ext>
            </a:extLst>
          </p:cNvPr>
          <p:cNvSpPr txBox="1"/>
          <p:nvPr/>
        </p:nvSpPr>
        <p:spPr>
          <a:xfrm>
            <a:off x="228600" y="54864"/>
            <a:ext cx="11475720" cy="670953"/>
          </a:xfrm>
          <a:prstGeom prst="rect">
            <a:avLst/>
          </a:prstGeom>
          <a:noFill/>
        </p:spPr>
        <p:txBody>
          <a:bodyPr wrap="square" lIns="45720" tIns="27432" rIns="45720" bIns="27432">
            <a:spAutoFit/>
          </a:bodyPr>
          <a:lstStyle/>
          <a:p>
            <a:pPr algn="ctr"/>
            <a:r>
              <a:rPr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Laplace</a:t>
            </a:r>
            <a:r>
              <a:rPr lang="en-AU"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-based</a:t>
            </a:r>
            <a:r>
              <a:rPr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 </a:t>
            </a:r>
            <a:r>
              <a:rPr lang="en-AU"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N</a:t>
            </a:r>
            <a:r>
              <a:rPr sz="4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oise</a:t>
            </a:r>
            <a:endParaRPr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endParaRPr>
          </a:p>
        </p:txBody>
      </p:sp>
      <p:sp>
        <p:nvSpPr>
          <p:cNvPr id="21" name="TextBox 20">
            <a:extLst>
              <a:ext uri="{FF2B5EF4-FFF2-40B4-BE49-F238E27FC236}">
                <a16:creationId xmlns:a16="http://schemas.microsoft.com/office/drawing/2014/main" id="{1DC5D420-4801-4F88-ACE9-355C1AE9FC95}"/>
              </a:ext>
            </a:extLst>
          </p:cNvPr>
          <p:cNvSpPr txBox="1"/>
          <p:nvPr/>
        </p:nvSpPr>
        <p:spPr>
          <a:xfrm>
            <a:off x="563880" y="835774"/>
            <a:ext cx="8186420" cy="424732"/>
          </a:xfrm>
          <a:prstGeom prst="rect">
            <a:avLst/>
          </a:prstGeom>
          <a:noFill/>
        </p:spPr>
        <p:txBody>
          <a:bodyPr wrap="square" lIns="45720" tIns="27432" rIns="45720" bIns="27432">
            <a:spAutoFit/>
          </a:bodyPr>
          <a:lstStyle/>
          <a:p>
            <a:r>
              <a:rPr sz="2400" b="0" dirty="0">
                <a:solidFill>
                  <a:srgbClr val="FFFFFF"/>
                </a:solidFill>
              </a:rPr>
              <a:t>DP output = true average + X</a:t>
            </a:r>
            <a:r>
              <a:rPr lang="en-AU" sz="2400" dirty="0">
                <a:solidFill>
                  <a:srgbClr val="FFFFFF"/>
                </a:solidFill>
              </a:rPr>
              <a:t>, </a:t>
            </a:r>
            <a:r>
              <a:rPr lang="en-AU" sz="2400" b="0" dirty="0">
                <a:solidFill>
                  <a:srgbClr val="FFFFFF"/>
                </a:solidFill>
              </a:rPr>
              <a:t>w</a:t>
            </a:r>
            <a:r>
              <a:rPr sz="2400" b="0" dirty="0">
                <a:solidFill>
                  <a:srgbClr val="FFFFFF"/>
                </a:solidFill>
              </a:rPr>
              <a:t>here X </a:t>
            </a:r>
            <a:r>
              <a:rPr lang="en-AU" sz="2400" b="0" dirty="0">
                <a:solidFill>
                  <a:srgbClr val="FFFFFF"/>
                </a:solidFill>
              </a:rPr>
              <a:t>~</a:t>
            </a:r>
            <a:r>
              <a:rPr sz="2400" b="0" dirty="0">
                <a:solidFill>
                  <a:srgbClr val="FFFFFF"/>
                </a:solidFill>
              </a:rPr>
              <a:t> Laplace(0, b)</a:t>
            </a:r>
          </a:p>
        </p:txBody>
      </p:sp>
      <p:sp>
        <p:nvSpPr>
          <p:cNvPr id="36" name="Text 7">
            <a:extLst>
              <a:ext uri="{FF2B5EF4-FFF2-40B4-BE49-F238E27FC236}">
                <a16:creationId xmlns:a16="http://schemas.microsoft.com/office/drawing/2014/main" id="{10AA87CA-1C18-4F40-84EE-BF920D865DDC}"/>
              </a:ext>
            </a:extLst>
          </p:cNvPr>
          <p:cNvSpPr/>
          <p:nvPr/>
        </p:nvSpPr>
        <p:spPr>
          <a:xfrm>
            <a:off x="563880" y="1300999"/>
            <a:ext cx="9837420" cy="547238"/>
          </a:xfrm>
          <a:prstGeom prst="rect">
            <a:avLst/>
          </a:prstGeom>
          <a:noFill/>
          <a:ln/>
        </p:spPr>
        <p:txBody>
          <a:bodyPr wrap="square" lIns="635" tIns="635" rIns="635" bIns="635" rtlCol="0" anchor="ctr">
            <a:normAutofit/>
          </a:bodyPr>
          <a:lstStyle/>
          <a:p>
            <a:pPr marL="0" indent="0" algn="l">
              <a:buNone/>
            </a:pPr>
            <a:r>
              <a:rPr lang="en-US" sz="2400" dirty="0">
                <a:solidFill>
                  <a:srgbClr val="FFFFFF"/>
                </a:solidFill>
              </a:rPr>
              <a:t>0 is the </a:t>
            </a:r>
            <a:r>
              <a:rPr lang="en-US" sz="2400" dirty="0" err="1">
                <a:solidFill>
                  <a:srgbClr val="FFFFFF"/>
                </a:solidFill>
              </a:rPr>
              <a:t>centre</a:t>
            </a:r>
            <a:r>
              <a:rPr lang="en-US" sz="2400" dirty="0">
                <a:solidFill>
                  <a:srgbClr val="FFFFFF"/>
                </a:solidFill>
              </a:rPr>
              <a:t> of the noise, so positive and negative noise are both possible</a:t>
            </a:r>
          </a:p>
        </p:txBody>
      </p:sp>
      <p:sp>
        <p:nvSpPr>
          <p:cNvPr id="37" name="Text 8">
            <a:extLst>
              <a:ext uri="{FF2B5EF4-FFF2-40B4-BE49-F238E27FC236}">
                <a16:creationId xmlns:a16="http://schemas.microsoft.com/office/drawing/2014/main" id="{134C9B0E-1740-46C2-A57D-1E5E2373CB52}"/>
              </a:ext>
            </a:extLst>
          </p:cNvPr>
          <p:cNvSpPr/>
          <p:nvPr/>
        </p:nvSpPr>
        <p:spPr>
          <a:xfrm>
            <a:off x="563880" y="1858035"/>
            <a:ext cx="9977120" cy="420624"/>
          </a:xfrm>
          <a:prstGeom prst="rect">
            <a:avLst/>
          </a:prstGeom>
          <a:noFill/>
          <a:ln/>
        </p:spPr>
        <p:txBody>
          <a:bodyPr wrap="square" lIns="635" tIns="635" rIns="635" bIns="635" rtlCol="0" anchor="ctr">
            <a:normAutofit/>
          </a:bodyPr>
          <a:lstStyle/>
          <a:p>
            <a:pPr marL="0" indent="0" algn="l">
              <a:buNone/>
            </a:pPr>
            <a:r>
              <a:rPr lang="en-US" sz="2400" dirty="0">
                <a:solidFill>
                  <a:srgbClr val="FFFFFF"/>
                </a:solidFill>
              </a:rPr>
              <a:t>b is the noise scale</a:t>
            </a:r>
          </a:p>
        </p:txBody>
      </p:sp>
      <p:sp>
        <p:nvSpPr>
          <p:cNvPr id="29" name="Shape 2">
            <a:extLst>
              <a:ext uri="{FF2B5EF4-FFF2-40B4-BE49-F238E27FC236}">
                <a16:creationId xmlns:a16="http://schemas.microsoft.com/office/drawing/2014/main" id="{8CA89AFC-8E37-4E7A-B393-ACFA7C3862CE}"/>
              </a:ext>
            </a:extLst>
          </p:cNvPr>
          <p:cNvSpPr/>
          <p:nvPr/>
        </p:nvSpPr>
        <p:spPr>
          <a:xfrm>
            <a:off x="621030" y="2583180"/>
            <a:ext cx="5468112" cy="4008120"/>
          </a:xfrm>
          <a:prstGeom prst="roundRect">
            <a:avLst>
              <a:gd name="adj" fmla="val 1975"/>
            </a:avLst>
          </a:prstGeom>
          <a:solidFill>
            <a:schemeClr val="tx1"/>
          </a:solidFill>
          <a:ln w="13970">
            <a:solidFill>
              <a:srgbClr val="DCC69F"/>
            </a:solidFill>
            <a:prstDash val="solid"/>
          </a:ln>
        </p:spPr>
      </p:sp>
      <p:sp>
        <p:nvSpPr>
          <p:cNvPr id="31" name="Text 5">
            <a:extLst>
              <a:ext uri="{FF2B5EF4-FFF2-40B4-BE49-F238E27FC236}">
                <a16:creationId xmlns:a16="http://schemas.microsoft.com/office/drawing/2014/main" id="{2B998504-D453-46B6-934A-0A5E79223B91}"/>
              </a:ext>
            </a:extLst>
          </p:cNvPr>
          <p:cNvSpPr/>
          <p:nvPr/>
        </p:nvSpPr>
        <p:spPr>
          <a:xfrm>
            <a:off x="941070" y="2866644"/>
            <a:ext cx="2011680" cy="320040"/>
          </a:xfrm>
          <a:prstGeom prst="rect">
            <a:avLst/>
          </a:prstGeom>
          <a:noFill/>
          <a:ln/>
        </p:spPr>
        <p:txBody>
          <a:bodyPr wrap="square" lIns="0" tIns="0" rIns="0" bIns="0" rtlCol="0" anchor="ctr"/>
          <a:lstStyle/>
          <a:p>
            <a:pPr marL="0" indent="0">
              <a:buNone/>
            </a:pPr>
            <a:r>
              <a:rPr lang="en-US" sz="2400" b="1" dirty="0">
                <a:solidFill>
                  <a:srgbClr val="8B4A13"/>
                </a:solidFill>
              </a:rPr>
              <a:t>Smaller b</a:t>
            </a:r>
            <a:endParaRPr lang="en-US" sz="2400" dirty="0"/>
          </a:p>
        </p:txBody>
      </p:sp>
      <p:sp>
        <p:nvSpPr>
          <p:cNvPr id="32" name="Text 6">
            <a:extLst>
              <a:ext uri="{FF2B5EF4-FFF2-40B4-BE49-F238E27FC236}">
                <a16:creationId xmlns:a16="http://schemas.microsoft.com/office/drawing/2014/main" id="{C77560CB-9BD1-45D8-8984-D07E55A990E7}"/>
              </a:ext>
            </a:extLst>
          </p:cNvPr>
          <p:cNvSpPr/>
          <p:nvPr/>
        </p:nvSpPr>
        <p:spPr>
          <a:xfrm>
            <a:off x="941070" y="3287268"/>
            <a:ext cx="4206240" cy="1188720"/>
          </a:xfrm>
          <a:prstGeom prst="rect">
            <a:avLst/>
          </a:prstGeom>
          <a:noFill/>
          <a:ln/>
        </p:spPr>
        <p:txBody>
          <a:bodyPr wrap="square" lIns="381" tIns="381" rIns="381" bIns="381" rtlCol="0" anchor="ctr">
            <a:normAutofit fontScale="92500" lnSpcReduction="20000"/>
          </a:bodyPr>
          <a:lstStyle/>
          <a:p>
            <a:r>
              <a:rPr lang="en-US" sz="2400" b="1" dirty="0">
                <a:solidFill>
                  <a:srgbClr val="182231"/>
                </a:solidFill>
                <a:ea typeface="Arial" pitchFamily="34" charset="-122"/>
                <a:cs typeface="Arial" pitchFamily="34" charset="-120"/>
              </a:rPr>
              <a:t>Noise stays closer to 0</a:t>
            </a:r>
            <a:endParaRPr lang="en-US" sz="2400" b="1" dirty="0"/>
          </a:p>
          <a:p>
            <a:r>
              <a:rPr lang="en-US" sz="2400" b="1" dirty="0">
                <a:solidFill>
                  <a:srgbClr val="182231"/>
                </a:solidFill>
                <a:ea typeface="Arial" pitchFamily="34" charset="-122"/>
                <a:cs typeface="Arial" pitchFamily="34" charset="-120"/>
              </a:rPr>
              <a:t>Less spread-out noise</a:t>
            </a:r>
            <a:endParaRPr lang="en-US" sz="2400" b="1" dirty="0"/>
          </a:p>
          <a:p>
            <a:r>
              <a:rPr lang="en-US" sz="2400" b="1" dirty="0">
                <a:solidFill>
                  <a:srgbClr val="182231"/>
                </a:solidFill>
                <a:ea typeface="Arial" pitchFamily="34" charset="-122"/>
                <a:cs typeface="Arial" pitchFamily="34" charset="-120"/>
              </a:rPr>
              <a:t>Weaker privacy</a:t>
            </a:r>
            <a:endParaRPr lang="en-US" sz="2400" b="1" dirty="0"/>
          </a:p>
          <a:p>
            <a:r>
              <a:rPr lang="en-US" sz="2400" b="1" dirty="0">
                <a:solidFill>
                  <a:srgbClr val="182231"/>
                </a:solidFill>
                <a:ea typeface="Arial" pitchFamily="34" charset="-122"/>
                <a:cs typeface="Arial" pitchFamily="34" charset="-120"/>
              </a:rPr>
              <a:t>Usually better accuracy</a:t>
            </a:r>
            <a:endParaRPr lang="en-US" sz="1550" b="1" dirty="0"/>
          </a:p>
        </p:txBody>
      </p:sp>
      <p:sp>
        <p:nvSpPr>
          <p:cNvPr id="20" name="Text 5">
            <a:extLst>
              <a:ext uri="{FF2B5EF4-FFF2-40B4-BE49-F238E27FC236}">
                <a16:creationId xmlns:a16="http://schemas.microsoft.com/office/drawing/2014/main" id="{240EEA66-DCC9-4EFE-BAD8-AFCD696AE045}"/>
              </a:ext>
            </a:extLst>
          </p:cNvPr>
          <p:cNvSpPr/>
          <p:nvPr/>
        </p:nvSpPr>
        <p:spPr>
          <a:xfrm>
            <a:off x="931926" y="5832348"/>
            <a:ext cx="256032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8B4A13"/>
                </a:solidFill>
              </a:rPr>
              <a:t>e.g., b = 1</a:t>
            </a:r>
            <a:endParaRPr lang="en-US" sz="2400" dirty="0"/>
          </a:p>
        </p:txBody>
      </p:sp>
      <p:sp>
        <p:nvSpPr>
          <p:cNvPr id="22" name="Text 6">
            <a:extLst>
              <a:ext uri="{FF2B5EF4-FFF2-40B4-BE49-F238E27FC236}">
                <a16:creationId xmlns:a16="http://schemas.microsoft.com/office/drawing/2014/main" id="{C9A9BDAA-6E2C-4891-8038-E666FFB01785}"/>
              </a:ext>
            </a:extLst>
          </p:cNvPr>
          <p:cNvSpPr/>
          <p:nvPr/>
        </p:nvSpPr>
        <p:spPr>
          <a:xfrm>
            <a:off x="931926" y="6188964"/>
            <a:ext cx="2286000" cy="2286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dirty="0">
                <a:solidFill>
                  <a:srgbClr val="182231"/>
                </a:solidFill>
              </a:rPr>
              <a:t>noise values:</a:t>
            </a:r>
            <a:endParaRPr lang="en-US" sz="2400" dirty="0"/>
          </a:p>
        </p:txBody>
      </p:sp>
      <p:sp>
        <p:nvSpPr>
          <p:cNvPr id="23" name="Text 7">
            <a:extLst>
              <a:ext uri="{FF2B5EF4-FFF2-40B4-BE49-F238E27FC236}">
                <a16:creationId xmlns:a16="http://schemas.microsoft.com/office/drawing/2014/main" id="{E9BB1322-7029-4FBE-A0EC-0E27E81AA8D0}"/>
              </a:ext>
            </a:extLst>
          </p:cNvPr>
          <p:cNvSpPr/>
          <p:nvPr/>
        </p:nvSpPr>
        <p:spPr>
          <a:xfrm>
            <a:off x="2592326" y="6164580"/>
            <a:ext cx="356616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8B4A13"/>
                </a:solidFill>
              </a:rPr>
              <a:t>-0.4,  0.2,  0.8,  -1.1</a:t>
            </a:r>
            <a:endParaRPr lang="en-US" sz="2400" dirty="0"/>
          </a:p>
        </p:txBody>
      </p:sp>
      <p:pic>
        <p:nvPicPr>
          <p:cNvPr id="3" name="Picture 2">
            <a:extLst>
              <a:ext uri="{FF2B5EF4-FFF2-40B4-BE49-F238E27FC236}">
                <a16:creationId xmlns:a16="http://schemas.microsoft.com/office/drawing/2014/main" id="{7B9CE533-B05A-48F4-A15B-E2003A0E5D38}"/>
              </a:ext>
            </a:extLst>
          </p:cNvPr>
          <p:cNvPicPr>
            <a:picLocks noChangeAspect="1"/>
          </p:cNvPicPr>
          <p:nvPr/>
        </p:nvPicPr>
        <p:blipFill>
          <a:blip r:embed="rId3"/>
          <a:stretch>
            <a:fillRect/>
          </a:stretch>
        </p:blipFill>
        <p:spPr>
          <a:xfrm>
            <a:off x="825116" y="4547057"/>
            <a:ext cx="5141344" cy="1128133"/>
          </a:xfrm>
          <a:prstGeom prst="rect">
            <a:avLst/>
          </a:prstGeom>
        </p:spPr>
      </p:pic>
    </p:spTree>
    <p:extLst>
      <p:ext uri="{BB962C8B-B14F-4D97-AF65-F5344CB8AC3E}">
        <p14:creationId xmlns:p14="http://schemas.microsoft.com/office/powerpoint/2010/main" val="41729866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8CEF55D9-8D46-49C6-B1C5-82F29BD30121}"/>
              </a:ext>
            </a:extLst>
          </p:cNvPr>
          <p:cNvSpPr txBox="1"/>
          <p:nvPr/>
        </p:nvSpPr>
        <p:spPr>
          <a:xfrm>
            <a:off x="228600" y="54864"/>
            <a:ext cx="11475720" cy="670953"/>
          </a:xfrm>
          <a:prstGeom prst="rect">
            <a:avLst/>
          </a:prstGeom>
          <a:noFill/>
        </p:spPr>
        <p:txBody>
          <a:bodyPr wrap="square" lIns="45720" tIns="27432" rIns="45720" bIns="27432">
            <a:spAutoFit/>
          </a:bodyPr>
          <a:lstStyle/>
          <a:p>
            <a:pPr algn="ctr"/>
            <a:r>
              <a:rPr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Laplace</a:t>
            </a:r>
            <a:r>
              <a:rPr lang="en-AU"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-based</a:t>
            </a:r>
            <a:r>
              <a:rPr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 </a:t>
            </a:r>
            <a:r>
              <a:rPr lang="en-AU"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N</a:t>
            </a:r>
            <a:r>
              <a:rPr sz="4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oise</a:t>
            </a:r>
            <a:endParaRPr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endParaRPr>
          </a:p>
        </p:txBody>
      </p:sp>
      <p:sp>
        <p:nvSpPr>
          <p:cNvPr id="21" name="TextBox 20">
            <a:extLst>
              <a:ext uri="{FF2B5EF4-FFF2-40B4-BE49-F238E27FC236}">
                <a16:creationId xmlns:a16="http://schemas.microsoft.com/office/drawing/2014/main" id="{1DC5D420-4801-4F88-ACE9-355C1AE9FC95}"/>
              </a:ext>
            </a:extLst>
          </p:cNvPr>
          <p:cNvSpPr txBox="1"/>
          <p:nvPr/>
        </p:nvSpPr>
        <p:spPr>
          <a:xfrm>
            <a:off x="563880" y="816724"/>
            <a:ext cx="8186420" cy="424732"/>
          </a:xfrm>
          <a:prstGeom prst="rect">
            <a:avLst/>
          </a:prstGeom>
          <a:noFill/>
        </p:spPr>
        <p:txBody>
          <a:bodyPr wrap="square" lIns="45720" tIns="27432" rIns="45720" bIns="27432">
            <a:spAutoFit/>
          </a:bodyPr>
          <a:lstStyle/>
          <a:p>
            <a:r>
              <a:rPr sz="2400" b="0" dirty="0">
                <a:solidFill>
                  <a:srgbClr val="FFFFFF"/>
                </a:solidFill>
              </a:rPr>
              <a:t>DP output = true average + X</a:t>
            </a:r>
            <a:r>
              <a:rPr lang="en-AU" sz="2400" dirty="0">
                <a:solidFill>
                  <a:srgbClr val="FFFFFF"/>
                </a:solidFill>
              </a:rPr>
              <a:t>, </a:t>
            </a:r>
            <a:r>
              <a:rPr lang="en-AU" sz="2400" b="0" dirty="0">
                <a:solidFill>
                  <a:srgbClr val="FFFFFF"/>
                </a:solidFill>
              </a:rPr>
              <a:t>w</a:t>
            </a:r>
            <a:r>
              <a:rPr sz="2400" b="0" dirty="0">
                <a:solidFill>
                  <a:srgbClr val="FFFFFF"/>
                </a:solidFill>
              </a:rPr>
              <a:t>here X </a:t>
            </a:r>
            <a:r>
              <a:rPr lang="en-AU" sz="2400" b="0" dirty="0">
                <a:solidFill>
                  <a:srgbClr val="FFFFFF"/>
                </a:solidFill>
              </a:rPr>
              <a:t>~</a:t>
            </a:r>
            <a:r>
              <a:rPr sz="2400" b="0" dirty="0">
                <a:solidFill>
                  <a:srgbClr val="FFFFFF"/>
                </a:solidFill>
              </a:rPr>
              <a:t> Laplace(0, b)</a:t>
            </a:r>
          </a:p>
        </p:txBody>
      </p:sp>
      <p:sp>
        <p:nvSpPr>
          <p:cNvPr id="36" name="Text 7">
            <a:extLst>
              <a:ext uri="{FF2B5EF4-FFF2-40B4-BE49-F238E27FC236}">
                <a16:creationId xmlns:a16="http://schemas.microsoft.com/office/drawing/2014/main" id="{10AA87CA-1C18-4F40-84EE-BF920D865DDC}"/>
              </a:ext>
            </a:extLst>
          </p:cNvPr>
          <p:cNvSpPr/>
          <p:nvPr/>
        </p:nvSpPr>
        <p:spPr>
          <a:xfrm>
            <a:off x="563880" y="1281949"/>
            <a:ext cx="9837420" cy="547238"/>
          </a:xfrm>
          <a:prstGeom prst="rect">
            <a:avLst/>
          </a:prstGeom>
          <a:noFill/>
          <a:ln/>
        </p:spPr>
        <p:txBody>
          <a:bodyPr wrap="square" lIns="635" tIns="635" rIns="635" bIns="635" rtlCol="0" anchor="ctr">
            <a:normAutofit/>
          </a:bodyPr>
          <a:lstStyle/>
          <a:p>
            <a:pPr marL="0" indent="0" algn="l">
              <a:buNone/>
            </a:pPr>
            <a:r>
              <a:rPr lang="en-US" sz="2400" dirty="0">
                <a:solidFill>
                  <a:srgbClr val="FFFFFF"/>
                </a:solidFill>
              </a:rPr>
              <a:t>0 is the </a:t>
            </a:r>
            <a:r>
              <a:rPr lang="en-US" sz="2400" dirty="0" err="1">
                <a:solidFill>
                  <a:srgbClr val="FFFFFF"/>
                </a:solidFill>
              </a:rPr>
              <a:t>centre</a:t>
            </a:r>
            <a:r>
              <a:rPr lang="en-US" sz="2400" dirty="0">
                <a:solidFill>
                  <a:srgbClr val="FFFFFF"/>
                </a:solidFill>
              </a:rPr>
              <a:t> of the noise, so positive and negative noise are both possible</a:t>
            </a:r>
          </a:p>
        </p:txBody>
      </p:sp>
      <p:sp>
        <p:nvSpPr>
          <p:cNvPr id="37" name="Text 8">
            <a:extLst>
              <a:ext uri="{FF2B5EF4-FFF2-40B4-BE49-F238E27FC236}">
                <a16:creationId xmlns:a16="http://schemas.microsoft.com/office/drawing/2014/main" id="{134C9B0E-1740-46C2-A57D-1E5E2373CB52}"/>
              </a:ext>
            </a:extLst>
          </p:cNvPr>
          <p:cNvSpPr/>
          <p:nvPr/>
        </p:nvSpPr>
        <p:spPr>
          <a:xfrm>
            <a:off x="563880" y="1838985"/>
            <a:ext cx="9977120" cy="420624"/>
          </a:xfrm>
          <a:prstGeom prst="rect">
            <a:avLst/>
          </a:prstGeom>
          <a:noFill/>
          <a:ln/>
        </p:spPr>
        <p:txBody>
          <a:bodyPr wrap="square" lIns="635" tIns="635" rIns="635" bIns="635" rtlCol="0" anchor="ctr">
            <a:normAutofit/>
          </a:bodyPr>
          <a:lstStyle/>
          <a:p>
            <a:pPr marL="0" indent="0" algn="l">
              <a:buNone/>
            </a:pPr>
            <a:r>
              <a:rPr lang="en-US" sz="2400" dirty="0">
                <a:solidFill>
                  <a:srgbClr val="FFFFFF"/>
                </a:solidFill>
              </a:rPr>
              <a:t>b is the noise scale</a:t>
            </a:r>
          </a:p>
        </p:txBody>
      </p:sp>
      <p:sp>
        <p:nvSpPr>
          <p:cNvPr id="29" name="Shape 2">
            <a:extLst>
              <a:ext uri="{FF2B5EF4-FFF2-40B4-BE49-F238E27FC236}">
                <a16:creationId xmlns:a16="http://schemas.microsoft.com/office/drawing/2014/main" id="{8CA89AFC-8E37-4E7A-B393-ACFA7C3862CE}"/>
              </a:ext>
            </a:extLst>
          </p:cNvPr>
          <p:cNvSpPr/>
          <p:nvPr/>
        </p:nvSpPr>
        <p:spPr>
          <a:xfrm>
            <a:off x="621030" y="2526030"/>
            <a:ext cx="5468112" cy="4008120"/>
          </a:xfrm>
          <a:prstGeom prst="roundRect">
            <a:avLst>
              <a:gd name="adj" fmla="val 1975"/>
            </a:avLst>
          </a:prstGeom>
          <a:solidFill>
            <a:srgbClr val="FFFFFF"/>
          </a:solidFill>
          <a:ln w="13970">
            <a:solidFill>
              <a:srgbClr val="DCC69F"/>
            </a:solidFill>
            <a:prstDash val="solid"/>
          </a:ln>
        </p:spPr>
      </p:sp>
      <p:sp>
        <p:nvSpPr>
          <p:cNvPr id="30" name="Shape 3">
            <a:extLst>
              <a:ext uri="{FF2B5EF4-FFF2-40B4-BE49-F238E27FC236}">
                <a16:creationId xmlns:a16="http://schemas.microsoft.com/office/drawing/2014/main" id="{E5501F06-49FF-4856-A7F9-4C414A35E4F3}"/>
              </a:ext>
            </a:extLst>
          </p:cNvPr>
          <p:cNvSpPr/>
          <p:nvPr/>
        </p:nvSpPr>
        <p:spPr>
          <a:xfrm>
            <a:off x="6491478" y="2526030"/>
            <a:ext cx="5010912" cy="4008120"/>
          </a:xfrm>
          <a:prstGeom prst="roundRect">
            <a:avLst>
              <a:gd name="adj" fmla="val 1975"/>
            </a:avLst>
          </a:prstGeom>
          <a:solidFill>
            <a:srgbClr val="FFFFFF"/>
          </a:solidFill>
          <a:ln w="13970">
            <a:solidFill>
              <a:srgbClr val="DCC69F"/>
            </a:solidFill>
            <a:prstDash val="solid"/>
          </a:ln>
        </p:spPr>
      </p:sp>
      <p:sp>
        <p:nvSpPr>
          <p:cNvPr id="31" name="Text 5">
            <a:extLst>
              <a:ext uri="{FF2B5EF4-FFF2-40B4-BE49-F238E27FC236}">
                <a16:creationId xmlns:a16="http://schemas.microsoft.com/office/drawing/2014/main" id="{2B998504-D453-46B6-934A-0A5E79223B91}"/>
              </a:ext>
            </a:extLst>
          </p:cNvPr>
          <p:cNvSpPr/>
          <p:nvPr/>
        </p:nvSpPr>
        <p:spPr>
          <a:xfrm>
            <a:off x="941070" y="2809494"/>
            <a:ext cx="2011680" cy="320040"/>
          </a:xfrm>
          <a:prstGeom prst="rect">
            <a:avLst/>
          </a:prstGeom>
          <a:noFill/>
          <a:ln/>
        </p:spPr>
        <p:txBody>
          <a:bodyPr wrap="square" lIns="0" tIns="0" rIns="0" bIns="0" rtlCol="0" anchor="ctr"/>
          <a:lstStyle/>
          <a:p>
            <a:pPr marL="0" indent="0">
              <a:buNone/>
            </a:pPr>
            <a:r>
              <a:rPr lang="en-US" sz="2400" b="1" dirty="0">
                <a:solidFill>
                  <a:srgbClr val="8B4A13"/>
                </a:solidFill>
              </a:rPr>
              <a:t>Smaller b</a:t>
            </a:r>
            <a:endParaRPr lang="en-US" sz="2400" dirty="0"/>
          </a:p>
        </p:txBody>
      </p:sp>
      <p:sp>
        <p:nvSpPr>
          <p:cNvPr id="32" name="Text 6">
            <a:extLst>
              <a:ext uri="{FF2B5EF4-FFF2-40B4-BE49-F238E27FC236}">
                <a16:creationId xmlns:a16="http://schemas.microsoft.com/office/drawing/2014/main" id="{C77560CB-9BD1-45D8-8984-D07E55A990E7}"/>
              </a:ext>
            </a:extLst>
          </p:cNvPr>
          <p:cNvSpPr/>
          <p:nvPr/>
        </p:nvSpPr>
        <p:spPr>
          <a:xfrm>
            <a:off x="941070" y="3230118"/>
            <a:ext cx="4206240" cy="1188720"/>
          </a:xfrm>
          <a:prstGeom prst="rect">
            <a:avLst/>
          </a:prstGeom>
          <a:noFill/>
          <a:ln/>
        </p:spPr>
        <p:txBody>
          <a:bodyPr wrap="square" lIns="381" tIns="381" rIns="381" bIns="381" rtlCol="0" anchor="ctr">
            <a:normAutofit fontScale="92500" lnSpcReduction="20000"/>
          </a:bodyPr>
          <a:lstStyle/>
          <a:p>
            <a:r>
              <a:rPr lang="en-US" sz="2400" b="1" dirty="0">
                <a:solidFill>
                  <a:srgbClr val="182231"/>
                </a:solidFill>
                <a:ea typeface="Arial" pitchFamily="34" charset="-122"/>
                <a:cs typeface="Arial" pitchFamily="34" charset="-120"/>
              </a:rPr>
              <a:t>Noise stays closer to 0</a:t>
            </a:r>
            <a:endParaRPr lang="en-US" sz="2400" b="1" dirty="0"/>
          </a:p>
          <a:p>
            <a:r>
              <a:rPr lang="en-US" sz="2400" b="1" dirty="0">
                <a:solidFill>
                  <a:srgbClr val="182231"/>
                </a:solidFill>
                <a:ea typeface="Arial" pitchFamily="34" charset="-122"/>
                <a:cs typeface="Arial" pitchFamily="34" charset="-120"/>
              </a:rPr>
              <a:t>Less spread-out noise</a:t>
            </a:r>
            <a:endParaRPr lang="en-US" sz="2400" b="1" dirty="0"/>
          </a:p>
          <a:p>
            <a:r>
              <a:rPr lang="en-US" sz="2400" b="1" dirty="0">
                <a:solidFill>
                  <a:srgbClr val="182231"/>
                </a:solidFill>
                <a:ea typeface="Arial" pitchFamily="34" charset="-122"/>
                <a:cs typeface="Arial" pitchFamily="34" charset="-120"/>
              </a:rPr>
              <a:t>Weaker privacy</a:t>
            </a:r>
            <a:endParaRPr lang="en-US" sz="2400" b="1" dirty="0"/>
          </a:p>
          <a:p>
            <a:r>
              <a:rPr lang="en-US" sz="2400" b="1" dirty="0">
                <a:solidFill>
                  <a:srgbClr val="182231"/>
                </a:solidFill>
                <a:ea typeface="Arial" pitchFamily="34" charset="-122"/>
                <a:cs typeface="Arial" pitchFamily="34" charset="-120"/>
              </a:rPr>
              <a:t>Usually better accuracy</a:t>
            </a:r>
            <a:endParaRPr lang="en-US" sz="1550" b="1" dirty="0"/>
          </a:p>
        </p:txBody>
      </p:sp>
      <p:sp>
        <p:nvSpPr>
          <p:cNvPr id="35" name="Shape 8">
            <a:extLst>
              <a:ext uri="{FF2B5EF4-FFF2-40B4-BE49-F238E27FC236}">
                <a16:creationId xmlns:a16="http://schemas.microsoft.com/office/drawing/2014/main" id="{16F0CFE6-9426-483E-B753-BCE290AB93B0}"/>
              </a:ext>
            </a:extLst>
          </p:cNvPr>
          <p:cNvSpPr/>
          <p:nvPr/>
        </p:nvSpPr>
        <p:spPr>
          <a:xfrm>
            <a:off x="3355086" y="5250942"/>
            <a:ext cx="0" cy="201168"/>
          </a:xfrm>
          <a:prstGeom prst="line">
            <a:avLst/>
          </a:prstGeom>
          <a:noFill/>
          <a:ln w="13970">
            <a:solidFill>
              <a:srgbClr val="5F6B7A"/>
            </a:solidFill>
            <a:prstDash val="solid"/>
          </a:ln>
        </p:spPr>
      </p:sp>
      <p:sp>
        <p:nvSpPr>
          <p:cNvPr id="45" name="Text 11">
            <a:extLst>
              <a:ext uri="{FF2B5EF4-FFF2-40B4-BE49-F238E27FC236}">
                <a16:creationId xmlns:a16="http://schemas.microsoft.com/office/drawing/2014/main" id="{96E655BA-10A0-48CB-A499-06ADB5CE0304}"/>
              </a:ext>
            </a:extLst>
          </p:cNvPr>
          <p:cNvSpPr/>
          <p:nvPr/>
        </p:nvSpPr>
        <p:spPr>
          <a:xfrm>
            <a:off x="6820662" y="2809494"/>
            <a:ext cx="2011680" cy="320040"/>
          </a:xfrm>
          <a:prstGeom prst="rect">
            <a:avLst/>
          </a:prstGeom>
          <a:noFill/>
          <a:ln/>
        </p:spPr>
        <p:txBody>
          <a:bodyPr wrap="square" lIns="0" tIns="0" rIns="0" bIns="0" rtlCol="0" anchor="ctr"/>
          <a:lstStyle/>
          <a:p>
            <a:pPr marL="0" indent="0">
              <a:buNone/>
            </a:pPr>
            <a:r>
              <a:rPr lang="en-US" sz="2400" b="1" dirty="0">
                <a:solidFill>
                  <a:srgbClr val="8B4A13"/>
                </a:solidFill>
              </a:rPr>
              <a:t>Larger b</a:t>
            </a:r>
            <a:endParaRPr lang="en-US" sz="2400" dirty="0"/>
          </a:p>
        </p:txBody>
      </p:sp>
      <p:sp>
        <p:nvSpPr>
          <p:cNvPr id="46" name="Text 12">
            <a:extLst>
              <a:ext uri="{FF2B5EF4-FFF2-40B4-BE49-F238E27FC236}">
                <a16:creationId xmlns:a16="http://schemas.microsoft.com/office/drawing/2014/main" id="{06160D14-63FA-443B-9FBF-44448DC991BD}"/>
              </a:ext>
            </a:extLst>
          </p:cNvPr>
          <p:cNvSpPr/>
          <p:nvPr/>
        </p:nvSpPr>
        <p:spPr>
          <a:xfrm>
            <a:off x="6820662" y="3230118"/>
            <a:ext cx="4206240" cy="1188720"/>
          </a:xfrm>
          <a:prstGeom prst="rect">
            <a:avLst/>
          </a:prstGeom>
          <a:noFill/>
          <a:ln/>
        </p:spPr>
        <p:txBody>
          <a:bodyPr wrap="square" lIns="381" tIns="381" rIns="381" bIns="381" rtlCol="0" anchor="ctr">
            <a:normAutofit fontScale="92500" lnSpcReduction="20000"/>
          </a:bodyPr>
          <a:lstStyle/>
          <a:p>
            <a:r>
              <a:rPr lang="en-US" sz="2400" b="1" dirty="0">
                <a:solidFill>
                  <a:srgbClr val="182231"/>
                </a:solidFill>
                <a:ea typeface="Arial" pitchFamily="34" charset="-122"/>
                <a:cs typeface="Arial" pitchFamily="34" charset="-120"/>
              </a:rPr>
              <a:t>Noise can be farther from 0</a:t>
            </a:r>
            <a:endParaRPr lang="en-US" sz="2400" b="1" dirty="0"/>
          </a:p>
          <a:p>
            <a:r>
              <a:rPr lang="en-US" sz="2400" b="1" dirty="0">
                <a:solidFill>
                  <a:srgbClr val="182231"/>
                </a:solidFill>
                <a:ea typeface="Arial" pitchFamily="34" charset="-122"/>
                <a:cs typeface="Arial" pitchFamily="34" charset="-120"/>
              </a:rPr>
              <a:t>More spread-out noise</a:t>
            </a:r>
            <a:endParaRPr lang="en-US" sz="2400" b="1" dirty="0"/>
          </a:p>
          <a:p>
            <a:r>
              <a:rPr lang="en-US" sz="2400" b="1" dirty="0">
                <a:solidFill>
                  <a:srgbClr val="182231"/>
                </a:solidFill>
                <a:ea typeface="Arial" pitchFamily="34" charset="-122"/>
                <a:cs typeface="Arial" pitchFamily="34" charset="-120"/>
              </a:rPr>
              <a:t>Stronger privacy</a:t>
            </a:r>
            <a:endParaRPr lang="en-US" sz="2400" b="1" dirty="0"/>
          </a:p>
          <a:p>
            <a:r>
              <a:rPr lang="en-US" sz="2400" b="1" dirty="0">
                <a:solidFill>
                  <a:srgbClr val="182231"/>
                </a:solidFill>
                <a:ea typeface="Arial" pitchFamily="34" charset="-122"/>
                <a:cs typeface="Arial" pitchFamily="34" charset="-120"/>
              </a:rPr>
              <a:t>Usually lower accuracy</a:t>
            </a:r>
            <a:endParaRPr lang="en-US" sz="1550" b="1" dirty="0"/>
          </a:p>
        </p:txBody>
      </p:sp>
      <p:sp>
        <p:nvSpPr>
          <p:cNvPr id="52" name="Text 5">
            <a:extLst>
              <a:ext uri="{FF2B5EF4-FFF2-40B4-BE49-F238E27FC236}">
                <a16:creationId xmlns:a16="http://schemas.microsoft.com/office/drawing/2014/main" id="{94514276-9B53-488A-86D3-1B497B5A51E1}"/>
              </a:ext>
            </a:extLst>
          </p:cNvPr>
          <p:cNvSpPr/>
          <p:nvPr/>
        </p:nvSpPr>
        <p:spPr>
          <a:xfrm>
            <a:off x="931926" y="5775198"/>
            <a:ext cx="256032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8B4A13"/>
                </a:solidFill>
              </a:rPr>
              <a:t>e.g., b = 1</a:t>
            </a:r>
            <a:endParaRPr lang="en-US" sz="2400" dirty="0"/>
          </a:p>
        </p:txBody>
      </p:sp>
      <p:sp>
        <p:nvSpPr>
          <p:cNvPr id="53" name="Text 6">
            <a:extLst>
              <a:ext uri="{FF2B5EF4-FFF2-40B4-BE49-F238E27FC236}">
                <a16:creationId xmlns:a16="http://schemas.microsoft.com/office/drawing/2014/main" id="{3D4E989A-7F7D-465A-B7A8-CC76CB8BFDAF}"/>
              </a:ext>
            </a:extLst>
          </p:cNvPr>
          <p:cNvSpPr/>
          <p:nvPr/>
        </p:nvSpPr>
        <p:spPr>
          <a:xfrm>
            <a:off x="931926" y="6131814"/>
            <a:ext cx="2286000" cy="2286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dirty="0">
                <a:solidFill>
                  <a:srgbClr val="182231"/>
                </a:solidFill>
              </a:rPr>
              <a:t>noise values:</a:t>
            </a:r>
            <a:endParaRPr lang="en-US" sz="2400" dirty="0"/>
          </a:p>
        </p:txBody>
      </p:sp>
      <p:sp>
        <p:nvSpPr>
          <p:cNvPr id="54" name="Text 7">
            <a:extLst>
              <a:ext uri="{FF2B5EF4-FFF2-40B4-BE49-F238E27FC236}">
                <a16:creationId xmlns:a16="http://schemas.microsoft.com/office/drawing/2014/main" id="{08FFB28E-0DE9-4A0C-9D32-0768F066380D}"/>
              </a:ext>
            </a:extLst>
          </p:cNvPr>
          <p:cNvSpPr/>
          <p:nvPr/>
        </p:nvSpPr>
        <p:spPr>
          <a:xfrm>
            <a:off x="2592326" y="6107430"/>
            <a:ext cx="356616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8B4A13"/>
                </a:solidFill>
              </a:rPr>
              <a:t>-0.4,  0.2,  0.8,  -1.1</a:t>
            </a:r>
            <a:endParaRPr lang="en-US" sz="2400" dirty="0"/>
          </a:p>
        </p:txBody>
      </p:sp>
      <p:sp>
        <p:nvSpPr>
          <p:cNvPr id="55" name="Text 5">
            <a:extLst>
              <a:ext uri="{FF2B5EF4-FFF2-40B4-BE49-F238E27FC236}">
                <a16:creationId xmlns:a16="http://schemas.microsoft.com/office/drawing/2014/main" id="{D02D5136-21BD-4767-9AA2-0B03E4F09134}"/>
              </a:ext>
            </a:extLst>
          </p:cNvPr>
          <p:cNvSpPr/>
          <p:nvPr/>
        </p:nvSpPr>
        <p:spPr>
          <a:xfrm>
            <a:off x="6802374" y="5757672"/>
            <a:ext cx="256032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8B4A13"/>
                </a:solidFill>
              </a:rPr>
              <a:t>e.g., b = 4</a:t>
            </a:r>
            <a:endParaRPr lang="en-US" sz="2400" dirty="0"/>
          </a:p>
        </p:txBody>
      </p:sp>
      <p:sp>
        <p:nvSpPr>
          <p:cNvPr id="56" name="Text 6">
            <a:extLst>
              <a:ext uri="{FF2B5EF4-FFF2-40B4-BE49-F238E27FC236}">
                <a16:creationId xmlns:a16="http://schemas.microsoft.com/office/drawing/2014/main" id="{E610D96F-9903-44A0-9CD2-B4B488351D9D}"/>
              </a:ext>
            </a:extLst>
          </p:cNvPr>
          <p:cNvSpPr/>
          <p:nvPr/>
        </p:nvSpPr>
        <p:spPr>
          <a:xfrm>
            <a:off x="6802374" y="6114288"/>
            <a:ext cx="2286000" cy="2286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dirty="0">
                <a:solidFill>
                  <a:srgbClr val="182231"/>
                </a:solidFill>
              </a:rPr>
              <a:t>noise values:</a:t>
            </a:r>
            <a:endParaRPr lang="en-US" sz="2400" dirty="0"/>
          </a:p>
        </p:txBody>
      </p:sp>
      <p:sp>
        <p:nvSpPr>
          <p:cNvPr id="57" name="Text 7">
            <a:extLst>
              <a:ext uri="{FF2B5EF4-FFF2-40B4-BE49-F238E27FC236}">
                <a16:creationId xmlns:a16="http://schemas.microsoft.com/office/drawing/2014/main" id="{5DBBC899-10BC-42A8-B376-12455B5BB716}"/>
              </a:ext>
            </a:extLst>
          </p:cNvPr>
          <p:cNvSpPr/>
          <p:nvPr/>
        </p:nvSpPr>
        <p:spPr>
          <a:xfrm>
            <a:off x="8462774" y="6089904"/>
            <a:ext cx="356616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solidFill>
                  <a:srgbClr val="8B4A13"/>
                </a:solidFill>
              </a:rPr>
              <a:t>-3.8,  -1.3,  2.1,  5.6</a:t>
            </a:r>
            <a:endParaRPr lang="en-US" sz="2400" dirty="0"/>
          </a:p>
        </p:txBody>
      </p:sp>
      <p:pic>
        <p:nvPicPr>
          <p:cNvPr id="28" name="Picture 27">
            <a:extLst>
              <a:ext uri="{FF2B5EF4-FFF2-40B4-BE49-F238E27FC236}">
                <a16:creationId xmlns:a16="http://schemas.microsoft.com/office/drawing/2014/main" id="{11CA7DF7-5623-491A-940D-F0C7DA63CD6B}"/>
              </a:ext>
            </a:extLst>
          </p:cNvPr>
          <p:cNvPicPr>
            <a:picLocks noChangeAspect="1"/>
          </p:cNvPicPr>
          <p:nvPr/>
        </p:nvPicPr>
        <p:blipFill>
          <a:blip r:embed="rId3"/>
          <a:stretch>
            <a:fillRect/>
          </a:stretch>
        </p:blipFill>
        <p:spPr>
          <a:xfrm>
            <a:off x="825116" y="4547057"/>
            <a:ext cx="5141344" cy="1128133"/>
          </a:xfrm>
          <a:prstGeom prst="rect">
            <a:avLst/>
          </a:prstGeom>
        </p:spPr>
      </p:pic>
      <p:pic>
        <p:nvPicPr>
          <p:cNvPr id="3" name="Picture 2">
            <a:extLst>
              <a:ext uri="{FF2B5EF4-FFF2-40B4-BE49-F238E27FC236}">
                <a16:creationId xmlns:a16="http://schemas.microsoft.com/office/drawing/2014/main" id="{ABF30CA4-43FB-48CD-934E-97543C1ED550}"/>
              </a:ext>
            </a:extLst>
          </p:cNvPr>
          <p:cNvPicPr>
            <a:picLocks noChangeAspect="1"/>
          </p:cNvPicPr>
          <p:nvPr/>
        </p:nvPicPr>
        <p:blipFill>
          <a:blip r:embed="rId4"/>
          <a:stretch>
            <a:fillRect/>
          </a:stretch>
        </p:blipFill>
        <p:spPr>
          <a:xfrm>
            <a:off x="6843298" y="4631695"/>
            <a:ext cx="4523586" cy="847843"/>
          </a:xfrm>
          <a:prstGeom prst="rect">
            <a:avLst/>
          </a:prstGeom>
        </p:spPr>
      </p:pic>
    </p:spTree>
    <p:extLst>
      <p:ext uri="{BB962C8B-B14F-4D97-AF65-F5344CB8AC3E}">
        <p14:creationId xmlns:p14="http://schemas.microsoft.com/office/powerpoint/2010/main" val="250540720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8CEF55D9-8D46-49C6-B1C5-82F29BD30121}"/>
              </a:ext>
            </a:extLst>
          </p:cNvPr>
          <p:cNvSpPr txBox="1"/>
          <p:nvPr/>
        </p:nvSpPr>
        <p:spPr>
          <a:xfrm>
            <a:off x="228600" y="54864"/>
            <a:ext cx="11475720" cy="670953"/>
          </a:xfrm>
          <a:prstGeom prst="rect">
            <a:avLst/>
          </a:prstGeom>
          <a:noFill/>
        </p:spPr>
        <p:txBody>
          <a:bodyPr wrap="square" lIns="45720" tIns="27432" rIns="45720" bIns="27432">
            <a:spAutoFit/>
          </a:bodyPr>
          <a:lstStyle/>
          <a:p>
            <a:pPr algn="ctr"/>
            <a:r>
              <a:rPr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Laplace</a:t>
            </a:r>
            <a:r>
              <a:rPr lang="en-AU"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-based</a:t>
            </a:r>
            <a:r>
              <a:rPr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 </a:t>
            </a:r>
            <a:r>
              <a:rPr lang="en-AU"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N</a:t>
            </a:r>
            <a:r>
              <a:rPr sz="4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oise</a:t>
            </a:r>
            <a:endParaRPr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endParaRPr>
          </a:p>
        </p:txBody>
      </p:sp>
      <p:sp>
        <p:nvSpPr>
          <p:cNvPr id="21" name="TextBox 20">
            <a:extLst>
              <a:ext uri="{FF2B5EF4-FFF2-40B4-BE49-F238E27FC236}">
                <a16:creationId xmlns:a16="http://schemas.microsoft.com/office/drawing/2014/main" id="{1DC5D420-4801-4F88-ACE9-355C1AE9FC95}"/>
              </a:ext>
            </a:extLst>
          </p:cNvPr>
          <p:cNvSpPr txBox="1"/>
          <p:nvPr/>
        </p:nvSpPr>
        <p:spPr>
          <a:xfrm>
            <a:off x="563880" y="892924"/>
            <a:ext cx="8186420" cy="424732"/>
          </a:xfrm>
          <a:prstGeom prst="rect">
            <a:avLst/>
          </a:prstGeom>
          <a:noFill/>
        </p:spPr>
        <p:txBody>
          <a:bodyPr wrap="square" lIns="45720" tIns="27432" rIns="45720" bIns="27432">
            <a:spAutoFit/>
          </a:bodyPr>
          <a:lstStyle/>
          <a:p>
            <a:r>
              <a:rPr sz="2400" b="0" dirty="0">
                <a:solidFill>
                  <a:srgbClr val="FFFFFF"/>
                </a:solidFill>
              </a:rPr>
              <a:t>DP output = true average + X</a:t>
            </a:r>
            <a:r>
              <a:rPr lang="en-AU" sz="2400" dirty="0">
                <a:solidFill>
                  <a:srgbClr val="FFFFFF"/>
                </a:solidFill>
              </a:rPr>
              <a:t>, </a:t>
            </a:r>
            <a:r>
              <a:rPr lang="en-AU" sz="2400" b="0" dirty="0">
                <a:solidFill>
                  <a:srgbClr val="FFFFFF"/>
                </a:solidFill>
              </a:rPr>
              <a:t>w</a:t>
            </a:r>
            <a:r>
              <a:rPr sz="2400" b="0" dirty="0">
                <a:solidFill>
                  <a:srgbClr val="FFFFFF"/>
                </a:solidFill>
              </a:rPr>
              <a:t>here X </a:t>
            </a:r>
            <a:r>
              <a:rPr lang="en-AU" sz="2400" b="0" dirty="0">
                <a:solidFill>
                  <a:srgbClr val="FFFFFF"/>
                </a:solidFill>
              </a:rPr>
              <a:t>~</a:t>
            </a:r>
            <a:r>
              <a:rPr sz="2400" b="0" dirty="0">
                <a:solidFill>
                  <a:srgbClr val="FFFFFF"/>
                </a:solidFill>
              </a:rPr>
              <a:t> Laplace(0, b)</a:t>
            </a:r>
          </a:p>
        </p:txBody>
      </p:sp>
      <p:sp>
        <p:nvSpPr>
          <p:cNvPr id="36" name="Text 7">
            <a:extLst>
              <a:ext uri="{FF2B5EF4-FFF2-40B4-BE49-F238E27FC236}">
                <a16:creationId xmlns:a16="http://schemas.microsoft.com/office/drawing/2014/main" id="{10AA87CA-1C18-4F40-84EE-BF920D865DDC}"/>
              </a:ext>
            </a:extLst>
          </p:cNvPr>
          <p:cNvSpPr/>
          <p:nvPr/>
        </p:nvSpPr>
        <p:spPr>
          <a:xfrm>
            <a:off x="563880" y="1358149"/>
            <a:ext cx="9837420" cy="547238"/>
          </a:xfrm>
          <a:prstGeom prst="rect">
            <a:avLst/>
          </a:prstGeom>
          <a:noFill/>
          <a:ln/>
        </p:spPr>
        <p:txBody>
          <a:bodyPr wrap="square" lIns="635" tIns="635" rIns="635" bIns="635" rtlCol="0" anchor="ctr">
            <a:normAutofit/>
          </a:bodyPr>
          <a:lstStyle/>
          <a:p>
            <a:pPr marL="0" indent="0" algn="l">
              <a:buNone/>
            </a:pPr>
            <a:r>
              <a:rPr lang="en-US" sz="2400" dirty="0">
                <a:solidFill>
                  <a:srgbClr val="FFFFFF"/>
                </a:solidFill>
              </a:rPr>
              <a:t>0 is the </a:t>
            </a:r>
            <a:r>
              <a:rPr lang="en-US" sz="2400" dirty="0" err="1">
                <a:solidFill>
                  <a:srgbClr val="FFFFFF"/>
                </a:solidFill>
              </a:rPr>
              <a:t>centre</a:t>
            </a:r>
            <a:r>
              <a:rPr lang="en-US" sz="2400" dirty="0">
                <a:solidFill>
                  <a:srgbClr val="FFFFFF"/>
                </a:solidFill>
              </a:rPr>
              <a:t> of the noise, so positive and negative noise are both possible</a:t>
            </a:r>
          </a:p>
        </p:txBody>
      </p:sp>
      <p:sp>
        <p:nvSpPr>
          <p:cNvPr id="37" name="Text 8">
            <a:extLst>
              <a:ext uri="{FF2B5EF4-FFF2-40B4-BE49-F238E27FC236}">
                <a16:creationId xmlns:a16="http://schemas.microsoft.com/office/drawing/2014/main" id="{134C9B0E-1740-46C2-A57D-1E5E2373CB52}"/>
              </a:ext>
            </a:extLst>
          </p:cNvPr>
          <p:cNvSpPr/>
          <p:nvPr/>
        </p:nvSpPr>
        <p:spPr>
          <a:xfrm>
            <a:off x="563880" y="1915185"/>
            <a:ext cx="9977120" cy="420624"/>
          </a:xfrm>
          <a:prstGeom prst="rect">
            <a:avLst/>
          </a:prstGeom>
          <a:noFill/>
          <a:ln/>
        </p:spPr>
        <p:txBody>
          <a:bodyPr wrap="square" lIns="635" tIns="635" rIns="635" bIns="635" rtlCol="0" anchor="ctr">
            <a:normAutofit/>
          </a:bodyPr>
          <a:lstStyle/>
          <a:p>
            <a:pPr marL="0" indent="0" algn="l">
              <a:buNone/>
            </a:pPr>
            <a:r>
              <a:rPr lang="en-US" sz="2400" dirty="0">
                <a:solidFill>
                  <a:srgbClr val="FFFFFF"/>
                </a:solidFill>
              </a:rPr>
              <a:t>b is the noise scale, so larger b means the noise is more spread out</a:t>
            </a:r>
          </a:p>
        </p:txBody>
      </p:sp>
      <p:sp>
        <p:nvSpPr>
          <p:cNvPr id="12" name="Text 8">
            <a:extLst>
              <a:ext uri="{FF2B5EF4-FFF2-40B4-BE49-F238E27FC236}">
                <a16:creationId xmlns:a16="http://schemas.microsoft.com/office/drawing/2014/main" id="{B9E5F796-C1C3-4407-A272-A72F40C7AB02}"/>
              </a:ext>
            </a:extLst>
          </p:cNvPr>
          <p:cNvSpPr/>
          <p:nvPr/>
        </p:nvSpPr>
        <p:spPr>
          <a:xfrm>
            <a:off x="474980" y="2427488"/>
            <a:ext cx="4071620" cy="551555"/>
          </a:xfrm>
          <a:prstGeom prst="rect">
            <a:avLst/>
          </a:prstGeom>
          <a:noFill/>
          <a:ln/>
        </p:spPr>
        <p:txBody>
          <a:bodyPr wrap="square" lIns="635" tIns="635" rIns="635" bIns="635" rtlCol="0" anchor="ctr">
            <a:normAutofit/>
          </a:bodyPr>
          <a:lstStyle/>
          <a:p>
            <a:pPr algn="ctr"/>
            <a:r>
              <a:rPr lang="en-AU" sz="2400" dirty="0"/>
              <a:t>b = </a:t>
            </a:r>
            <a:r>
              <a:rPr lang="el-GR" sz="2400" dirty="0"/>
              <a:t>Δ / ε</a:t>
            </a:r>
            <a:r>
              <a:rPr lang="en-AU" sz="2400" dirty="0"/>
              <a:t>: larger </a:t>
            </a:r>
            <a:r>
              <a:rPr lang="el-GR" sz="2400" dirty="0"/>
              <a:t>ε ⇒ </a:t>
            </a:r>
            <a:r>
              <a:rPr lang="en-AU" sz="2400" dirty="0"/>
              <a:t>smaller b</a:t>
            </a:r>
          </a:p>
        </p:txBody>
      </p:sp>
    </p:spTree>
    <p:extLst>
      <p:ext uri="{BB962C8B-B14F-4D97-AF65-F5344CB8AC3E}">
        <p14:creationId xmlns:p14="http://schemas.microsoft.com/office/powerpoint/2010/main" val="24815632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8CEF55D9-8D46-49C6-B1C5-82F29BD30121}"/>
              </a:ext>
            </a:extLst>
          </p:cNvPr>
          <p:cNvSpPr txBox="1"/>
          <p:nvPr/>
        </p:nvSpPr>
        <p:spPr>
          <a:xfrm>
            <a:off x="228600" y="54864"/>
            <a:ext cx="11475720" cy="670953"/>
          </a:xfrm>
          <a:prstGeom prst="rect">
            <a:avLst/>
          </a:prstGeom>
          <a:noFill/>
        </p:spPr>
        <p:txBody>
          <a:bodyPr wrap="square" lIns="45720" tIns="27432" rIns="45720" bIns="27432">
            <a:spAutoFit/>
          </a:bodyPr>
          <a:lstStyle/>
          <a:p>
            <a:pPr algn="ctr"/>
            <a:r>
              <a:rPr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Laplace</a:t>
            </a:r>
            <a:r>
              <a:rPr lang="en-AU"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-based</a:t>
            </a:r>
            <a:r>
              <a:rPr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 </a:t>
            </a:r>
            <a:r>
              <a:rPr lang="en-AU"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N</a:t>
            </a:r>
            <a:r>
              <a:rPr sz="4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oise</a:t>
            </a:r>
            <a:endParaRPr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endParaRPr>
          </a:p>
        </p:txBody>
      </p:sp>
      <p:sp>
        <p:nvSpPr>
          <p:cNvPr id="27" name="Rectangle 26">
            <a:extLst>
              <a:ext uri="{FF2B5EF4-FFF2-40B4-BE49-F238E27FC236}">
                <a16:creationId xmlns:a16="http://schemas.microsoft.com/office/drawing/2014/main" id="{71D21E9B-DE4A-47B3-8F8A-F98F75819501}"/>
              </a:ext>
            </a:extLst>
          </p:cNvPr>
          <p:cNvSpPr/>
          <p:nvPr/>
        </p:nvSpPr>
        <p:spPr>
          <a:xfrm>
            <a:off x="594360" y="1060704"/>
            <a:ext cx="2971800" cy="713232"/>
          </a:xfrm>
          <a:prstGeom prst="rect">
            <a:avLst/>
          </a:prstGeom>
          <a:noFill/>
          <a:ln w="19050">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000" b="0" dirty="0">
                <a:solidFill>
                  <a:schemeClr val="tx1"/>
                </a:solidFill>
              </a:rPr>
              <a:t>Bounded monthly salaries</a:t>
            </a:r>
          </a:p>
          <a:p>
            <a:pPr algn="ctr"/>
            <a:r>
              <a:rPr sz="2000" b="0" dirty="0">
                <a:solidFill>
                  <a:schemeClr val="tx1"/>
                </a:solidFill>
              </a:rPr>
              <a:t>$0 to $</a:t>
            </a:r>
            <a:r>
              <a:rPr lang="en-AU" sz="2000" b="0" dirty="0">
                <a:solidFill>
                  <a:schemeClr val="tx1"/>
                </a:solidFill>
              </a:rPr>
              <a:t>2</a:t>
            </a:r>
            <a:r>
              <a:rPr sz="2000" b="0" dirty="0">
                <a:solidFill>
                  <a:schemeClr val="tx1"/>
                </a:solidFill>
              </a:rPr>
              <a:t>0,000</a:t>
            </a:r>
          </a:p>
        </p:txBody>
      </p:sp>
      <p:sp>
        <p:nvSpPr>
          <p:cNvPr id="28" name="Rectangle 27">
            <a:extLst>
              <a:ext uri="{FF2B5EF4-FFF2-40B4-BE49-F238E27FC236}">
                <a16:creationId xmlns:a16="http://schemas.microsoft.com/office/drawing/2014/main" id="{054AA904-ACE0-4495-B026-6A8965336038}"/>
              </a:ext>
            </a:extLst>
          </p:cNvPr>
          <p:cNvSpPr/>
          <p:nvPr/>
        </p:nvSpPr>
        <p:spPr>
          <a:xfrm>
            <a:off x="4168141" y="1049839"/>
            <a:ext cx="2697480" cy="713232"/>
          </a:xfrm>
          <a:prstGeom prst="rect">
            <a:avLst/>
          </a:prstGeom>
          <a:noFill/>
          <a:ln w="19050">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000" b="0" dirty="0">
                <a:solidFill>
                  <a:schemeClr val="tx1"/>
                </a:solidFill>
              </a:rPr>
              <a:t>100 </a:t>
            </a:r>
            <a:r>
              <a:rPr sz="2000" dirty="0">
                <a:solidFill>
                  <a:schemeClr val="tx1"/>
                </a:solidFill>
              </a:rPr>
              <a:t>employees</a:t>
            </a:r>
          </a:p>
          <a:p>
            <a:pPr algn="ctr"/>
            <a:r>
              <a:rPr sz="2000" b="0" dirty="0">
                <a:solidFill>
                  <a:schemeClr val="tx1"/>
                </a:solidFill>
              </a:rPr>
              <a:t>before Mallory joins</a:t>
            </a:r>
          </a:p>
        </p:txBody>
      </p:sp>
      <p:sp>
        <p:nvSpPr>
          <p:cNvPr id="29" name="Rectangle 28">
            <a:extLst>
              <a:ext uri="{FF2B5EF4-FFF2-40B4-BE49-F238E27FC236}">
                <a16:creationId xmlns:a16="http://schemas.microsoft.com/office/drawing/2014/main" id="{7B556885-FCC0-4E02-90CC-0F86405024B9}"/>
              </a:ext>
            </a:extLst>
          </p:cNvPr>
          <p:cNvSpPr/>
          <p:nvPr/>
        </p:nvSpPr>
        <p:spPr>
          <a:xfrm>
            <a:off x="6675120" y="1060704"/>
            <a:ext cx="5029200" cy="713232"/>
          </a:xfrm>
          <a:prstGeom prst="rect">
            <a:avLst/>
          </a:prstGeom>
          <a:noFill/>
          <a:ln w="19050">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000" b="0" dirty="0">
                <a:solidFill>
                  <a:schemeClr val="tx1"/>
                </a:solidFill>
              </a:rPr>
              <a:t>Average sensitivity</a:t>
            </a:r>
          </a:p>
          <a:p>
            <a:pPr algn="ctr"/>
            <a:r>
              <a:rPr sz="2000" b="0" dirty="0">
                <a:solidFill>
                  <a:schemeClr val="tx1"/>
                </a:solidFill>
              </a:rPr>
              <a:t>Δ = 20,000 / 100 = $200</a:t>
            </a:r>
          </a:p>
        </p:txBody>
      </p:sp>
      <p:sp>
        <p:nvSpPr>
          <p:cNvPr id="33" name="Rectangle 32">
            <a:extLst>
              <a:ext uri="{FF2B5EF4-FFF2-40B4-BE49-F238E27FC236}">
                <a16:creationId xmlns:a16="http://schemas.microsoft.com/office/drawing/2014/main" id="{5897ED26-D329-4B58-A624-C7F65C72B86F}"/>
              </a:ext>
            </a:extLst>
          </p:cNvPr>
          <p:cNvSpPr/>
          <p:nvPr/>
        </p:nvSpPr>
        <p:spPr>
          <a:xfrm>
            <a:off x="1229360" y="2427977"/>
            <a:ext cx="3837940" cy="960120"/>
          </a:xfrm>
          <a:prstGeom prst="rect">
            <a:avLst/>
          </a:prstGeom>
          <a:noFill/>
          <a:ln w="19050">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lang="en-AU" sz="2000" b="1" dirty="0">
                <a:solidFill>
                  <a:schemeClr val="tx1"/>
                </a:solidFill>
              </a:rPr>
              <a:t>In n</a:t>
            </a:r>
            <a:r>
              <a:rPr sz="2000" b="1" dirty="0" err="1">
                <a:solidFill>
                  <a:schemeClr val="tx1"/>
                </a:solidFill>
              </a:rPr>
              <a:t>ormal</a:t>
            </a:r>
            <a:r>
              <a:rPr sz="2000" b="1" dirty="0">
                <a:solidFill>
                  <a:schemeClr val="tx1"/>
                </a:solidFill>
              </a:rPr>
              <a:t> DP</a:t>
            </a:r>
          </a:p>
          <a:p>
            <a:pPr algn="ctr"/>
            <a:r>
              <a:rPr sz="2000" b="0" dirty="0">
                <a:solidFill>
                  <a:schemeClr val="tx1"/>
                </a:solidFill>
              </a:rPr>
              <a:t>ε = 1 ⇒ b = $200</a:t>
            </a:r>
          </a:p>
          <a:p>
            <a:pPr algn="ctr"/>
            <a:r>
              <a:rPr sz="2000" b="0" dirty="0">
                <a:solidFill>
                  <a:schemeClr val="tx1"/>
                </a:solidFill>
              </a:rPr>
              <a:t>Sample noise: +$120 or −$80</a:t>
            </a:r>
          </a:p>
        </p:txBody>
      </p:sp>
      <p:sp>
        <p:nvSpPr>
          <p:cNvPr id="34" name="Rectangle 33">
            <a:extLst>
              <a:ext uri="{FF2B5EF4-FFF2-40B4-BE49-F238E27FC236}">
                <a16:creationId xmlns:a16="http://schemas.microsoft.com/office/drawing/2014/main" id="{0C5307E5-5E56-458E-8352-048391A51B2F}"/>
              </a:ext>
            </a:extLst>
          </p:cNvPr>
          <p:cNvSpPr/>
          <p:nvPr/>
        </p:nvSpPr>
        <p:spPr>
          <a:xfrm>
            <a:off x="5194300" y="2427977"/>
            <a:ext cx="5257800" cy="960120"/>
          </a:xfrm>
          <a:prstGeom prst="rect">
            <a:avLst/>
          </a:prstGeom>
          <a:noFill/>
          <a:ln w="19050">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lang="en-AU" sz="2000" b="1" dirty="0">
                <a:solidFill>
                  <a:schemeClr val="tx1"/>
                </a:solidFill>
              </a:rPr>
              <a:t>In </a:t>
            </a:r>
            <a:r>
              <a:rPr sz="2000" b="1" dirty="0" err="1">
                <a:solidFill>
                  <a:schemeClr val="tx1"/>
                </a:solidFill>
              </a:rPr>
              <a:t>Rowhammer</a:t>
            </a:r>
            <a:r>
              <a:rPr sz="2000" b="1" dirty="0">
                <a:solidFill>
                  <a:schemeClr val="tx1"/>
                </a:solidFill>
              </a:rPr>
              <a:t>-faulted DP</a:t>
            </a:r>
          </a:p>
          <a:p>
            <a:pPr algn="ctr"/>
            <a:r>
              <a:rPr lang="el-GR" sz="2000" b="0" dirty="0">
                <a:solidFill>
                  <a:schemeClr val="tx1"/>
                </a:solidFill>
              </a:rPr>
              <a:t>ε</a:t>
            </a:r>
            <a:r>
              <a:rPr lang="en-AU" sz="2000" b="0" dirty="0">
                <a:solidFill>
                  <a:schemeClr val="tx1"/>
                </a:solidFill>
              </a:rPr>
              <a:t>'</a:t>
            </a:r>
            <a:r>
              <a:rPr sz="2000" b="0" dirty="0">
                <a:solidFill>
                  <a:schemeClr val="tx1"/>
                </a:solidFill>
              </a:rPr>
              <a:t> = 8 ⇒ b</a:t>
            </a:r>
            <a:r>
              <a:rPr lang="en-AU" sz="2000" b="0" dirty="0">
                <a:solidFill>
                  <a:schemeClr val="tx1"/>
                </a:solidFill>
              </a:rPr>
              <a:t>'</a:t>
            </a:r>
            <a:r>
              <a:rPr sz="2000" b="0" dirty="0">
                <a:solidFill>
                  <a:schemeClr val="tx1"/>
                </a:solidFill>
              </a:rPr>
              <a:t> = $25</a:t>
            </a:r>
          </a:p>
          <a:p>
            <a:pPr algn="ctr"/>
            <a:r>
              <a:rPr sz="2000" b="0" dirty="0">
                <a:solidFill>
                  <a:schemeClr val="tx1"/>
                </a:solidFill>
              </a:rPr>
              <a:t>Sample noise: +$12 or −$8</a:t>
            </a:r>
          </a:p>
        </p:txBody>
      </p:sp>
      <p:cxnSp>
        <p:nvCxnSpPr>
          <p:cNvPr id="16" name="Straight Arrow Connector 15">
            <a:extLst>
              <a:ext uri="{FF2B5EF4-FFF2-40B4-BE49-F238E27FC236}">
                <a16:creationId xmlns:a16="http://schemas.microsoft.com/office/drawing/2014/main" id="{FE3E4F84-C1BF-46E4-8B2F-53B7CF3A008F}"/>
              </a:ext>
            </a:extLst>
          </p:cNvPr>
          <p:cNvCxnSpPr/>
          <p:nvPr/>
        </p:nvCxnSpPr>
        <p:spPr>
          <a:xfrm>
            <a:off x="4906593" y="2908037"/>
            <a:ext cx="86868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332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C0F07B8-EEBA-46E8-8A06-1E836CA2A5D3}"/>
              </a:ext>
            </a:extLst>
          </p:cNvPr>
          <p:cNvSpPr/>
          <p:nvPr/>
        </p:nvSpPr>
        <p:spPr>
          <a:xfrm>
            <a:off x="502920" y="1234440"/>
            <a:ext cx="5394960" cy="4526280"/>
          </a:xfrm>
          <a:prstGeom prst="rect">
            <a:avLst/>
          </a:prstGeom>
          <a:solidFill>
            <a:srgbClr val="FFFFFF"/>
          </a:solidFill>
          <a:ln w="19050">
            <a:solidFill>
              <a:srgbClr val="2456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endParaRPr sz="1600">
              <a:solidFill>
                <a:schemeClr val="bg1"/>
              </a:solidFill>
            </a:endParaRPr>
          </a:p>
        </p:txBody>
      </p:sp>
      <p:sp>
        <p:nvSpPr>
          <p:cNvPr id="21" name="TextBox 20">
            <a:extLst>
              <a:ext uri="{FF2B5EF4-FFF2-40B4-BE49-F238E27FC236}">
                <a16:creationId xmlns:a16="http://schemas.microsoft.com/office/drawing/2014/main" id="{C901277A-7B6E-4FB1-A5E6-30B6A68EAB8C}"/>
              </a:ext>
            </a:extLst>
          </p:cNvPr>
          <p:cNvSpPr txBox="1"/>
          <p:nvPr/>
        </p:nvSpPr>
        <p:spPr>
          <a:xfrm>
            <a:off x="731520" y="1399032"/>
            <a:ext cx="4937760" cy="363176"/>
          </a:xfrm>
          <a:prstGeom prst="rect">
            <a:avLst/>
          </a:prstGeom>
          <a:noFill/>
        </p:spPr>
        <p:txBody>
          <a:bodyPr wrap="square" lIns="45720" tIns="27432" rIns="45720" bIns="27432">
            <a:spAutoFit/>
          </a:bodyPr>
          <a:lstStyle/>
          <a:p>
            <a:pPr algn="ctr"/>
            <a:r>
              <a:rPr sz="2000" b="1" dirty="0">
                <a:solidFill>
                  <a:schemeClr val="bg1"/>
                </a:solidFill>
              </a:rPr>
              <a:t>Normal DP: b = $200</a:t>
            </a:r>
          </a:p>
        </p:txBody>
      </p:sp>
      <p:sp>
        <p:nvSpPr>
          <p:cNvPr id="23" name="TextBox 22">
            <a:extLst>
              <a:ext uri="{FF2B5EF4-FFF2-40B4-BE49-F238E27FC236}">
                <a16:creationId xmlns:a16="http://schemas.microsoft.com/office/drawing/2014/main" id="{B89C11F6-13D3-402F-BFE6-295EE346FAB9}"/>
              </a:ext>
            </a:extLst>
          </p:cNvPr>
          <p:cNvSpPr txBox="1"/>
          <p:nvPr/>
        </p:nvSpPr>
        <p:spPr>
          <a:xfrm>
            <a:off x="822960" y="1874519"/>
            <a:ext cx="4709160" cy="1778949"/>
          </a:xfrm>
          <a:prstGeom prst="rect">
            <a:avLst/>
          </a:prstGeom>
          <a:noFill/>
        </p:spPr>
        <p:txBody>
          <a:bodyPr wrap="square" lIns="45720" tIns="27432" rIns="45720" bIns="27432">
            <a:spAutoFit/>
          </a:bodyPr>
          <a:lstStyle/>
          <a:p>
            <a:pPr algn="l"/>
            <a:r>
              <a:rPr sz="1600" b="1" dirty="0">
                <a:solidFill>
                  <a:schemeClr val="bg1"/>
                </a:solidFill>
              </a:rPr>
              <a:t>January true: $8,000
Sampled noise: +$120
DP output: $8,120
February true: $8,040
Sampled noise: −$80
DP output: $7,960</a:t>
            </a:r>
          </a:p>
        </p:txBody>
      </p:sp>
      <p:sp>
        <p:nvSpPr>
          <p:cNvPr id="24" name="Rectangle 23">
            <a:extLst>
              <a:ext uri="{FF2B5EF4-FFF2-40B4-BE49-F238E27FC236}">
                <a16:creationId xmlns:a16="http://schemas.microsoft.com/office/drawing/2014/main" id="{0E8B328F-5377-4DFD-8326-EF2A8420D4F2}"/>
              </a:ext>
            </a:extLst>
          </p:cNvPr>
          <p:cNvSpPr/>
          <p:nvPr/>
        </p:nvSpPr>
        <p:spPr>
          <a:xfrm>
            <a:off x="822960" y="3842051"/>
            <a:ext cx="4480560" cy="640080"/>
          </a:xfrm>
          <a:prstGeom prst="rect">
            <a:avLst/>
          </a:prstGeom>
          <a:solidFill>
            <a:srgbClr val="FFFFFF"/>
          </a:solidFill>
          <a:ln w="19050">
            <a:solidFill>
              <a:srgbClr val="DC000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chemeClr val="bg1"/>
                </a:solidFill>
              </a:rPr>
              <a:t>Inference: 101×7,960 − 100×8,120 = −$8,040</a:t>
            </a:r>
          </a:p>
        </p:txBody>
      </p:sp>
      <p:sp>
        <p:nvSpPr>
          <p:cNvPr id="25" name="TextBox 24">
            <a:extLst>
              <a:ext uri="{FF2B5EF4-FFF2-40B4-BE49-F238E27FC236}">
                <a16:creationId xmlns:a16="http://schemas.microsoft.com/office/drawing/2014/main" id="{D8CAF2B0-202F-40A6-8889-33B05509750C}"/>
              </a:ext>
            </a:extLst>
          </p:cNvPr>
          <p:cNvSpPr txBox="1"/>
          <p:nvPr/>
        </p:nvSpPr>
        <p:spPr>
          <a:xfrm>
            <a:off x="822960" y="4703129"/>
            <a:ext cx="4297680" cy="363176"/>
          </a:xfrm>
          <a:prstGeom prst="rect">
            <a:avLst/>
          </a:prstGeom>
          <a:noFill/>
        </p:spPr>
        <p:txBody>
          <a:bodyPr wrap="square" lIns="45720" tIns="27432" rIns="45720" bIns="27432">
            <a:spAutoFit/>
          </a:bodyPr>
          <a:lstStyle/>
          <a:p>
            <a:pPr algn="ctr"/>
            <a:r>
              <a:rPr sz="2000" b="1" dirty="0">
                <a:solidFill>
                  <a:schemeClr val="bg1"/>
                </a:solidFill>
              </a:rPr>
              <a:t>Inference fails</a:t>
            </a:r>
          </a:p>
        </p:txBody>
      </p:sp>
      <p:sp>
        <p:nvSpPr>
          <p:cNvPr id="26" name="Rectangle 25">
            <a:extLst>
              <a:ext uri="{FF2B5EF4-FFF2-40B4-BE49-F238E27FC236}">
                <a16:creationId xmlns:a16="http://schemas.microsoft.com/office/drawing/2014/main" id="{F51CB983-77E8-4427-AFEC-29905E033FF7}"/>
              </a:ext>
            </a:extLst>
          </p:cNvPr>
          <p:cNvSpPr/>
          <p:nvPr/>
        </p:nvSpPr>
        <p:spPr>
          <a:xfrm>
            <a:off x="6263640" y="1234440"/>
            <a:ext cx="5394960" cy="4526280"/>
          </a:xfrm>
          <a:prstGeom prst="rect">
            <a:avLst/>
          </a:prstGeom>
          <a:solidFill>
            <a:srgbClr val="FFFFFF"/>
          </a:solidFill>
          <a:ln w="19050">
            <a:solidFill>
              <a:srgbClr val="DC000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endParaRPr sz="1600">
              <a:solidFill>
                <a:schemeClr val="bg1"/>
              </a:solidFill>
            </a:endParaRPr>
          </a:p>
        </p:txBody>
      </p:sp>
      <p:sp>
        <p:nvSpPr>
          <p:cNvPr id="27" name="TextBox 26">
            <a:extLst>
              <a:ext uri="{FF2B5EF4-FFF2-40B4-BE49-F238E27FC236}">
                <a16:creationId xmlns:a16="http://schemas.microsoft.com/office/drawing/2014/main" id="{45839AA4-ACD5-4DDE-BD99-51E443AA8112}"/>
              </a:ext>
            </a:extLst>
          </p:cNvPr>
          <p:cNvSpPr txBox="1"/>
          <p:nvPr/>
        </p:nvSpPr>
        <p:spPr>
          <a:xfrm>
            <a:off x="6492240" y="1399032"/>
            <a:ext cx="4937760" cy="363176"/>
          </a:xfrm>
          <a:prstGeom prst="rect">
            <a:avLst/>
          </a:prstGeom>
          <a:noFill/>
        </p:spPr>
        <p:txBody>
          <a:bodyPr wrap="square" lIns="45720" tIns="27432" rIns="45720" bIns="27432">
            <a:spAutoFit/>
          </a:bodyPr>
          <a:lstStyle/>
          <a:p>
            <a:pPr algn="ctr"/>
            <a:r>
              <a:rPr sz="2000" b="1" dirty="0" err="1">
                <a:solidFill>
                  <a:schemeClr val="bg1"/>
                </a:solidFill>
              </a:rPr>
              <a:t>Rowhammer</a:t>
            </a:r>
            <a:r>
              <a:rPr sz="2000" b="1" dirty="0">
                <a:solidFill>
                  <a:schemeClr val="bg1"/>
                </a:solidFill>
              </a:rPr>
              <a:t>-faulted DP: b</a:t>
            </a:r>
            <a:r>
              <a:rPr lang="en-AU" sz="2000" b="0" dirty="0">
                <a:solidFill>
                  <a:schemeClr val="bg1"/>
                </a:solidFill>
              </a:rPr>
              <a:t>'</a:t>
            </a:r>
            <a:r>
              <a:rPr sz="2000" b="1" dirty="0">
                <a:solidFill>
                  <a:schemeClr val="bg1"/>
                </a:solidFill>
              </a:rPr>
              <a:t> = $25</a:t>
            </a:r>
          </a:p>
        </p:txBody>
      </p:sp>
      <p:sp>
        <p:nvSpPr>
          <p:cNvPr id="28" name="TextBox 27">
            <a:extLst>
              <a:ext uri="{FF2B5EF4-FFF2-40B4-BE49-F238E27FC236}">
                <a16:creationId xmlns:a16="http://schemas.microsoft.com/office/drawing/2014/main" id="{50CD9B11-351A-47D1-848B-536D53F0962F}"/>
              </a:ext>
            </a:extLst>
          </p:cNvPr>
          <p:cNvSpPr txBox="1"/>
          <p:nvPr/>
        </p:nvSpPr>
        <p:spPr>
          <a:xfrm>
            <a:off x="6583680" y="1874519"/>
            <a:ext cx="4709160" cy="1778949"/>
          </a:xfrm>
          <a:prstGeom prst="rect">
            <a:avLst/>
          </a:prstGeom>
          <a:noFill/>
        </p:spPr>
        <p:txBody>
          <a:bodyPr wrap="square" lIns="45720" tIns="27432" rIns="45720" bIns="27432">
            <a:spAutoFit/>
          </a:bodyPr>
          <a:lstStyle/>
          <a:p>
            <a:pPr algn="l"/>
            <a:r>
              <a:rPr sz="1600" b="1" dirty="0">
                <a:solidFill>
                  <a:schemeClr val="bg1"/>
                </a:solidFill>
              </a:rPr>
              <a:t>January true: $8,000
Sampled noise: +$12
Faulted output: $8,012
February true: $8,040
Sampled noise: −$8
Faulted output: $8,032</a:t>
            </a:r>
          </a:p>
        </p:txBody>
      </p:sp>
      <p:sp>
        <p:nvSpPr>
          <p:cNvPr id="29" name="Rectangle 28">
            <a:extLst>
              <a:ext uri="{FF2B5EF4-FFF2-40B4-BE49-F238E27FC236}">
                <a16:creationId xmlns:a16="http://schemas.microsoft.com/office/drawing/2014/main" id="{E294DCBD-A3D6-465D-B16A-3B784323E7AB}"/>
              </a:ext>
            </a:extLst>
          </p:cNvPr>
          <p:cNvSpPr/>
          <p:nvPr/>
        </p:nvSpPr>
        <p:spPr>
          <a:xfrm>
            <a:off x="6720840" y="4041648"/>
            <a:ext cx="4480560" cy="640080"/>
          </a:xfrm>
          <a:prstGeom prst="rect">
            <a:avLst/>
          </a:prstGeom>
          <a:solidFill>
            <a:srgbClr val="FFFFFF"/>
          </a:solidFill>
          <a:ln w="19050">
            <a:solidFill>
              <a:srgbClr val="DC000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chemeClr val="bg1"/>
                </a:solidFill>
              </a:rPr>
              <a:t>Inference: 101×8,032 − 100×8,012 = $10,032</a:t>
            </a:r>
          </a:p>
        </p:txBody>
      </p:sp>
      <p:sp>
        <p:nvSpPr>
          <p:cNvPr id="31" name="TextBox 30">
            <a:extLst>
              <a:ext uri="{FF2B5EF4-FFF2-40B4-BE49-F238E27FC236}">
                <a16:creationId xmlns:a16="http://schemas.microsoft.com/office/drawing/2014/main" id="{B696E9CC-7582-43DF-A000-F01CFB8929F4}"/>
              </a:ext>
            </a:extLst>
          </p:cNvPr>
          <p:cNvSpPr txBox="1"/>
          <p:nvPr/>
        </p:nvSpPr>
        <p:spPr>
          <a:xfrm>
            <a:off x="6812280" y="4846320"/>
            <a:ext cx="4297680" cy="363176"/>
          </a:xfrm>
          <a:prstGeom prst="rect">
            <a:avLst/>
          </a:prstGeom>
          <a:noFill/>
        </p:spPr>
        <p:txBody>
          <a:bodyPr wrap="square" lIns="45720" tIns="27432" rIns="45720" bIns="27432">
            <a:spAutoFit/>
          </a:bodyPr>
          <a:lstStyle/>
          <a:p>
            <a:pPr algn="ctr"/>
            <a:r>
              <a:rPr sz="2000" b="1" dirty="0">
                <a:solidFill>
                  <a:schemeClr val="bg1"/>
                </a:solidFill>
              </a:rPr>
              <a:t>Inference becomes useful</a:t>
            </a:r>
          </a:p>
        </p:txBody>
      </p:sp>
      <p:sp>
        <p:nvSpPr>
          <p:cNvPr id="14" name="TextBox 13">
            <a:extLst>
              <a:ext uri="{FF2B5EF4-FFF2-40B4-BE49-F238E27FC236}">
                <a16:creationId xmlns:a16="http://schemas.microsoft.com/office/drawing/2014/main" id="{31759FE1-E0B5-4E81-BCBD-B998DB6F1B1A}"/>
              </a:ext>
            </a:extLst>
          </p:cNvPr>
          <p:cNvSpPr txBox="1"/>
          <p:nvPr/>
        </p:nvSpPr>
        <p:spPr>
          <a:xfrm>
            <a:off x="228600" y="54864"/>
            <a:ext cx="11475720" cy="670953"/>
          </a:xfrm>
          <a:prstGeom prst="rect">
            <a:avLst/>
          </a:prstGeom>
          <a:noFill/>
        </p:spPr>
        <p:txBody>
          <a:bodyPr wrap="square" lIns="45720" tIns="27432" rIns="45720" bIns="27432">
            <a:spAutoFit/>
          </a:bodyPr>
          <a:lstStyle/>
          <a:p>
            <a:pPr algn="ctr"/>
            <a:r>
              <a:rPr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Laplace</a:t>
            </a:r>
            <a:r>
              <a:rPr lang="en-AU"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-based</a:t>
            </a:r>
            <a:r>
              <a:rPr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 </a:t>
            </a:r>
            <a:r>
              <a:rPr lang="en-AU"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N</a:t>
            </a:r>
            <a:r>
              <a:rPr sz="4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oise</a:t>
            </a:r>
            <a:endParaRPr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endParaRPr>
          </a:p>
        </p:txBody>
      </p:sp>
    </p:spTree>
    <p:extLst>
      <p:ext uri="{BB962C8B-B14F-4D97-AF65-F5344CB8AC3E}">
        <p14:creationId xmlns:p14="http://schemas.microsoft.com/office/powerpoint/2010/main" val="22223568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897E6787-FC5C-46E5-9BC9-FFBB327D70E2}"/>
              </a:ext>
            </a:extLst>
          </p:cNvPr>
          <p:cNvSpPr txBox="1"/>
          <p:nvPr/>
        </p:nvSpPr>
        <p:spPr>
          <a:xfrm>
            <a:off x="2058399" y="253334"/>
            <a:ext cx="8185253" cy="707886"/>
          </a:xfrm>
          <a:prstGeom prst="rect">
            <a:avLst/>
          </a:prstGeom>
          <a:noFill/>
        </p:spPr>
        <p:txBody>
          <a:bodyPr wrap="none">
            <a:spAutoFit/>
          </a:bodyPr>
          <a:lstStyle/>
          <a:p>
            <a:pPr algn="ctr"/>
            <a:r>
              <a:rPr sz="4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Rowhammer</a:t>
            </a:r>
            <a:r>
              <a:rPr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 against Differential Privacy</a:t>
            </a:r>
          </a:p>
        </p:txBody>
      </p:sp>
      <p:sp>
        <p:nvSpPr>
          <p:cNvPr id="23" name="TextBox 22">
            <a:extLst>
              <a:ext uri="{FF2B5EF4-FFF2-40B4-BE49-F238E27FC236}">
                <a16:creationId xmlns:a16="http://schemas.microsoft.com/office/drawing/2014/main" id="{0ED5F087-C1F6-4C43-AD9A-886F9F603189}"/>
              </a:ext>
            </a:extLst>
          </p:cNvPr>
          <p:cNvSpPr txBox="1"/>
          <p:nvPr/>
        </p:nvSpPr>
        <p:spPr>
          <a:xfrm>
            <a:off x="245719" y="1716111"/>
            <a:ext cx="3131583" cy="800100"/>
          </a:xfrm>
          <a:prstGeom prst="rect">
            <a:avLst/>
          </a:prstGeom>
          <a:noFill/>
        </p:spPr>
        <p:txBody>
          <a:bodyPr wrap="square" lIns="73152" tIns="54864" rIns="73152" bIns="54864">
            <a:noAutofit/>
          </a:bodyPr>
          <a:lstStyle/>
          <a:p>
            <a:pPr algn="l"/>
            <a:r>
              <a:rPr sz="2400" dirty="0"/>
              <a:t>Find </a:t>
            </a:r>
            <a:r>
              <a:rPr lang="en-AU" sz="2400" dirty="0"/>
              <a:t>a key parameter</a:t>
            </a:r>
            <a:endParaRPr sz="2400" dirty="0"/>
          </a:p>
        </p:txBody>
      </p:sp>
      <p:sp>
        <p:nvSpPr>
          <p:cNvPr id="26" name="TextBox 25">
            <a:extLst>
              <a:ext uri="{FF2B5EF4-FFF2-40B4-BE49-F238E27FC236}">
                <a16:creationId xmlns:a16="http://schemas.microsoft.com/office/drawing/2014/main" id="{176A9612-FF8D-4673-93BF-3A4C1A794AD7}"/>
              </a:ext>
            </a:extLst>
          </p:cNvPr>
          <p:cNvSpPr txBox="1"/>
          <p:nvPr/>
        </p:nvSpPr>
        <p:spPr>
          <a:xfrm>
            <a:off x="4123944" y="1656251"/>
            <a:ext cx="4315968" cy="1097280"/>
          </a:xfrm>
          <a:prstGeom prst="rect">
            <a:avLst/>
          </a:prstGeom>
          <a:noFill/>
        </p:spPr>
        <p:txBody>
          <a:bodyPr wrap="square" lIns="73152" tIns="54864" rIns="73152" bIns="54864">
            <a:noAutofit/>
          </a:bodyPr>
          <a:lstStyle/>
          <a:p>
            <a:pPr algn="l"/>
            <a:r>
              <a:rPr sz="2400" b="0" dirty="0"/>
              <a:t>Induce a single-bit flip</a:t>
            </a:r>
          </a:p>
        </p:txBody>
      </p:sp>
      <p:cxnSp>
        <p:nvCxnSpPr>
          <p:cNvPr id="37" name="Straight Arrow Connector 36">
            <a:extLst>
              <a:ext uri="{FF2B5EF4-FFF2-40B4-BE49-F238E27FC236}">
                <a16:creationId xmlns:a16="http://schemas.microsoft.com/office/drawing/2014/main" id="{069979F0-501B-4CDA-91D6-2F31AE228E29}"/>
              </a:ext>
            </a:extLst>
          </p:cNvPr>
          <p:cNvCxnSpPr/>
          <p:nvPr/>
        </p:nvCxnSpPr>
        <p:spPr>
          <a:xfrm>
            <a:off x="3108960" y="1917437"/>
            <a:ext cx="86868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6CB85CAD-36A4-422A-B81A-009FC030678A}"/>
              </a:ext>
            </a:extLst>
          </p:cNvPr>
          <p:cNvCxnSpPr/>
          <p:nvPr/>
        </p:nvCxnSpPr>
        <p:spPr>
          <a:xfrm>
            <a:off x="7187184" y="1917437"/>
            <a:ext cx="86868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CC18B08C-7B14-42B6-9227-D6521042CB13}"/>
              </a:ext>
            </a:extLst>
          </p:cNvPr>
          <p:cNvSpPr txBox="1"/>
          <p:nvPr/>
        </p:nvSpPr>
        <p:spPr>
          <a:xfrm>
            <a:off x="8226552" y="1674202"/>
            <a:ext cx="4315968" cy="1097280"/>
          </a:xfrm>
          <a:prstGeom prst="rect">
            <a:avLst/>
          </a:prstGeom>
          <a:noFill/>
        </p:spPr>
        <p:txBody>
          <a:bodyPr wrap="square" lIns="73152" tIns="54864" rIns="73152" bIns="54864">
            <a:noAutofit/>
          </a:bodyPr>
          <a:lstStyle/>
          <a:p>
            <a:pPr algn="l"/>
            <a:r>
              <a:rPr lang="en-AU" sz="2400" b="0" dirty="0"/>
              <a:t>Perform a stronger inference</a:t>
            </a:r>
            <a:endParaRPr sz="2400" b="0" dirty="0"/>
          </a:p>
        </p:txBody>
      </p:sp>
    </p:spTree>
    <p:extLst>
      <p:ext uri="{BB962C8B-B14F-4D97-AF65-F5344CB8AC3E}">
        <p14:creationId xmlns:p14="http://schemas.microsoft.com/office/powerpoint/2010/main" val="17681647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AnalogousFromDarkSeedLeftStep">
      <a:dk1>
        <a:srgbClr val="000000"/>
      </a:dk1>
      <a:lt1>
        <a:srgbClr val="FFFFFF"/>
      </a:lt1>
      <a:dk2>
        <a:srgbClr val="243541"/>
      </a:dk2>
      <a:lt2>
        <a:srgbClr val="E4E8E2"/>
      </a:lt2>
      <a:accent1>
        <a:srgbClr val="A629E7"/>
      </a:accent1>
      <a:accent2>
        <a:srgbClr val="6640DC"/>
      </a:accent2>
      <a:accent3>
        <a:srgbClr val="2F4FE7"/>
      </a:accent3>
      <a:accent4>
        <a:srgbClr val="1787D5"/>
      </a:accent4>
      <a:accent5>
        <a:srgbClr val="20B6B5"/>
      </a:accent5>
      <a:accent6>
        <a:srgbClr val="14B973"/>
      </a:accent6>
      <a:hlink>
        <a:srgbClr val="358E9F"/>
      </a:hlink>
      <a:folHlink>
        <a:srgbClr val="7F7F7F"/>
      </a:folHlink>
    </a:clrScheme>
    <a:fontScheme name="Slate">
      <a:majorFont>
        <a:latin typeface="Georgia Pro Cond Ligh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Speak Pro"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NoStarch</Template>
  <TotalTime>0</TotalTime>
  <Words>2930</Words>
  <Application>Microsoft Office PowerPoint</Application>
  <PresentationFormat>Widescreen</PresentationFormat>
  <Paragraphs>534</Paragraphs>
  <Slides>67</Slides>
  <Notes>67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67</vt:i4>
      </vt:variant>
    </vt:vector>
  </HeadingPairs>
  <TitlesOfParts>
    <vt:vector size="75" baseType="lpstr">
      <vt:lpstr>Arial</vt:lpstr>
      <vt:lpstr>Calibri</vt:lpstr>
      <vt:lpstr>Cambria Math</vt:lpstr>
      <vt:lpstr>Georgia Pro Cond Light</vt:lpstr>
      <vt:lpstr>Speak Pro</vt:lpstr>
      <vt:lpstr>Wingdings</vt:lpstr>
      <vt:lpstr>Wingdings 2</vt:lpstr>
      <vt:lpstr>SlateVTI</vt:lpstr>
      <vt:lpstr>CITS1003 Introduction to Cybersecurity [B] Cyber Law and  CI &amp; CPS exercises</vt:lpstr>
      <vt:lpstr>PowerPoint Presentation</vt:lpstr>
      <vt:lpstr>What is privacy</vt:lpstr>
      <vt:lpstr>What is Privacy</vt:lpstr>
      <vt:lpstr>What is Privacy</vt:lpstr>
      <vt:lpstr>What is Privacy Preserving</vt:lpstr>
      <vt:lpstr>What is Privacy Preserving</vt:lpstr>
      <vt:lpstr>What is Privacy Preserving</vt:lpstr>
      <vt:lpstr>Privacy Preserving</vt:lpstr>
      <vt:lpstr>Privacy Preserving</vt:lpstr>
      <vt:lpstr>What is Privacy Preserving</vt:lpstr>
      <vt:lpstr>What is Privacy Preserving</vt:lpstr>
      <vt:lpstr>Privacy Preserving</vt:lpstr>
      <vt:lpstr>Secure Multi-party Computation</vt:lpstr>
      <vt:lpstr>Secure Multi-party Computation</vt:lpstr>
      <vt:lpstr>Secure Multi-party Computation</vt:lpstr>
      <vt:lpstr>Secure Multi-party Computation</vt:lpstr>
      <vt:lpstr>Secure Multi-party Computation</vt:lpstr>
      <vt:lpstr>Secure Multi-party Computation</vt:lpstr>
      <vt:lpstr>Secure Multi-party Computation</vt:lpstr>
      <vt:lpstr>Secure Multi-party Computation</vt:lpstr>
      <vt:lpstr>Secure Multi-party Computation</vt:lpstr>
      <vt:lpstr>Secure Multi-party Computation</vt:lpstr>
      <vt:lpstr>Secure Multi-party Computation</vt:lpstr>
      <vt:lpstr>Secure Multi-party Computation</vt:lpstr>
      <vt:lpstr>Secure Multi-party Computation</vt:lpstr>
      <vt:lpstr>Zero Knowledge Proof</vt:lpstr>
      <vt:lpstr>PowerPoint Presentation</vt:lpstr>
      <vt:lpstr>PowerPoint Presentation</vt:lpstr>
      <vt:lpstr>Zero Knowledge Proof</vt:lpstr>
      <vt:lpstr>Zero Knowledge Proof</vt:lpstr>
      <vt:lpstr>Zero Knowledge Proof</vt:lpstr>
      <vt:lpstr>Zero Knowledge Proof</vt:lpstr>
      <vt:lpstr>Homomorphic Encryption</vt:lpstr>
      <vt:lpstr>Homomorphic Encryption</vt:lpstr>
      <vt:lpstr>Homomorphic Encryption</vt:lpstr>
      <vt:lpstr>Homomorphic Encryption</vt:lpstr>
      <vt:lpstr>RSA</vt:lpstr>
      <vt:lpstr>RSA: Secure Communication</vt:lpstr>
      <vt:lpstr>RSA: Homomorphic Multiplication</vt:lpstr>
      <vt:lpstr>RSA: Homomorphic Multiplication</vt:lpstr>
      <vt:lpstr>RSA: Homomorphic Multiplication</vt:lpstr>
      <vt:lpstr>Differential Privacy</vt:lpstr>
      <vt:lpstr>Differential Privacy</vt:lpstr>
      <vt:lpstr>Differential Privacy</vt:lpstr>
      <vt:lpstr>Differential Privacy</vt:lpstr>
      <vt:lpstr>Differential Privacy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2026-05-11T04:09:33Z</dcterms:created>
  <dcterms:modified xsi:type="dcterms:W3CDTF">2026-05-11T04:09:58Z</dcterms:modified>
</cp:coreProperties>
</file>