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63" r:id="rId1"/>
  </p:sldMasterIdLst>
  <p:notesMasterIdLst>
    <p:notesMasterId r:id="rId55"/>
  </p:notesMasterIdLst>
  <p:sldIdLst>
    <p:sldId id="256" r:id="rId2"/>
    <p:sldId id="312" r:id="rId3"/>
    <p:sldId id="313" r:id="rId4"/>
    <p:sldId id="319" r:id="rId5"/>
    <p:sldId id="343" r:id="rId6"/>
    <p:sldId id="344" r:id="rId7"/>
    <p:sldId id="342" r:id="rId8"/>
    <p:sldId id="320" r:id="rId9"/>
    <p:sldId id="321" r:id="rId10"/>
    <p:sldId id="345" r:id="rId11"/>
    <p:sldId id="346" r:id="rId12"/>
    <p:sldId id="347" r:id="rId13"/>
    <p:sldId id="318" r:id="rId14"/>
    <p:sldId id="348" r:id="rId15"/>
    <p:sldId id="350" r:id="rId16"/>
    <p:sldId id="326" r:id="rId17"/>
    <p:sldId id="327" r:id="rId18"/>
    <p:sldId id="351" r:id="rId19"/>
    <p:sldId id="328" r:id="rId20"/>
    <p:sldId id="524" r:id="rId21"/>
    <p:sldId id="527" r:id="rId22"/>
    <p:sldId id="528" r:id="rId23"/>
    <p:sldId id="526" r:id="rId24"/>
    <p:sldId id="329" r:id="rId25"/>
    <p:sldId id="352" r:id="rId26"/>
    <p:sldId id="349" r:id="rId27"/>
    <p:sldId id="353" r:id="rId28"/>
    <p:sldId id="330" r:id="rId29"/>
    <p:sldId id="354" r:id="rId30"/>
    <p:sldId id="317" r:id="rId31"/>
    <p:sldId id="324" r:id="rId32"/>
    <p:sldId id="341" r:id="rId33"/>
    <p:sldId id="314" r:id="rId34"/>
    <p:sldId id="331" r:id="rId35"/>
    <p:sldId id="355" r:id="rId36"/>
    <p:sldId id="332" r:id="rId37"/>
    <p:sldId id="356" r:id="rId38"/>
    <p:sldId id="333" r:id="rId39"/>
    <p:sldId id="357" r:id="rId40"/>
    <p:sldId id="325" r:id="rId41"/>
    <p:sldId id="358" r:id="rId42"/>
    <p:sldId id="335" r:id="rId43"/>
    <p:sldId id="334" r:id="rId44"/>
    <p:sldId id="359" r:id="rId45"/>
    <p:sldId id="336" r:id="rId46"/>
    <p:sldId id="360" r:id="rId47"/>
    <p:sldId id="338" r:id="rId48"/>
    <p:sldId id="339" r:id="rId49"/>
    <p:sldId id="361" r:id="rId50"/>
    <p:sldId id="337" r:id="rId51"/>
    <p:sldId id="362" r:id="rId52"/>
    <p:sldId id="522" r:id="rId53"/>
    <p:sldId id="525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2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4" autoAdjust="0"/>
    <p:restoredTop sz="73577" autoAdjust="0"/>
  </p:normalViewPr>
  <p:slideViewPr>
    <p:cSldViewPr snapToGrid="0">
      <p:cViewPr varScale="1">
        <p:scale>
          <a:sx n="48" d="100"/>
          <a:sy n="48" d="100"/>
        </p:scale>
        <p:origin x="88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3/03/2026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7621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07855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6233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0340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3941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94147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8165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1071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6224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52012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3235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256207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01840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7168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31378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8482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9504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458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940810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69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629E7"/>
              </a:buClr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61436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69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629E7"/>
              </a:buClr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026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037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69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629E7"/>
              </a:buClr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16879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30561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1774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1479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29379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29501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77795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21297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78813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7117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11886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65489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97132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26304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60858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3747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692521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69256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62970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41132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093681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69382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050854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192697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367151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989561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346154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126049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97347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910085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391255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wacyber/cits1003/tree/2022s1/live-lecture-slide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code.fr/frequency-analysi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9738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4="http://schemas.microsoft.com/office/drawing/2010/main" xmlns:p14="http://schemas.microsoft.com/office/powerpoint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/>
              <a:t>CITS1003 Introduction to Cybersecurity</a:t>
            </a:r>
            <a:br>
              <a:rPr lang="en-US" sz="4800"/>
            </a:br>
            <a:r>
              <a:rPr lang="en-US" sz="4800"/>
              <a:t>[2] Cryptography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0D1FF"/>
                </a:solidFill>
              </a:rPr>
              <a:t>Dr </a:t>
            </a:r>
            <a:r>
              <a:rPr lang="en-US" err="1">
                <a:solidFill>
                  <a:srgbClr val="20D1FF"/>
                </a:solidFill>
              </a:rPr>
              <a:t>Zhi</a:t>
            </a:r>
            <a:r>
              <a:rPr lang="en-US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2E54-9A0C-4068-A23E-AEA9BC08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951A3-C7ED-48F8-8C9F-ABF9537CE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  <a:p>
            <a:r>
              <a:rPr lang="en-AU"/>
              <a:t>Key space</a:t>
            </a:r>
          </a:p>
          <a:p>
            <a:r>
              <a:rPr lang="en-AU"/>
              <a:t>Sharing secrets</a:t>
            </a:r>
          </a:p>
          <a:p>
            <a:r>
              <a:rPr lang="en-AU"/>
              <a:t>Possible questions</a:t>
            </a:r>
          </a:p>
        </p:txBody>
      </p:sp>
    </p:spTree>
    <p:extLst>
      <p:ext uri="{BB962C8B-B14F-4D97-AF65-F5344CB8AC3E}">
        <p14:creationId xmlns:p14="http://schemas.microsoft.com/office/powerpoint/2010/main" val="175624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2BEA0-1B39-461B-9E12-760D197D7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37B0F-EE6E-45B7-94BB-3ABCB07676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 err="1"/>
              <a:t>nbcm</a:t>
            </a:r>
            <a:r>
              <a:rPr lang="en-AU" dirty="0"/>
              <a:t> cm u </a:t>
            </a:r>
            <a:r>
              <a:rPr lang="en-AU" dirty="0" err="1"/>
              <a:t>nij</a:t>
            </a:r>
            <a:r>
              <a:rPr lang="en-AU" dirty="0"/>
              <a:t> </a:t>
            </a:r>
            <a:r>
              <a:rPr lang="en-AU" dirty="0" err="1"/>
              <a:t>mywlyn</a:t>
            </a:r>
            <a:r>
              <a:rPr lang="en-AU" dirty="0"/>
              <a:t> </a:t>
            </a:r>
            <a:r>
              <a:rPr lang="en-AU" dirty="0" err="1"/>
              <a:t>gymmuay</a:t>
            </a:r>
            <a:r>
              <a:rPr lang="en-AU" dirty="0"/>
              <a:t> </a:t>
            </a:r>
            <a:r>
              <a:rPr lang="en-AU" dirty="0" err="1"/>
              <a:t>nbun</a:t>
            </a:r>
            <a:r>
              <a:rPr lang="en-AU" dirty="0"/>
              <a:t> </a:t>
            </a:r>
            <a:r>
              <a:rPr lang="en-AU" dirty="0" err="1"/>
              <a:t>sio</a:t>
            </a:r>
            <a:r>
              <a:rPr lang="en-AU" dirty="0"/>
              <a:t> </a:t>
            </a:r>
            <a:r>
              <a:rPr lang="en-AU" dirty="0" err="1"/>
              <a:t>uly</a:t>
            </a:r>
            <a:r>
              <a:rPr lang="en-AU" dirty="0"/>
              <a:t> </a:t>
            </a:r>
            <a:r>
              <a:rPr lang="en-AU" dirty="0" err="1"/>
              <a:t>lykoclyx</a:t>
            </a:r>
            <a:r>
              <a:rPr lang="en-AU" dirty="0"/>
              <a:t> </a:t>
            </a:r>
            <a:r>
              <a:rPr lang="en-AU" dirty="0" err="1"/>
              <a:t>ni</a:t>
            </a:r>
            <a:r>
              <a:rPr lang="en-AU" dirty="0"/>
              <a:t> </a:t>
            </a:r>
            <a:r>
              <a:rPr lang="en-AU" dirty="0" err="1"/>
              <a:t>xywixy</a:t>
            </a:r>
            <a:r>
              <a:rPr lang="en-AU" dirty="0"/>
              <a:t> </a:t>
            </a:r>
            <a:r>
              <a:rPr lang="en-AU" dirty="0" err="1"/>
              <a:t>ch</a:t>
            </a:r>
            <a:r>
              <a:rPr lang="en-AU" dirty="0"/>
              <a:t> </a:t>
            </a:r>
            <a:r>
              <a:rPr lang="en-AU" dirty="0" err="1"/>
              <a:t>ilxyl</a:t>
            </a:r>
            <a:r>
              <a:rPr lang="en-AU" dirty="0"/>
              <a:t> </a:t>
            </a:r>
            <a:r>
              <a:rPr lang="en-AU" dirty="0" err="1"/>
              <a:t>ni</a:t>
            </a:r>
            <a:r>
              <a:rPr lang="en-AU" dirty="0"/>
              <a:t> </a:t>
            </a:r>
            <a:r>
              <a:rPr lang="en-AU" dirty="0" err="1"/>
              <a:t>mifpy</a:t>
            </a:r>
            <a:r>
              <a:rPr lang="en-AU" dirty="0"/>
              <a:t> </a:t>
            </a:r>
            <a:r>
              <a:rPr lang="en-AU" dirty="0" err="1"/>
              <a:t>nby</a:t>
            </a:r>
            <a:r>
              <a:rPr lang="en-AU" dirty="0"/>
              <a:t> </a:t>
            </a:r>
            <a:r>
              <a:rPr lang="en-AU" dirty="0" err="1"/>
              <a:t>jlivfyg</a:t>
            </a:r>
            <a:r>
              <a:rPr lang="en-AU" dirty="0"/>
              <a:t> </a:t>
            </a:r>
            <a:r>
              <a:rPr lang="en-AU" dirty="0" err="1"/>
              <a:t>myn</a:t>
            </a:r>
            <a:r>
              <a:rPr lang="en-AU" dirty="0"/>
              <a:t> ion </a:t>
            </a:r>
            <a:r>
              <a:rPr lang="en-AU" dirty="0" err="1"/>
              <a:t>ni</a:t>
            </a:r>
            <a:r>
              <a:rPr lang="en-AU" dirty="0"/>
              <a:t> </a:t>
            </a:r>
            <a:r>
              <a:rPr lang="en-AU" dirty="0" err="1"/>
              <a:t>sio</a:t>
            </a:r>
            <a:r>
              <a:rPr lang="en-AU" dirty="0"/>
              <a:t> </a:t>
            </a:r>
            <a:r>
              <a:rPr lang="en-AU" dirty="0" err="1"/>
              <a:t>ch</a:t>
            </a:r>
            <a:r>
              <a:rPr lang="en-AU" dirty="0"/>
              <a:t> </a:t>
            </a:r>
            <a:r>
              <a:rPr lang="en-AU" dirty="0" err="1"/>
              <a:t>zlihn</a:t>
            </a:r>
            <a:r>
              <a:rPr lang="en-AU" dirty="0"/>
              <a:t>. </a:t>
            </a:r>
            <a:r>
              <a:rPr lang="en-AU" dirty="0" err="1"/>
              <a:t>biqypyl</a:t>
            </a:r>
            <a:r>
              <a:rPr lang="en-AU" dirty="0"/>
              <a:t> </a:t>
            </a:r>
            <a:r>
              <a:rPr lang="en-AU" dirty="0" err="1"/>
              <a:t>sio</a:t>
            </a:r>
            <a:r>
              <a:rPr lang="en-AU" dirty="0"/>
              <a:t> </a:t>
            </a:r>
            <a:r>
              <a:rPr lang="en-AU" dirty="0" err="1"/>
              <a:t>uly</a:t>
            </a:r>
            <a:r>
              <a:rPr lang="en-AU" dirty="0"/>
              <a:t> </a:t>
            </a:r>
            <a:r>
              <a:rPr lang="en-AU" dirty="0" err="1"/>
              <a:t>qyfwigy</a:t>
            </a:r>
            <a:r>
              <a:rPr lang="en-AU" dirty="0"/>
              <a:t> </a:t>
            </a:r>
            <a:r>
              <a:rPr lang="en-AU" dirty="0" err="1"/>
              <a:t>ni</a:t>
            </a:r>
            <a:r>
              <a:rPr lang="en-AU" dirty="0"/>
              <a:t> </a:t>
            </a:r>
            <a:r>
              <a:rPr lang="en-AU" dirty="0" err="1"/>
              <a:t>omy</a:t>
            </a:r>
            <a:r>
              <a:rPr lang="en-AU" dirty="0"/>
              <a:t> </a:t>
            </a:r>
            <a:r>
              <a:rPr lang="en-AU" dirty="0" err="1"/>
              <a:t>pulciom</a:t>
            </a:r>
            <a:r>
              <a:rPr lang="en-AU" dirty="0"/>
              <a:t> </a:t>
            </a:r>
            <a:r>
              <a:rPr lang="en-AU" dirty="0" err="1"/>
              <a:t>lymiolwym</a:t>
            </a:r>
            <a:r>
              <a:rPr lang="en-AU" dirty="0"/>
              <a:t> </a:t>
            </a:r>
            <a:r>
              <a:rPr lang="en-AU" dirty="0" err="1"/>
              <a:t>ni</a:t>
            </a:r>
            <a:r>
              <a:rPr lang="en-AU" dirty="0"/>
              <a:t> </a:t>
            </a:r>
            <a:r>
              <a:rPr lang="en-AU" dirty="0" err="1"/>
              <a:t>byfj</a:t>
            </a:r>
            <a:r>
              <a:rPr lang="en-AU" dirty="0"/>
              <a:t> </a:t>
            </a:r>
            <a:r>
              <a:rPr lang="en-AU" dirty="0" err="1"/>
              <a:t>sio</a:t>
            </a:r>
            <a:r>
              <a:rPr lang="en-AU" dirty="0"/>
              <a:t> </a:t>
            </a:r>
            <a:r>
              <a:rPr lang="en-AU" dirty="0" err="1"/>
              <a:t>mifpy</a:t>
            </a:r>
            <a:r>
              <a:rPr lang="en-AU" dirty="0"/>
              <a:t> </a:t>
            </a:r>
            <a:r>
              <a:rPr lang="en-AU" dirty="0" err="1"/>
              <a:t>nbcm</a:t>
            </a:r>
            <a:r>
              <a:rPr lang="en-AU" dirty="0"/>
              <a:t> </a:t>
            </a:r>
            <a:r>
              <a:rPr lang="en-AU" dirty="0" err="1"/>
              <a:t>jlivfyg</a:t>
            </a:r>
            <a:r>
              <a:rPr lang="en-AU" dirty="0"/>
              <a:t>, </a:t>
            </a:r>
            <a:r>
              <a:rPr lang="en-AU" dirty="0" err="1"/>
              <a:t>qbcwb</a:t>
            </a:r>
            <a:r>
              <a:rPr lang="en-AU" dirty="0"/>
              <a:t> </a:t>
            </a:r>
            <a:r>
              <a:rPr lang="en-AU" dirty="0" err="1"/>
              <a:t>sio</a:t>
            </a:r>
            <a:r>
              <a:rPr lang="en-AU" dirty="0"/>
              <a:t> </a:t>
            </a:r>
            <a:r>
              <a:rPr lang="en-AU" dirty="0" err="1"/>
              <a:t>gus</a:t>
            </a:r>
            <a:r>
              <a:rPr lang="en-AU" dirty="0"/>
              <a:t> </a:t>
            </a:r>
            <a:r>
              <a:rPr lang="en-AU" dirty="0" err="1"/>
              <a:t>zchx</a:t>
            </a:r>
            <a:r>
              <a:rPr lang="en-AU" dirty="0"/>
              <a:t> </a:t>
            </a:r>
            <a:r>
              <a:rPr lang="en-AU" dirty="0" err="1"/>
              <a:t>omyzof</a:t>
            </a:r>
            <a:r>
              <a:rPr lang="en-AU" dirty="0"/>
              <a:t> von </a:t>
            </a:r>
            <a:r>
              <a:rPr lang="en-AU" dirty="0" err="1"/>
              <a:t>cn</a:t>
            </a:r>
            <a:r>
              <a:rPr lang="en-AU" dirty="0"/>
              <a:t> </a:t>
            </a:r>
            <a:r>
              <a:rPr lang="en-AU" dirty="0" err="1"/>
              <a:t>myygm</a:t>
            </a:r>
            <a:r>
              <a:rPr lang="en-AU" dirty="0"/>
              <a:t> </a:t>
            </a:r>
            <a:r>
              <a:rPr lang="en-AU" dirty="0" err="1"/>
              <a:t>nbun</a:t>
            </a:r>
            <a:r>
              <a:rPr lang="en-AU" dirty="0"/>
              <a:t> </a:t>
            </a:r>
            <a:r>
              <a:rPr lang="en-AU" dirty="0" err="1"/>
              <a:t>nbcm</a:t>
            </a:r>
            <a:r>
              <a:rPr lang="en-AU" dirty="0"/>
              <a:t> </a:t>
            </a:r>
            <a:r>
              <a:rPr lang="en-AU" dirty="0" err="1"/>
              <a:t>mcgjfy</a:t>
            </a:r>
            <a:r>
              <a:rPr lang="en-AU" dirty="0"/>
              <a:t> </a:t>
            </a:r>
            <a:r>
              <a:rPr lang="en-AU" dirty="0" err="1"/>
              <a:t>jlivfyg</a:t>
            </a:r>
            <a:r>
              <a:rPr lang="en-AU" dirty="0"/>
              <a:t> </a:t>
            </a:r>
            <a:r>
              <a:rPr lang="en-AU" dirty="0" err="1"/>
              <a:t>wiofx</a:t>
            </a:r>
            <a:r>
              <a:rPr lang="en-AU" dirty="0"/>
              <a:t> </a:t>
            </a:r>
            <a:r>
              <a:rPr lang="en-AU" dirty="0" err="1"/>
              <a:t>vy</a:t>
            </a:r>
            <a:r>
              <a:rPr lang="en-AU" dirty="0"/>
              <a:t> </a:t>
            </a:r>
            <a:r>
              <a:rPr lang="en-AU" dirty="0" err="1"/>
              <a:t>mifpyx</a:t>
            </a:r>
            <a:r>
              <a:rPr lang="en-AU" dirty="0"/>
              <a:t> </a:t>
            </a:r>
            <a:r>
              <a:rPr lang="en-AU" dirty="0" err="1"/>
              <a:t>yumcfs</a:t>
            </a:r>
            <a:r>
              <a:rPr lang="en-AU" dirty="0"/>
              <a:t> vs </a:t>
            </a:r>
            <a:r>
              <a:rPr lang="en-AU" dirty="0" err="1"/>
              <a:t>omcha</a:t>
            </a:r>
            <a:r>
              <a:rPr lang="en-AU" dirty="0"/>
              <a:t> </a:t>
            </a:r>
            <a:r>
              <a:rPr lang="en-AU" dirty="0" err="1"/>
              <a:t>migy</a:t>
            </a:r>
            <a:r>
              <a:rPr lang="en-AU" dirty="0"/>
              <a:t> </a:t>
            </a:r>
            <a:r>
              <a:rPr lang="en-AU" dirty="0" err="1"/>
              <a:t>uonigunyx</a:t>
            </a:r>
            <a:r>
              <a:rPr lang="en-AU" dirty="0"/>
              <a:t> </a:t>
            </a:r>
            <a:r>
              <a:rPr lang="en-AU" dirty="0" err="1"/>
              <a:t>niifm</a:t>
            </a:r>
            <a:r>
              <a:rPr lang="en-AU" dirty="0"/>
              <a:t> </a:t>
            </a:r>
            <a:r>
              <a:rPr lang="en-AU" dirty="0" err="1"/>
              <a:t>mowb</a:t>
            </a:r>
            <a:r>
              <a:rPr lang="en-AU" dirty="0"/>
              <a:t> um </a:t>
            </a:r>
            <a:r>
              <a:rPr lang="en-AU" dirty="0" err="1"/>
              <a:t>wsvylwbyz</a:t>
            </a:r>
            <a:r>
              <a:rPr lang="en-AU" dirty="0"/>
              <a:t>.</a:t>
            </a:r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Find live lectures from here: </a:t>
            </a:r>
            <a:r>
              <a:rPr lang="en-AU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https://github.com/uwacyber/cits1003/tree/2022s1/live-lecture-slides</a:t>
            </a:r>
            <a:endParaRPr lang="en-AU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AU" dirty="0"/>
              <a:t>For week 2: CITS1003-2 Cryptography-exercises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1497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796C3-E9B9-40A6-BABC-111D8CE53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AC55-C8AC-43AB-8741-E2D4E909C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How did you do it?</a:t>
            </a:r>
          </a:p>
        </p:txBody>
      </p:sp>
    </p:spTree>
    <p:extLst>
      <p:ext uri="{BB962C8B-B14F-4D97-AF65-F5344CB8AC3E}">
        <p14:creationId xmlns:p14="http://schemas.microsoft.com/office/powerpoint/2010/main" val="3020715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796C3-E9B9-40A6-BABC-111D8CE53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AC55-C8AC-43AB-8741-E2D4E909C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Boxentriq</a:t>
            </a:r>
            <a:r>
              <a:rPr lang="en-US"/>
              <a:t> Cryptogram auto solver: https://www.boxentriq.com/code-breaking/cryptogram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67038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796C3-E9B9-40A6-BABC-111D8CE53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AC55-C8AC-43AB-8741-E2D4E909C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/>
          <a:lstStyle/>
          <a:p>
            <a:r>
              <a:rPr lang="en-AU" err="1">
                <a:effectLst/>
              </a:rPr>
              <a:t>CyberChef</a:t>
            </a:r>
            <a:r>
              <a:rPr lang="en-AU">
                <a:effectLst/>
              </a:rPr>
              <a:t> </a:t>
            </a:r>
            <a:r>
              <a:rPr lang="en-US"/>
              <a:t>: https://gchq.github.io/CyberChef/</a:t>
            </a:r>
            <a:endParaRPr lang="en-AU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8B5BE9-6BD3-4A2C-7BF6-5761F9E6424A}"/>
              </a:ext>
            </a:extLst>
          </p:cNvPr>
          <p:cNvSpPr txBox="1">
            <a:spLocks/>
          </p:cNvSpPr>
          <p:nvPr/>
        </p:nvSpPr>
        <p:spPr>
          <a:xfrm>
            <a:off x="913795" y="2533651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err="1"/>
              <a:t>nbcm</a:t>
            </a:r>
            <a:r>
              <a:rPr lang="en-AU"/>
              <a:t> cm u </a:t>
            </a:r>
            <a:r>
              <a:rPr lang="en-AU" err="1"/>
              <a:t>nij</a:t>
            </a:r>
            <a:r>
              <a:rPr lang="en-AU"/>
              <a:t> </a:t>
            </a:r>
            <a:r>
              <a:rPr lang="en-AU" err="1"/>
              <a:t>mywlyn</a:t>
            </a:r>
            <a:r>
              <a:rPr lang="en-AU"/>
              <a:t> </a:t>
            </a:r>
            <a:r>
              <a:rPr lang="en-AU" err="1"/>
              <a:t>gymmuay</a:t>
            </a:r>
            <a:r>
              <a:rPr lang="en-AU"/>
              <a:t> </a:t>
            </a:r>
            <a:r>
              <a:rPr lang="en-AU" err="1"/>
              <a:t>nbun</a:t>
            </a:r>
            <a:r>
              <a:rPr lang="en-AU"/>
              <a:t> </a:t>
            </a:r>
            <a:r>
              <a:rPr lang="en-AU" err="1"/>
              <a:t>sio</a:t>
            </a:r>
            <a:r>
              <a:rPr lang="en-AU"/>
              <a:t> </a:t>
            </a:r>
            <a:r>
              <a:rPr lang="en-AU" err="1"/>
              <a:t>uly</a:t>
            </a:r>
            <a:r>
              <a:rPr lang="en-AU"/>
              <a:t> </a:t>
            </a:r>
            <a:r>
              <a:rPr lang="en-AU" err="1"/>
              <a:t>lykoclyx</a:t>
            </a:r>
            <a:r>
              <a:rPr lang="en-AU"/>
              <a:t> </a:t>
            </a:r>
            <a:r>
              <a:rPr lang="en-AU" err="1"/>
              <a:t>ni</a:t>
            </a:r>
            <a:r>
              <a:rPr lang="en-AU"/>
              <a:t> </a:t>
            </a:r>
            <a:r>
              <a:rPr lang="en-AU" err="1"/>
              <a:t>xywixy</a:t>
            </a:r>
            <a:r>
              <a:rPr lang="en-AU"/>
              <a:t> </a:t>
            </a:r>
            <a:r>
              <a:rPr lang="en-AU" err="1"/>
              <a:t>ch</a:t>
            </a:r>
            <a:r>
              <a:rPr lang="en-AU"/>
              <a:t> </a:t>
            </a:r>
            <a:r>
              <a:rPr lang="en-AU" err="1"/>
              <a:t>ilxyl</a:t>
            </a:r>
            <a:r>
              <a:rPr lang="en-AU"/>
              <a:t> </a:t>
            </a:r>
            <a:r>
              <a:rPr lang="en-AU" err="1"/>
              <a:t>ni</a:t>
            </a:r>
            <a:r>
              <a:rPr lang="en-AU"/>
              <a:t> </a:t>
            </a:r>
            <a:r>
              <a:rPr lang="en-AU" err="1"/>
              <a:t>mifpy</a:t>
            </a:r>
            <a:r>
              <a:rPr lang="en-AU"/>
              <a:t> </a:t>
            </a:r>
            <a:r>
              <a:rPr lang="en-AU" err="1"/>
              <a:t>nby</a:t>
            </a:r>
            <a:r>
              <a:rPr lang="en-AU"/>
              <a:t> </a:t>
            </a:r>
            <a:r>
              <a:rPr lang="en-AU" err="1"/>
              <a:t>jlivfyg</a:t>
            </a:r>
            <a:r>
              <a:rPr lang="en-AU"/>
              <a:t> </a:t>
            </a:r>
            <a:r>
              <a:rPr lang="en-AU" err="1"/>
              <a:t>myn</a:t>
            </a:r>
            <a:r>
              <a:rPr lang="en-AU"/>
              <a:t> ion </a:t>
            </a:r>
            <a:r>
              <a:rPr lang="en-AU" err="1"/>
              <a:t>ni</a:t>
            </a:r>
            <a:r>
              <a:rPr lang="en-AU"/>
              <a:t> </a:t>
            </a:r>
            <a:r>
              <a:rPr lang="en-AU" err="1"/>
              <a:t>sio</a:t>
            </a:r>
            <a:r>
              <a:rPr lang="en-AU"/>
              <a:t> </a:t>
            </a:r>
            <a:r>
              <a:rPr lang="en-AU" err="1"/>
              <a:t>ch</a:t>
            </a:r>
            <a:r>
              <a:rPr lang="en-AU"/>
              <a:t> </a:t>
            </a:r>
            <a:r>
              <a:rPr lang="en-AU" err="1"/>
              <a:t>zlihn</a:t>
            </a:r>
            <a:r>
              <a:rPr lang="en-AU"/>
              <a:t>. </a:t>
            </a:r>
            <a:r>
              <a:rPr lang="en-AU" err="1"/>
              <a:t>biqypyl</a:t>
            </a:r>
            <a:r>
              <a:rPr lang="en-AU"/>
              <a:t> </a:t>
            </a:r>
            <a:r>
              <a:rPr lang="en-AU" err="1"/>
              <a:t>sio</a:t>
            </a:r>
            <a:r>
              <a:rPr lang="en-AU"/>
              <a:t> </a:t>
            </a:r>
            <a:r>
              <a:rPr lang="en-AU" err="1"/>
              <a:t>uly</a:t>
            </a:r>
            <a:r>
              <a:rPr lang="en-AU"/>
              <a:t> </a:t>
            </a:r>
            <a:r>
              <a:rPr lang="en-AU" err="1"/>
              <a:t>qyfwigy</a:t>
            </a:r>
            <a:r>
              <a:rPr lang="en-AU"/>
              <a:t> </a:t>
            </a:r>
            <a:r>
              <a:rPr lang="en-AU" err="1"/>
              <a:t>ni</a:t>
            </a:r>
            <a:r>
              <a:rPr lang="en-AU"/>
              <a:t> </a:t>
            </a:r>
            <a:r>
              <a:rPr lang="en-AU" err="1"/>
              <a:t>omy</a:t>
            </a:r>
            <a:r>
              <a:rPr lang="en-AU"/>
              <a:t> </a:t>
            </a:r>
            <a:r>
              <a:rPr lang="en-AU" err="1"/>
              <a:t>pulciom</a:t>
            </a:r>
            <a:r>
              <a:rPr lang="en-AU"/>
              <a:t> </a:t>
            </a:r>
            <a:r>
              <a:rPr lang="en-AU" err="1"/>
              <a:t>lymiolwym</a:t>
            </a:r>
            <a:r>
              <a:rPr lang="en-AU"/>
              <a:t> </a:t>
            </a:r>
            <a:r>
              <a:rPr lang="en-AU" err="1"/>
              <a:t>ni</a:t>
            </a:r>
            <a:r>
              <a:rPr lang="en-AU"/>
              <a:t> </a:t>
            </a:r>
            <a:r>
              <a:rPr lang="en-AU" err="1"/>
              <a:t>byfj</a:t>
            </a:r>
            <a:r>
              <a:rPr lang="en-AU"/>
              <a:t> </a:t>
            </a:r>
            <a:r>
              <a:rPr lang="en-AU" err="1"/>
              <a:t>sio</a:t>
            </a:r>
            <a:r>
              <a:rPr lang="en-AU"/>
              <a:t> </a:t>
            </a:r>
            <a:r>
              <a:rPr lang="en-AU" err="1"/>
              <a:t>mifpy</a:t>
            </a:r>
            <a:r>
              <a:rPr lang="en-AU"/>
              <a:t> </a:t>
            </a:r>
            <a:r>
              <a:rPr lang="en-AU" err="1"/>
              <a:t>nbcm</a:t>
            </a:r>
            <a:r>
              <a:rPr lang="en-AU"/>
              <a:t> </a:t>
            </a:r>
            <a:r>
              <a:rPr lang="en-AU" err="1"/>
              <a:t>jlivfyg</a:t>
            </a:r>
            <a:r>
              <a:rPr lang="en-AU"/>
              <a:t>, </a:t>
            </a:r>
            <a:r>
              <a:rPr lang="en-AU" err="1"/>
              <a:t>qbcwb</a:t>
            </a:r>
            <a:r>
              <a:rPr lang="en-AU"/>
              <a:t> </a:t>
            </a:r>
            <a:r>
              <a:rPr lang="en-AU" err="1"/>
              <a:t>sio</a:t>
            </a:r>
            <a:r>
              <a:rPr lang="en-AU"/>
              <a:t> </a:t>
            </a:r>
            <a:r>
              <a:rPr lang="en-AU" err="1"/>
              <a:t>gus</a:t>
            </a:r>
            <a:r>
              <a:rPr lang="en-AU"/>
              <a:t> </a:t>
            </a:r>
            <a:r>
              <a:rPr lang="en-AU" err="1"/>
              <a:t>zchx</a:t>
            </a:r>
            <a:r>
              <a:rPr lang="en-AU"/>
              <a:t> </a:t>
            </a:r>
            <a:r>
              <a:rPr lang="en-AU" err="1"/>
              <a:t>omyzof</a:t>
            </a:r>
            <a:r>
              <a:rPr lang="en-AU"/>
              <a:t> von </a:t>
            </a:r>
            <a:r>
              <a:rPr lang="en-AU" err="1"/>
              <a:t>cn</a:t>
            </a:r>
            <a:r>
              <a:rPr lang="en-AU"/>
              <a:t> </a:t>
            </a:r>
            <a:r>
              <a:rPr lang="en-AU" err="1"/>
              <a:t>myygm</a:t>
            </a:r>
            <a:r>
              <a:rPr lang="en-AU"/>
              <a:t> </a:t>
            </a:r>
            <a:r>
              <a:rPr lang="en-AU" err="1"/>
              <a:t>nbun</a:t>
            </a:r>
            <a:r>
              <a:rPr lang="en-AU"/>
              <a:t> </a:t>
            </a:r>
            <a:r>
              <a:rPr lang="en-AU" err="1"/>
              <a:t>nbcm</a:t>
            </a:r>
            <a:r>
              <a:rPr lang="en-AU"/>
              <a:t> </a:t>
            </a:r>
            <a:r>
              <a:rPr lang="en-AU" err="1"/>
              <a:t>mcgjfy</a:t>
            </a:r>
            <a:r>
              <a:rPr lang="en-AU"/>
              <a:t> </a:t>
            </a:r>
            <a:r>
              <a:rPr lang="en-AU" err="1"/>
              <a:t>jlivfyg</a:t>
            </a:r>
            <a:r>
              <a:rPr lang="en-AU"/>
              <a:t> </a:t>
            </a:r>
            <a:r>
              <a:rPr lang="en-AU" err="1"/>
              <a:t>wiofx</a:t>
            </a:r>
            <a:r>
              <a:rPr lang="en-AU"/>
              <a:t> </a:t>
            </a:r>
            <a:r>
              <a:rPr lang="en-AU" err="1"/>
              <a:t>vy</a:t>
            </a:r>
            <a:r>
              <a:rPr lang="en-AU"/>
              <a:t> </a:t>
            </a:r>
            <a:r>
              <a:rPr lang="en-AU" err="1"/>
              <a:t>mifpyx</a:t>
            </a:r>
            <a:r>
              <a:rPr lang="en-AU"/>
              <a:t> </a:t>
            </a:r>
            <a:r>
              <a:rPr lang="en-AU" err="1"/>
              <a:t>yumcfs</a:t>
            </a:r>
            <a:r>
              <a:rPr lang="en-AU"/>
              <a:t> vs </a:t>
            </a:r>
            <a:r>
              <a:rPr lang="en-AU" err="1"/>
              <a:t>omcha</a:t>
            </a:r>
            <a:r>
              <a:rPr lang="en-AU"/>
              <a:t> </a:t>
            </a:r>
            <a:r>
              <a:rPr lang="en-AU" err="1"/>
              <a:t>migy</a:t>
            </a:r>
            <a:r>
              <a:rPr lang="en-AU"/>
              <a:t> </a:t>
            </a:r>
            <a:r>
              <a:rPr lang="en-AU" err="1"/>
              <a:t>uonigunyx</a:t>
            </a:r>
            <a:r>
              <a:rPr lang="en-AU"/>
              <a:t> </a:t>
            </a:r>
            <a:r>
              <a:rPr lang="en-AU" err="1"/>
              <a:t>niifm</a:t>
            </a:r>
            <a:r>
              <a:rPr lang="en-AU"/>
              <a:t> </a:t>
            </a:r>
            <a:r>
              <a:rPr lang="en-AU" err="1"/>
              <a:t>mowb</a:t>
            </a:r>
            <a:r>
              <a:rPr lang="en-AU"/>
              <a:t> um </a:t>
            </a:r>
            <a:r>
              <a:rPr lang="en-AU" err="1"/>
              <a:t>wsvylwbyz</a:t>
            </a:r>
            <a:r>
              <a:rPr lang="en-AU"/>
              <a:t>.</a:t>
            </a:r>
          </a:p>
          <a:p>
            <a:pPr marL="36900" indent="0"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6560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796C3-E9B9-40A6-BABC-111D8CE53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AC55-C8AC-43AB-8741-E2D4E909C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How did you do it?</a:t>
            </a:r>
          </a:p>
          <a:p>
            <a:r>
              <a:rPr lang="en-AU"/>
              <a:t>Will your approach work for other encoded messages? Why or why not?</a:t>
            </a:r>
          </a:p>
        </p:txBody>
      </p:sp>
    </p:spTree>
    <p:extLst>
      <p:ext uri="{BB962C8B-B14F-4D97-AF65-F5344CB8AC3E}">
        <p14:creationId xmlns:p14="http://schemas.microsoft.com/office/powerpoint/2010/main" val="2041390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7A0B0-688D-4449-A7E5-CA28AEBBC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9B359-E3FC-4194-BFB0-E54A2DE2A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You are given a ciphertext as follows:</a:t>
            </a:r>
          </a:p>
          <a:p>
            <a:pPr marL="36900" indent="0" algn="ctr">
              <a:buNone/>
            </a:pP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ymnx</a:t>
            </a:r>
            <a:r>
              <a:rPr lang="en-A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nx</a:t>
            </a:r>
            <a:r>
              <a:rPr lang="en-A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ymj</a:t>
            </a:r>
            <a:r>
              <a:rPr lang="en-A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gjxy</a:t>
            </a:r>
            <a:r>
              <a:rPr lang="en-A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xjsyjshj</a:t>
            </a:r>
            <a:r>
              <a:rPr lang="en-A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jajw</a:t>
            </a:r>
            <a:endParaRPr lang="en-AU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U"/>
              <a:t>Applying cryptanalysis, what is the likely letter for “e”, “t” and “a” (the top 3 most frequent letters)?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5527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6F62-1915-42EF-B0C5-2025E702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55683"/>
            <a:ext cx="10353762" cy="1257300"/>
          </a:xfrm>
        </p:spPr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C9F4-BFA5-4CCB-92BD-48D6E931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426716"/>
            <a:ext cx="10353762" cy="4482005"/>
          </a:xfrm>
        </p:spPr>
        <p:txBody>
          <a:bodyPr>
            <a:normAutofit/>
          </a:bodyPr>
          <a:lstStyle/>
          <a:p>
            <a:r>
              <a:rPr lang="en-AU"/>
              <a:t>We have the frequency as follows (sorted):</a:t>
            </a:r>
          </a:p>
          <a:p>
            <a:endParaRPr lang="en-AU"/>
          </a:p>
          <a:p>
            <a:endParaRPr lang="en-AU"/>
          </a:p>
          <a:p>
            <a:endParaRPr lang="en-AU"/>
          </a:p>
          <a:p>
            <a:endParaRPr lang="en-AU"/>
          </a:p>
          <a:p>
            <a:endParaRPr lang="en-AU"/>
          </a:p>
          <a:p>
            <a:endParaRPr lang="en-AU"/>
          </a:p>
          <a:p>
            <a:r>
              <a:rPr lang="en-AU"/>
              <a:t>Plaintext: </a:t>
            </a:r>
            <a:r>
              <a:rPr lang="en-US"/>
              <a:t>this is the best sentence ever</a:t>
            </a:r>
          </a:p>
          <a:p>
            <a:r>
              <a:rPr lang="en-AU"/>
              <a:t>So “j” mapped to “e”, and “y” to “t”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BE269B-D53D-45CC-AC4D-C842E7FBB094}"/>
              </a:ext>
            </a:extLst>
          </p:cNvPr>
          <p:cNvSpPr txBox="1"/>
          <p:nvPr/>
        </p:nvSpPr>
        <p:spPr>
          <a:xfrm>
            <a:off x="3756135" y="1938949"/>
            <a:ext cx="6093372" cy="2677656"/>
          </a:xfrm>
          <a:prstGeom prst="rect">
            <a:avLst/>
          </a:prstGeom>
          <a:noFill/>
        </p:spPr>
        <p:txBody>
          <a:bodyPr wrap="square" numCol="2">
            <a:spAutoFit/>
          </a:bodyPr>
          <a:lstStyle/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j : 7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y : 4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x : 4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m : 2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n : 2</a:t>
            </a:r>
          </a:p>
          <a:p>
            <a:endParaRPr lang="en-AU" sz="2800">
              <a:solidFill>
                <a:schemeClr val="tx1"/>
              </a:solidFill>
              <a:latin typeface="Courier"/>
              <a:cs typeface="Arial" panose="020B0604020202020204" pitchFamily="34" charset="0"/>
            </a:endParaRP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s : 2 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g : 1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h : 1 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a : 1</a:t>
            </a:r>
          </a:p>
          <a:p>
            <a:r>
              <a:rPr lang="en-AU" sz="2800">
                <a:solidFill>
                  <a:schemeClr val="tx1"/>
                </a:solidFill>
                <a:latin typeface="Courier"/>
                <a:cs typeface="Arial" panose="020B0604020202020204" pitchFamily="34" charset="0"/>
              </a:rPr>
              <a:t>w : 1</a:t>
            </a:r>
          </a:p>
        </p:txBody>
      </p:sp>
    </p:spTree>
    <p:extLst>
      <p:ext uri="{BB962C8B-B14F-4D97-AF65-F5344CB8AC3E}">
        <p14:creationId xmlns:p14="http://schemas.microsoft.com/office/powerpoint/2010/main" val="3976218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6F62-1915-42EF-B0C5-2025E702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11021"/>
            <a:ext cx="10353762" cy="1257300"/>
          </a:xfrm>
        </p:spPr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C9F4-BFA5-4CCB-92BD-48D6E931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866900"/>
            <a:ext cx="10353762" cy="4482005"/>
          </a:xfrm>
        </p:spPr>
        <p:txBody>
          <a:bodyPr>
            <a:normAutofit/>
          </a:bodyPr>
          <a:lstStyle/>
          <a:p>
            <a:r>
              <a:rPr lang="en-AU"/>
              <a:t>Frequency auto-analysis: </a:t>
            </a:r>
            <a:r>
              <a:rPr lang="en-AU">
                <a:hlinkClick r:id="rId3"/>
              </a:rPr>
              <a:t>https://www.dcode.fr/frequency-analysis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7196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6F62-1915-42EF-B0C5-2025E702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11021"/>
            <a:ext cx="10353762" cy="1257300"/>
          </a:xfrm>
        </p:spPr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C9F4-BFA5-4CCB-92BD-48D6E931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866900"/>
            <a:ext cx="10353762" cy="4482005"/>
          </a:xfrm>
        </p:spPr>
        <p:txBody>
          <a:bodyPr>
            <a:normAutofit/>
          </a:bodyPr>
          <a:lstStyle/>
          <a:p>
            <a:r>
              <a:rPr lang="en-AU"/>
              <a:t>This works because?</a:t>
            </a:r>
          </a:p>
        </p:txBody>
      </p:sp>
    </p:spTree>
    <p:extLst>
      <p:ext uri="{BB962C8B-B14F-4D97-AF65-F5344CB8AC3E}">
        <p14:creationId xmlns:p14="http://schemas.microsoft.com/office/powerpoint/2010/main" val="225699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6F62-1915-42EF-B0C5-2025E7027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311021"/>
            <a:ext cx="10353762" cy="1257300"/>
          </a:xfrm>
        </p:spPr>
        <p:txBody>
          <a:bodyPr/>
          <a:lstStyle/>
          <a:p>
            <a:r>
              <a:rPr lang="en-AU"/>
              <a:t>Crack the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C9F4-BFA5-4CCB-92BD-48D6E931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866900"/>
            <a:ext cx="10353762" cy="4482005"/>
          </a:xfrm>
        </p:spPr>
        <p:txBody>
          <a:bodyPr>
            <a:normAutofit/>
          </a:bodyPr>
          <a:lstStyle/>
          <a:p>
            <a:r>
              <a:rPr lang="en-AU"/>
              <a:t>This works because?</a:t>
            </a:r>
          </a:p>
          <a:p>
            <a:r>
              <a:rPr lang="en-AU"/>
              <a:t>This might not work because?</a:t>
            </a:r>
          </a:p>
        </p:txBody>
      </p:sp>
    </p:spTree>
    <p:extLst>
      <p:ext uri="{BB962C8B-B14F-4D97-AF65-F5344CB8AC3E}">
        <p14:creationId xmlns:p14="http://schemas.microsoft.com/office/powerpoint/2010/main" val="1807483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Caesar Cipher</a:t>
            </a:r>
          </a:p>
          <a:p>
            <a:r>
              <a:rPr lang="en-AU"/>
              <a:t>Polyalphabetic cipher (e.g., </a:t>
            </a:r>
            <a:r>
              <a:rPr lang="en-AU" err="1"/>
              <a:t>Vigenere</a:t>
            </a:r>
            <a:r>
              <a:rPr lang="en-AU"/>
              <a:t>)</a:t>
            </a:r>
          </a:p>
          <a:p>
            <a:r>
              <a:rPr lang="en-AU"/>
              <a:t>Monoalphabetic cipher</a:t>
            </a:r>
          </a:p>
          <a:p>
            <a:r>
              <a:rPr lang="en-AU"/>
              <a:t>DES</a:t>
            </a:r>
          </a:p>
          <a:p>
            <a:r>
              <a:rPr lang="en-AU"/>
              <a:t>3DES</a:t>
            </a:r>
          </a:p>
          <a:p>
            <a:r>
              <a:rPr lang="en-AU"/>
              <a:t>AES</a:t>
            </a:r>
          </a:p>
        </p:txBody>
      </p:sp>
    </p:spTree>
    <p:extLst>
      <p:ext uri="{BB962C8B-B14F-4D97-AF65-F5344CB8AC3E}">
        <p14:creationId xmlns:p14="http://schemas.microsoft.com/office/powerpoint/2010/main" val="3596805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Caesar Cipher: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25035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Caesar Cipher: 26</a:t>
            </a:r>
          </a:p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70243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540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339851"/>
            <a:ext cx="10353762" cy="730250"/>
          </a:xfrm>
        </p:spPr>
        <p:txBody>
          <a:bodyPr/>
          <a:lstStyle/>
          <a:p>
            <a:r>
              <a:rPr lang="en-AU"/>
              <a:t>Caesar Cipher</a:t>
            </a:r>
          </a:p>
          <a:p>
            <a:endParaRPr lang="en-AU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12F75F-9359-47F6-9D47-60060FCF1CC6}"/>
              </a:ext>
            </a:extLst>
          </p:cNvPr>
          <p:cNvSpPr txBox="1">
            <a:spLocks/>
          </p:cNvSpPr>
          <p:nvPr/>
        </p:nvSpPr>
        <p:spPr>
          <a:xfrm>
            <a:off x="1267343" y="1624378"/>
            <a:ext cx="3926957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right-shift plaintext with 1 position</a:t>
            </a:r>
          </a:p>
          <a:p>
            <a:pPr marL="450000" lvl="1" indent="0">
              <a:buClr>
                <a:srgbClr val="A629E7"/>
              </a:buClr>
              <a:buNone/>
            </a:pPr>
            <a:r>
              <a:rPr lang="en-AU"/>
              <a:t>A </a:t>
            </a:r>
            <a:r>
              <a:rPr lang="en-AU">
                <a:sym typeface="Wingdings" pitchFamily="2" charset="2"/>
              </a:rPr>
              <a:t> B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16B5C8C-6C05-4264-8D04-5EF356315F30}"/>
              </a:ext>
            </a:extLst>
          </p:cNvPr>
          <p:cNvSpPr txBox="1">
            <a:spLocks/>
          </p:cNvSpPr>
          <p:nvPr/>
        </p:nvSpPr>
        <p:spPr>
          <a:xfrm>
            <a:off x="1267343" y="2641600"/>
            <a:ext cx="3926957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right-shift plaintext with 2 positions</a:t>
            </a:r>
          </a:p>
          <a:p>
            <a:pPr marL="450000" lvl="1" indent="0">
              <a:buClr>
                <a:srgbClr val="A629E7"/>
              </a:buClr>
              <a:buNone/>
            </a:pPr>
            <a:r>
              <a:rPr lang="en-AU"/>
              <a:t>A </a:t>
            </a:r>
            <a:r>
              <a:rPr lang="en-AU">
                <a:sym typeface="Wingdings" pitchFamily="2" charset="2"/>
              </a:rPr>
              <a:t> C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33A632-467F-4072-A716-3AC65AD83EBD}"/>
              </a:ext>
            </a:extLst>
          </p:cNvPr>
          <p:cNvSpPr txBox="1">
            <a:spLocks/>
          </p:cNvSpPr>
          <p:nvPr/>
        </p:nvSpPr>
        <p:spPr>
          <a:xfrm>
            <a:off x="1305443" y="3685444"/>
            <a:ext cx="3926957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right-shift plaintext with 26 position</a:t>
            </a:r>
            <a:r>
              <a:rPr lang="en-US" altLang="zh-CN"/>
              <a:t>s</a:t>
            </a:r>
            <a:endParaRPr lang="en-AU"/>
          </a:p>
          <a:p>
            <a:pPr marL="450000" lvl="1" indent="0">
              <a:buClr>
                <a:srgbClr val="A629E7"/>
              </a:buClr>
              <a:buNone/>
            </a:pPr>
            <a:r>
              <a:rPr lang="en-AU"/>
              <a:t>A </a:t>
            </a:r>
            <a:r>
              <a:rPr lang="en-AU">
                <a:sym typeface="Wingdings" pitchFamily="2" charset="2"/>
              </a:rPr>
              <a:t> 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A98D262-DB9E-4C59-AA70-555A4A40602D}"/>
              </a:ext>
            </a:extLst>
          </p:cNvPr>
          <p:cNvSpPr txBox="1">
            <a:spLocks/>
          </p:cNvSpPr>
          <p:nvPr/>
        </p:nvSpPr>
        <p:spPr>
          <a:xfrm>
            <a:off x="5661543" y="1527054"/>
            <a:ext cx="3926957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right-shift plaintext with 27 position</a:t>
            </a:r>
            <a:r>
              <a:rPr lang="en-US" altLang="zh-CN"/>
              <a:t>s</a:t>
            </a:r>
            <a:endParaRPr lang="en-AU"/>
          </a:p>
          <a:p>
            <a:pPr marL="450000" lvl="1" indent="0">
              <a:buClr>
                <a:srgbClr val="A629E7"/>
              </a:buClr>
              <a:buNone/>
            </a:pPr>
            <a:r>
              <a:rPr lang="en-AU"/>
              <a:t>A </a:t>
            </a:r>
            <a:r>
              <a:rPr lang="en-AU">
                <a:sym typeface="Wingdings" pitchFamily="2" charset="2"/>
              </a:rPr>
              <a:t> B</a:t>
            </a:r>
          </a:p>
        </p:txBody>
      </p:sp>
    </p:spTree>
    <p:extLst>
      <p:ext uri="{BB962C8B-B14F-4D97-AF65-F5344CB8AC3E}">
        <p14:creationId xmlns:p14="http://schemas.microsoft.com/office/powerpoint/2010/main" val="2490617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1"/>
            <a:ext cx="10353762" cy="984250"/>
          </a:xfrm>
        </p:spPr>
        <p:txBody>
          <a:bodyPr/>
          <a:lstStyle/>
          <a:p>
            <a:r>
              <a:rPr lang="en-AU"/>
              <a:t>Polyalphabetic cipher (e.g., </a:t>
            </a:r>
            <a:r>
              <a:rPr lang="en-AU" err="1"/>
              <a:t>Vigenere</a:t>
            </a:r>
            <a:r>
              <a:rPr lang="en-AU"/>
              <a:t>):</a:t>
            </a:r>
          </a:p>
        </p:txBody>
      </p:sp>
    </p:spTree>
    <p:extLst>
      <p:ext uri="{BB962C8B-B14F-4D97-AF65-F5344CB8AC3E}">
        <p14:creationId xmlns:p14="http://schemas.microsoft.com/office/powerpoint/2010/main" val="3461264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1"/>
            <a:ext cx="10353762" cy="984250"/>
          </a:xfrm>
        </p:spPr>
        <p:txBody>
          <a:bodyPr/>
          <a:lstStyle/>
          <a:p>
            <a:r>
              <a:rPr lang="en-AU"/>
              <a:t>Polyalphabetic cipher (e.g., </a:t>
            </a:r>
            <a:r>
              <a:rPr lang="en-AU" err="1"/>
              <a:t>Vigenere</a:t>
            </a:r>
            <a:r>
              <a:rPr lang="en-AU"/>
              <a:t>): 26</a:t>
            </a:r>
            <a:r>
              <a:rPr lang="en-US"/>
              <a:t>^n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431547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1"/>
            <a:ext cx="10353762" cy="984250"/>
          </a:xfrm>
        </p:spPr>
        <p:txBody>
          <a:bodyPr/>
          <a:lstStyle/>
          <a:p>
            <a:r>
              <a:rPr lang="en-AU"/>
              <a:t>Polyalphabetic cipher (e.g., </a:t>
            </a:r>
            <a:r>
              <a:rPr lang="en-AU" err="1"/>
              <a:t>Vigenere</a:t>
            </a:r>
            <a:r>
              <a:rPr lang="en-AU"/>
              <a:t>)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18A62D7-92A3-47F0-BB76-D8FAA161F00D}"/>
              </a:ext>
            </a:extLst>
          </p:cNvPr>
          <p:cNvSpPr txBox="1">
            <a:spLocks/>
          </p:cNvSpPr>
          <p:nvPr/>
        </p:nvSpPr>
        <p:spPr>
          <a:xfrm>
            <a:off x="1267343" y="1913915"/>
            <a:ext cx="3346221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key size: n letters in total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EDE18B-16ED-4051-8375-05743210B841}"/>
              </a:ext>
            </a:extLst>
          </p:cNvPr>
          <p:cNvSpPr txBox="1">
            <a:spLocks/>
          </p:cNvSpPr>
          <p:nvPr/>
        </p:nvSpPr>
        <p:spPr>
          <a:xfrm>
            <a:off x="5583896" y="1394556"/>
            <a:ext cx="5781157" cy="3469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“A”, there are 26 options.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“B”, there are 26 options.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…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“Z”, there are 26 options.  </a:t>
            </a:r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1A9C516-9681-4594-8457-AFD48198DA18}"/>
              </a:ext>
            </a:extLst>
          </p:cNvPr>
          <p:cNvSpPr txBox="1">
            <a:spLocks/>
          </p:cNvSpPr>
          <p:nvPr/>
        </p:nvSpPr>
        <p:spPr>
          <a:xfrm>
            <a:off x="5573248" y="3930039"/>
            <a:ext cx="5694309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key space: 26^n</a:t>
            </a:r>
          </a:p>
        </p:txBody>
      </p:sp>
    </p:spTree>
    <p:extLst>
      <p:ext uri="{BB962C8B-B14F-4D97-AF65-F5344CB8AC3E}">
        <p14:creationId xmlns:p14="http://schemas.microsoft.com/office/powerpoint/2010/main" val="1696639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FBD911-E90C-4EAA-9221-ACD8E582EC70}"/>
              </a:ext>
            </a:extLst>
          </p:cNvPr>
          <p:cNvSpPr txBox="1">
            <a:spLocks/>
          </p:cNvSpPr>
          <p:nvPr/>
        </p:nvSpPr>
        <p:spPr>
          <a:xfrm>
            <a:off x="913795" y="1354882"/>
            <a:ext cx="4156969" cy="984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Monoalphabetic cipher</a:t>
            </a:r>
          </a:p>
        </p:txBody>
      </p:sp>
    </p:spTree>
    <p:extLst>
      <p:ext uri="{BB962C8B-B14F-4D97-AF65-F5344CB8AC3E}">
        <p14:creationId xmlns:p14="http://schemas.microsoft.com/office/powerpoint/2010/main" val="4076727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FBD911-E90C-4EAA-9221-ACD8E582EC70}"/>
              </a:ext>
            </a:extLst>
          </p:cNvPr>
          <p:cNvSpPr txBox="1">
            <a:spLocks/>
          </p:cNvSpPr>
          <p:nvPr/>
        </p:nvSpPr>
        <p:spPr>
          <a:xfrm>
            <a:off x="913795" y="1399933"/>
            <a:ext cx="10353762" cy="984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Monoalphabetic cipher: 26!</a:t>
            </a:r>
          </a:p>
        </p:txBody>
      </p:sp>
    </p:spTree>
    <p:extLst>
      <p:ext uri="{BB962C8B-B14F-4D97-AF65-F5344CB8AC3E}">
        <p14:creationId xmlns:p14="http://schemas.microsoft.com/office/powerpoint/2010/main" val="17868535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1"/>
            <a:ext cx="10353762" cy="984250"/>
          </a:xfrm>
        </p:spPr>
        <p:txBody>
          <a:bodyPr/>
          <a:lstStyle/>
          <a:p>
            <a:r>
              <a:rPr lang="en-AU"/>
              <a:t>Monoalphabetic cipher: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EDE18B-16ED-4051-8375-05743210B841}"/>
              </a:ext>
            </a:extLst>
          </p:cNvPr>
          <p:cNvSpPr txBox="1">
            <a:spLocks/>
          </p:cNvSpPr>
          <p:nvPr/>
        </p:nvSpPr>
        <p:spPr>
          <a:xfrm>
            <a:off x="5583896" y="1394556"/>
            <a:ext cx="5781157" cy="3469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“A”, there are 26 options.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“B”, there are 25 options.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…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For “Z”, there is 1 option.  </a:t>
            </a:r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  <a:p>
            <a:pPr marL="36900" indent="0">
              <a:buClr>
                <a:srgbClr val="A629E7"/>
              </a:buClr>
              <a:buNone/>
            </a:pPr>
            <a:endParaRPr lang="en-AU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1A9C516-9681-4594-8457-AFD48198DA18}"/>
              </a:ext>
            </a:extLst>
          </p:cNvPr>
          <p:cNvSpPr txBox="1">
            <a:spLocks/>
          </p:cNvSpPr>
          <p:nvPr/>
        </p:nvSpPr>
        <p:spPr>
          <a:xfrm>
            <a:off x="5573248" y="3930039"/>
            <a:ext cx="5694309" cy="10807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key space: 26!</a:t>
            </a:r>
          </a:p>
        </p:txBody>
      </p:sp>
    </p:spTree>
    <p:extLst>
      <p:ext uri="{BB962C8B-B14F-4D97-AF65-F5344CB8AC3E}">
        <p14:creationId xmlns:p14="http://schemas.microsoft.com/office/powerpoint/2010/main" val="3321861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0FBD911-E90C-4EAA-9221-ACD8E582EC70}"/>
              </a:ext>
            </a:extLst>
          </p:cNvPr>
          <p:cNvSpPr txBox="1">
            <a:spLocks/>
          </p:cNvSpPr>
          <p:nvPr/>
        </p:nvSpPr>
        <p:spPr>
          <a:xfrm>
            <a:off x="913794" y="2622590"/>
            <a:ext cx="8957569" cy="167924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/>
              <a:t>Monoalphabetic cipher: single alphabet for substitution</a:t>
            </a:r>
          </a:p>
          <a:p>
            <a:pPr lvl="1"/>
            <a:r>
              <a:rPr lang="en-AU"/>
              <a:t>26!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D090392-8615-40F8-90C6-0887CB8F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11513"/>
            <a:ext cx="8957569" cy="984250"/>
          </a:xfrm>
        </p:spPr>
        <p:txBody>
          <a:bodyPr/>
          <a:lstStyle/>
          <a:p>
            <a:r>
              <a:rPr lang="en-AU"/>
              <a:t>Polyalphabetic cipher (e.g., </a:t>
            </a:r>
            <a:r>
              <a:rPr lang="en-AU" err="1"/>
              <a:t>Vigenere</a:t>
            </a:r>
            <a:r>
              <a:rPr lang="en-AU"/>
              <a:t>): multiple alphabet for substitution </a:t>
            </a:r>
          </a:p>
          <a:p>
            <a:pPr lvl="1"/>
            <a:r>
              <a:rPr lang="en-AU"/>
              <a:t>26</a:t>
            </a:r>
            <a:r>
              <a:rPr lang="en-US"/>
              <a:t>^n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1462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DES:</a:t>
            </a:r>
          </a:p>
          <a:p>
            <a:pPr marL="36900" indent="0">
              <a:buNone/>
            </a:pPr>
            <a:endParaRPr lang="en-AU"/>
          </a:p>
          <a:p>
            <a:pPr marL="36900" indent="0"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22277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DES: 2^56</a:t>
            </a:r>
          </a:p>
          <a:p>
            <a:pPr marL="36900" indent="0">
              <a:buNone/>
            </a:pPr>
            <a:endParaRPr lang="en-AU"/>
          </a:p>
          <a:p>
            <a:pPr marL="36900" indent="0"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56229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3DES: </a:t>
            </a:r>
          </a:p>
          <a:p>
            <a:pPr marL="36900" indent="0">
              <a:buNone/>
            </a:pPr>
            <a:endParaRPr lang="en-AU"/>
          </a:p>
          <a:p>
            <a:pPr marL="36900" indent="0"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7779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3DES: 2^168 or 2^112.</a:t>
            </a:r>
          </a:p>
          <a:p>
            <a:pPr marL="36900" indent="0">
              <a:buNone/>
            </a:pPr>
            <a:endParaRPr lang="en-AU"/>
          </a:p>
          <a:p>
            <a:pPr marL="36900" indent="0">
              <a:buNone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8398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AES</a:t>
            </a:r>
          </a:p>
        </p:txBody>
      </p:sp>
    </p:spTree>
    <p:extLst>
      <p:ext uri="{BB962C8B-B14F-4D97-AF65-F5344CB8AC3E}">
        <p14:creationId xmlns:p14="http://schemas.microsoft.com/office/powerpoint/2010/main" val="3218462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AB4B3-2123-4AB2-AB02-A3E645B4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46050"/>
            <a:ext cx="10353762" cy="1257300"/>
          </a:xfrm>
        </p:spPr>
        <p:txBody>
          <a:bodyPr/>
          <a:lstStyle/>
          <a:p>
            <a:r>
              <a:rPr lang="en-AU"/>
              <a:t>Key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D72D1-256A-4B1B-9CB0-BCD3A2038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403350"/>
            <a:ext cx="10353762" cy="3714749"/>
          </a:xfrm>
        </p:spPr>
        <p:txBody>
          <a:bodyPr/>
          <a:lstStyle/>
          <a:p>
            <a:r>
              <a:rPr lang="en-AU"/>
              <a:t>AES: 2^128, 2^192 or 2^256</a:t>
            </a:r>
          </a:p>
        </p:txBody>
      </p:sp>
    </p:spTree>
    <p:extLst>
      <p:ext uri="{BB962C8B-B14F-4D97-AF65-F5344CB8AC3E}">
        <p14:creationId xmlns:p14="http://schemas.microsoft.com/office/powerpoint/2010/main" val="27613487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477D-8A58-4AC9-B69E-52EF6FC98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Sharing secrets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F833C-991C-4544-A491-7BD219AB4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Our symmetric key cipher systems are fast and secure.</a:t>
            </a:r>
          </a:p>
          <a:p>
            <a:r>
              <a:rPr lang="en-AU"/>
              <a:t>But how do we make sure the key is shared between the two parties securely?</a:t>
            </a:r>
          </a:p>
          <a:p>
            <a:r>
              <a:rPr lang="en-AU"/>
              <a:t>Answer: Asymmetric key cipher – public key cryptography (PKC), e.g., RSA.</a:t>
            </a:r>
          </a:p>
          <a:p>
            <a:r>
              <a:rPr lang="en-AU"/>
              <a:t>But how to use PKC for secrets sharing?</a:t>
            </a:r>
          </a:p>
        </p:txBody>
      </p:sp>
    </p:spTree>
    <p:extLst>
      <p:ext uri="{BB962C8B-B14F-4D97-AF65-F5344CB8AC3E}">
        <p14:creationId xmlns:p14="http://schemas.microsoft.com/office/powerpoint/2010/main" val="1096229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D6909-CAB0-45B9-9F90-BAD20E0D9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40" y="82604"/>
            <a:ext cx="10353762" cy="1257300"/>
          </a:xfrm>
        </p:spPr>
        <p:txBody>
          <a:bodyPr/>
          <a:lstStyle/>
          <a:p>
            <a:r>
              <a:rPr lang="en-AU"/>
              <a:t>share a key</a:t>
            </a:r>
          </a:p>
        </p:txBody>
      </p:sp>
      <p:pic>
        <p:nvPicPr>
          <p:cNvPr id="4" name="Picture 2" descr="Related image">
            <a:extLst>
              <a:ext uri="{FF2B5EF4-FFF2-40B4-BE49-F238E27FC236}">
                <a16:creationId xmlns:a16="http://schemas.microsoft.com/office/drawing/2014/main" id="{B4A2069F-C6DB-4509-8086-DAEA1B8582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1558" y="3205088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FBFBE82-BACE-4CAD-BEE0-B3747E50029A}"/>
              </a:ext>
            </a:extLst>
          </p:cNvPr>
          <p:cNvSpPr/>
          <p:nvPr/>
        </p:nvSpPr>
        <p:spPr>
          <a:xfrm>
            <a:off x="5982081" y="2357119"/>
            <a:ext cx="337440" cy="3142727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A3D411-4C5E-4F0C-8DB9-8E2DF8E51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000" y="4903416"/>
            <a:ext cx="1056640" cy="1229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216A960-8E26-491A-8201-9E461E532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934" y="3232273"/>
            <a:ext cx="1249312" cy="122936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3FA1737C-3202-42DC-A594-9B3C414073C9}"/>
              </a:ext>
            </a:extLst>
          </p:cNvPr>
          <p:cNvSpPr txBox="1">
            <a:spLocks/>
          </p:cNvSpPr>
          <p:nvPr/>
        </p:nvSpPr>
        <p:spPr>
          <a:xfrm>
            <a:off x="3698240" y="1280430"/>
            <a:ext cx="5080000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Insecure Internet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775B07-50F3-44D7-8CC4-97181EE5E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808" y="1241132"/>
            <a:ext cx="885664" cy="4494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6624-141B-4F59-9E22-B49222A121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" y="1926752"/>
            <a:ext cx="885664" cy="430367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4ED8B415-1EE3-4D63-B16C-ECBAB52D8A45}"/>
              </a:ext>
            </a:extLst>
          </p:cNvPr>
          <p:cNvSpPr txBox="1">
            <a:spLocks/>
          </p:cNvSpPr>
          <p:nvPr/>
        </p:nvSpPr>
        <p:spPr>
          <a:xfrm>
            <a:off x="416940" y="4396158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62F01484-D518-4F5A-9046-1E5F3D0099A2}"/>
              </a:ext>
            </a:extLst>
          </p:cNvPr>
          <p:cNvSpPr txBox="1">
            <a:spLocks/>
          </p:cNvSpPr>
          <p:nvPr/>
        </p:nvSpPr>
        <p:spPr>
          <a:xfrm>
            <a:off x="10380100" y="439615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2E070689-F703-4386-A4AC-6C057856BDEE}"/>
              </a:ext>
            </a:extLst>
          </p:cNvPr>
          <p:cNvSpPr txBox="1">
            <a:spLocks/>
          </p:cNvSpPr>
          <p:nvPr/>
        </p:nvSpPr>
        <p:spPr>
          <a:xfrm>
            <a:off x="910852" y="1108142"/>
            <a:ext cx="3462009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Bob’s public key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0E54ABE7-DC16-44B7-9B3D-62A0C257234B}"/>
              </a:ext>
            </a:extLst>
          </p:cNvPr>
          <p:cNvSpPr txBox="1">
            <a:spLocks/>
          </p:cNvSpPr>
          <p:nvPr/>
        </p:nvSpPr>
        <p:spPr>
          <a:xfrm>
            <a:off x="955486" y="1748078"/>
            <a:ext cx="3462009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Bob’s private key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A9152BF-8343-4EFF-B2CB-5F67649DFE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8191" y="2780183"/>
            <a:ext cx="885664" cy="449441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B1CC2474-C06A-4288-8261-EAFE5E1EA692}"/>
              </a:ext>
            </a:extLst>
          </p:cNvPr>
          <p:cNvSpPr txBox="1">
            <a:spLocks/>
          </p:cNvSpPr>
          <p:nvPr/>
        </p:nvSpPr>
        <p:spPr>
          <a:xfrm>
            <a:off x="1997316" y="3608565"/>
            <a:ext cx="1805927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a shared key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D34E41-CF66-4DA3-8330-E25E4437EE1E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flipH="1">
            <a:off x="2900280" y="3229624"/>
            <a:ext cx="743" cy="378941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F945A4-E889-4E6B-910C-235F9B3E3F8E}"/>
              </a:ext>
            </a:extLst>
          </p:cNvPr>
          <p:cNvCxnSpPr>
            <a:cxnSpLocks/>
            <a:stCxn id="24" idx="3"/>
            <a:endCxn id="31" idx="1"/>
          </p:cNvCxnSpPr>
          <p:nvPr/>
        </p:nvCxnSpPr>
        <p:spPr>
          <a:xfrm>
            <a:off x="3803243" y="3891471"/>
            <a:ext cx="902964" cy="2736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itle 1">
            <a:extLst>
              <a:ext uri="{FF2B5EF4-FFF2-40B4-BE49-F238E27FC236}">
                <a16:creationId xmlns:a16="http://schemas.microsoft.com/office/drawing/2014/main" id="{F5032691-2067-4FC3-8A6E-E6B4170FF3A8}"/>
              </a:ext>
            </a:extLst>
          </p:cNvPr>
          <p:cNvSpPr txBox="1">
            <a:spLocks/>
          </p:cNvSpPr>
          <p:nvPr/>
        </p:nvSpPr>
        <p:spPr>
          <a:xfrm>
            <a:off x="4706207" y="3611301"/>
            <a:ext cx="2764268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encrypted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8FE9A9D6-8378-4B50-9305-8B7C91BD2BA1}"/>
              </a:ext>
            </a:extLst>
          </p:cNvPr>
          <p:cNvSpPr txBox="1">
            <a:spLocks/>
          </p:cNvSpPr>
          <p:nvPr/>
        </p:nvSpPr>
        <p:spPr>
          <a:xfrm>
            <a:off x="8603362" y="3608565"/>
            <a:ext cx="1805927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a shared key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E956C17-E993-460C-A9F3-CC0831F7634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7470475" y="3891471"/>
            <a:ext cx="1132887" cy="2736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03E31EF2-5F20-42CD-B23B-4B1A65C052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4951" y="2784233"/>
            <a:ext cx="885664" cy="430367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479634D-6E80-4852-A3DC-686C5DE59E6A}"/>
              </a:ext>
            </a:extLst>
          </p:cNvPr>
          <p:cNvCxnSpPr>
            <a:cxnSpLocks/>
          </p:cNvCxnSpPr>
          <p:nvPr/>
        </p:nvCxnSpPr>
        <p:spPr>
          <a:xfrm flipH="1">
            <a:off x="7997040" y="3239529"/>
            <a:ext cx="744" cy="6546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034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D6909-CAB0-45B9-9F90-BAD20E0D9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40" y="82604"/>
            <a:ext cx="9995052" cy="1049952"/>
          </a:xfrm>
        </p:spPr>
        <p:txBody>
          <a:bodyPr/>
          <a:lstStyle/>
          <a:p>
            <a:r>
              <a:rPr lang="en-AU"/>
              <a:t>share a key</a:t>
            </a:r>
          </a:p>
        </p:txBody>
      </p:sp>
      <p:pic>
        <p:nvPicPr>
          <p:cNvPr id="4" name="Picture 2" descr="Related image">
            <a:extLst>
              <a:ext uri="{FF2B5EF4-FFF2-40B4-BE49-F238E27FC236}">
                <a16:creationId xmlns:a16="http://schemas.microsoft.com/office/drawing/2014/main" id="{B4A2069F-C6DB-4509-8086-DAEA1B8582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1558" y="2770378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FBFBE82-BACE-4CAD-BEE0-B3747E50029A}"/>
              </a:ext>
            </a:extLst>
          </p:cNvPr>
          <p:cNvSpPr/>
          <p:nvPr/>
        </p:nvSpPr>
        <p:spPr>
          <a:xfrm>
            <a:off x="5982081" y="2177239"/>
            <a:ext cx="337440" cy="3261249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A3D411-4C5E-4F0C-8DB9-8E2DF8E51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2481" y="5438488"/>
            <a:ext cx="1056640" cy="1229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216A960-8E26-491A-8201-9E461E532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934" y="2797563"/>
            <a:ext cx="1249312" cy="122936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3FA1737C-3202-42DC-A594-9B3C414073C9}"/>
              </a:ext>
            </a:extLst>
          </p:cNvPr>
          <p:cNvSpPr txBox="1">
            <a:spLocks/>
          </p:cNvSpPr>
          <p:nvPr/>
        </p:nvSpPr>
        <p:spPr>
          <a:xfrm>
            <a:off x="3698240" y="1100550"/>
            <a:ext cx="5080000" cy="10202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Insecure Internet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775B07-50F3-44D7-8CC4-97181EE5E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808" y="1061252"/>
            <a:ext cx="885664" cy="4494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746624-141B-4F59-9E22-B49222A121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" y="1746872"/>
            <a:ext cx="885664" cy="430367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4ED8B415-1EE3-4D63-B16C-ECBAB52D8A45}"/>
              </a:ext>
            </a:extLst>
          </p:cNvPr>
          <p:cNvSpPr txBox="1">
            <a:spLocks/>
          </p:cNvSpPr>
          <p:nvPr/>
        </p:nvSpPr>
        <p:spPr>
          <a:xfrm>
            <a:off x="447007" y="4092457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62F01484-D518-4F5A-9046-1E5F3D0099A2}"/>
              </a:ext>
            </a:extLst>
          </p:cNvPr>
          <p:cNvSpPr txBox="1">
            <a:spLocks/>
          </p:cNvSpPr>
          <p:nvPr/>
        </p:nvSpPr>
        <p:spPr>
          <a:xfrm>
            <a:off x="10380100" y="4061409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2E070689-F703-4386-A4AC-6C057856BDEE}"/>
              </a:ext>
            </a:extLst>
          </p:cNvPr>
          <p:cNvSpPr txBox="1">
            <a:spLocks/>
          </p:cNvSpPr>
          <p:nvPr/>
        </p:nvSpPr>
        <p:spPr>
          <a:xfrm>
            <a:off x="910852" y="928262"/>
            <a:ext cx="3462009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Bob’s public key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0E54ABE7-DC16-44B7-9B3D-62A0C257234B}"/>
              </a:ext>
            </a:extLst>
          </p:cNvPr>
          <p:cNvSpPr txBox="1">
            <a:spLocks/>
          </p:cNvSpPr>
          <p:nvPr/>
        </p:nvSpPr>
        <p:spPr>
          <a:xfrm>
            <a:off x="955486" y="1568198"/>
            <a:ext cx="3462009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/>
              <a:t>Bob’s private key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A9152BF-8343-4EFF-B2CB-5F67649DFE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19506" y="2345473"/>
            <a:ext cx="885664" cy="449441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B1CC2474-C06A-4288-8261-EAFE5E1EA692}"/>
              </a:ext>
            </a:extLst>
          </p:cNvPr>
          <p:cNvSpPr txBox="1">
            <a:spLocks/>
          </p:cNvSpPr>
          <p:nvPr/>
        </p:nvSpPr>
        <p:spPr>
          <a:xfrm>
            <a:off x="2137797" y="3173855"/>
            <a:ext cx="1665446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a shared key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D34E41-CF66-4DA3-8330-E25E4437EE1E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2962338" y="2794914"/>
            <a:ext cx="8182" cy="378941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F945A4-E889-4E6B-910C-235F9B3E3F8E}"/>
              </a:ext>
            </a:extLst>
          </p:cNvPr>
          <p:cNvCxnSpPr>
            <a:cxnSpLocks/>
            <a:stCxn id="24" idx="3"/>
            <a:endCxn id="31" idx="1"/>
          </p:cNvCxnSpPr>
          <p:nvPr/>
        </p:nvCxnSpPr>
        <p:spPr>
          <a:xfrm>
            <a:off x="3803243" y="3456761"/>
            <a:ext cx="902964" cy="2736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itle 1">
            <a:extLst>
              <a:ext uri="{FF2B5EF4-FFF2-40B4-BE49-F238E27FC236}">
                <a16:creationId xmlns:a16="http://schemas.microsoft.com/office/drawing/2014/main" id="{F5032691-2067-4FC3-8A6E-E6B4170FF3A8}"/>
              </a:ext>
            </a:extLst>
          </p:cNvPr>
          <p:cNvSpPr txBox="1">
            <a:spLocks/>
          </p:cNvSpPr>
          <p:nvPr/>
        </p:nvSpPr>
        <p:spPr>
          <a:xfrm>
            <a:off x="4706207" y="3176591"/>
            <a:ext cx="2764268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encrypted key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8FE9A9D6-8378-4B50-9305-8B7C91BD2BA1}"/>
              </a:ext>
            </a:extLst>
          </p:cNvPr>
          <p:cNvSpPr txBox="1">
            <a:spLocks/>
          </p:cNvSpPr>
          <p:nvPr/>
        </p:nvSpPr>
        <p:spPr>
          <a:xfrm>
            <a:off x="8720774" y="3173855"/>
            <a:ext cx="1688515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a shared key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E956C17-E993-460C-A9F3-CC0831F7634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7470475" y="3456761"/>
            <a:ext cx="1250299" cy="2736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03E31EF2-5F20-42CD-B23B-4B1A65C052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4951" y="2349523"/>
            <a:ext cx="885664" cy="430367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479634D-6E80-4852-A3DC-686C5DE59E6A}"/>
              </a:ext>
            </a:extLst>
          </p:cNvPr>
          <p:cNvCxnSpPr>
            <a:cxnSpLocks/>
          </p:cNvCxnSpPr>
          <p:nvPr/>
        </p:nvCxnSpPr>
        <p:spPr>
          <a:xfrm flipH="1">
            <a:off x="7997040" y="2804819"/>
            <a:ext cx="744" cy="654678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Age Adjusted D-Dimer Testing - R.E.B.E.L. EM - Emergency ...">
            <a:extLst>
              <a:ext uri="{FF2B5EF4-FFF2-40B4-BE49-F238E27FC236}">
                <a16:creationId xmlns:a16="http://schemas.microsoft.com/office/drawing/2014/main" id="{71FD827D-4313-4E14-B2ED-2F1C80CCF96A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399" y="4241149"/>
            <a:ext cx="852686" cy="824263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915AC68-AF7A-4974-AA11-453CD8E75018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2970520" y="3739667"/>
            <a:ext cx="24222" cy="50148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2A2EE935-FE7D-42DD-B10F-3D3D8832AD1B}"/>
              </a:ext>
            </a:extLst>
          </p:cNvPr>
          <p:cNvSpPr txBox="1">
            <a:spLocks/>
          </p:cNvSpPr>
          <p:nvPr/>
        </p:nvSpPr>
        <p:spPr>
          <a:xfrm>
            <a:off x="4706207" y="4339905"/>
            <a:ext cx="2764268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encrypted key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758DA52-3A04-40C2-AB14-A29344B19FD9}"/>
              </a:ext>
            </a:extLst>
          </p:cNvPr>
          <p:cNvCxnSpPr>
            <a:cxnSpLocks/>
            <a:endCxn id="30" idx="1"/>
          </p:cNvCxnSpPr>
          <p:nvPr/>
        </p:nvCxnSpPr>
        <p:spPr>
          <a:xfrm flipV="1">
            <a:off x="3343855" y="4622811"/>
            <a:ext cx="1362352" cy="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itle 1">
            <a:extLst>
              <a:ext uri="{FF2B5EF4-FFF2-40B4-BE49-F238E27FC236}">
                <a16:creationId xmlns:a16="http://schemas.microsoft.com/office/drawing/2014/main" id="{DC5F7FED-EC01-4E0D-B17C-394EFA993F4E}"/>
              </a:ext>
            </a:extLst>
          </p:cNvPr>
          <p:cNvSpPr txBox="1">
            <a:spLocks/>
          </p:cNvSpPr>
          <p:nvPr/>
        </p:nvSpPr>
        <p:spPr>
          <a:xfrm>
            <a:off x="7425505" y="5232526"/>
            <a:ext cx="1688515" cy="565812"/>
          </a:xfrm>
          <a:prstGeom prst="rect">
            <a:avLst/>
          </a:prstGeom>
          <a:solidFill>
            <a:srgbClr val="FFC000"/>
          </a:solidFill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>
                <a:solidFill>
                  <a:schemeClr val="bg1"/>
                </a:solidFill>
              </a:rPr>
              <a:t>a shared key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81C1B2-8B86-4F63-AB39-20EBC2BE8B1F}"/>
              </a:ext>
            </a:extLst>
          </p:cNvPr>
          <p:cNvCxnSpPr>
            <a:cxnSpLocks/>
            <a:stCxn id="30" idx="3"/>
            <a:endCxn id="45" idx="1"/>
          </p:cNvCxnSpPr>
          <p:nvPr/>
        </p:nvCxnSpPr>
        <p:spPr>
          <a:xfrm flipV="1">
            <a:off x="7470475" y="4515537"/>
            <a:ext cx="1323421" cy="107274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44" descr="Age Adjusted D-Dimer Testing - R.E.B.E.L. EM - Emergency ...">
            <a:extLst>
              <a:ext uri="{FF2B5EF4-FFF2-40B4-BE49-F238E27FC236}">
                <a16:creationId xmlns:a16="http://schemas.microsoft.com/office/drawing/2014/main" id="{CA4EF2BF-474E-4676-B1F2-8366C095600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3896" y="4103405"/>
            <a:ext cx="852686" cy="824263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084ADD2-4A4C-4A0C-8902-6ABD6915A81F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8269763" y="4569174"/>
            <a:ext cx="0" cy="663352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3174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Are hash functions secure?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Your Diffie-Hellman key exchange didn’t work, what went wrong?</a:t>
            </a:r>
          </a:p>
        </p:txBody>
      </p:sp>
    </p:spTree>
    <p:extLst>
      <p:ext uri="{BB962C8B-B14F-4D97-AF65-F5344CB8AC3E}">
        <p14:creationId xmlns:p14="http://schemas.microsoft.com/office/powerpoint/2010/main" val="1600042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</p:txBody>
      </p:sp>
    </p:spTree>
    <p:extLst>
      <p:ext uri="{BB962C8B-B14F-4D97-AF65-F5344CB8AC3E}">
        <p14:creationId xmlns:p14="http://schemas.microsoft.com/office/powerpoint/2010/main" val="30283400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</p:txBody>
      </p:sp>
    </p:spTree>
    <p:extLst>
      <p:ext uri="{BB962C8B-B14F-4D97-AF65-F5344CB8AC3E}">
        <p14:creationId xmlns:p14="http://schemas.microsoft.com/office/powerpoint/2010/main" val="29977249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Are hash functions secure?</a:t>
            </a:r>
          </a:p>
        </p:txBody>
      </p:sp>
    </p:spTree>
    <p:extLst>
      <p:ext uri="{BB962C8B-B14F-4D97-AF65-F5344CB8AC3E}">
        <p14:creationId xmlns:p14="http://schemas.microsoft.com/office/powerpoint/2010/main" val="5212634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Are hash functions secure?</a:t>
            </a:r>
          </a:p>
        </p:txBody>
      </p:sp>
    </p:spTree>
    <p:extLst>
      <p:ext uri="{BB962C8B-B14F-4D97-AF65-F5344CB8AC3E}">
        <p14:creationId xmlns:p14="http://schemas.microsoft.com/office/powerpoint/2010/main" val="1671977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Are hash functions secure?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Your Diffie-Hellman key exchange didn’t work, what went wrong?</a:t>
            </a:r>
          </a:p>
        </p:txBody>
      </p:sp>
    </p:spTree>
    <p:extLst>
      <p:ext uri="{BB962C8B-B14F-4D97-AF65-F5344CB8AC3E}">
        <p14:creationId xmlns:p14="http://schemas.microsoft.com/office/powerpoint/2010/main" val="951717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076450"/>
            <a:ext cx="10353762" cy="4171950"/>
          </a:xfrm>
        </p:spPr>
        <p:txBody>
          <a:bodyPr/>
          <a:lstStyle/>
          <a:p>
            <a:r>
              <a:rPr lang="en-AU"/>
              <a:t>Easy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Why do we salt passwords before hashing them?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Are hash functions secure?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Your Diffie-Hellman key exchange didn’t work, what went wrong?</a:t>
            </a:r>
          </a:p>
        </p:txBody>
      </p:sp>
    </p:spTree>
    <p:extLst>
      <p:ext uri="{BB962C8B-B14F-4D97-AF65-F5344CB8AC3E}">
        <p14:creationId xmlns:p14="http://schemas.microsoft.com/office/powerpoint/2010/main" val="39989285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71670"/>
            <a:ext cx="10353762" cy="1257300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808922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Using the split cipher as before, what are the properties of the plaintext that would allow us to fully utilise the key space?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Does adding additional substitution and/or transposition layers in an encryption improve security? </a:t>
            </a:r>
          </a:p>
        </p:txBody>
      </p:sp>
    </p:spTree>
    <p:extLst>
      <p:ext uri="{BB962C8B-B14F-4D97-AF65-F5344CB8AC3E}">
        <p14:creationId xmlns:p14="http://schemas.microsoft.com/office/powerpoint/2010/main" val="3940195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71670"/>
            <a:ext cx="10353762" cy="1257300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808922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214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71670"/>
            <a:ext cx="10353762" cy="1257300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099" y="1437861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ECB mode?</a:t>
            </a:r>
          </a:p>
          <a:p>
            <a:pPr marL="907200" lvl="1" indent="-457200">
              <a:buFont typeface="+mj-lt"/>
              <a:buAutoNum type="arabicPeriod"/>
            </a:pPr>
            <a:endParaRPr lang="en-AU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53CB3FF-7768-4C44-9936-31F2A2827EA3}"/>
              </a:ext>
            </a:extLst>
          </p:cNvPr>
          <p:cNvSpPr txBox="1">
            <a:spLocks/>
          </p:cNvSpPr>
          <p:nvPr/>
        </p:nvSpPr>
        <p:spPr>
          <a:xfrm>
            <a:off x="1238687" y="2397350"/>
            <a:ext cx="10353762" cy="86539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1900"/>
              <a:t>ECB (Electronic Codebook): Each block is encrypted independently</a:t>
            </a:r>
            <a:endParaRPr lang="en-AU" sz="1600" b="1"/>
          </a:p>
          <a:p>
            <a:pPr lvl="1"/>
            <a:endParaRPr lang="en-AU" sz="1600" b="1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C37C7A8D-9496-C244-B480-0C263E980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674" y="3429000"/>
            <a:ext cx="8472651" cy="2859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77886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ECB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</p:txBody>
      </p:sp>
    </p:spTree>
    <p:extLst>
      <p:ext uri="{BB962C8B-B14F-4D97-AF65-F5344CB8AC3E}">
        <p14:creationId xmlns:p14="http://schemas.microsoft.com/office/powerpoint/2010/main" val="10914574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ECB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</p:txBody>
      </p:sp>
    </p:spTree>
    <p:extLst>
      <p:ext uri="{BB962C8B-B14F-4D97-AF65-F5344CB8AC3E}">
        <p14:creationId xmlns:p14="http://schemas.microsoft.com/office/powerpoint/2010/main" val="24975972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71670"/>
            <a:ext cx="10353762" cy="1257300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437861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Take a split cipher as an example, it uses Caesar cipher and Vigenère cipher upon a given plaintext. What are the properties of the plaintext that would allow us to fully utilise the key space?</a:t>
            </a:r>
          </a:p>
        </p:txBody>
      </p:sp>
    </p:spTree>
    <p:extLst>
      <p:ext uri="{BB962C8B-B14F-4D97-AF65-F5344CB8AC3E}">
        <p14:creationId xmlns:p14="http://schemas.microsoft.com/office/powerpoint/2010/main" val="17036033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271670"/>
            <a:ext cx="10353762" cy="1257300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437861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Take a split cipher as an example, it uses Caesar cipher and Vigenère cipher upon a given plaintext. What are the properties of the plaintext that would allow us to fully utilise the key space?</a:t>
            </a:r>
          </a:p>
        </p:txBody>
      </p:sp>
    </p:spTree>
    <p:extLst>
      <p:ext uri="{BB962C8B-B14F-4D97-AF65-F5344CB8AC3E}">
        <p14:creationId xmlns:p14="http://schemas.microsoft.com/office/powerpoint/2010/main" val="39298808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18A62D7-92A3-47F0-BB76-D8FAA161F00D}"/>
              </a:ext>
            </a:extLst>
          </p:cNvPr>
          <p:cNvSpPr txBox="1">
            <a:spLocks/>
          </p:cNvSpPr>
          <p:nvPr/>
        </p:nvSpPr>
        <p:spPr>
          <a:xfrm>
            <a:off x="1267343" y="590441"/>
            <a:ext cx="8772007" cy="25056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plaintext: XXX…X &amp; AAA…A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XXX…X is encoded by Caesar cipher 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AAA…A is encoded by Vigenère cipher </a:t>
            </a: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02A55531-1AE7-4F5B-A26B-35C328EDD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642964"/>
              </p:ext>
            </p:extLst>
          </p:nvPr>
        </p:nvGraphicFramePr>
        <p:xfrm>
          <a:off x="1267343" y="3056823"/>
          <a:ext cx="6386814" cy="137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8653">
                  <a:extLst>
                    <a:ext uri="{9D8B030D-6E8A-4147-A177-3AD203B41FA5}">
                      <a16:colId xmlns:a16="http://schemas.microsoft.com/office/drawing/2014/main" val="3681768741"/>
                    </a:ext>
                  </a:extLst>
                </a:gridCol>
                <a:gridCol w="2328161">
                  <a:extLst>
                    <a:ext uri="{9D8B030D-6E8A-4147-A177-3AD203B41FA5}">
                      <a16:colId xmlns:a16="http://schemas.microsoft.com/office/drawing/2014/main" val="343562684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plaintext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XXX…X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336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Caesar cipher key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>
                          <a:solidFill>
                            <a:schemeClr val="tx1"/>
                          </a:solidFill>
                        </a:rPr>
                        <a:t>(pick one from 26 English letters)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e.g., A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45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ciphertext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YYY…Y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405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79913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18A62D7-92A3-47F0-BB76-D8FAA161F00D}"/>
              </a:ext>
            </a:extLst>
          </p:cNvPr>
          <p:cNvSpPr txBox="1">
            <a:spLocks/>
          </p:cNvSpPr>
          <p:nvPr/>
        </p:nvSpPr>
        <p:spPr>
          <a:xfrm>
            <a:off x="1026712" y="714278"/>
            <a:ext cx="8772007" cy="25056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plaintext: XXX…X &amp; AAA…A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XXX…X is encoded by Caesar cipher </a:t>
            </a:r>
          </a:p>
          <a:p>
            <a:pPr marL="36900" indent="0">
              <a:buClr>
                <a:srgbClr val="A629E7"/>
              </a:buClr>
              <a:buNone/>
            </a:pPr>
            <a:r>
              <a:rPr lang="en-AU"/>
              <a:t>AAA…A is encoded by Vigenère cipher </a:t>
            </a: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02A55531-1AE7-4F5B-A26B-35C328EDD60B}"/>
              </a:ext>
            </a:extLst>
          </p:cNvPr>
          <p:cNvGraphicFramePr>
            <a:graphicFrameLocks noGrp="1"/>
          </p:cNvGraphicFramePr>
          <p:nvPr/>
        </p:nvGraphicFramePr>
        <p:xfrm>
          <a:off x="1267343" y="3056823"/>
          <a:ext cx="6386814" cy="137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8653">
                  <a:extLst>
                    <a:ext uri="{9D8B030D-6E8A-4147-A177-3AD203B41FA5}">
                      <a16:colId xmlns:a16="http://schemas.microsoft.com/office/drawing/2014/main" val="3681768741"/>
                    </a:ext>
                  </a:extLst>
                </a:gridCol>
                <a:gridCol w="2328161">
                  <a:extLst>
                    <a:ext uri="{9D8B030D-6E8A-4147-A177-3AD203B41FA5}">
                      <a16:colId xmlns:a16="http://schemas.microsoft.com/office/drawing/2014/main" val="343562684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plaintext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XXX…X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336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Caesar cipher key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>
                          <a:solidFill>
                            <a:schemeClr val="tx1"/>
                          </a:solidFill>
                        </a:rPr>
                        <a:t>(pick one from 26 English letters)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e.g., A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45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ciphertext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YYY…Y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40545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123D94-9E6D-40A2-97F5-226D05E383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154105"/>
              </p:ext>
            </p:extLst>
          </p:nvPr>
        </p:nvGraphicFramePr>
        <p:xfrm>
          <a:off x="1267343" y="4890879"/>
          <a:ext cx="6386814" cy="137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8653">
                  <a:extLst>
                    <a:ext uri="{9D8B030D-6E8A-4147-A177-3AD203B41FA5}">
                      <a16:colId xmlns:a16="http://schemas.microsoft.com/office/drawing/2014/main" val="3681768741"/>
                    </a:ext>
                  </a:extLst>
                </a:gridCol>
                <a:gridCol w="2328161">
                  <a:extLst>
                    <a:ext uri="{9D8B030D-6E8A-4147-A177-3AD203B41FA5}">
                      <a16:colId xmlns:a16="http://schemas.microsoft.com/office/drawing/2014/main" val="343562684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plaintext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/>
                        <a:t>AAA…A</a:t>
                      </a:r>
                      <a:endParaRPr lang="en-AU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336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Vigenère</a:t>
                      </a:r>
                      <a:r>
                        <a:rPr lang="en-AU">
                          <a:solidFill>
                            <a:schemeClr val="tx1"/>
                          </a:solidFill>
                        </a:rPr>
                        <a:t> cipher key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>
                          <a:solidFill>
                            <a:schemeClr val="tx1"/>
                          </a:solidFill>
                        </a:rPr>
                        <a:t>(pick 26 different English letters)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e.g., ABC…Z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45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ciphertext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BCD…A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405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260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66801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066801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Take a split cipher as an example, it uses Caesar cipher and Vigenère cipher upon a given plaintext. What are the properties of the plaintext that would allow us to fully utilise the key space?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Does adding additional substitution and/or transposition layers in an encryption improve security? Why?</a:t>
            </a:r>
          </a:p>
        </p:txBody>
      </p:sp>
    </p:spTree>
    <p:extLst>
      <p:ext uri="{BB962C8B-B14F-4D97-AF65-F5344CB8AC3E}">
        <p14:creationId xmlns:p14="http://schemas.microsoft.com/office/powerpoint/2010/main" val="14558172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17A7D-6AA7-45DB-9376-C89319D0A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66801"/>
          </a:xfrm>
        </p:spPr>
        <p:txBody>
          <a:bodyPr/>
          <a:lstStyle/>
          <a:p>
            <a:r>
              <a:rPr lang="en-AU"/>
              <a:t>Possible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066801"/>
            <a:ext cx="10353762" cy="3982277"/>
          </a:xfrm>
        </p:spPr>
        <p:txBody>
          <a:bodyPr/>
          <a:lstStyle/>
          <a:p>
            <a:r>
              <a:rPr lang="en-AU"/>
              <a:t>Medium - hard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In what scenario is it safe to use CBC mode?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If the performance isn’t an issue, does n-DES improve security? Why? Any limitations?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Take a split cipher as an example, it uses Caesar cipher and Vigenère cipher upon a given plaintext. What are the properties of the plaintext that would allow us to fully utilise the key space?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AU"/>
              <a:t>Does adding additional substitution and/or transposition layers in an encryption improve security? Why?</a:t>
            </a:r>
          </a:p>
        </p:txBody>
      </p:sp>
    </p:spTree>
    <p:extLst>
      <p:ext uri="{BB962C8B-B14F-4D97-AF65-F5344CB8AC3E}">
        <p14:creationId xmlns:p14="http://schemas.microsoft.com/office/powerpoint/2010/main" val="2330664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64B8-29C3-4ED4-AFEB-2F67EFE7B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119" y="453037"/>
            <a:ext cx="10353762" cy="622292"/>
          </a:xfrm>
        </p:spPr>
        <p:txBody>
          <a:bodyPr/>
          <a:lstStyle/>
          <a:p>
            <a:r>
              <a:rPr lang="en-AU"/>
              <a:t>An example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51E4BE7-5001-461F-AB68-2F50D11EA33B}"/>
              </a:ext>
            </a:extLst>
          </p:cNvPr>
          <p:cNvGraphicFramePr>
            <a:graphicFrameLocks noGrp="1"/>
          </p:cNvGraphicFramePr>
          <p:nvPr/>
        </p:nvGraphicFramePr>
        <p:xfrm>
          <a:off x="1068296" y="1222716"/>
          <a:ext cx="2875923" cy="1207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505">
                  <a:extLst>
                    <a:ext uri="{9D8B030D-6E8A-4147-A177-3AD203B41FA5}">
                      <a16:colId xmlns:a16="http://schemas.microsoft.com/office/drawing/2014/main" val="3681768741"/>
                    </a:ext>
                  </a:extLst>
                </a:gridCol>
                <a:gridCol w="826418">
                  <a:extLst>
                    <a:ext uri="{9D8B030D-6E8A-4147-A177-3AD203B41FA5}">
                      <a16:colId xmlns:a16="http://schemas.microsoft.com/office/drawing/2014/main" val="34356268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plaintext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/>
                        <a:t>A</a:t>
                      </a:r>
                      <a:endParaRPr lang="en-AU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336433"/>
                  </a:ext>
                </a:extLst>
              </a:tr>
              <a:tr h="470884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Caesar cipher key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456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ciphertext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B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40545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3D4DDE2-74FC-46A6-A116-F904D17AFAE5}"/>
              </a:ext>
            </a:extLst>
          </p:cNvPr>
          <p:cNvGraphicFramePr>
            <a:graphicFrameLocks noGrp="1"/>
          </p:cNvGraphicFramePr>
          <p:nvPr/>
        </p:nvGraphicFramePr>
        <p:xfrm>
          <a:off x="1068296" y="3003332"/>
          <a:ext cx="5027704" cy="1616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837">
                  <a:extLst>
                    <a:ext uri="{9D8B030D-6E8A-4147-A177-3AD203B41FA5}">
                      <a16:colId xmlns:a16="http://schemas.microsoft.com/office/drawing/2014/main" val="3681768741"/>
                    </a:ext>
                  </a:extLst>
                </a:gridCol>
                <a:gridCol w="886803">
                  <a:extLst>
                    <a:ext uri="{9D8B030D-6E8A-4147-A177-3AD203B41FA5}">
                      <a16:colId xmlns:a16="http://schemas.microsoft.com/office/drawing/2014/main" val="3435626841"/>
                    </a:ext>
                  </a:extLst>
                </a:gridCol>
                <a:gridCol w="1626064">
                  <a:extLst>
                    <a:ext uri="{9D8B030D-6E8A-4147-A177-3AD203B41FA5}">
                      <a16:colId xmlns:a16="http://schemas.microsoft.com/office/drawing/2014/main" val="6720116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plaintext</a:t>
                      </a:r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AU"/>
                        <a:t>A</a:t>
                      </a:r>
                      <a:endParaRPr lang="en-AU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1336433"/>
                  </a:ext>
                </a:extLst>
              </a:tr>
              <a:tr h="440126">
                <a:tc rowSpan="2">
                  <a:txBody>
                    <a:bodyPr/>
                    <a:lstStyle/>
                    <a:p>
                      <a:endParaRPr lang="en-AU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Caesar cipher key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>
                          <a:solidFill>
                            <a:schemeClr val="tx1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AU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AU">
                          <a:solidFill>
                            <a:srgbClr val="FF0000"/>
                          </a:solidFill>
                        </a:rPr>
                        <a:t>C (equivalent 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456595"/>
                  </a:ext>
                </a:extLst>
              </a:tr>
              <a:tr h="440126">
                <a:tc vMerge="1">
                  <a:txBody>
                    <a:bodyPr/>
                    <a:lstStyle/>
                    <a:p>
                      <a:endParaRPr lang="en-AU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>
                          <a:solidFill>
                            <a:schemeClr val="tx1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AU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421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>
                          <a:solidFill>
                            <a:schemeClr val="tx1"/>
                          </a:solidFill>
                        </a:rPr>
                        <a:t>ciphertext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dirty="0">
                          <a:solidFill>
                            <a:schemeClr val="tx1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405453"/>
                  </a:ext>
                </a:extLst>
              </a:tr>
            </a:tbl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B8D598-8B24-4C9D-A7FF-BE557117E3FD}"/>
              </a:ext>
            </a:extLst>
          </p:cNvPr>
          <p:cNvSpPr txBox="1">
            <a:spLocks/>
          </p:cNvSpPr>
          <p:nvPr/>
        </p:nvSpPr>
        <p:spPr>
          <a:xfrm>
            <a:off x="954766" y="4949039"/>
            <a:ext cx="8772007" cy="10576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Clr>
                <a:srgbClr val="A629E7"/>
              </a:buClr>
              <a:buNone/>
            </a:pPr>
            <a:r>
              <a:rPr lang="en-AU"/>
              <a:t>Adding an extra substitution layer essentially does not enhance the security. </a:t>
            </a:r>
          </a:p>
        </p:txBody>
      </p:sp>
    </p:spTree>
    <p:extLst>
      <p:ext uri="{BB962C8B-B14F-4D97-AF65-F5344CB8AC3E}">
        <p14:creationId xmlns:p14="http://schemas.microsoft.com/office/powerpoint/2010/main" val="36065510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465" y="857251"/>
            <a:ext cx="10726270" cy="1068569"/>
          </a:xfrm>
        </p:spPr>
        <p:txBody>
          <a:bodyPr>
            <a:normAutofit fontScale="92500" lnSpcReduction="10000"/>
          </a:bodyPr>
          <a:lstStyle/>
          <a:p>
            <a:pPr marL="450000" lvl="1" indent="0">
              <a:buNone/>
            </a:pPr>
            <a:endParaRPr lang="en-AU" sz="2800"/>
          </a:p>
          <a:p>
            <a:pPr lvl="1"/>
            <a:r>
              <a:rPr lang="en-AU" sz="2800"/>
              <a:t>Q5: crypto mess</a:t>
            </a:r>
          </a:p>
          <a:p>
            <a:pPr marL="810000" lvl="2" indent="0">
              <a:buNone/>
            </a:pPr>
            <a:endParaRPr lang="en-AU" sz="280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AF2CD78-8763-4C94-B120-CC8C0B08A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/>
              <a:t>Lab 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420840-81B5-4296-9E12-752B1EE5E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46" y="2085910"/>
            <a:ext cx="10804139" cy="284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18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512" y="3220523"/>
            <a:ext cx="11573831" cy="3435458"/>
          </a:xfrm>
        </p:spPr>
        <p:txBody>
          <a:bodyPr>
            <a:normAutofit fontScale="92500" lnSpcReduction="10000"/>
          </a:bodyPr>
          <a:lstStyle/>
          <a:p>
            <a:pPr marL="450000" lvl="1" indent="0">
              <a:buNone/>
            </a:pPr>
            <a:endParaRPr lang="en-AU" sz="2600"/>
          </a:p>
          <a:p>
            <a:pPr lvl="1"/>
            <a:r>
              <a:rPr lang="en-AU" sz="2600"/>
              <a:t>Hints: 1. figure out the representing code that is used by the text.</a:t>
            </a:r>
          </a:p>
          <a:p>
            <a:pPr lvl="6"/>
            <a:r>
              <a:rPr lang="en-AU" sz="2600" b="1"/>
              <a:t>What code can generate a text with “=” at the end?</a:t>
            </a:r>
          </a:p>
          <a:p>
            <a:pPr lvl="6"/>
            <a:r>
              <a:rPr lang="en-AU" sz="2600" b="1"/>
              <a:t>What code can generate a text of numbers 0-10 and letters A-F?</a:t>
            </a:r>
          </a:p>
          <a:p>
            <a:pPr marL="1458000" lvl="4" indent="0">
              <a:buNone/>
            </a:pPr>
            <a:r>
              <a:rPr lang="en-AU" sz="2600"/>
              <a:t> 2. figure out the cipher that is used by the text</a:t>
            </a:r>
          </a:p>
          <a:p>
            <a:pPr lvl="6"/>
            <a:r>
              <a:rPr lang="en-AU" sz="2600" b="1"/>
              <a:t>What cipher can generate a text with dots?</a:t>
            </a:r>
          </a:p>
          <a:p>
            <a:pPr lvl="6"/>
            <a:r>
              <a:rPr lang="en-AU" sz="2600" b="1"/>
              <a:t>What cipher can generate a text with dots and dashes?</a:t>
            </a:r>
          </a:p>
          <a:p>
            <a:pPr marL="1458000" lvl="4" indent="0">
              <a:buNone/>
            </a:pPr>
            <a:endParaRPr lang="en-AU" sz="2800" b="1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AF2CD78-8763-4C94-B120-CC8C0B08A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/>
              <a:t>Lab 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B203B-EABA-4B3A-8C49-1EF23705B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30" y="1098111"/>
            <a:ext cx="10804139" cy="233089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16ECDF0-7685-4013-947A-4C1A1640B3A7}"/>
              </a:ext>
            </a:extLst>
          </p:cNvPr>
          <p:cNvSpPr/>
          <p:nvPr/>
        </p:nvSpPr>
        <p:spPr>
          <a:xfrm flipH="1">
            <a:off x="10544320" y="2263556"/>
            <a:ext cx="953749" cy="1063256"/>
          </a:xfrm>
          <a:prstGeom prst="ellipse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</p:spTree>
    <p:extLst>
      <p:ext uri="{BB962C8B-B14F-4D97-AF65-F5344CB8AC3E}">
        <p14:creationId xmlns:p14="http://schemas.microsoft.com/office/powerpoint/2010/main" val="1198541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0</TotalTime>
  <Words>1686</Words>
  <Application>Microsoft Office PowerPoint</Application>
  <PresentationFormat>Widescreen</PresentationFormat>
  <Paragraphs>327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Courier</vt:lpstr>
      <vt:lpstr>Arial</vt:lpstr>
      <vt:lpstr>Calibri</vt:lpstr>
      <vt:lpstr>Georgia Pro Cond Light</vt:lpstr>
      <vt:lpstr>Speak Pro</vt:lpstr>
      <vt:lpstr>Wingdings 2</vt:lpstr>
      <vt:lpstr>SlateVTI</vt:lpstr>
      <vt:lpstr>CITS1003 Introduction to Cybersecurity [2] Cryptography Exercises</vt:lpstr>
      <vt:lpstr>Outline</vt:lpstr>
      <vt:lpstr>Crack the code</vt:lpstr>
      <vt:lpstr>Crack the code</vt:lpstr>
      <vt:lpstr>Crack the code</vt:lpstr>
      <vt:lpstr>Crack the code</vt:lpstr>
      <vt:lpstr>Crack the code</vt:lpstr>
      <vt:lpstr>Crack the code</vt:lpstr>
      <vt:lpstr>Crack the code</vt:lpstr>
      <vt:lpstr>Crack the code</vt:lpstr>
      <vt:lpstr>Crack the code</vt:lpstr>
      <vt:lpstr>Crack the code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Key space</vt:lpstr>
      <vt:lpstr>Sharing secrets</vt:lpstr>
      <vt:lpstr>share a key</vt:lpstr>
      <vt:lpstr>share a key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Possible questions</vt:lpstr>
      <vt:lpstr>PowerPoint Presentation</vt:lpstr>
      <vt:lpstr>PowerPoint Presentation</vt:lpstr>
      <vt:lpstr>Possible questions</vt:lpstr>
      <vt:lpstr>Possible questions</vt:lpstr>
      <vt:lpstr>PowerPoint Presentation</vt:lpstr>
      <vt:lpstr>Lab 2</vt:lpstr>
      <vt:lpstr>Lab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2026-03-03T02:42:00Z</dcterms:created>
  <dcterms:modified xsi:type="dcterms:W3CDTF">2026-03-03T03:10:10Z</dcterms:modified>
</cp:coreProperties>
</file>