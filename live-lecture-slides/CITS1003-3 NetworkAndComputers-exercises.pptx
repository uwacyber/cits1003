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emovePersonalInfoOnSave="1" saveSubsetFonts="1" autoCompressPictures="0">
  <p:sldMasterIdLst>
    <p:sldMasterId id="2147483763" r:id="rId1"/>
  </p:sldMasterIdLst>
  <p:notesMasterIdLst>
    <p:notesMasterId r:id="rId55"/>
  </p:notesMasterIdLst>
  <p:sldIdLst>
    <p:sldId id="256" r:id="rId2"/>
    <p:sldId id="500" r:id="rId3"/>
    <p:sldId id="408" r:id="rId4"/>
    <p:sldId id="529" r:id="rId5"/>
    <p:sldId id="1545" r:id="rId6"/>
    <p:sldId id="530" r:id="rId7"/>
    <p:sldId id="470" r:id="rId8"/>
    <p:sldId id="505" r:id="rId9"/>
    <p:sldId id="506" r:id="rId10"/>
    <p:sldId id="471" r:id="rId11"/>
    <p:sldId id="508" r:id="rId12"/>
    <p:sldId id="507" r:id="rId13"/>
    <p:sldId id="526" r:id="rId14"/>
    <p:sldId id="1457" r:id="rId15"/>
    <p:sldId id="1524" r:id="rId16"/>
    <p:sldId id="1460" r:id="rId17"/>
    <p:sldId id="1461" r:id="rId18"/>
    <p:sldId id="1462" r:id="rId19"/>
    <p:sldId id="1526" r:id="rId20"/>
    <p:sldId id="1527" r:id="rId21"/>
    <p:sldId id="1546" r:id="rId22"/>
    <p:sldId id="532" r:id="rId23"/>
    <p:sldId id="509" r:id="rId24"/>
    <p:sldId id="1522" r:id="rId25"/>
    <p:sldId id="533" r:id="rId26"/>
    <p:sldId id="1544" r:id="rId27"/>
    <p:sldId id="516" r:id="rId28"/>
    <p:sldId id="534" r:id="rId29"/>
    <p:sldId id="1512" r:id="rId30"/>
    <p:sldId id="503" r:id="rId31"/>
    <p:sldId id="510" r:id="rId32"/>
    <p:sldId id="511" r:id="rId33"/>
    <p:sldId id="1523" r:id="rId34"/>
    <p:sldId id="512" r:id="rId35"/>
    <p:sldId id="411" r:id="rId36"/>
    <p:sldId id="527" r:id="rId37"/>
    <p:sldId id="514" r:id="rId38"/>
    <p:sldId id="1515" r:id="rId39"/>
    <p:sldId id="1518" r:id="rId40"/>
    <p:sldId id="486" r:id="rId41"/>
    <p:sldId id="487" r:id="rId42"/>
    <p:sldId id="1517" r:id="rId43"/>
    <p:sldId id="1519" r:id="rId44"/>
    <p:sldId id="490" r:id="rId45"/>
    <p:sldId id="517" r:id="rId46"/>
    <p:sldId id="1520" r:id="rId47"/>
    <p:sldId id="518" r:id="rId48"/>
    <p:sldId id="488" r:id="rId49"/>
    <p:sldId id="519" r:id="rId50"/>
    <p:sldId id="492" r:id="rId51"/>
    <p:sldId id="520" r:id="rId52"/>
    <p:sldId id="521" r:id="rId53"/>
    <p:sldId id="1521" r:id="rId5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2" name="Author" initials="A" lastIdx="0" clrIdx="1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7E9639D4-E3E2-4D34-9284-5A2195B3D0D7}" styleName="Light Styl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FABFCF23-3B69-468F-B69F-88F6DE6A72F2}" styleName="Medium Style 1 - Accent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5">
              <a:tint val="20000"/>
            </a:schemeClr>
          </a:solidFill>
        </a:fill>
      </a:tcStyle>
    </a:band1H>
    <a:band1V>
      <a:tcStyle>
        <a:tcBdr/>
        <a:fill>
          <a:solidFill>
            <a:schemeClr val="accent5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Row>
  </a:tblStyle>
  <a:tblStyle styleId="{17292A2E-F333-43FB-9621-5CBBE7FDCDCB}" styleName="Light Style 2 - Accent 4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</a:tcStyle>
    </a:band1H>
    <a:band1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1V>
    <a:band2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4"/>
        </a:fillRef>
      </a:tcStyle>
    </a:firstRow>
  </a:tblStyle>
  <a:tblStyle styleId="{5A111915-BE36-4E01-A7E5-04B1672EAD32}" styleName="Light Style 2 - Accent 5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</a:tcStyle>
    </a:band1H>
    <a:band1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1V>
    <a:band2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5"/>
        </a:fillRef>
      </a:tcStyle>
    </a:firstRow>
  </a:tblStyle>
  <a:tblStyle styleId="{8EC20E35-A176-4012-BC5E-935CFFF8708E}" styleName="Medium Style 3">
    <a:wholeTbl>
      <a:tcTxStyle>
        <a:fontRef idx="minor"/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37353" autoAdjust="0"/>
    <p:restoredTop sz="64006" autoAdjust="0"/>
  </p:normalViewPr>
  <p:slideViewPr>
    <p:cSldViewPr snapToGrid="0" snapToObjects="1">
      <p:cViewPr varScale="1">
        <p:scale>
          <a:sx n="45" d="100"/>
          <a:sy n="45" d="100"/>
        </p:scale>
        <p:origin x="786" y="5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viewProps" Target="viewProps.xml"/><Relationship Id="rId5" Type="http://schemas.openxmlformats.org/officeDocument/2006/relationships/slide" Target="slides/slide4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commentAuthors" Target="commentAuthor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theme" Target="theme/theme1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presProps" Target="presProps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AU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D6D7260-B7E4-B548-BD1F-84ED14536037}" type="datetimeFigureOut">
              <a:rPr lang="en-AU" smtClean="0"/>
              <a:t>9/03/2026</a:t>
            </a:fld>
            <a:endParaRPr lang="en-AU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AU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A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A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F030C05-EF6C-9847-8923-580D76870F8E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06340922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1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97839259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2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86807310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3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73749330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4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24662973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5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96011464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6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428103705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7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93516339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8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06793351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9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74806232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10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665442022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11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151838298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12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4179172744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altLang="zh-C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13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685218035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37F8DB4-A4FF-4A8B-9A85-9B1874A58FCC}" type="slidenum">
              <a:rPr lang="en-US" smtClean="0"/>
              <a:pPr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39747617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37F8DB4-A4FF-4A8B-9A85-9B1874A58FCC}" type="slidenum">
              <a:rPr lang="en-US" smtClean="0"/>
              <a:pPr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96444543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37F8DB4-A4FF-4A8B-9A85-9B1874A58FCC}" type="slidenum">
              <a:rPr lang="en-US" smtClean="0"/>
              <a:pPr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1713009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37F8DB4-A4FF-4A8B-9A85-9B1874A58FCC}" type="slidenum">
              <a:rPr lang="en-US" smtClean="0"/>
              <a:pPr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58956237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37F8DB4-A4FF-4A8B-9A85-9B1874A58FCC}" type="slidenum">
              <a:rPr lang="en-US" smtClean="0"/>
              <a:pPr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40665722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37F8DB4-A4FF-4A8B-9A85-9B1874A58FCC}" type="slidenum">
              <a:rPr lang="en-US" smtClean="0"/>
              <a:pPr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90334927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37F8DB4-A4FF-4A8B-9A85-9B1874A58FCC}" type="slidenum">
              <a:rPr lang="en-US" smtClean="0"/>
              <a:pPr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54725726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altLang="zh-C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21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695351430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altLang="zh-C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22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925702697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23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307961678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24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638418476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25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773723869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37F8DB4-A4FF-4A8B-9A85-9B1874A58FCC}" type="slidenum">
              <a:rPr lang="en-US" smtClean="0"/>
              <a:pPr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80485949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27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261395343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28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615629348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29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85288426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30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72415630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31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460348610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32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385551465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33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246650377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34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682208950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35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10219405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36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4088409024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37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63431045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38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62733828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39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443563295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40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57482124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41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659911226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42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56602834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43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14360398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44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480072644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45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757552415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46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588612216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47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400925455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48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799767753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49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183232499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50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94572529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51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655354614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52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186963884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53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881711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370693" y="1769540"/>
            <a:ext cx="9440034" cy="1828801"/>
          </a:xfrm>
        </p:spPr>
        <p:txBody>
          <a:bodyPr anchor="b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0693" y="3773489"/>
            <a:ext cx="9440034" cy="1049867"/>
          </a:xfrm>
        </p:spPr>
        <p:txBody>
          <a:bodyPr anchor="t"/>
          <a:lstStyle>
            <a:lvl1pPr marL="0" indent="0" algn="ctr">
              <a:buNone/>
              <a:defRPr>
                <a:solidFill>
                  <a:schemeClr val="tx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D38747-4367-4BD2-8D51-C97E202738E2}" type="datetime1">
              <a:rPr lang="en-US" smtClean="0"/>
              <a:t>3/9/2026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3509064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="1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 b="1"/>
            </a:lvl1pPr>
            <a:lvl2pPr>
              <a:defRPr b="1"/>
            </a:lvl2pPr>
            <a:lvl3pPr>
              <a:defRPr b="1"/>
            </a:lvl3pPr>
            <a:lvl4pPr>
              <a:defRPr b="1"/>
            </a:lvl4pPr>
            <a:lvl5pPr>
              <a:defRPr b="1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C55A3C-5767-4844-A0A3-83778C2E5409}" type="datetime1">
              <a:rPr lang="en-US" smtClean="0"/>
              <a:t>3/9/2026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691185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95401" y="1761067"/>
            <a:ext cx="9590550" cy="1828813"/>
          </a:xfrm>
        </p:spPr>
        <p:txBody>
          <a:bodyPr anchor="b"/>
          <a:lstStyle>
            <a:lvl1pPr algn="ctr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95401" y="3763439"/>
            <a:ext cx="9590550" cy="1333494"/>
          </a:xfrm>
        </p:spPr>
        <p:txBody>
          <a:bodyPr anchor="t"/>
          <a:lstStyle>
            <a:lvl1pPr marL="0" indent="0" algn="ctr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E507A8-A5CF-4D38-AB86-7EDDA87A85D4}" type="datetime1">
              <a:rPr lang="en-US" smtClean="0"/>
              <a:t>3/9/2026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5989486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2" cy="126187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13795" y="2076450"/>
            <a:ext cx="4856841" cy="3622671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410716" y="2076451"/>
            <a:ext cx="4856841" cy="3622672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FCD27C-8599-43EF-BA1D-14DDC1946E06}" type="datetime1">
              <a:rPr lang="en-US" smtClean="0"/>
              <a:t>3/9/2026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2298893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Picture 19" descr="Slate-V2-HD-compPhotoInset.png">
            <a:extLst>
              <a:ext uri="{FF2B5EF4-FFF2-40B4-BE49-F238E27FC236}">
                <a16:creationId xmlns:a16="http://schemas.microsoft.com/office/drawing/2014/main" id="{37B721FF-D609-4D98-9D19-CF75AA8A54F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3795" y="1734506"/>
            <a:ext cx="5029200" cy="4099959"/>
          </a:xfrm>
          <a:prstGeom prst="rect">
            <a:avLst/>
          </a:prstGeom>
        </p:spPr>
      </p:pic>
      <p:pic>
        <p:nvPicPr>
          <p:cNvPr id="21" name="Picture 20" descr="Slate-V2-HD-compPhotoInset.png">
            <a:extLst>
              <a:ext uri="{FF2B5EF4-FFF2-40B4-BE49-F238E27FC236}">
                <a16:creationId xmlns:a16="http://schemas.microsoft.com/office/drawing/2014/main" id="{073936BD-C868-433F-8E84-D6DD8E640E3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38357" y="1734506"/>
            <a:ext cx="5029200" cy="4099959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2" cy="970450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46013" y="1855153"/>
            <a:ext cx="4764764" cy="692494"/>
          </a:xfrm>
        </p:spPr>
        <p:txBody>
          <a:bodyPr anchor="b">
            <a:noAutofit/>
          </a:bodyPr>
          <a:lstStyle>
            <a:lvl1pPr marL="0" indent="0" algn="ctr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46013" y="2702103"/>
            <a:ext cx="4764764" cy="3043533"/>
          </a:xfrm>
        </p:spPr>
        <p:txBody>
          <a:bodyPr anchor="t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363166" y="1855152"/>
            <a:ext cx="4779582" cy="692495"/>
          </a:xfrm>
        </p:spPr>
        <p:txBody>
          <a:bodyPr anchor="b">
            <a:noAutofit/>
          </a:bodyPr>
          <a:lstStyle>
            <a:lvl1pPr marL="0" indent="0" algn="ctr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363167" y="2702103"/>
            <a:ext cx="4779581" cy="3043533"/>
          </a:xfrm>
        </p:spPr>
        <p:txBody>
          <a:bodyPr anchor="t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343D99-809A-49C0-96E5-4250D0B498EE}" type="datetime1">
              <a:rPr lang="en-US" smtClean="0"/>
              <a:t>3/9/2026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9155348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43DE9B-B678-4EFB-BB7D-A4370204A0B0}" type="datetime1">
              <a:rPr lang="en-US" smtClean="0"/>
              <a:t>3/9/2026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329658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8812DA-F765-4142-A6A3-A8ED7235E082}" type="datetime1">
              <a:rPr lang="en-US" smtClean="0"/>
              <a:t>3/9/2026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9898612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3706889" cy="1821918"/>
          </a:xfrm>
        </p:spPr>
        <p:txBody>
          <a:bodyPr anchor="b">
            <a:normAutofit/>
          </a:bodyPr>
          <a:lstStyle>
            <a:lvl1pPr algn="ctr">
              <a:defRPr sz="28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55633" y="609600"/>
            <a:ext cx="6411924" cy="5080001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5" y="2673351"/>
            <a:ext cx="3706889" cy="3016250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0277FD-7DE6-41D4-930D-AC99F5AFE54E}" type="datetime1">
              <a:rPr lang="en-US" smtClean="0"/>
              <a:t>3/9/2026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345868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Picture 21" descr="Slate-V2-HD-vertPhotoInset.png">
            <a:extLst>
              <a:ext uri="{FF2B5EF4-FFF2-40B4-BE49-F238E27FC236}">
                <a16:creationId xmlns:a16="http://schemas.microsoft.com/office/drawing/2014/main" id="{4D06E496-ACBA-4063-B4A1-C5C484EE5A7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93665" y="609600"/>
            <a:ext cx="3584166" cy="5204832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5" y="763701"/>
            <a:ext cx="5707899" cy="1675559"/>
          </a:xfrm>
        </p:spPr>
        <p:txBody>
          <a:bodyPr anchor="b">
            <a:noAutofit/>
          </a:bodyPr>
          <a:lstStyle>
            <a:lvl1pPr algn="ctr">
              <a:defRPr sz="32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442551" y="763702"/>
            <a:ext cx="3275751" cy="4912822"/>
          </a:xfr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73698" y="2679699"/>
            <a:ext cx="4588094" cy="3135695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A15526-7079-4B7B-987C-1B5FAE11A0FF}" type="datetime1">
              <a:rPr lang="en-US" smtClean="0"/>
              <a:t>3/9/2026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l"/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1779371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Slate-V2-HD-panoPhotoInset.png">
            <a:extLst>
              <a:ext uri="{FF2B5EF4-FFF2-40B4-BE49-F238E27FC236}">
                <a16:creationId xmlns:a16="http://schemas.microsoft.com/office/drawing/2014/main" id="{CE39118B-B3AD-4BD4-BA22-DEFF4E76CE9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3883" y="547807"/>
            <a:ext cx="10141799" cy="3816806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806" y="4565255"/>
            <a:ext cx="10355326" cy="543472"/>
          </a:xfrm>
        </p:spPr>
        <p:txBody>
          <a:bodyPr anchor="b">
            <a:normAutofit/>
          </a:bodyPr>
          <a:lstStyle>
            <a:lvl1pPr algn="ctr">
              <a:defRPr sz="2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69349" y="695009"/>
            <a:ext cx="9845346" cy="3525671"/>
          </a:xfr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2000"/>
            </a:lvl1pPr>
            <a:lvl2pPr marL="457200" indent="0">
              <a:buNone/>
              <a:defRPr sz="2000"/>
            </a:lvl2pPr>
            <a:lvl3pPr marL="914400" indent="0">
              <a:buNone/>
              <a:defRPr sz="20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5" y="5247728"/>
            <a:ext cx="10353762" cy="543472"/>
          </a:xfrm>
        </p:spPr>
        <p:txBody>
          <a:bodyPr anchor="t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F1B079-7EF0-44EE-B798-BCC497C9F3B2}" type="datetime1">
              <a:rPr lang="en-US" smtClean="0"/>
              <a:t>3/9/2026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0517153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5" y="608437"/>
            <a:ext cx="10353762" cy="3534344"/>
          </a:xfrm>
        </p:spPr>
        <p:txBody>
          <a:bodyPr anchor="ctr">
            <a:normAutofit/>
          </a:bodyPr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4" y="4295180"/>
            <a:ext cx="10353763" cy="1501826"/>
          </a:xfrm>
        </p:spPr>
        <p:txBody>
          <a:bodyPr anchor="ctr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FF70A8-1D13-4657-95F0-A9EA54967B8D}" type="datetime1">
              <a:rPr lang="en-US" smtClean="0"/>
              <a:t>3/9/2026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23547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609600"/>
            <a:ext cx="9302752" cy="2992904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610032"/>
            <a:ext cx="8752299" cy="532749"/>
          </a:xfrm>
        </p:spPr>
        <p:txBody>
          <a:bodyPr anchor="t">
            <a:normAutofit/>
          </a:bodyPr>
          <a:lstStyle>
            <a:lvl1pPr marL="0" indent="0" algn="r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4" y="4304353"/>
            <a:ext cx="10353763" cy="1489496"/>
          </a:xfrm>
        </p:spPr>
        <p:txBody>
          <a:bodyPr anchor="ctr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EB90AC-71BD-4C7F-8ACA-7B3F18292E63}" type="datetime1">
              <a:rPr lang="en-US" smtClean="0"/>
              <a:t>3/9/2026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23F0D53-0705-41B7-8554-09D21E7807F9}"/>
              </a:ext>
            </a:extLst>
          </p:cNvPr>
          <p:cNvSpPr txBox="1"/>
          <p:nvPr/>
        </p:nvSpPr>
        <p:spPr>
          <a:xfrm>
            <a:off x="990600" y="88479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7F647CD-0F1A-4BB3-89E0-A74F1E1B098D}"/>
              </a:ext>
            </a:extLst>
          </p:cNvPr>
          <p:cNvSpPr txBox="1"/>
          <p:nvPr/>
        </p:nvSpPr>
        <p:spPr>
          <a:xfrm>
            <a:off x="10504716" y="292825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437229180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4" y="2126942"/>
            <a:ext cx="10353763" cy="2511835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84" y="4650556"/>
            <a:ext cx="10352199" cy="1140644"/>
          </a:xfrm>
        </p:spPr>
        <p:txBody>
          <a:bodyPr anchor="t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6EFC2C-8905-46F0-B443-CE905B76BA01}" type="datetime1">
              <a:rPr lang="en-US" smtClean="0"/>
              <a:t>3/9/2026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5346483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2" cy="97045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913795" y="1885950"/>
            <a:ext cx="3300984" cy="764782"/>
          </a:xfrm>
        </p:spPr>
        <p:txBody>
          <a:bodyPr anchor="b">
            <a:noAutofit/>
          </a:bodyPr>
          <a:lstStyle>
            <a:lvl1pPr marL="0" indent="0" algn="ctr">
              <a:buNone/>
              <a:defRPr sz="22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913795" y="2768112"/>
            <a:ext cx="3300984" cy="3023088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46711" y="1885949"/>
            <a:ext cx="3300984" cy="764783"/>
          </a:xfrm>
        </p:spPr>
        <p:txBody>
          <a:bodyPr anchor="b">
            <a:noAutofit/>
          </a:bodyPr>
          <a:lstStyle>
            <a:lvl1pPr marL="0" indent="0" algn="ctr">
              <a:buNone/>
              <a:defRPr sz="22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441435" y="2768112"/>
            <a:ext cx="3300984" cy="3023088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66572" y="1885950"/>
            <a:ext cx="3300984" cy="764782"/>
          </a:xfrm>
        </p:spPr>
        <p:txBody>
          <a:bodyPr anchor="b">
            <a:noAutofit/>
          </a:bodyPr>
          <a:lstStyle>
            <a:lvl1pPr marL="0" indent="0" algn="ctr">
              <a:buNone/>
              <a:defRPr sz="22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966572" y="2768110"/>
            <a:ext cx="3300984" cy="3023089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079DC3-C9B5-499E-9140-0DC28B7074E2}" type="datetime1">
              <a:rPr lang="en-US" smtClean="0"/>
              <a:t>3/9/2026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59530208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ate-V2-HD-3colPhotoInset.png">
            <a:extLst>
              <a:ext uri="{FF2B5EF4-FFF2-40B4-BE49-F238E27FC236}">
                <a16:creationId xmlns:a16="http://schemas.microsoft.com/office/drawing/2014/main" id="{7E87C569-D426-4615-ADA7-B370EA98340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7962" y="1818214"/>
            <a:ext cx="3339972" cy="1847851"/>
          </a:xfrm>
          <a:prstGeom prst="rect">
            <a:avLst/>
          </a:prstGeom>
        </p:spPr>
      </p:pic>
      <p:pic>
        <p:nvPicPr>
          <p:cNvPr id="36" name="Picture 35" descr="Slate-V2-HD-3colPhotoInset.png">
            <a:extLst>
              <a:ext uri="{FF2B5EF4-FFF2-40B4-BE49-F238E27FC236}">
                <a16:creationId xmlns:a16="http://schemas.microsoft.com/office/drawing/2014/main" id="{7B353ED4-7AD0-46C9-88ED-1A16B1433AF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03800" y="1818214"/>
            <a:ext cx="3339972" cy="1847851"/>
          </a:xfrm>
          <a:prstGeom prst="rect">
            <a:avLst/>
          </a:prstGeom>
        </p:spPr>
      </p:pic>
      <p:pic>
        <p:nvPicPr>
          <p:cNvPr id="37" name="Picture 36" descr="Slate-V2-HD-3colPhotoInset.png">
            <a:extLst>
              <a:ext uri="{FF2B5EF4-FFF2-40B4-BE49-F238E27FC236}">
                <a16:creationId xmlns:a16="http://schemas.microsoft.com/office/drawing/2014/main" id="{F561D985-AD57-459A-B3A6-EBF29603976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36051" y="1818214"/>
            <a:ext cx="3339972" cy="1847851"/>
          </a:xfrm>
          <a:prstGeom prst="rect">
            <a:avLst/>
          </a:prstGeom>
        </p:spPr>
      </p:pic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913794" y="609600"/>
            <a:ext cx="10353763" cy="97045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913795" y="3904106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0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018102" y="1938918"/>
            <a:ext cx="3092368" cy="1602954"/>
          </a:xfrm>
          <a:prstGeom prst="roundRect">
            <a:avLst>
              <a:gd name="adj" fmla="val 1858"/>
            </a:avLst>
          </a:prstGeo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913795" y="4572443"/>
            <a:ext cx="3300984" cy="1218758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42788" y="3904106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0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545743" y="1939094"/>
            <a:ext cx="3092368" cy="1608164"/>
          </a:xfrm>
          <a:prstGeom prst="roundRect">
            <a:avLst>
              <a:gd name="adj" fmla="val 1858"/>
            </a:avLst>
          </a:prstGeo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441435" y="4572442"/>
            <a:ext cx="3300984" cy="1218758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66697" y="3904106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0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8075698" y="1934432"/>
            <a:ext cx="3092368" cy="1607294"/>
          </a:xfrm>
          <a:prstGeom prst="roundRect">
            <a:avLst>
              <a:gd name="adj" fmla="val 1858"/>
            </a:avLst>
          </a:prstGeo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966572" y="4572442"/>
            <a:ext cx="3300984" cy="1218758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BB33EA-E472-4D22-9C03-A9C14AA21CED}" type="datetime1">
              <a:rPr lang="en-US" smtClean="0"/>
              <a:t>3/9/2026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01571105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7E833E-1B6D-415F-AD29-75AE8C43BD0D}" type="datetime1">
              <a:rPr lang="en-US" smtClean="0"/>
              <a:t>3/9/2026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1859670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983068" y="609599"/>
            <a:ext cx="2284487" cy="5181601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913796" y="609599"/>
            <a:ext cx="7916872" cy="5181601"/>
          </a:xfrm>
        </p:spPr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52596F-08A7-4B70-989A-F2B1CF31E66B}" type="datetime1">
              <a:rPr lang="en-US" smtClean="0"/>
              <a:t>3/9/2026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2699263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2" cy="1257300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13795" y="2076450"/>
            <a:ext cx="10353762" cy="3714749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678736" y="6000749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100">
                <a:solidFill>
                  <a:schemeClr val="tx1">
                    <a:lumMod val="95000"/>
                  </a:schemeClr>
                </a:solidFill>
                <a:effectLst>
                  <a:outerShdw blurRad="50800" dist="38100" dir="2700000" algn="tl" rotWithShape="0">
                    <a:schemeClr val="bg1">
                      <a:alpha val="43000"/>
                    </a:schemeClr>
                  </a:outerShdw>
                </a:effectLst>
              </a:defRPr>
            </a:lvl1pPr>
          </a:lstStyle>
          <a:p>
            <a:fld id="{073ED0CC-082F-4160-86E5-0D6041F12778}" type="datetime1">
              <a:rPr lang="en-US" smtClean="0"/>
              <a:t>3/9/2026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913795" y="6000749"/>
            <a:ext cx="667286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100">
                <a:solidFill>
                  <a:schemeClr val="tx1">
                    <a:lumMod val="95000"/>
                  </a:schemeClr>
                </a:solidFill>
                <a:effectLst>
                  <a:outerShdw blurRad="50800" dist="38100" dir="2700000" algn="tl" rotWithShape="0">
                    <a:schemeClr val="bg1">
                      <a:alpha val="43000"/>
                    </a:schemeClr>
                  </a:outerShdw>
                </a:effectLst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14011" y="6000749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100">
                <a:solidFill>
                  <a:schemeClr val="tx1">
                    <a:lumMod val="95000"/>
                  </a:schemeClr>
                </a:solidFill>
                <a:effectLst>
                  <a:outerShdw blurRad="50800" dist="38100" dir="2700000" algn="tl" rotWithShape="0">
                    <a:schemeClr val="bg1">
                      <a:alpha val="43000"/>
                    </a:schemeClr>
                  </a:outerShdw>
                </a:effectLst>
              </a:defRPr>
            </a:lvl1pPr>
          </a:lstStyle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86398981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760" r:id="rId1"/>
    <p:sldLayoutId id="2147483761" r:id="rId2"/>
    <p:sldLayoutId id="2147483762" r:id="rId3"/>
    <p:sldLayoutId id="2147483746" r:id="rId4"/>
    <p:sldLayoutId id="2147483747" r:id="rId5"/>
    <p:sldLayoutId id="2147483748" r:id="rId6"/>
    <p:sldLayoutId id="2147483749" r:id="rId7"/>
    <p:sldLayoutId id="2147483750" r:id="rId8"/>
    <p:sldLayoutId id="2147483751" r:id="rId9"/>
    <p:sldLayoutId id="2147483752" r:id="rId10"/>
    <p:sldLayoutId id="2147483759" r:id="rId11"/>
    <p:sldLayoutId id="2147483753" r:id="rId12"/>
    <p:sldLayoutId id="2147483754" r:id="rId13"/>
    <p:sldLayoutId id="2147483755" r:id="rId14"/>
    <p:sldLayoutId id="2147483756" r:id="rId15"/>
    <p:sldLayoutId id="2147483757" r:id="rId16"/>
    <p:sldLayoutId id="2147483758" r:id="rId17"/>
  </p:sldLayoutIdLst>
  <p:hf sldNum="0" hdr="0" ftr="0" dt="0"/>
  <p:txStyles>
    <p:titleStyle>
      <a:lvl1pPr algn="ctr" defTabSz="457200" rtl="0" eaLnBrk="1" latinLnBrk="0" hangingPunct="1">
        <a:lnSpc>
          <a:spcPct val="90000"/>
        </a:lnSpc>
        <a:spcBef>
          <a:spcPct val="0"/>
        </a:spcBef>
        <a:buNone/>
        <a:defRPr sz="40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j-lt"/>
          <a:ea typeface="+mj-ea"/>
          <a:cs typeface="Trebuchet M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06000" algn="l" defTabSz="457200" rtl="0" eaLnBrk="1" latinLnBrk="0" hangingPunct="1">
        <a:lnSpc>
          <a:spcPct val="110000"/>
        </a:lnSpc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21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1pPr>
      <a:lvl2pPr marL="720000" indent="-2700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"/>
        <a:defRPr sz="19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2pPr>
      <a:lvl3pPr marL="1026000" indent="-2160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7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3pPr>
      <a:lvl4pPr marL="1386000" indent="-2160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"/>
        <a:defRPr sz="15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4pPr>
      <a:lvl5pPr marL="1674000" indent="-2160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5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5pPr>
      <a:lvl6pPr marL="20146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6pPr>
      <a:lvl7pPr marL="24018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7pPr>
      <a:lvl8pPr marL="2789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8pPr>
      <a:lvl9pPr marL="31062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7.jpe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e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0.jpg"/><Relationship Id="rId4" Type="http://schemas.openxmlformats.org/officeDocument/2006/relationships/image" Target="../media/image9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e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0.jpg"/><Relationship Id="rId4" Type="http://schemas.openxmlformats.org/officeDocument/2006/relationships/image" Target="../media/image9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e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0.jpg"/><Relationship Id="rId4" Type="http://schemas.openxmlformats.org/officeDocument/2006/relationships/image" Target="../media/image9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e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0.jpg"/><Relationship Id="rId4" Type="http://schemas.openxmlformats.org/officeDocument/2006/relationships/image" Target="../media/image9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4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6.png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4.png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3">
            <a:duotone>
              <a:schemeClr val="bg1">
                <a:shade val="80000"/>
                <a:lumMod val="80000"/>
              </a:schemeClr>
              <a:schemeClr val="bg1">
                <a:tint val="98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808E16CA-BF32-4E68-AAAF-189A3408C6C8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t="13986" b="1744"/>
          <a:stretch/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sp useBgFill="1">
        <p:nvSpPr>
          <p:cNvPr id="14" name="Freeform 5">
            <a:extLst>
              <a:ext uri="{FF2B5EF4-FFF2-40B4-BE49-F238E27FC236}">
                <a16:creationId xmlns:a16="http://schemas.microsoft.com/office/drawing/2014/main" id="{608EAA06-5488-416B-B2B2-E5521301101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auto">
          <a:xfrm>
            <a:off x="2271651" y="1762886"/>
            <a:ext cx="7656919" cy="3332229"/>
          </a:xfrm>
          <a:custGeom>
            <a:avLst/>
            <a:gdLst>
              <a:gd name="T0" fmla="*/ 1577 w 1601"/>
              <a:gd name="T1" fmla="*/ 0 h 696"/>
              <a:gd name="T2" fmla="*/ 833 w 1601"/>
              <a:gd name="T3" fmla="*/ 0 h 696"/>
              <a:gd name="T4" fmla="*/ 768 w 1601"/>
              <a:gd name="T5" fmla="*/ 0 h 696"/>
              <a:gd name="T6" fmla="*/ 24 w 1601"/>
              <a:gd name="T7" fmla="*/ 0 h 696"/>
              <a:gd name="T8" fmla="*/ 0 w 1601"/>
              <a:gd name="T9" fmla="*/ 27 h 696"/>
              <a:gd name="T10" fmla="*/ 0 w 1601"/>
              <a:gd name="T11" fmla="*/ 669 h 696"/>
              <a:gd name="T12" fmla="*/ 24 w 1601"/>
              <a:gd name="T13" fmla="*/ 696 h 696"/>
              <a:gd name="T14" fmla="*/ 768 w 1601"/>
              <a:gd name="T15" fmla="*/ 696 h 696"/>
              <a:gd name="T16" fmla="*/ 833 w 1601"/>
              <a:gd name="T17" fmla="*/ 696 h 696"/>
              <a:gd name="T18" fmla="*/ 1577 w 1601"/>
              <a:gd name="T19" fmla="*/ 696 h 696"/>
              <a:gd name="T20" fmla="*/ 1601 w 1601"/>
              <a:gd name="T21" fmla="*/ 669 h 696"/>
              <a:gd name="T22" fmla="*/ 1601 w 1601"/>
              <a:gd name="T23" fmla="*/ 27 h 696"/>
              <a:gd name="T24" fmla="*/ 1577 w 1601"/>
              <a:gd name="T25" fmla="*/ 0 h 69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</a:cxnLst>
            <a:rect l="0" t="0" r="r" b="b"/>
            <a:pathLst>
              <a:path w="1601" h="696">
                <a:moveTo>
                  <a:pt x="1577" y="0"/>
                </a:moveTo>
                <a:cubicBezTo>
                  <a:pt x="833" y="0"/>
                  <a:pt x="833" y="0"/>
                  <a:pt x="833" y="0"/>
                </a:cubicBezTo>
                <a:cubicBezTo>
                  <a:pt x="768" y="0"/>
                  <a:pt x="768" y="0"/>
                  <a:pt x="768" y="0"/>
                </a:cubicBezTo>
                <a:cubicBezTo>
                  <a:pt x="24" y="0"/>
                  <a:pt x="24" y="0"/>
                  <a:pt x="24" y="0"/>
                </a:cubicBezTo>
                <a:cubicBezTo>
                  <a:pt x="11" y="0"/>
                  <a:pt x="0" y="12"/>
                  <a:pt x="0" y="27"/>
                </a:cubicBezTo>
                <a:cubicBezTo>
                  <a:pt x="0" y="669"/>
                  <a:pt x="0" y="669"/>
                  <a:pt x="0" y="669"/>
                </a:cubicBezTo>
                <a:cubicBezTo>
                  <a:pt x="0" y="684"/>
                  <a:pt x="11" y="696"/>
                  <a:pt x="24" y="696"/>
                </a:cubicBezTo>
                <a:cubicBezTo>
                  <a:pt x="768" y="696"/>
                  <a:pt x="768" y="696"/>
                  <a:pt x="768" y="696"/>
                </a:cubicBezTo>
                <a:cubicBezTo>
                  <a:pt x="833" y="696"/>
                  <a:pt x="833" y="696"/>
                  <a:pt x="833" y="696"/>
                </a:cubicBezTo>
                <a:cubicBezTo>
                  <a:pt x="1577" y="696"/>
                  <a:pt x="1577" y="696"/>
                  <a:pt x="1577" y="696"/>
                </a:cubicBezTo>
                <a:cubicBezTo>
                  <a:pt x="1590" y="696"/>
                  <a:pt x="1601" y="684"/>
                  <a:pt x="1601" y="669"/>
                </a:cubicBezTo>
                <a:cubicBezTo>
                  <a:pt x="1601" y="27"/>
                  <a:pt x="1601" y="27"/>
                  <a:pt x="1601" y="27"/>
                </a:cubicBezTo>
                <a:cubicBezTo>
                  <a:pt x="1601" y="12"/>
                  <a:pt x="1590" y="0"/>
                  <a:pt x="1577" y="0"/>
                </a:cubicBezTo>
                <a:close/>
              </a:path>
            </a:pathLst>
          </a:custGeom>
          <a:ln>
            <a:noFill/>
          </a:ln>
          <a:effectLst>
            <a:outerShdw blurRad="50800" dist="38100" dir="5400000" algn="tl" rotWithShape="0">
              <a:srgbClr val="000000">
                <a:alpha val="43000"/>
              </a:srgbClr>
            </a:outerShdw>
          </a:effectLst>
          <a:extLst>
            <a:ext uri="{91240B29-F687-4f45-9708-019B960494DF}">
              <a14:hiddenLine xmlns:a16="http://schemas.microsoft.com/office/drawing/2014/main" xmlns:p14="http://schemas.microsoft.com/office/powerpoint/2010/main" xmlns:a14="http://schemas.microsoft.com/office/drawing/2010/main" xmlns="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7F2B5DE-6445-CC49-9F8E-7C9072991AF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480733" y="2514599"/>
            <a:ext cx="7219954" cy="1828801"/>
          </a:xfrm>
        </p:spPr>
        <p:txBody>
          <a:bodyPr>
            <a:normAutofit fontScale="90000"/>
          </a:bodyPr>
          <a:lstStyle/>
          <a:p>
            <a:r>
              <a:rPr lang="en-US" sz="4800" dirty="0"/>
              <a:t>CITS1003 Introduction to Cybersecurity</a:t>
            </a:r>
            <a:br>
              <a:rPr lang="en-US" sz="4800" dirty="0"/>
            </a:br>
            <a:r>
              <a:rPr lang="en-US" sz="4800" dirty="0"/>
              <a:t>[3] Introduction to Computers and Networks exercises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804B053-88E2-6F47-B5CB-F0B21DD687A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480733" y="4475747"/>
            <a:ext cx="7219954" cy="477258"/>
          </a:xfrm>
        </p:spPr>
        <p:txBody>
          <a:bodyPr>
            <a:normAutofit/>
          </a:bodyPr>
          <a:lstStyle/>
          <a:p>
            <a:r>
              <a:rPr lang="en-US" dirty="0">
                <a:solidFill>
                  <a:srgbClr val="20D1FF"/>
                </a:solidFill>
              </a:rPr>
              <a:t>Dr </a:t>
            </a:r>
            <a:r>
              <a:rPr lang="en-US" dirty="0" err="1">
                <a:solidFill>
                  <a:srgbClr val="20D1FF"/>
                </a:solidFill>
              </a:rPr>
              <a:t>Zhi</a:t>
            </a:r>
            <a:r>
              <a:rPr lang="en-US" dirty="0">
                <a:solidFill>
                  <a:srgbClr val="20D1FF"/>
                </a:solidFill>
              </a:rPr>
              <a:t> Zhang</a:t>
            </a:r>
          </a:p>
        </p:txBody>
      </p:sp>
    </p:spTree>
    <p:extLst>
      <p:ext uri="{BB962C8B-B14F-4D97-AF65-F5344CB8AC3E}">
        <p14:creationId xmlns:p14="http://schemas.microsoft.com/office/powerpoint/2010/main" val="107758667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DAD7D02-86A3-4809-8C4D-190E2BE21D2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73553" y="1204580"/>
            <a:ext cx="10353762" cy="3714749"/>
          </a:xfrm>
        </p:spPr>
        <p:txBody>
          <a:bodyPr>
            <a:normAutofit/>
          </a:bodyPr>
          <a:lstStyle/>
          <a:p>
            <a:pPr lvl="1"/>
            <a:r>
              <a:rPr lang="en-AU" sz="2800" dirty="0"/>
              <a:t>Sniffing</a:t>
            </a:r>
          </a:p>
          <a:p>
            <a:pPr lvl="1"/>
            <a:r>
              <a:rPr lang="en-AU" sz="2800" dirty="0"/>
              <a:t>Remote shell</a:t>
            </a:r>
          </a:p>
          <a:p>
            <a:pPr lvl="1"/>
            <a:endParaRPr lang="en-AU" sz="2800" dirty="0"/>
          </a:p>
        </p:txBody>
      </p:sp>
    </p:spTree>
    <p:extLst>
      <p:ext uri="{BB962C8B-B14F-4D97-AF65-F5344CB8AC3E}">
        <p14:creationId xmlns:p14="http://schemas.microsoft.com/office/powerpoint/2010/main" val="220651969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idx="1"/>
          </p:nvPr>
        </p:nvSpPr>
        <p:spPr>
          <a:xfrm>
            <a:off x="537021" y="1571625"/>
            <a:ext cx="11328914" cy="3714749"/>
          </a:xfrm>
        </p:spPr>
        <p:txBody>
          <a:bodyPr>
            <a:normAutofit/>
          </a:bodyPr>
          <a:lstStyle/>
          <a:p>
            <a:r>
              <a:rPr lang="en-AU" sz="2800" dirty="0"/>
              <a:t>Sniffing is a </a:t>
            </a:r>
            <a:r>
              <a:rPr lang="en-AU" sz="2800" b="1" dirty="0">
                <a:solidFill>
                  <a:srgbClr val="FF0000"/>
                </a:solidFill>
              </a:rPr>
              <a:t>passive</a:t>
            </a:r>
            <a:r>
              <a:rPr lang="en-AU" sz="2800" dirty="0"/>
              <a:t> attack</a:t>
            </a:r>
          </a:p>
          <a:p>
            <a:pPr lvl="1"/>
            <a:r>
              <a:rPr lang="en-AU" sz="2600" dirty="0"/>
              <a:t>active attack: an attacker interacts with the victim system</a:t>
            </a:r>
          </a:p>
          <a:p>
            <a:pPr lvl="1"/>
            <a:r>
              <a:rPr lang="en-AU" sz="2600" dirty="0"/>
              <a:t>passive attack: an attacker does not need the interaction</a:t>
            </a:r>
          </a:p>
          <a:p>
            <a:r>
              <a:rPr lang="en-AU" sz="2800" dirty="0"/>
              <a:t>What is it: capture network traffic between two communicating nodes</a:t>
            </a:r>
          </a:p>
          <a:p>
            <a:r>
              <a:rPr lang="en-AU" sz="2800" dirty="0"/>
              <a:t>Key characteristics?</a:t>
            </a:r>
            <a:endParaRPr lang="en-AU" sz="2800" dirty="0">
              <a:solidFill>
                <a:srgbClr val="FF0000"/>
              </a:solidFill>
            </a:endParaRP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1257300"/>
          </a:xfrm>
        </p:spPr>
        <p:txBody>
          <a:bodyPr/>
          <a:lstStyle/>
          <a:p>
            <a:r>
              <a:rPr lang="en-AU" dirty="0"/>
              <a:t>Sniffing</a:t>
            </a:r>
          </a:p>
        </p:txBody>
      </p:sp>
    </p:spTree>
    <p:extLst>
      <p:ext uri="{BB962C8B-B14F-4D97-AF65-F5344CB8AC3E}">
        <p14:creationId xmlns:p14="http://schemas.microsoft.com/office/powerpoint/2010/main" val="52307255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idx="1"/>
          </p:nvPr>
        </p:nvSpPr>
        <p:spPr>
          <a:xfrm>
            <a:off x="537021" y="1571625"/>
            <a:ext cx="11328914" cy="3714749"/>
          </a:xfrm>
        </p:spPr>
        <p:txBody>
          <a:bodyPr>
            <a:normAutofit/>
          </a:bodyPr>
          <a:lstStyle/>
          <a:p>
            <a:r>
              <a:rPr lang="en-AU" sz="2800" dirty="0"/>
              <a:t>Sniffing is a </a:t>
            </a:r>
            <a:r>
              <a:rPr lang="en-AU" sz="2800" b="1" dirty="0">
                <a:solidFill>
                  <a:schemeClr val="tx1"/>
                </a:solidFill>
              </a:rPr>
              <a:t>passive</a:t>
            </a:r>
            <a:r>
              <a:rPr lang="en-AU" sz="2800" dirty="0"/>
              <a:t> attack</a:t>
            </a:r>
          </a:p>
          <a:p>
            <a:r>
              <a:rPr lang="en-AU" sz="2800" dirty="0"/>
              <a:t>What is it: capture network traffic between two communicating nodes</a:t>
            </a:r>
          </a:p>
          <a:p>
            <a:r>
              <a:rPr lang="en-AU" sz="2800" dirty="0"/>
              <a:t>Key characteristics?</a:t>
            </a:r>
            <a:endParaRPr lang="en-AU" sz="2800" dirty="0">
              <a:solidFill>
                <a:srgbClr val="FF0000"/>
              </a:solidFill>
            </a:endParaRPr>
          </a:p>
          <a:p>
            <a:pPr lvl="1"/>
            <a:r>
              <a:rPr lang="en-AU" sz="2600" dirty="0">
                <a:solidFill>
                  <a:srgbClr val="FF0000"/>
                </a:solidFill>
              </a:rPr>
              <a:t>Detection</a:t>
            </a:r>
            <a:r>
              <a:rPr lang="en-AU" sz="2600" dirty="0"/>
              <a:t>: hard to detect such attacks, as the attack does not leave any traces in the network.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1257300"/>
          </a:xfrm>
        </p:spPr>
        <p:txBody>
          <a:bodyPr/>
          <a:lstStyle/>
          <a:p>
            <a:r>
              <a:rPr lang="en-AU" dirty="0"/>
              <a:t>Sniffing</a:t>
            </a:r>
          </a:p>
        </p:txBody>
      </p:sp>
    </p:spTree>
    <p:extLst>
      <p:ext uri="{BB962C8B-B14F-4D97-AF65-F5344CB8AC3E}">
        <p14:creationId xmlns:p14="http://schemas.microsoft.com/office/powerpoint/2010/main" val="297717671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idx="1"/>
          </p:nvPr>
        </p:nvSpPr>
        <p:spPr>
          <a:xfrm>
            <a:off x="537021" y="1571625"/>
            <a:ext cx="11328914" cy="3714749"/>
          </a:xfrm>
        </p:spPr>
        <p:txBody>
          <a:bodyPr>
            <a:normAutofit/>
          </a:bodyPr>
          <a:lstStyle/>
          <a:p>
            <a:r>
              <a:rPr lang="en-AU" sz="2800" dirty="0"/>
              <a:t>Sniffing is a </a:t>
            </a:r>
            <a:r>
              <a:rPr lang="en-AU" sz="2800" b="1" dirty="0">
                <a:solidFill>
                  <a:schemeClr val="tx1"/>
                </a:solidFill>
              </a:rPr>
              <a:t>passive</a:t>
            </a:r>
            <a:r>
              <a:rPr lang="en-AU" sz="2800" dirty="0"/>
              <a:t> attack</a:t>
            </a:r>
          </a:p>
          <a:p>
            <a:r>
              <a:rPr lang="en-AU" sz="2800" dirty="0"/>
              <a:t>What is it: capture network traffic between two communicating nodes</a:t>
            </a:r>
          </a:p>
          <a:p>
            <a:r>
              <a:rPr lang="en-AU" sz="2800" dirty="0"/>
              <a:t>Key characteristics?</a:t>
            </a:r>
            <a:endParaRPr lang="en-AU" sz="2800" dirty="0">
              <a:solidFill>
                <a:srgbClr val="FF0000"/>
              </a:solidFill>
            </a:endParaRPr>
          </a:p>
          <a:p>
            <a:pPr lvl="1"/>
            <a:r>
              <a:rPr lang="en-AU" sz="2600" dirty="0">
                <a:solidFill>
                  <a:srgbClr val="FF0000"/>
                </a:solidFill>
              </a:rPr>
              <a:t>Detection</a:t>
            </a:r>
            <a:r>
              <a:rPr lang="en-AU" sz="2600" dirty="0"/>
              <a:t>: hard to detect such attacks, as the attack does not leave any traces in the network.</a:t>
            </a:r>
          </a:p>
          <a:p>
            <a:pPr lvl="1"/>
            <a:r>
              <a:rPr lang="en-AU" sz="2600" dirty="0">
                <a:solidFill>
                  <a:srgbClr val="FF0000"/>
                </a:solidFill>
              </a:rPr>
              <a:t>Prevention</a:t>
            </a:r>
            <a:r>
              <a:rPr lang="en-AU" sz="2600" dirty="0"/>
              <a:t>: can be prevented via </a:t>
            </a:r>
            <a:r>
              <a:rPr lang="en-AU" sz="2600" dirty="0">
                <a:solidFill>
                  <a:srgbClr val="FF0000"/>
                </a:solidFill>
              </a:rPr>
              <a:t>encryption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1257300"/>
          </a:xfrm>
        </p:spPr>
        <p:txBody>
          <a:bodyPr/>
          <a:lstStyle/>
          <a:p>
            <a:r>
              <a:rPr lang="en-AU" dirty="0"/>
              <a:t>Sniffing</a:t>
            </a:r>
          </a:p>
        </p:txBody>
      </p:sp>
    </p:spTree>
    <p:extLst>
      <p:ext uri="{BB962C8B-B14F-4D97-AF65-F5344CB8AC3E}">
        <p14:creationId xmlns:p14="http://schemas.microsoft.com/office/powerpoint/2010/main" val="419415692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idx="1"/>
          </p:nvPr>
        </p:nvSpPr>
        <p:spPr>
          <a:xfrm>
            <a:off x="695414" y="1411791"/>
            <a:ext cx="10353762" cy="1582359"/>
          </a:xfrm>
        </p:spPr>
        <p:txBody>
          <a:bodyPr>
            <a:normAutofit/>
          </a:bodyPr>
          <a:lstStyle/>
          <a:p>
            <a:r>
              <a:rPr lang="en-AU" sz="2800" dirty="0"/>
              <a:t>Establishing a </a:t>
            </a:r>
            <a:r>
              <a:rPr lang="en-AU" sz="2800" b="1" dirty="0">
                <a:solidFill>
                  <a:srgbClr val="FF0000"/>
                </a:solidFill>
              </a:rPr>
              <a:t>secure channel </a:t>
            </a:r>
            <a:r>
              <a:rPr lang="en-AU" sz="2800" dirty="0"/>
              <a:t>to communicate is important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919119" y="219530"/>
            <a:ext cx="10353762" cy="1257300"/>
          </a:xfrm>
        </p:spPr>
        <p:txBody>
          <a:bodyPr/>
          <a:lstStyle/>
          <a:p>
            <a:r>
              <a:rPr lang="en-AU" dirty="0"/>
              <a:t>Sniffing</a:t>
            </a:r>
          </a:p>
        </p:txBody>
      </p:sp>
      <p:pic>
        <p:nvPicPr>
          <p:cNvPr id="13" name="Picture 2" descr="Related image">
            <a:extLst>
              <a:ext uri="{FF2B5EF4-FFF2-40B4-BE49-F238E27FC236}">
                <a16:creationId xmlns:a16="http://schemas.microsoft.com/office/drawing/2014/main" id="{02F1C5B3-BDAD-4006-A7EC-107FD5E8977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2622854" y="3111311"/>
            <a:ext cx="1056639" cy="125654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7A5E9CB5-2017-4703-BEC8-58D7AD966AB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17683" y="4648557"/>
            <a:ext cx="1056640" cy="1229360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D0427AD2-6099-40DF-877B-B121EF0C598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53761" y="3120565"/>
            <a:ext cx="1249312" cy="1229360"/>
          </a:xfrm>
          <a:prstGeom prst="rect">
            <a:avLst/>
          </a:prstGeom>
        </p:spPr>
      </p:pic>
      <p:sp>
        <p:nvSpPr>
          <p:cNvPr id="19" name="Title 1">
            <a:extLst>
              <a:ext uri="{FF2B5EF4-FFF2-40B4-BE49-F238E27FC236}">
                <a16:creationId xmlns:a16="http://schemas.microsoft.com/office/drawing/2014/main" id="{216B5159-1E2A-407D-B474-1721BB796493}"/>
              </a:ext>
            </a:extLst>
          </p:cNvPr>
          <p:cNvSpPr txBox="1">
            <a:spLocks/>
          </p:cNvSpPr>
          <p:nvPr/>
        </p:nvSpPr>
        <p:spPr>
          <a:xfrm>
            <a:off x="2318236" y="4321819"/>
            <a:ext cx="1665874" cy="756915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ctr">
            <a:normAutofit/>
          </a:bodyPr>
          <a:lstStyle>
            <a:lvl1pPr algn="ctr" defTabSz="4572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j-lt"/>
                <a:ea typeface="+mj-ea"/>
                <a:cs typeface="Trebuchet M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AU" sz="2400" dirty="0">
                <a:latin typeface="+mn-lt"/>
              </a:rPr>
              <a:t>Alice</a:t>
            </a:r>
          </a:p>
        </p:txBody>
      </p:sp>
      <p:sp>
        <p:nvSpPr>
          <p:cNvPr id="20" name="Title 1">
            <a:extLst>
              <a:ext uri="{FF2B5EF4-FFF2-40B4-BE49-F238E27FC236}">
                <a16:creationId xmlns:a16="http://schemas.microsoft.com/office/drawing/2014/main" id="{92F6156C-5ABD-4243-A913-8CAA6A97B5F1}"/>
              </a:ext>
            </a:extLst>
          </p:cNvPr>
          <p:cNvSpPr txBox="1">
            <a:spLocks/>
          </p:cNvSpPr>
          <p:nvPr/>
        </p:nvSpPr>
        <p:spPr>
          <a:xfrm>
            <a:off x="7791688" y="4321818"/>
            <a:ext cx="1704980" cy="756915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ctr">
            <a:normAutofit/>
          </a:bodyPr>
          <a:lstStyle>
            <a:lvl1pPr algn="ctr" defTabSz="4572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j-lt"/>
                <a:ea typeface="+mj-ea"/>
                <a:cs typeface="Trebuchet M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AU" sz="2400" dirty="0">
                <a:latin typeface="+mn-lt"/>
              </a:rPr>
              <a:t>Bob</a:t>
            </a:r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267D7041-8F99-4E41-BE1C-A94BB43BE417}"/>
              </a:ext>
            </a:extLst>
          </p:cNvPr>
          <p:cNvCxnSpPr>
            <a:cxnSpLocks/>
            <a:stCxn id="17" idx="0"/>
            <a:endCxn id="24" idx="2"/>
          </p:cNvCxnSpPr>
          <p:nvPr/>
        </p:nvCxnSpPr>
        <p:spPr>
          <a:xfrm flipV="1">
            <a:off x="5846003" y="4032820"/>
            <a:ext cx="0" cy="615737"/>
          </a:xfrm>
          <a:prstGeom prst="straightConnector1">
            <a:avLst/>
          </a:prstGeom>
          <a:ln w="3175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6A22FFC7-A9A0-4446-8427-05B3BD024B47}"/>
              </a:ext>
            </a:extLst>
          </p:cNvPr>
          <p:cNvSpPr/>
          <p:nvPr/>
        </p:nvSpPr>
        <p:spPr>
          <a:xfrm>
            <a:off x="4431224" y="3434070"/>
            <a:ext cx="2829558" cy="598750"/>
          </a:xfrm>
          <a:prstGeom prst="roundRect">
            <a:avLst/>
          </a:prstGeom>
          <a:solidFill>
            <a:schemeClr val="tx1">
              <a:alpha val="50196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400" b="1" dirty="0">
                <a:solidFill>
                  <a:schemeClr val="bg2"/>
                </a:solidFill>
              </a:rPr>
              <a:t>Insecure Channel</a:t>
            </a:r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F39F2465-3FF3-F32C-CD0B-B6B697E600C5}"/>
              </a:ext>
            </a:extLst>
          </p:cNvPr>
          <p:cNvSpPr txBox="1">
            <a:spLocks/>
          </p:cNvSpPr>
          <p:nvPr/>
        </p:nvSpPr>
        <p:spPr>
          <a:xfrm>
            <a:off x="4780147" y="5849991"/>
            <a:ext cx="2184295" cy="756915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ctr">
            <a:normAutofit/>
          </a:bodyPr>
          <a:lstStyle>
            <a:lvl1pPr algn="ctr" defTabSz="4572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j-lt"/>
                <a:ea typeface="+mj-ea"/>
                <a:cs typeface="Trebuchet M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AU" sz="2400" dirty="0">
                <a:latin typeface="+mn-lt"/>
              </a:rPr>
              <a:t>Eavesdropper</a:t>
            </a:r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0F89A8EC-F949-B098-B61A-62BA1FE59252}"/>
              </a:ext>
            </a:extLst>
          </p:cNvPr>
          <p:cNvCxnSpPr>
            <a:cxnSpLocks/>
            <a:stCxn id="13" idx="3"/>
            <a:endCxn id="24" idx="1"/>
          </p:cNvCxnSpPr>
          <p:nvPr/>
        </p:nvCxnSpPr>
        <p:spPr>
          <a:xfrm flipV="1">
            <a:off x="3679493" y="3733445"/>
            <a:ext cx="751731" cy="6139"/>
          </a:xfrm>
          <a:prstGeom prst="straightConnector1">
            <a:avLst/>
          </a:prstGeom>
          <a:ln w="38100">
            <a:solidFill>
              <a:srgbClr val="FF000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0B6ADD1F-A9FF-6194-C9C4-335F3C2C114E}"/>
              </a:ext>
            </a:extLst>
          </p:cNvPr>
          <p:cNvCxnSpPr>
            <a:cxnSpLocks/>
            <a:stCxn id="24" idx="3"/>
            <a:endCxn id="18" idx="1"/>
          </p:cNvCxnSpPr>
          <p:nvPr/>
        </p:nvCxnSpPr>
        <p:spPr>
          <a:xfrm>
            <a:off x="7260782" y="3733445"/>
            <a:ext cx="692979" cy="1800"/>
          </a:xfrm>
          <a:prstGeom prst="straightConnector1">
            <a:avLst/>
          </a:prstGeom>
          <a:ln w="38100">
            <a:solidFill>
              <a:srgbClr val="FF000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9801679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idx="1"/>
          </p:nvPr>
        </p:nvSpPr>
        <p:spPr>
          <a:xfrm>
            <a:off x="695414" y="1411791"/>
            <a:ext cx="10353762" cy="1582359"/>
          </a:xfrm>
        </p:spPr>
        <p:txBody>
          <a:bodyPr>
            <a:normAutofit/>
          </a:bodyPr>
          <a:lstStyle/>
          <a:p>
            <a:r>
              <a:rPr lang="en-AU" sz="2800" dirty="0"/>
              <a:t>Establishing a </a:t>
            </a:r>
            <a:r>
              <a:rPr lang="en-AU" sz="2800" b="1" dirty="0">
                <a:solidFill>
                  <a:srgbClr val="FF0000"/>
                </a:solidFill>
              </a:rPr>
              <a:t>secure channel </a:t>
            </a:r>
            <a:r>
              <a:rPr lang="en-AU" sz="2800" dirty="0"/>
              <a:t>to communicate is important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919119" y="219530"/>
            <a:ext cx="10353762" cy="1257300"/>
          </a:xfrm>
        </p:spPr>
        <p:txBody>
          <a:bodyPr/>
          <a:lstStyle/>
          <a:p>
            <a:r>
              <a:rPr lang="en-AU" dirty="0"/>
              <a:t>Sniffing</a:t>
            </a:r>
          </a:p>
        </p:txBody>
      </p:sp>
      <p:pic>
        <p:nvPicPr>
          <p:cNvPr id="13" name="Picture 2" descr="Related image">
            <a:extLst>
              <a:ext uri="{FF2B5EF4-FFF2-40B4-BE49-F238E27FC236}">
                <a16:creationId xmlns:a16="http://schemas.microsoft.com/office/drawing/2014/main" id="{02F1C5B3-BDAD-4006-A7EC-107FD5E8977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2622854" y="3111311"/>
            <a:ext cx="1056639" cy="125654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7A5E9CB5-2017-4703-BEC8-58D7AD966AB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17683" y="4648557"/>
            <a:ext cx="1056640" cy="1229360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D0427AD2-6099-40DF-877B-B121EF0C598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53761" y="3120565"/>
            <a:ext cx="1249312" cy="1229360"/>
          </a:xfrm>
          <a:prstGeom prst="rect">
            <a:avLst/>
          </a:prstGeom>
        </p:spPr>
      </p:pic>
      <p:sp>
        <p:nvSpPr>
          <p:cNvPr id="19" name="Title 1">
            <a:extLst>
              <a:ext uri="{FF2B5EF4-FFF2-40B4-BE49-F238E27FC236}">
                <a16:creationId xmlns:a16="http://schemas.microsoft.com/office/drawing/2014/main" id="{216B5159-1E2A-407D-B474-1721BB796493}"/>
              </a:ext>
            </a:extLst>
          </p:cNvPr>
          <p:cNvSpPr txBox="1">
            <a:spLocks/>
          </p:cNvSpPr>
          <p:nvPr/>
        </p:nvSpPr>
        <p:spPr>
          <a:xfrm>
            <a:off x="2318236" y="4321819"/>
            <a:ext cx="1665874" cy="756915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ctr">
            <a:normAutofit/>
          </a:bodyPr>
          <a:lstStyle>
            <a:lvl1pPr algn="ctr" defTabSz="4572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j-lt"/>
                <a:ea typeface="+mj-ea"/>
                <a:cs typeface="Trebuchet M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AU" sz="2400" dirty="0">
                <a:latin typeface="+mn-lt"/>
              </a:rPr>
              <a:t>Alice</a:t>
            </a:r>
          </a:p>
        </p:txBody>
      </p:sp>
      <p:sp>
        <p:nvSpPr>
          <p:cNvPr id="20" name="Title 1">
            <a:extLst>
              <a:ext uri="{FF2B5EF4-FFF2-40B4-BE49-F238E27FC236}">
                <a16:creationId xmlns:a16="http://schemas.microsoft.com/office/drawing/2014/main" id="{92F6156C-5ABD-4243-A913-8CAA6A97B5F1}"/>
              </a:ext>
            </a:extLst>
          </p:cNvPr>
          <p:cNvSpPr txBox="1">
            <a:spLocks/>
          </p:cNvSpPr>
          <p:nvPr/>
        </p:nvSpPr>
        <p:spPr>
          <a:xfrm>
            <a:off x="7791688" y="4321818"/>
            <a:ext cx="1704980" cy="756915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ctr">
            <a:normAutofit/>
          </a:bodyPr>
          <a:lstStyle>
            <a:lvl1pPr algn="ctr" defTabSz="4572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j-lt"/>
                <a:ea typeface="+mj-ea"/>
                <a:cs typeface="Trebuchet M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AU" sz="2400" dirty="0">
                <a:latin typeface="+mn-lt"/>
              </a:rPr>
              <a:t>Bob</a:t>
            </a:r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267D7041-8F99-4E41-BE1C-A94BB43BE417}"/>
              </a:ext>
            </a:extLst>
          </p:cNvPr>
          <p:cNvCxnSpPr>
            <a:cxnSpLocks/>
            <a:stCxn id="17" idx="0"/>
            <a:endCxn id="24" idx="2"/>
          </p:cNvCxnSpPr>
          <p:nvPr/>
        </p:nvCxnSpPr>
        <p:spPr>
          <a:xfrm flipV="1">
            <a:off x="5846003" y="4032820"/>
            <a:ext cx="0" cy="615737"/>
          </a:xfrm>
          <a:prstGeom prst="straightConnector1">
            <a:avLst/>
          </a:prstGeom>
          <a:ln w="3175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6A22FFC7-A9A0-4446-8427-05B3BD024B47}"/>
              </a:ext>
            </a:extLst>
          </p:cNvPr>
          <p:cNvSpPr/>
          <p:nvPr/>
        </p:nvSpPr>
        <p:spPr>
          <a:xfrm>
            <a:off x="4431224" y="3434070"/>
            <a:ext cx="2829558" cy="598750"/>
          </a:xfrm>
          <a:prstGeom prst="roundRect">
            <a:avLst/>
          </a:prstGeom>
          <a:solidFill>
            <a:schemeClr val="tx1">
              <a:alpha val="50196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400" b="1" dirty="0">
                <a:solidFill>
                  <a:schemeClr val="bg2"/>
                </a:solidFill>
              </a:rPr>
              <a:t>Insecure Channel</a:t>
            </a:r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F39F2465-3FF3-F32C-CD0B-B6B697E600C5}"/>
              </a:ext>
            </a:extLst>
          </p:cNvPr>
          <p:cNvSpPr txBox="1">
            <a:spLocks/>
          </p:cNvSpPr>
          <p:nvPr/>
        </p:nvSpPr>
        <p:spPr>
          <a:xfrm>
            <a:off x="4780147" y="5849991"/>
            <a:ext cx="2184295" cy="756915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ctr">
            <a:normAutofit/>
          </a:bodyPr>
          <a:lstStyle>
            <a:lvl1pPr algn="ctr" defTabSz="4572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j-lt"/>
                <a:ea typeface="+mj-ea"/>
                <a:cs typeface="Trebuchet M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AU" sz="2400" dirty="0">
                <a:latin typeface="+mn-lt"/>
              </a:rPr>
              <a:t>Eavesdropper</a:t>
            </a:r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0F89A8EC-F949-B098-B61A-62BA1FE59252}"/>
              </a:ext>
            </a:extLst>
          </p:cNvPr>
          <p:cNvCxnSpPr>
            <a:cxnSpLocks/>
            <a:stCxn id="13" idx="3"/>
            <a:endCxn id="24" idx="1"/>
          </p:cNvCxnSpPr>
          <p:nvPr/>
        </p:nvCxnSpPr>
        <p:spPr>
          <a:xfrm flipV="1">
            <a:off x="3679493" y="3733445"/>
            <a:ext cx="751731" cy="6139"/>
          </a:xfrm>
          <a:prstGeom prst="straightConnector1">
            <a:avLst/>
          </a:prstGeom>
          <a:ln w="38100">
            <a:solidFill>
              <a:srgbClr val="FF000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0B6ADD1F-A9FF-6194-C9C4-335F3C2C114E}"/>
              </a:ext>
            </a:extLst>
          </p:cNvPr>
          <p:cNvCxnSpPr>
            <a:cxnSpLocks/>
            <a:stCxn id="24" idx="3"/>
            <a:endCxn id="18" idx="1"/>
          </p:cNvCxnSpPr>
          <p:nvPr/>
        </p:nvCxnSpPr>
        <p:spPr>
          <a:xfrm>
            <a:off x="7260782" y="3733445"/>
            <a:ext cx="692979" cy="1800"/>
          </a:xfrm>
          <a:prstGeom prst="straightConnector1">
            <a:avLst/>
          </a:prstGeom>
          <a:ln w="38100">
            <a:solidFill>
              <a:srgbClr val="FF000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itle 1">
            <a:extLst>
              <a:ext uri="{FF2B5EF4-FFF2-40B4-BE49-F238E27FC236}">
                <a16:creationId xmlns:a16="http://schemas.microsoft.com/office/drawing/2014/main" id="{1A348A68-15AA-4054-A986-925C048E0E84}"/>
              </a:ext>
            </a:extLst>
          </p:cNvPr>
          <p:cNvSpPr txBox="1">
            <a:spLocks/>
          </p:cNvSpPr>
          <p:nvPr/>
        </p:nvSpPr>
        <p:spPr>
          <a:xfrm>
            <a:off x="4780147" y="2568835"/>
            <a:ext cx="2184295" cy="756915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ctr">
            <a:normAutofit/>
          </a:bodyPr>
          <a:lstStyle>
            <a:lvl1pPr algn="ctr" defTabSz="4572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j-lt"/>
                <a:ea typeface="+mj-ea"/>
                <a:cs typeface="Trebuchet M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AU" sz="2400" dirty="0">
                <a:solidFill>
                  <a:srgbClr val="FF0000"/>
                </a:solidFill>
                <a:latin typeface="+mn-lt"/>
              </a:rPr>
              <a:t>Any example?</a:t>
            </a:r>
          </a:p>
        </p:txBody>
      </p:sp>
    </p:spTree>
    <p:extLst>
      <p:ext uri="{BB962C8B-B14F-4D97-AF65-F5344CB8AC3E}">
        <p14:creationId xmlns:p14="http://schemas.microsoft.com/office/powerpoint/2010/main" val="122997877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1" name="Straight Arrow Connector 10"/>
          <p:cNvCxnSpPr>
            <a:cxnSpLocks/>
            <a:stCxn id="13" idx="3"/>
            <a:endCxn id="24" idx="1"/>
          </p:cNvCxnSpPr>
          <p:nvPr/>
        </p:nvCxnSpPr>
        <p:spPr>
          <a:xfrm>
            <a:off x="3679493" y="3702934"/>
            <a:ext cx="751731" cy="7509"/>
          </a:xfrm>
          <a:prstGeom prst="straightConnector1">
            <a:avLst/>
          </a:prstGeom>
          <a:ln w="38100">
            <a:solidFill>
              <a:srgbClr val="FF000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Content Placeholder 1"/>
          <p:cNvSpPr>
            <a:spLocks noGrp="1"/>
          </p:cNvSpPr>
          <p:nvPr>
            <p:ph idx="1"/>
          </p:nvPr>
        </p:nvSpPr>
        <p:spPr>
          <a:xfrm>
            <a:off x="669122" y="1271324"/>
            <a:ext cx="10353762" cy="1582359"/>
          </a:xfrm>
        </p:spPr>
        <p:txBody>
          <a:bodyPr>
            <a:normAutofit/>
          </a:bodyPr>
          <a:lstStyle/>
          <a:p>
            <a:r>
              <a:rPr lang="en-AU" sz="2800" dirty="0"/>
              <a:t>Establishing a </a:t>
            </a:r>
            <a:r>
              <a:rPr lang="en-AU" sz="2800" b="1" dirty="0">
                <a:solidFill>
                  <a:srgbClr val="FF0000"/>
                </a:solidFill>
              </a:rPr>
              <a:t>secure channel </a:t>
            </a:r>
            <a:r>
              <a:rPr lang="en-AU" sz="2800" dirty="0"/>
              <a:t>to communicate is important</a:t>
            </a:r>
          </a:p>
          <a:p>
            <a:r>
              <a:rPr lang="en-AU" sz="2800" dirty="0"/>
              <a:t>It is also critical to consider the coverage of the channel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670E94-029C-4BA8-8D44-FBB339E4924F}" type="slidenum">
              <a:rPr lang="en-AU" smtClean="0">
                <a:solidFill>
                  <a:prstClr val="black">
                    <a:tint val="75000"/>
                  </a:prstClr>
                </a:solidFill>
              </a:rPr>
              <a:pPr/>
              <a:t>8</a:t>
            </a:fld>
            <a:endParaRPr lang="en-AU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919119" y="219530"/>
            <a:ext cx="10353762" cy="984351"/>
          </a:xfrm>
        </p:spPr>
        <p:txBody>
          <a:bodyPr/>
          <a:lstStyle/>
          <a:p>
            <a:r>
              <a:rPr lang="en-AU" dirty="0"/>
              <a:t>Sniffing</a:t>
            </a:r>
          </a:p>
        </p:txBody>
      </p:sp>
      <p:pic>
        <p:nvPicPr>
          <p:cNvPr id="13" name="Picture 2" descr="Related image">
            <a:extLst>
              <a:ext uri="{FF2B5EF4-FFF2-40B4-BE49-F238E27FC236}">
                <a16:creationId xmlns:a16="http://schemas.microsoft.com/office/drawing/2014/main" id="{02F1C5B3-BDAD-4006-A7EC-107FD5E8977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2622854" y="3074661"/>
            <a:ext cx="1056639" cy="125654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7A5E9CB5-2017-4703-BEC8-58D7AD966AB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17683" y="4625555"/>
            <a:ext cx="1056640" cy="1229360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D0427AD2-6099-40DF-877B-B121EF0C598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53761" y="3097563"/>
            <a:ext cx="1249312" cy="1229360"/>
          </a:xfrm>
          <a:prstGeom prst="rect">
            <a:avLst/>
          </a:prstGeom>
        </p:spPr>
      </p:pic>
      <p:sp>
        <p:nvSpPr>
          <p:cNvPr id="19" name="Title 1">
            <a:extLst>
              <a:ext uri="{FF2B5EF4-FFF2-40B4-BE49-F238E27FC236}">
                <a16:creationId xmlns:a16="http://schemas.microsoft.com/office/drawing/2014/main" id="{216B5159-1E2A-407D-B474-1721BB796493}"/>
              </a:ext>
            </a:extLst>
          </p:cNvPr>
          <p:cNvSpPr txBox="1">
            <a:spLocks/>
          </p:cNvSpPr>
          <p:nvPr/>
        </p:nvSpPr>
        <p:spPr>
          <a:xfrm>
            <a:off x="2318236" y="4298817"/>
            <a:ext cx="1665874" cy="756915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ctr">
            <a:normAutofit/>
          </a:bodyPr>
          <a:lstStyle>
            <a:lvl1pPr algn="ctr" defTabSz="4572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j-lt"/>
                <a:ea typeface="+mj-ea"/>
                <a:cs typeface="Trebuchet M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AU" sz="2400" dirty="0"/>
              <a:t>Alice</a:t>
            </a:r>
          </a:p>
        </p:txBody>
      </p:sp>
      <p:sp>
        <p:nvSpPr>
          <p:cNvPr id="20" name="Title 1">
            <a:extLst>
              <a:ext uri="{FF2B5EF4-FFF2-40B4-BE49-F238E27FC236}">
                <a16:creationId xmlns:a16="http://schemas.microsoft.com/office/drawing/2014/main" id="{92F6156C-5ABD-4243-A913-8CAA6A97B5F1}"/>
              </a:ext>
            </a:extLst>
          </p:cNvPr>
          <p:cNvSpPr txBox="1">
            <a:spLocks/>
          </p:cNvSpPr>
          <p:nvPr/>
        </p:nvSpPr>
        <p:spPr>
          <a:xfrm>
            <a:off x="7791688" y="4298816"/>
            <a:ext cx="1704980" cy="756915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ctr">
            <a:normAutofit/>
          </a:bodyPr>
          <a:lstStyle>
            <a:lvl1pPr algn="ctr" defTabSz="4572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j-lt"/>
                <a:ea typeface="+mj-ea"/>
                <a:cs typeface="Trebuchet M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AU" sz="2400" dirty="0"/>
              <a:t>Bob</a:t>
            </a:r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267D7041-8F99-4E41-BE1C-A94BB43BE417}"/>
              </a:ext>
            </a:extLst>
          </p:cNvPr>
          <p:cNvCxnSpPr>
            <a:cxnSpLocks/>
            <a:stCxn id="17" idx="0"/>
            <a:endCxn id="24" idx="2"/>
          </p:cNvCxnSpPr>
          <p:nvPr/>
        </p:nvCxnSpPr>
        <p:spPr>
          <a:xfrm flipV="1">
            <a:off x="5846003" y="4009818"/>
            <a:ext cx="0" cy="615737"/>
          </a:xfrm>
          <a:prstGeom prst="straightConnector1">
            <a:avLst/>
          </a:prstGeom>
          <a:ln w="38100">
            <a:solidFill>
              <a:srgbClr val="FF000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itle 1">
            <a:extLst>
              <a:ext uri="{FF2B5EF4-FFF2-40B4-BE49-F238E27FC236}">
                <a16:creationId xmlns:a16="http://schemas.microsoft.com/office/drawing/2014/main" id="{F39F2465-3FF3-F32C-CD0B-B6B697E600C5}"/>
              </a:ext>
            </a:extLst>
          </p:cNvPr>
          <p:cNvSpPr txBox="1">
            <a:spLocks/>
          </p:cNvSpPr>
          <p:nvPr/>
        </p:nvSpPr>
        <p:spPr>
          <a:xfrm>
            <a:off x="4753855" y="5825084"/>
            <a:ext cx="2184295" cy="756915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ctr">
            <a:normAutofit/>
          </a:bodyPr>
          <a:lstStyle>
            <a:lvl1pPr algn="ctr" defTabSz="4572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j-lt"/>
                <a:ea typeface="+mj-ea"/>
                <a:cs typeface="Trebuchet M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AU" sz="2400" dirty="0"/>
              <a:t>Eavesdropper</a:t>
            </a:r>
          </a:p>
        </p:txBody>
      </p: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6A22FFC7-A9A0-4446-8427-05B3BD024B47}"/>
              </a:ext>
            </a:extLst>
          </p:cNvPr>
          <p:cNvSpPr/>
          <p:nvPr/>
        </p:nvSpPr>
        <p:spPr>
          <a:xfrm>
            <a:off x="4431224" y="3411068"/>
            <a:ext cx="2829558" cy="598750"/>
          </a:xfrm>
          <a:prstGeom prst="roundRect">
            <a:avLst/>
          </a:prstGeom>
          <a:solidFill>
            <a:schemeClr val="tx1">
              <a:alpha val="50196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400" b="1" dirty="0">
                <a:solidFill>
                  <a:schemeClr val="bg2"/>
                </a:solidFill>
              </a:rPr>
              <a:t>Secure Channel</a:t>
            </a: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9BE0330D-F380-A983-E61B-C14A6A2108AD}"/>
              </a:ext>
            </a:extLst>
          </p:cNvPr>
          <p:cNvCxnSpPr>
            <a:cxnSpLocks/>
            <a:stCxn id="24" idx="3"/>
            <a:endCxn id="18" idx="1"/>
          </p:cNvCxnSpPr>
          <p:nvPr/>
        </p:nvCxnSpPr>
        <p:spPr>
          <a:xfrm>
            <a:off x="7260782" y="3710443"/>
            <a:ext cx="692979" cy="1800"/>
          </a:xfrm>
          <a:prstGeom prst="straightConnector1">
            <a:avLst/>
          </a:prstGeom>
          <a:ln w="38100">
            <a:solidFill>
              <a:srgbClr val="FF000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Multiply 14">
            <a:extLst>
              <a:ext uri="{FF2B5EF4-FFF2-40B4-BE49-F238E27FC236}">
                <a16:creationId xmlns:a16="http://schemas.microsoft.com/office/drawing/2014/main" id="{68B500C8-460B-0AE6-36AA-318309DF11A5}"/>
              </a:ext>
            </a:extLst>
          </p:cNvPr>
          <p:cNvSpPr/>
          <p:nvPr/>
        </p:nvSpPr>
        <p:spPr>
          <a:xfrm>
            <a:off x="5562300" y="4168123"/>
            <a:ext cx="556863" cy="324871"/>
          </a:xfrm>
          <a:prstGeom prst="mathMultiply">
            <a:avLst>
              <a:gd name="adj1" fmla="val 18335"/>
            </a:avLst>
          </a:prstGeom>
          <a:solidFill>
            <a:srgbClr val="FF0000"/>
          </a:solidFill>
          <a:ln w="9525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2400"/>
          </a:p>
        </p:txBody>
      </p:sp>
    </p:spTree>
    <p:extLst>
      <p:ext uri="{BB962C8B-B14F-4D97-AF65-F5344CB8AC3E}">
        <p14:creationId xmlns:p14="http://schemas.microsoft.com/office/powerpoint/2010/main" val="121565192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1" name="Straight Arrow Connector 10"/>
          <p:cNvCxnSpPr>
            <a:cxnSpLocks/>
            <a:stCxn id="13" idx="3"/>
            <a:endCxn id="22" idx="1"/>
          </p:cNvCxnSpPr>
          <p:nvPr/>
        </p:nvCxnSpPr>
        <p:spPr>
          <a:xfrm flipV="1">
            <a:off x="1831228" y="3538559"/>
            <a:ext cx="481232" cy="9154"/>
          </a:xfrm>
          <a:prstGeom prst="straightConnector1">
            <a:avLst/>
          </a:prstGeom>
          <a:ln w="38100">
            <a:solidFill>
              <a:srgbClr val="FF000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Content Placeholder 1"/>
          <p:cNvSpPr>
            <a:spLocks noGrp="1"/>
          </p:cNvSpPr>
          <p:nvPr>
            <p:ph idx="1"/>
          </p:nvPr>
        </p:nvSpPr>
        <p:spPr>
          <a:xfrm>
            <a:off x="453974" y="1143851"/>
            <a:ext cx="10353762" cy="1582359"/>
          </a:xfrm>
        </p:spPr>
        <p:txBody>
          <a:bodyPr>
            <a:normAutofit/>
          </a:bodyPr>
          <a:lstStyle/>
          <a:p>
            <a:r>
              <a:rPr lang="en-AU" sz="2800" dirty="0"/>
              <a:t>Establishing a </a:t>
            </a:r>
            <a:r>
              <a:rPr lang="en-AU" sz="2800" b="1" dirty="0">
                <a:solidFill>
                  <a:srgbClr val="FF0000"/>
                </a:solidFill>
              </a:rPr>
              <a:t>secure channel </a:t>
            </a:r>
            <a:r>
              <a:rPr lang="en-AU" sz="2800" dirty="0"/>
              <a:t>to communicate is important</a:t>
            </a:r>
          </a:p>
          <a:p>
            <a:r>
              <a:rPr lang="en-AU" sz="2800" dirty="0"/>
              <a:t>It is also critical to consider the </a:t>
            </a:r>
            <a:r>
              <a:rPr lang="en-AU" sz="2800" dirty="0">
                <a:solidFill>
                  <a:srgbClr val="FF0000"/>
                </a:solidFill>
              </a:rPr>
              <a:t>coverage</a:t>
            </a:r>
            <a:r>
              <a:rPr lang="en-AU" sz="2800" dirty="0"/>
              <a:t> of the channel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919119" y="219530"/>
            <a:ext cx="10353762" cy="984351"/>
          </a:xfrm>
        </p:spPr>
        <p:txBody>
          <a:bodyPr/>
          <a:lstStyle/>
          <a:p>
            <a:r>
              <a:rPr lang="en-AU" dirty="0"/>
              <a:t>Sniffing</a:t>
            </a:r>
          </a:p>
        </p:txBody>
      </p:sp>
      <p:pic>
        <p:nvPicPr>
          <p:cNvPr id="13" name="Picture 2" descr="Related image">
            <a:extLst>
              <a:ext uri="{FF2B5EF4-FFF2-40B4-BE49-F238E27FC236}">
                <a16:creationId xmlns:a16="http://schemas.microsoft.com/office/drawing/2014/main" id="{02F1C5B3-BDAD-4006-A7EC-107FD5E8977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774589" y="2919440"/>
            <a:ext cx="1056639" cy="125654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7A5E9CB5-2017-4703-BEC8-58D7AD966AB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75392" y="4363098"/>
            <a:ext cx="1056640" cy="1229360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D0427AD2-6099-40DF-877B-B121EF0C598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78620" y="4716562"/>
            <a:ext cx="1249312" cy="1229360"/>
          </a:xfrm>
          <a:prstGeom prst="rect">
            <a:avLst/>
          </a:prstGeom>
        </p:spPr>
      </p:pic>
      <p:sp>
        <p:nvSpPr>
          <p:cNvPr id="19" name="Title 1">
            <a:extLst>
              <a:ext uri="{FF2B5EF4-FFF2-40B4-BE49-F238E27FC236}">
                <a16:creationId xmlns:a16="http://schemas.microsoft.com/office/drawing/2014/main" id="{216B5159-1E2A-407D-B474-1721BB796493}"/>
              </a:ext>
            </a:extLst>
          </p:cNvPr>
          <p:cNvSpPr txBox="1">
            <a:spLocks/>
          </p:cNvSpPr>
          <p:nvPr/>
        </p:nvSpPr>
        <p:spPr>
          <a:xfrm>
            <a:off x="453974" y="4056045"/>
            <a:ext cx="1665874" cy="756915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ctr">
            <a:normAutofit/>
          </a:bodyPr>
          <a:lstStyle>
            <a:lvl1pPr algn="ctr" defTabSz="4572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j-lt"/>
                <a:ea typeface="+mj-ea"/>
                <a:cs typeface="Trebuchet M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AU" sz="2400" dirty="0"/>
              <a:t>Alice</a:t>
            </a:r>
          </a:p>
        </p:txBody>
      </p:sp>
      <p:sp>
        <p:nvSpPr>
          <p:cNvPr id="20" name="Title 1">
            <a:extLst>
              <a:ext uri="{FF2B5EF4-FFF2-40B4-BE49-F238E27FC236}">
                <a16:creationId xmlns:a16="http://schemas.microsoft.com/office/drawing/2014/main" id="{92F6156C-5ABD-4243-A913-8CAA6A97B5F1}"/>
              </a:ext>
            </a:extLst>
          </p:cNvPr>
          <p:cNvSpPr txBox="1">
            <a:spLocks/>
          </p:cNvSpPr>
          <p:nvPr/>
        </p:nvSpPr>
        <p:spPr>
          <a:xfrm>
            <a:off x="10033046" y="5841088"/>
            <a:ext cx="1704980" cy="756915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ctr">
            <a:normAutofit/>
          </a:bodyPr>
          <a:lstStyle>
            <a:lvl1pPr algn="ctr" defTabSz="4572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j-lt"/>
                <a:ea typeface="+mj-ea"/>
                <a:cs typeface="Trebuchet M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AU" sz="2400" dirty="0"/>
              <a:t>Bob</a:t>
            </a:r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267D7041-8F99-4E41-BE1C-A94BB43BE417}"/>
              </a:ext>
            </a:extLst>
          </p:cNvPr>
          <p:cNvCxnSpPr>
            <a:cxnSpLocks/>
            <a:stCxn id="17" idx="0"/>
            <a:endCxn id="22" idx="2"/>
          </p:cNvCxnSpPr>
          <p:nvPr/>
        </p:nvCxnSpPr>
        <p:spPr>
          <a:xfrm flipV="1">
            <a:off x="3503712" y="3837934"/>
            <a:ext cx="737" cy="525164"/>
          </a:xfrm>
          <a:prstGeom prst="straightConnector1">
            <a:avLst/>
          </a:prstGeom>
          <a:ln w="38100">
            <a:solidFill>
              <a:srgbClr val="FF000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itle 1">
            <a:extLst>
              <a:ext uri="{FF2B5EF4-FFF2-40B4-BE49-F238E27FC236}">
                <a16:creationId xmlns:a16="http://schemas.microsoft.com/office/drawing/2014/main" id="{F39F2465-3FF3-F32C-CD0B-B6B697E600C5}"/>
              </a:ext>
            </a:extLst>
          </p:cNvPr>
          <p:cNvSpPr txBox="1">
            <a:spLocks/>
          </p:cNvSpPr>
          <p:nvPr/>
        </p:nvSpPr>
        <p:spPr>
          <a:xfrm>
            <a:off x="2393635" y="5462631"/>
            <a:ext cx="2184295" cy="756915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ctr">
            <a:normAutofit/>
          </a:bodyPr>
          <a:lstStyle>
            <a:lvl1pPr algn="ctr" defTabSz="4572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j-lt"/>
                <a:ea typeface="+mj-ea"/>
                <a:cs typeface="Trebuchet M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AU" sz="2400" dirty="0"/>
              <a:t>Eavesdropper</a:t>
            </a:r>
          </a:p>
        </p:txBody>
      </p: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6A22FFC7-A9A0-4446-8427-05B3BD024B47}"/>
              </a:ext>
            </a:extLst>
          </p:cNvPr>
          <p:cNvSpPr/>
          <p:nvPr/>
        </p:nvSpPr>
        <p:spPr>
          <a:xfrm>
            <a:off x="7279334" y="3230256"/>
            <a:ext cx="2383977" cy="598750"/>
          </a:xfrm>
          <a:prstGeom prst="roundRect">
            <a:avLst/>
          </a:prstGeom>
          <a:solidFill>
            <a:schemeClr val="tx1">
              <a:alpha val="50196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400" b="1" dirty="0">
                <a:solidFill>
                  <a:schemeClr val="bg2"/>
                </a:solidFill>
              </a:rPr>
              <a:t>Secure Channel</a:t>
            </a: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9BE0330D-F380-A983-E61B-C14A6A2108AD}"/>
              </a:ext>
            </a:extLst>
          </p:cNvPr>
          <p:cNvCxnSpPr>
            <a:cxnSpLocks/>
            <a:stCxn id="24" idx="3"/>
            <a:endCxn id="55" idx="1"/>
          </p:cNvCxnSpPr>
          <p:nvPr/>
        </p:nvCxnSpPr>
        <p:spPr>
          <a:xfrm flipV="1">
            <a:off x="9663311" y="3519386"/>
            <a:ext cx="517917" cy="10245"/>
          </a:xfrm>
          <a:prstGeom prst="straightConnector1">
            <a:avLst/>
          </a:prstGeom>
          <a:ln w="38100">
            <a:solidFill>
              <a:srgbClr val="FF000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21661813-9C9F-4C53-BB96-FF46317744C1}"/>
              </a:ext>
            </a:extLst>
          </p:cNvPr>
          <p:cNvSpPr/>
          <p:nvPr/>
        </p:nvSpPr>
        <p:spPr>
          <a:xfrm>
            <a:off x="2312460" y="3239184"/>
            <a:ext cx="2383977" cy="598750"/>
          </a:xfrm>
          <a:prstGeom prst="roundRect">
            <a:avLst/>
          </a:prstGeom>
          <a:solidFill>
            <a:schemeClr val="tx1">
              <a:alpha val="50196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400" b="1" dirty="0">
                <a:solidFill>
                  <a:schemeClr val="bg2"/>
                </a:solidFill>
              </a:rPr>
              <a:t>Insecure Channel</a:t>
            </a:r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899FF71E-A867-487C-A360-1A085756EBE3}"/>
              </a:ext>
            </a:extLst>
          </p:cNvPr>
          <p:cNvSpPr/>
          <p:nvPr/>
        </p:nvSpPr>
        <p:spPr>
          <a:xfrm>
            <a:off x="5155125" y="3239184"/>
            <a:ext cx="1446137" cy="598750"/>
          </a:xfrm>
          <a:prstGeom prst="roundRect">
            <a:avLst/>
          </a:prstGeom>
          <a:solidFill>
            <a:schemeClr val="tx1">
              <a:alpha val="50196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400" b="1" dirty="0">
                <a:solidFill>
                  <a:schemeClr val="bg2"/>
                </a:solidFill>
              </a:rPr>
              <a:t>Gateway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8A5FD291-ABA1-4F6E-AB00-7CBB91EF87AD}"/>
              </a:ext>
            </a:extLst>
          </p:cNvPr>
          <p:cNvSpPr/>
          <p:nvPr/>
        </p:nvSpPr>
        <p:spPr>
          <a:xfrm>
            <a:off x="543808" y="2671482"/>
            <a:ext cx="6205795" cy="372093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33" name="Title 1">
            <a:extLst>
              <a:ext uri="{FF2B5EF4-FFF2-40B4-BE49-F238E27FC236}">
                <a16:creationId xmlns:a16="http://schemas.microsoft.com/office/drawing/2014/main" id="{7FE89A40-EF34-4895-A736-D5FB666F5E68}"/>
              </a:ext>
            </a:extLst>
          </p:cNvPr>
          <p:cNvSpPr txBox="1">
            <a:spLocks/>
          </p:cNvSpPr>
          <p:nvPr/>
        </p:nvSpPr>
        <p:spPr>
          <a:xfrm>
            <a:off x="453974" y="5883935"/>
            <a:ext cx="2184295" cy="598751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ctr">
            <a:normAutofit fontScale="92500"/>
          </a:bodyPr>
          <a:lstStyle>
            <a:lvl1pPr algn="ctr" defTabSz="4572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j-lt"/>
                <a:ea typeface="+mj-ea"/>
                <a:cs typeface="Trebuchet M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AU" sz="2400" dirty="0"/>
              <a:t>Private Company</a:t>
            </a:r>
          </a:p>
        </p:txBody>
      </p: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49F3AD5E-2A87-4F9E-A997-E51009468D5E}"/>
              </a:ext>
            </a:extLst>
          </p:cNvPr>
          <p:cNvCxnSpPr>
            <a:cxnSpLocks/>
            <a:stCxn id="24" idx="1"/>
            <a:endCxn id="23" idx="3"/>
          </p:cNvCxnSpPr>
          <p:nvPr/>
        </p:nvCxnSpPr>
        <p:spPr>
          <a:xfrm flipH="1">
            <a:off x="6601262" y="3529631"/>
            <a:ext cx="678072" cy="8928"/>
          </a:xfrm>
          <a:prstGeom prst="straightConnector1">
            <a:avLst/>
          </a:prstGeom>
          <a:ln w="38100">
            <a:solidFill>
              <a:srgbClr val="FF000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8B26379F-B598-44A9-AA08-AFE90B09A06F}"/>
              </a:ext>
            </a:extLst>
          </p:cNvPr>
          <p:cNvCxnSpPr>
            <a:cxnSpLocks/>
            <a:stCxn id="22" idx="3"/>
            <a:endCxn id="23" idx="1"/>
          </p:cNvCxnSpPr>
          <p:nvPr/>
        </p:nvCxnSpPr>
        <p:spPr>
          <a:xfrm>
            <a:off x="4696437" y="3538559"/>
            <a:ext cx="458688" cy="0"/>
          </a:xfrm>
          <a:prstGeom prst="straightConnector1">
            <a:avLst/>
          </a:prstGeom>
          <a:ln w="38100">
            <a:solidFill>
              <a:srgbClr val="FF000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" name="Rectangle: Rounded Corners 54">
            <a:extLst>
              <a:ext uri="{FF2B5EF4-FFF2-40B4-BE49-F238E27FC236}">
                <a16:creationId xmlns:a16="http://schemas.microsoft.com/office/drawing/2014/main" id="{C004956F-7352-4D70-B5CA-07BF1EBEC229}"/>
              </a:ext>
            </a:extLst>
          </p:cNvPr>
          <p:cNvSpPr/>
          <p:nvPr/>
        </p:nvSpPr>
        <p:spPr>
          <a:xfrm>
            <a:off x="10181228" y="3220011"/>
            <a:ext cx="1446137" cy="598750"/>
          </a:xfrm>
          <a:prstGeom prst="roundRect">
            <a:avLst/>
          </a:prstGeom>
          <a:solidFill>
            <a:schemeClr val="tx1">
              <a:alpha val="50196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400" b="1" dirty="0">
                <a:solidFill>
                  <a:schemeClr val="bg2"/>
                </a:solidFill>
              </a:rPr>
              <a:t>Gateway</a:t>
            </a:r>
          </a:p>
        </p:txBody>
      </p:sp>
      <p:cxnSp>
        <p:nvCxnSpPr>
          <p:cNvPr id="57" name="Straight Arrow Connector 56">
            <a:extLst>
              <a:ext uri="{FF2B5EF4-FFF2-40B4-BE49-F238E27FC236}">
                <a16:creationId xmlns:a16="http://schemas.microsoft.com/office/drawing/2014/main" id="{471270B8-57A9-4E04-9CCB-B90FE5DF411A}"/>
              </a:ext>
            </a:extLst>
          </p:cNvPr>
          <p:cNvCxnSpPr>
            <a:cxnSpLocks/>
            <a:stCxn id="18" idx="0"/>
            <a:endCxn id="55" idx="2"/>
          </p:cNvCxnSpPr>
          <p:nvPr/>
        </p:nvCxnSpPr>
        <p:spPr>
          <a:xfrm flipV="1">
            <a:off x="10903276" y="3818761"/>
            <a:ext cx="1021" cy="897801"/>
          </a:xfrm>
          <a:prstGeom prst="straightConnector1">
            <a:avLst/>
          </a:prstGeom>
          <a:ln w="38100">
            <a:solidFill>
              <a:srgbClr val="FF000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0" name="Title 1">
            <a:extLst>
              <a:ext uri="{FF2B5EF4-FFF2-40B4-BE49-F238E27FC236}">
                <a16:creationId xmlns:a16="http://schemas.microsoft.com/office/drawing/2014/main" id="{84593561-44DB-4085-9486-8B2986E6FFE0}"/>
              </a:ext>
            </a:extLst>
          </p:cNvPr>
          <p:cNvSpPr txBox="1">
            <a:spLocks/>
          </p:cNvSpPr>
          <p:nvPr/>
        </p:nvSpPr>
        <p:spPr>
          <a:xfrm>
            <a:off x="3244800" y="3845367"/>
            <a:ext cx="1446137" cy="508604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ctr">
            <a:normAutofit/>
          </a:bodyPr>
          <a:lstStyle>
            <a:lvl1pPr algn="ctr" defTabSz="4572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j-lt"/>
                <a:ea typeface="+mj-ea"/>
                <a:cs typeface="Trebuchet M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AU" sz="2100" b="1" dirty="0">
                <a:latin typeface="+mn-lt"/>
                <a:ea typeface="+mn-ea"/>
                <a:cs typeface="+mn-cs"/>
              </a:rPr>
              <a:t>sniffing</a:t>
            </a:r>
          </a:p>
        </p:txBody>
      </p:sp>
    </p:spTree>
    <p:extLst>
      <p:ext uri="{BB962C8B-B14F-4D97-AF65-F5344CB8AC3E}">
        <p14:creationId xmlns:p14="http://schemas.microsoft.com/office/powerpoint/2010/main" val="39617079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idx="1"/>
          </p:nvPr>
        </p:nvSpPr>
        <p:spPr>
          <a:xfrm>
            <a:off x="810623" y="2266720"/>
            <a:ext cx="10353762" cy="3714749"/>
          </a:xfrm>
        </p:spPr>
        <p:txBody>
          <a:bodyPr>
            <a:normAutofit/>
          </a:bodyPr>
          <a:lstStyle/>
          <a:p>
            <a:r>
              <a:rPr lang="en-AU" sz="2800" dirty="0"/>
              <a:t>Google notifies users that http is </a:t>
            </a:r>
            <a:r>
              <a:rPr lang="en-AU" sz="2800" dirty="0">
                <a:solidFill>
                  <a:srgbClr val="FF0000"/>
                </a:solidFill>
              </a:rPr>
              <a:t>no longer </a:t>
            </a:r>
            <a:r>
              <a:rPr lang="en-AU" sz="2800" dirty="0"/>
              <a:t>secure</a:t>
            </a:r>
            <a:endParaRPr lang="en-AU" sz="2800" baseline="30000" dirty="0"/>
          </a:p>
        </p:txBody>
      </p:sp>
      <p:sp>
        <p:nvSpPr>
          <p:cNvPr id="5" name="Rectangle 4"/>
          <p:cNvSpPr/>
          <p:nvPr/>
        </p:nvSpPr>
        <p:spPr>
          <a:xfrm>
            <a:off x="938413" y="3090446"/>
            <a:ext cx="10976890" cy="49244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AU" sz="2600" dirty="0"/>
              <a:t>https://security.googleblog.com/2018/02/a-secure-web-is-here-to-stay.html</a:t>
            </a:r>
          </a:p>
        </p:txBody>
      </p:sp>
      <p:sp>
        <p:nvSpPr>
          <p:cNvPr id="10" name="Content Placeholder 1">
            <a:extLst>
              <a:ext uri="{FF2B5EF4-FFF2-40B4-BE49-F238E27FC236}">
                <a16:creationId xmlns:a16="http://schemas.microsoft.com/office/drawing/2014/main" id="{68540670-2CED-4F3C-8998-C906506D8A44}"/>
              </a:ext>
            </a:extLst>
          </p:cNvPr>
          <p:cNvSpPr txBox="1">
            <a:spLocks/>
          </p:cNvSpPr>
          <p:nvPr/>
        </p:nvSpPr>
        <p:spPr>
          <a:xfrm>
            <a:off x="810623" y="1017964"/>
            <a:ext cx="10353762" cy="1582359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 marL="342900" indent="-306000" algn="l" defTabSz="457200" rtl="0" eaLnBrk="1" latinLnBrk="0" hangingPunct="1">
              <a:lnSpc>
                <a:spcPct val="110000"/>
              </a:lnSpc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2100" b="1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1pPr>
            <a:lvl2pPr marL="72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"/>
              <a:defRPr sz="1900" b="1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2pPr>
            <a:lvl3pPr marL="1026000" indent="-21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700" b="1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3pPr>
            <a:lvl4pPr marL="1386000" indent="-21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"/>
              <a:defRPr sz="1500" b="1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4pPr>
            <a:lvl5pPr marL="1674000" indent="-21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500" b="1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5pPr>
            <a:lvl6pPr marL="20146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6pPr>
            <a:lvl7pPr marL="24018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7pPr>
            <a:lvl8pPr marL="2789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8pPr>
            <a:lvl9pPr marL="31062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9pPr>
          </a:lstStyle>
          <a:p>
            <a:r>
              <a:rPr lang="en-AU" sz="2800" dirty="0"/>
              <a:t>Insecure channel is not encrypted, e.g., http</a:t>
            </a:r>
          </a:p>
          <a:p>
            <a:r>
              <a:rPr lang="en-AU" sz="2800" dirty="0"/>
              <a:t>Secure channel is encrypted, e.g., https</a:t>
            </a:r>
          </a:p>
        </p:txBody>
      </p:sp>
    </p:spTree>
    <p:extLst>
      <p:ext uri="{BB962C8B-B14F-4D97-AF65-F5344CB8AC3E}">
        <p14:creationId xmlns:p14="http://schemas.microsoft.com/office/powerpoint/2010/main" val="366338630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idx="1"/>
          </p:nvPr>
        </p:nvSpPr>
        <p:spPr>
          <a:xfrm>
            <a:off x="810623" y="1047795"/>
            <a:ext cx="10353762" cy="3714749"/>
          </a:xfrm>
        </p:spPr>
        <p:txBody>
          <a:bodyPr>
            <a:normAutofit/>
          </a:bodyPr>
          <a:lstStyle/>
          <a:p>
            <a:r>
              <a:rPr lang="en-AU" sz="3200" dirty="0"/>
              <a:t>There are a list of tools for sniffing</a:t>
            </a:r>
          </a:p>
          <a:p>
            <a:pPr lvl="1"/>
            <a:r>
              <a:rPr lang="en-AU" sz="2800" dirty="0"/>
              <a:t>e.g., Wireshark, </a:t>
            </a:r>
            <a:r>
              <a:rPr lang="en-AU" sz="2800" dirty="0" err="1"/>
              <a:t>tcpdump</a:t>
            </a:r>
            <a:r>
              <a:rPr lang="en-AU" sz="2800" dirty="0"/>
              <a:t>.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913795" y="136524"/>
            <a:ext cx="10353762" cy="1068150"/>
          </a:xfrm>
        </p:spPr>
        <p:txBody>
          <a:bodyPr/>
          <a:lstStyle/>
          <a:p>
            <a:r>
              <a:rPr lang="en-AU" dirty="0"/>
              <a:t>Sniffing</a:t>
            </a:r>
          </a:p>
        </p:txBody>
      </p:sp>
      <p:pic>
        <p:nvPicPr>
          <p:cNvPr id="4098" name="Picture 2" descr="Image result for wireshark capture types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10624" y="2758573"/>
            <a:ext cx="4576385" cy="324217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100" name="Picture 4" descr="Image result for tcpdump"/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32490" y="2758572"/>
            <a:ext cx="5330965" cy="324217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73383302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913795" y="136524"/>
            <a:ext cx="10353762" cy="1068150"/>
          </a:xfrm>
        </p:spPr>
        <p:txBody>
          <a:bodyPr/>
          <a:lstStyle/>
          <a:p>
            <a:r>
              <a:rPr lang="en-AU" dirty="0"/>
              <a:t>Sniffing</a:t>
            </a:r>
          </a:p>
        </p:txBody>
      </p:sp>
      <p:sp>
        <p:nvSpPr>
          <p:cNvPr id="8" name="Rounded Rectangle 10">
            <a:extLst>
              <a:ext uri="{FF2B5EF4-FFF2-40B4-BE49-F238E27FC236}">
                <a16:creationId xmlns:a16="http://schemas.microsoft.com/office/drawing/2014/main" id="{EFF2A714-4BFE-4265-87E4-34F8FECB8F6F}"/>
              </a:ext>
            </a:extLst>
          </p:cNvPr>
          <p:cNvSpPr/>
          <p:nvPr/>
        </p:nvSpPr>
        <p:spPr>
          <a:xfrm>
            <a:off x="-189933" y="849539"/>
            <a:ext cx="4739073" cy="639549"/>
          </a:xfrm>
          <a:prstGeom prst="roundRect">
            <a:avLst/>
          </a:prstGeom>
          <a:noFill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b="1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1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</a:rPr>
              <a:t>Demo: use our VM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99C090E-9917-483F-953D-653476C52CB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3795" y="1433945"/>
            <a:ext cx="7098091" cy="2985655"/>
          </a:xfrm>
          <a:prstGeom prst="rect">
            <a:avLst/>
          </a:prstGeom>
        </p:spPr>
      </p:pic>
      <p:sp>
        <p:nvSpPr>
          <p:cNvPr id="7" name="Title 3">
            <a:extLst>
              <a:ext uri="{FF2B5EF4-FFF2-40B4-BE49-F238E27FC236}">
                <a16:creationId xmlns:a16="http://schemas.microsoft.com/office/drawing/2014/main" id="{EBC053A3-DD58-4410-B408-D3593E92DB21}"/>
              </a:ext>
            </a:extLst>
          </p:cNvPr>
          <p:cNvSpPr txBox="1">
            <a:spLocks/>
          </p:cNvSpPr>
          <p:nvPr/>
        </p:nvSpPr>
        <p:spPr>
          <a:xfrm>
            <a:off x="266700" y="5409145"/>
            <a:ext cx="11142234" cy="1257300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ctr">
            <a:normAutofit/>
          </a:bodyPr>
          <a:lstStyle>
            <a:lvl1pPr algn="ctr" defTabSz="4572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b="1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j-lt"/>
                <a:ea typeface="+mj-ea"/>
                <a:cs typeface="Trebuchet M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l"/>
            <a:r>
              <a:rPr lang="en-AU" sz="2800" dirty="0">
                <a:latin typeface="+mn-lt"/>
              </a:rPr>
              <a:t>https://github.com/uwacyber/cits1003/tree/2022s1/cits1003-labs/files</a:t>
            </a:r>
            <a:br>
              <a:rPr lang="en-AU" sz="2800" dirty="0">
                <a:latin typeface="+mn-lt"/>
              </a:rPr>
            </a:br>
            <a:r>
              <a:rPr lang="en-AU" sz="2800" dirty="0">
                <a:latin typeface="+mn-lt"/>
              </a:rPr>
              <a:t>password for decryption: </a:t>
            </a:r>
            <a:r>
              <a:rPr lang="en-AU" sz="2800" dirty="0">
                <a:solidFill>
                  <a:srgbClr val="FF0000"/>
                </a:solidFill>
                <a:latin typeface="+mn-lt"/>
              </a:rPr>
              <a:t>infected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CDBE6DC-10D8-4C31-A67A-1D55E0AD97A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3795" y="4576212"/>
            <a:ext cx="2025348" cy="8478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3095612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913795" y="136524"/>
            <a:ext cx="10353762" cy="1068150"/>
          </a:xfrm>
        </p:spPr>
        <p:txBody>
          <a:bodyPr/>
          <a:lstStyle/>
          <a:p>
            <a:r>
              <a:rPr lang="en-AU" dirty="0"/>
              <a:t>Updating</a:t>
            </a:r>
          </a:p>
        </p:txBody>
      </p:sp>
      <p:sp>
        <p:nvSpPr>
          <p:cNvPr id="9" name="Content Placeholder 1">
            <a:extLst>
              <a:ext uri="{FF2B5EF4-FFF2-40B4-BE49-F238E27FC236}">
                <a16:creationId xmlns:a16="http://schemas.microsoft.com/office/drawing/2014/main" id="{A7133173-7212-4D21-ACAE-4C63AFD84F2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10623" y="1834163"/>
            <a:ext cx="10750006" cy="4792971"/>
          </a:xfrm>
        </p:spPr>
        <p:txBody>
          <a:bodyPr>
            <a:normAutofit/>
          </a:bodyPr>
          <a:lstStyle/>
          <a:p>
            <a:r>
              <a:rPr lang="en-US" sz="2800" dirty="0"/>
              <a:t>Update </a:t>
            </a:r>
            <a:r>
              <a:rPr lang="en-US" sz="2800" dirty="0" err="1"/>
              <a:t>sniffex.c</a:t>
            </a:r>
            <a:r>
              <a:rPr lang="en-US" sz="2800" dirty="0"/>
              <a:t> (source file) with your Linux VM’s IP address</a:t>
            </a:r>
          </a:p>
          <a:p>
            <a:pPr lvl="1"/>
            <a:r>
              <a:rPr lang="en-US" sz="2800" dirty="0"/>
              <a:t>What is an IP address? </a:t>
            </a:r>
          </a:p>
          <a:p>
            <a:pPr lvl="1"/>
            <a:endParaRPr lang="en-US" sz="2800" dirty="0"/>
          </a:p>
          <a:p>
            <a:pPr marL="450000" lvl="1" indent="0">
              <a:buNone/>
            </a:pPr>
            <a:endParaRPr lang="en-AU" sz="3200" dirty="0"/>
          </a:p>
        </p:txBody>
      </p:sp>
    </p:spTree>
    <p:extLst>
      <p:ext uri="{BB962C8B-B14F-4D97-AF65-F5344CB8AC3E}">
        <p14:creationId xmlns:p14="http://schemas.microsoft.com/office/powerpoint/2010/main" val="115674108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959315" y="273500"/>
            <a:ext cx="2840794" cy="563312"/>
          </a:xfrm>
        </p:spPr>
        <p:txBody>
          <a:bodyPr>
            <a:normAutofit/>
          </a:bodyPr>
          <a:lstStyle/>
          <a:p>
            <a:r>
              <a:rPr lang="en-US" sz="3200" b="1" dirty="0">
                <a:latin typeface="+mn-lt"/>
                <a:ea typeface="+mn-ea"/>
                <a:cs typeface="+mn-cs"/>
              </a:rPr>
              <a:t>IP Address</a:t>
            </a:r>
            <a:endParaRPr lang="en-US" sz="2400" b="1" dirty="0">
              <a:latin typeface="+mn-lt"/>
              <a:ea typeface="+mn-ea"/>
              <a:cs typeface="+mn-cs"/>
            </a:endParaRP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E7C6157E-10AA-4ED2-A9F4-9BAC1D3A5A7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2006" y="1060224"/>
            <a:ext cx="11432344" cy="2659369"/>
          </a:xfrm>
        </p:spPr>
        <p:txBody>
          <a:bodyPr>
            <a:noAutofit/>
          </a:bodyPr>
          <a:lstStyle/>
          <a:p>
            <a:pPr algn="l"/>
            <a:r>
              <a:rPr lang="en-US" sz="2400" dirty="0"/>
              <a:t>It is an </a:t>
            </a:r>
            <a:r>
              <a:rPr lang="en-AU" sz="2400" dirty="0"/>
              <a:t>Internet Protocol address</a:t>
            </a:r>
            <a:r>
              <a:rPr lang="en-US" sz="2400" dirty="0"/>
              <a:t>, which is a numerical label assigned to each device connected to a network that uses the Internet Protocol for communication.</a:t>
            </a:r>
          </a:p>
          <a:p>
            <a:r>
              <a:rPr lang="en-US" sz="2400" dirty="0"/>
              <a:t>An IPv4 (</a:t>
            </a:r>
            <a:r>
              <a:rPr lang="en-AU" sz="2400" dirty="0"/>
              <a:t>Internet Protocol version 4</a:t>
            </a:r>
            <a:r>
              <a:rPr lang="en-US" sz="2400" dirty="0"/>
              <a:t>) address has 4 bytes (32 bits) separated by periods.</a:t>
            </a:r>
          </a:p>
          <a:p>
            <a:pPr lvl="1"/>
            <a:r>
              <a:rPr lang="en-AU" sz="2400" dirty="0"/>
              <a:t>e.g., 192.168.1.10</a:t>
            </a:r>
          </a:p>
          <a:p>
            <a:pPr marL="457200" lvl="1" indent="0">
              <a:buNone/>
            </a:pP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9844121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E7C6157E-10AA-4ED2-A9F4-9BAC1D3A5A7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2006" y="1060224"/>
            <a:ext cx="11432344" cy="2659369"/>
          </a:xfrm>
        </p:spPr>
        <p:txBody>
          <a:bodyPr>
            <a:noAutofit/>
          </a:bodyPr>
          <a:lstStyle/>
          <a:p>
            <a:r>
              <a:rPr lang="en-US" sz="2400" dirty="0"/>
              <a:t>An IPv4 address has 4 bytes separated by periods.</a:t>
            </a:r>
          </a:p>
          <a:p>
            <a:pPr lvl="1"/>
            <a:r>
              <a:rPr lang="en-US" sz="2400" dirty="0"/>
              <a:t>the first R bits correspond to the </a:t>
            </a:r>
            <a:r>
              <a:rPr lang="en-US" sz="2400" b="1" dirty="0"/>
              <a:t>network portion</a:t>
            </a:r>
            <a:r>
              <a:rPr lang="en-US" sz="2400" dirty="0"/>
              <a:t>. </a:t>
            </a:r>
          </a:p>
          <a:p>
            <a:pPr lvl="1"/>
            <a:r>
              <a:rPr lang="en-US" sz="2400" dirty="0"/>
              <a:t>the remaining H bits (32 – R) are used for the </a:t>
            </a:r>
            <a:r>
              <a:rPr lang="en-US" sz="2400" b="1" dirty="0"/>
              <a:t>host portion</a:t>
            </a:r>
            <a:r>
              <a:rPr lang="en-US" sz="2400" dirty="0"/>
              <a:t>.</a:t>
            </a:r>
          </a:p>
          <a:p>
            <a:pPr lvl="1"/>
            <a:r>
              <a:rPr lang="en-US" sz="2400" dirty="0"/>
              <a:t>subnet mask: determines the values for R and H. </a:t>
            </a:r>
          </a:p>
          <a:p>
            <a:pPr lvl="2"/>
            <a:r>
              <a:rPr lang="en-US" sz="2400" dirty="0"/>
              <a:t>e.g., IPv4 address "192.168.1.10" with a subnet mask of "255.255.255.0".</a:t>
            </a:r>
          </a:p>
          <a:p>
            <a:pPr lvl="2"/>
            <a:r>
              <a:rPr lang="en-US" sz="2400" dirty="0"/>
              <a:t>Question: </a:t>
            </a:r>
            <a:r>
              <a:rPr lang="en-US" sz="2400" dirty="0">
                <a:solidFill>
                  <a:srgbClr val="FF0000"/>
                </a:solidFill>
              </a:rPr>
              <a:t>what are the network portion and host portion for this IP address?</a:t>
            </a:r>
          </a:p>
        </p:txBody>
      </p:sp>
    </p:spTree>
    <p:extLst>
      <p:ext uri="{BB962C8B-B14F-4D97-AF65-F5344CB8AC3E}">
        <p14:creationId xmlns:p14="http://schemas.microsoft.com/office/powerpoint/2010/main" val="395703195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E7C6157E-10AA-4ED2-A9F4-9BAC1D3A5A7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2006" y="1060224"/>
            <a:ext cx="11432344" cy="2659369"/>
          </a:xfrm>
        </p:spPr>
        <p:txBody>
          <a:bodyPr>
            <a:noAutofit/>
          </a:bodyPr>
          <a:lstStyle/>
          <a:p>
            <a:pPr algn="l"/>
            <a:r>
              <a:rPr lang="en-US" sz="2400" dirty="0"/>
              <a:t>An IPv4 address has 4 bytes separated by periods.</a:t>
            </a:r>
          </a:p>
          <a:p>
            <a:pPr lvl="1"/>
            <a:r>
              <a:rPr lang="en-US" sz="2400" dirty="0"/>
              <a:t>the first R bits correspond to the network portion. </a:t>
            </a:r>
          </a:p>
          <a:p>
            <a:pPr lvl="1"/>
            <a:r>
              <a:rPr lang="en-US" sz="2400" dirty="0"/>
              <a:t>the remaining H bits are used for the host portion.</a:t>
            </a:r>
          </a:p>
          <a:p>
            <a:pPr lvl="1"/>
            <a:r>
              <a:rPr lang="en-US" sz="2400" dirty="0"/>
              <a:t>subnet mask: determines the values for R and H. </a:t>
            </a:r>
          </a:p>
          <a:p>
            <a:pPr lvl="2"/>
            <a:r>
              <a:rPr lang="en-US" sz="2400" dirty="0"/>
              <a:t>e.g., IPv4 address "192.168.1.10" with a subnet mask of "255.255.255.0".</a:t>
            </a:r>
          </a:p>
          <a:p>
            <a:pPr lvl="2"/>
            <a:r>
              <a:rPr lang="en-US" sz="2400" dirty="0"/>
              <a:t>Question: what are the network portion and host portion for this IP address?</a:t>
            </a:r>
          </a:p>
          <a:p>
            <a:pPr lvl="3"/>
            <a:r>
              <a:rPr lang="en-US" sz="2400" dirty="0"/>
              <a:t>A notation: 192.168.1.10/24</a:t>
            </a:r>
          </a:p>
          <a:p>
            <a:pPr lvl="4"/>
            <a:r>
              <a:rPr lang="en-US" sz="2400" b="1" dirty="0"/>
              <a:t>CIDR</a:t>
            </a:r>
            <a:r>
              <a:rPr lang="en-US" sz="2400" dirty="0"/>
              <a:t> (Classless Inter-Domain Routing) notation</a:t>
            </a:r>
          </a:p>
        </p:txBody>
      </p:sp>
    </p:spTree>
    <p:extLst>
      <p:ext uri="{BB962C8B-B14F-4D97-AF65-F5344CB8AC3E}">
        <p14:creationId xmlns:p14="http://schemas.microsoft.com/office/powerpoint/2010/main" val="391988486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E7C6157E-10AA-4ED2-A9F4-9BAC1D3A5A7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2006" y="1060224"/>
            <a:ext cx="11432344" cy="2659369"/>
          </a:xfrm>
        </p:spPr>
        <p:txBody>
          <a:bodyPr>
            <a:noAutofit/>
          </a:bodyPr>
          <a:lstStyle/>
          <a:p>
            <a:pPr marL="0" indent="0" algn="l">
              <a:buNone/>
            </a:pPr>
            <a:endParaRPr lang="en-US" sz="2400" dirty="0"/>
          </a:p>
          <a:p>
            <a:pPr algn="l"/>
            <a:r>
              <a:rPr lang="en-US" sz="2400" dirty="0"/>
              <a:t>An IPv4 address has 4 bytes separated by periods.</a:t>
            </a:r>
          </a:p>
          <a:p>
            <a:pPr lvl="1"/>
            <a:r>
              <a:rPr lang="en-US" sz="2400" dirty="0"/>
              <a:t>the first R bits correspond to the network portion. </a:t>
            </a:r>
          </a:p>
          <a:p>
            <a:pPr lvl="1"/>
            <a:r>
              <a:rPr lang="en-US" sz="2400" dirty="0"/>
              <a:t>the remaining H bits are used for the host portion.</a:t>
            </a:r>
          </a:p>
          <a:p>
            <a:pPr lvl="1"/>
            <a:r>
              <a:rPr lang="en-US" sz="2400" dirty="0"/>
              <a:t>subnet mask: determines the values for R and H. </a:t>
            </a:r>
          </a:p>
          <a:p>
            <a:pPr lvl="2"/>
            <a:r>
              <a:rPr lang="en-US" sz="2400" b="1" dirty="0"/>
              <a:t>it is used to cluster IP addresses into different subnets. </a:t>
            </a:r>
          </a:p>
          <a:p>
            <a:pPr lvl="3" indent="-228240"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pt-BR" sz="2400" dirty="0"/>
              <a:t>e.g., 130.95.141.192 with a subnet mask of 255.255.255.192 </a:t>
            </a:r>
            <a:endParaRPr lang="en-US" sz="2400" dirty="0"/>
          </a:p>
          <a:p>
            <a:pPr lvl="3" indent="-228240"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pt-BR" sz="2400" b="0" strike="noStrike" spc="-1" dirty="0">
                <a:solidFill>
                  <a:srgbClr val="FF0000"/>
                </a:solidFill>
                <a:latin typeface="Calibri"/>
              </a:rPr>
              <a:t>question: how many possible IP addresses </a:t>
            </a:r>
            <a:r>
              <a:rPr lang="pt-BR" sz="2400" b="0" spc="-1" dirty="0">
                <a:solidFill>
                  <a:srgbClr val="FF0000"/>
                </a:solidFill>
                <a:latin typeface="Calibri"/>
              </a:rPr>
              <a:t>does this </a:t>
            </a:r>
            <a:r>
              <a:rPr lang="pt-BR" sz="2400" b="0" strike="noStrike" spc="-1" dirty="0">
                <a:solidFill>
                  <a:srgbClr val="FF0000"/>
                </a:solidFill>
                <a:latin typeface="Calibri"/>
              </a:rPr>
              <a:t>subnet</a:t>
            </a:r>
            <a:r>
              <a:rPr lang="pt-BR" sz="2400" b="0" spc="-1" dirty="0">
                <a:solidFill>
                  <a:srgbClr val="FF0000"/>
                </a:solidFill>
                <a:latin typeface="Calibri"/>
              </a:rPr>
              <a:t> have?</a:t>
            </a:r>
            <a:endParaRPr lang="pt-BR" sz="2400" b="0" strike="noStrike" spc="-1" dirty="0">
              <a:solidFill>
                <a:srgbClr val="FF0000"/>
              </a:solidFill>
              <a:latin typeface="Calibri"/>
            </a:endParaRPr>
          </a:p>
          <a:p>
            <a:pPr lvl="3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1875531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E7C6157E-10AA-4ED2-A9F4-9BAC1D3A5A7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2006" y="1060224"/>
            <a:ext cx="11432344" cy="2659369"/>
          </a:xfrm>
        </p:spPr>
        <p:txBody>
          <a:bodyPr>
            <a:noAutofit/>
          </a:bodyPr>
          <a:lstStyle/>
          <a:p>
            <a:pPr algn="l"/>
            <a:r>
              <a:rPr lang="en-US" sz="2400" dirty="0"/>
              <a:t>An IPv4 address has 4 bytes separated by periods.</a:t>
            </a:r>
          </a:p>
          <a:p>
            <a:pPr lvl="1"/>
            <a:r>
              <a:rPr lang="en-US" dirty="0"/>
              <a:t>t</a:t>
            </a:r>
            <a:r>
              <a:rPr lang="en-US" sz="2400" dirty="0"/>
              <a:t>he first R bits correspond to the network portion. </a:t>
            </a:r>
          </a:p>
          <a:p>
            <a:pPr lvl="1"/>
            <a:r>
              <a:rPr lang="en-US" sz="2400" dirty="0"/>
              <a:t>the remaining H bits are used for the host portion.</a:t>
            </a:r>
          </a:p>
          <a:p>
            <a:pPr lvl="1"/>
            <a:r>
              <a:rPr lang="en-US" sz="2400" dirty="0"/>
              <a:t>subnet mask: determines the values for R and H. </a:t>
            </a:r>
          </a:p>
          <a:p>
            <a:pPr lvl="2"/>
            <a:r>
              <a:rPr lang="en-US" sz="2400" dirty="0"/>
              <a:t>it is used to cluster IP addresses into different subnets. </a:t>
            </a:r>
          </a:p>
          <a:p>
            <a:pPr lvl="3" indent="-228240"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pt-BR" sz="2400" dirty="0"/>
              <a:t>e.g., 130.95.141.192 with a subnet mask of 255.255.255.192 </a:t>
            </a:r>
            <a:endParaRPr lang="en-US" sz="2400" dirty="0"/>
          </a:p>
          <a:p>
            <a:pPr lvl="3" indent="-228240"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pt-BR" sz="2400" b="0" spc="-1" dirty="0">
                <a:solidFill>
                  <a:srgbClr val="FF0000"/>
                </a:solidFill>
                <a:latin typeface="Calibri"/>
              </a:rPr>
              <a:t>question: how many possible IP addresses does this subnet </a:t>
            </a:r>
            <a:r>
              <a:rPr lang="pt-BR" sz="2400" b="0" strike="noStrike" spc="-1" dirty="0">
                <a:solidFill>
                  <a:srgbClr val="FF0000"/>
                </a:solidFill>
                <a:latin typeface="Calibri"/>
              </a:rPr>
              <a:t>have? </a:t>
            </a:r>
          </a:p>
          <a:p>
            <a:pPr lvl="4" indent="-228240"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pt-BR" sz="2400" dirty="0"/>
              <a:t>CIDR notation: 130.95.141.192/26</a:t>
            </a:r>
          </a:p>
          <a:p>
            <a:pPr lvl="4" indent="-228240"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pt-BR" sz="2400" dirty="0"/>
              <a:t>IP address number: 2^6 or 64</a:t>
            </a:r>
            <a:endParaRPr lang="en-US" sz="2400" dirty="0"/>
          </a:p>
          <a:p>
            <a:pPr lvl="3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4727743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E7C6157E-10AA-4ED2-A9F4-9BAC1D3A5A7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2006" y="1060224"/>
            <a:ext cx="11432344" cy="2659369"/>
          </a:xfrm>
        </p:spPr>
        <p:txBody>
          <a:bodyPr>
            <a:noAutofit/>
          </a:bodyPr>
          <a:lstStyle/>
          <a:p>
            <a:pPr algn="l"/>
            <a:r>
              <a:rPr lang="en-US" sz="2400" dirty="0"/>
              <a:t>An IPv4 address has 4 bytes separated by periods.</a:t>
            </a:r>
          </a:p>
          <a:p>
            <a:pPr lvl="1"/>
            <a:r>
              <a:rPr lang="en-AU" sz="2400" dirty="0"/>
              <a:t>e.g.,: 192.168.1.10</a:t>
            </a:r>
          </a:p>
          <a:p>
            <a:pPr lvl="1"/>
            <a:r>
              <a:rPr lang="en-US" sz="2400" dirty="0"/>
              <a:t>the first R bits correspond to the network portion. </a:t>
            </a:r>
          </a:p>
          <a:p>
            <a:pPr lvl="1"/>
            <a:r>
              <a:rPr lang="en-US" sz="2400" dirty="0"/>
              <a:t>the remaining H bits are used for the host portion.</a:t>
            </a:r>
          </a:p>
          <a:p>
            <a:pPr lvl="1"/>
            <a:r>
              <a:rPr lang="en-US" sz="2400" dirty="0"/>
              <a:t>subnet mask: determines the values for R and H. </a:t>
            </a:r>
          </a:p>
          <a:p>
            <a:pPr lvl="2"/>
            <a:r>
              <a:rPr lang="en-US" sz="2400" dirty="0"/>
              <a:t>it is used to cluster IP addresses into different subnets. </a:t>
            </a:r>
          </a:p>
          <a:p>
            <a:pPr lvl="3" indent="-228240"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pt-BR" sz="2400" dirty="0"/>
              <a:t>e.g., 130.95.141.192 with a subnet mask of 255.255.255.192 </a:t>
            </a:r>
            <a:endParaRPr lang="en-US" sz="2400" dirty="0"/>
          </a:p>
          <a:p>
            <a:pPr lvl="3" indent="-228240"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pt-BR" sz="2400" b="0" spc="-1" dirty="0">
                <a:solidFill>
                  <a:srgbClr val="FF0000"/>
                </a:solidFill>
                <a:latin typeface="Calibri"/>
              </a:rPr>
              <a:t>question: how many possible </a:t>
            </a:r>
            <a:r>
              <a:rPr lang="en-US" altLang="zh-CN" sz="2400" b="0" spc="-1" dirty="0">
                <a:solidFill>
                  <a:srgbClr val="FF0000"/>
                </a:solidFill>
                <a:latin typeface="Calibri"/>
              </a:rPr>
              <a:t>hosts </a:t>
            </a:r>
            <a:r>
              <a:rPr lang="pt-BR" sz="2400" b="0" spc="-1" dirty="0">
                <a:solidFill>
                  <a:srgbClr val="FF0000"/>
                </a:solidFill>
                <a:latin typeface="Calibri"/>
              </a:rPr>
              <a:t>does this subnet have? </a:t>
            </a:r>
          </a:p>
          <a:p>
            <a:pPr lvl="4" indent="-228240"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pt-BR" sz="2400" b="0" strike="noStrike" spc="-1" dirty="0">
                <a:solidFill>
                  <a:srgbClr val="000000"/>
                </a:solidFill>
                <a:latin typeface="Calibri"/>
              </a:rPr>
              <a:t>CIDR notation: 130.95.141.192/26</a:t>
            </a:r>
          </a:p>
          <a:p>
            <a:pPr lvl="3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1647733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E7C6157E-10AA-4ED2-A9F4-9BAC1D3A5A7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9828" y="258991"/>
            <a:ext cx="11432344" cy="2659369"/>
          </a:xfrm>
        </p:spPr>
        <p:txBody>
          <a:bodyPr>
            <a:noAutofit/>
          </a:bodyPr>
          <a:lstStyle/>
          <a:p>
            <a:pPr algn="l"/>
            <a:r>
              <a:rPr lang="en-US" sz="2400" dirty="0"/>
              <a:t>An IPv4 address has 4 bytes separated by periods.</a:t>
            </a:r>
          </a:p>
          <a:p>
            <a:pPr lvl="1"/>
            <a:r>
              <a:rPr lang="en-AU" sz="2400" dirty="0"/>
              <a:t>e.g.,: 192.168.1.10</a:t>
            </a:r>
          </a:p>
          <a:p>
            <a:pPr lvl="1"/>
            <a:r>
              <a:rPr lang="en-US" sz="2400" dirty="0"/>
              <a:t>the first R bits correspond to the network portion. </a:t>
            </a:r>
          </a:p>
          <a:p>
            <a:pPr lvl="1"/>
            <a:r>
              <a:rPr lang="en-US" sz="2400" dirty="0"/>
              <a:t>the remaining H bits are used for the host portion.</a:t>
            </a:r>
          </a:p>
          <a:p>
            <a:pPr lvl="1"/>
            <a:r>
              <a:rPr lang="en-US" sz="2400" dirty="0"/>
              <a:t>subnet mask: determines the values for R and H. </a:t>
            </a:r>
          </a:p>
          <a:p>
            <a:pPr lvl="2"/>
            <a:r>
              <a:rPr lang="en-US" sz="2400" dirty="0"/>
              <a:t>it is used to cluster IP addresses into different subnets. </a:t>
            </a:r>
          </a:p>
          <a:p>
            <a:pPr lvl="3" indent="-228240"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pt-BR" sz="2400" dirty="0"/>
              <a:t>e.g., 130.95.141.192 with a subnet mask of 255.255.255.192 </a:t>
            </a:r>
            <a:endParaRPr lang="en-US" sz="2400" dirty="0"/>
          </a:p>
          <a:p>
            <a:pPr lvl="3" indent="-228240"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pt-BR" sz="2400" b="0" spc="-1" dirty="0">
                <a:solidFill>
                  <a:srgbClr val="FF0000"/>
                </a:solidFill>
                <a:latin typeface="Calibri"/>
              </a:rPr>
              <a:t>question: how many possible </a:t>
            </a:r>
            <a:r>
              <a:rPr lang="en-US" altLang="zh-CN" sz="2400" b="0" spc="-1" dirty="0">
                <a:solidFill>
                  <a:srgbClr val="FF0000"/>
                </a:solidFill>
                <a:latin typeface="Calibri"/>
              </a:rPr>
              <a:t>hosts </a:t>
            </a:r>
            <a:r>
              <a:rPr lang="pt-BR" sz="2400" b="0" spc="-1" dirty="0">
                <a:solidFill>
                  <a:srgbClr val="FF0000"/>
                </a:solidFill>
                <a:latin typeface="Calibri"/>
              </a:rPr>
              <a:t>does this subnet have? </a:t>
            </a:r>
          </a:p>
          <a:p>
            <a:pPr lvl="4" indent="-228240"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pt-BR" sz="2000" dirty="0"/>
              <a:t>CIDR notation: 130.95.141.192/26</a:t>
            </a:r>
          </a:p>
          <a:p>
            <a:pPr lvl="4" indent="-228240"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dirty="0"/>
              <a:t>Host number: 62 (Network address </a:t>
            </a:r>
            <a:r>
              <a:rPr lang="en-AU" sz="2000" dirty="0"/>
              <a:t>and broadcast address cannot be assigned to hosts).</a:t>
            </a:r>
          </a:p>
          <a:p>
            <a:pPr lvl="4" indent="-228240"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AU" sz="2000" dirty="0"/>
              <a:t>Network address: 130.95.141.192</a:t>
            </a:r>
          </a:p>
          <a:p>
            <a:pPr lvl="4" indent="-228240"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AU" sz="2000" dirty="0"/>
              <a:t>Broadcast address: 130.95.141.255</a:t>
            </a:r>
            <a:endParaRPr lang="pt-BR" sz="2000" dirty="0"/>
          </a:p>
          <a:p>
            <a:pPr lvl="3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4552192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670E94-029C-4BA8-8D44-FBB339E4924F}" type="slidenum">
              <a:rPr lang="en-AU" smtClean="0">
                <a:solidFill>
                  <a:prstClr val="black">
                    <a:tint val="75000"/>
                  </a:prstClr>
                </a:solidFill>
              </a:rPr>
              <a:pPr/>
              <a:t>21</a:t>
            </a:fld>
            <a:endParaRPr lang="en-AU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913795" y="136524"/>
            <a:ext cx="10353762" cy="1068150"/>
          </a:xfrm>
        </p:spPr>
        <p:txBody>
          <a:bodyPr/>
          <a:lstStyle/>
          <a:p>
            <a:r>
              <a:rPr lang="en-AU" dirty="0"/>
              <a:t>Updating</a:t>
            </a:r>
          </a:p>
        </p:txBody>
      </p:sp>
      <p:sp>
        <p:nvSpPr>
          <p:cNvPr id="9" name="Content Placeholder 1">
            <a:extLst>
              <a:ext uri="{FF2B5EF4-FFF2-40B4-BE49-F238E27FC236}">
                <a16:creationId xmlns:a16="http://schemas.microsoft.com/office/drawing/2014/main" id="{A7133173-7212-4D21-ACAE-4C63AFD84F2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10623" y="1834163"/>
            <a:ext cx="10750006" cy="4792971"/>
          </a:xfrm>
        </p:spPr>
        <p:txBody>
          <a:bodyPr>
            <a:normAutofit/>
          </a:bodyPr>
          <a:lstStyle/>
          <a:p>
            <a:r>
              <a:rPr lang="en-US" sz="2800" dirty="0"/>
              <a:t>Update </a:t>
            </a:r>
            <a:r>
              <a:rPr lang="en-US" sz="2800" dirty="0" err="1"/>
              <a:t>sniffex.c</a:t>
            </a:r>
            <a:r>
              <a:rPr lang="en-US" sz="2800" dirty="0"/>
              <a:t> (source file) with your Linux VM’s IP address</a:t>
            </a:r>
          </a:p>
          <a:p>
            <a:pPr lvl="1"/>
            <a:r>
              <a:rPr lang="en-US" sz="2800" dirty="0"/>
              <a:t>Jump to </a:t>
            </a:r>
            <a:r>
              <a:rPr lang="en-US" sz="2800" dirty="0">
                <a:solidFill>
                  <a:srgbClr val="FF0000"/>
                </a:solidFill>
              </a:rPr>
              <a:t>line 513</a:t>
            </a:r>
            <a:r>
              <a:rPr lang="en-US" sz="2800" dirty="0"/>
              <a:t>, update the IP address with your VM’s IP address.</a:t>
            </a:r>
          </a:p>
          <a:p>
            <a:pPr lvl="1"/>
            <a:r>
              <a:rPr lang="en-US" sz="2800" dirty="0"/>
              <a:t>How to find your VM’s IP address? </a:t>
            </a:r>
          </a:p>
          <a:p>
            <a:pPr lvl="1"/>
            <a:endParaRPr lang="en-US" sz="2800" dirty="0"/>
          </a:p>
          <a:p>
            <a:pPr marL="450000" lvl="1" indent="0">
              <a:buNone/>
            </a:pPr>
            <a:endParaRPr lang="en-AU" sz="3200" dirty="0"/>
          </a:p>
        </p:txBody>
      </p:sp>
    </p:spTree>
    <p:extLst>
      <p:ext uri="{BB962C8B-B14F-4D97-AF65-F5344CB8AC3E}">
        <p14:creationId xmlns:p14="http://schemas.microsoft.com/office/powerpoint/2010/main" val="281442459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913795" y="136524"/>
            <a:ext cx="10353762" cy="1068150"/>
          </a:xfrm>
        </p:spPr>
        <p:txBody>
          <a:bodyPr/>
          <a:lstStyle/>
          <a:p>
            <a:r>
              <a:rPr lang="en-AU" dirty="0"/>
              <a:t>Updating</a:t>
            </a:r>
          </a:p>
        </p:txBody>
      </p:sp>
      <p:sp>
        <p:nvSpPr>
          <p:cNvPr id="9" name="Content Placeholder 1">
            <a:extLst>
              <a:ext uri="{FF2B5EF4-FFF2-40B4-BE49-F238E27FC236}">
                <a16:creationId xmlns:a16="http://schemas.microsoft.com/office/drawing/2014/main" id="{A7133173-7212-4D21-ACAE-4C63AFD84F2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10623" y="1834163"/>
            <a:ext cx="10353762" cy="4792971"/>
          </a:xfrm>
        </p:spPr>
        <p:txBody>
          <a:bodyPr>
            <a:normAutofit/>
          </a:bodyPr>
          <a:lstStyle/>
          <a:p>
            <a:r>
              <a:rPr lang="en-US" sz="2800" dirty="0"/>
              <a:t>Update </a:t>
            </a:r>
            <a:r>
              <a:rPr lang="en-US" sz="2800" dirty="0" err="1"/>
              <a:t>sniffex.c</a:t>
            </a:r>
            <a:r>
              <a:rPr lang="en-US" sz="2800" dirty="0"/>
              <a:t> with VM’s IP address</a:t>
            </a:r>
          </a:p>
          <a:p>
            <a:pPr lvl="1"/>
            <a:r>
              <a:rPr lang="en-US" sz="2800" dirty="0"/>
              <a:t>Jump to line 513, update the IP address. </a:t>
            </a:r>
          </a:p>
          <a:p>
            <a:pPr lvl="1"/>
            <a:r>
              <a:rPr lang="en-US" sz="2800" dirty="0"/>
              <a:t>How to find your VM’s IP address?</a:t>
            </a:r>
          </a:p>
          <a:p>
            <a:pPr lvl="2"/>
            <a:r>
              <a:rPr lang="en-US" sz="2800" dirty="0"/>
              <a:t>IP address command: </a:t>
            </a:r>
            <a:r>
              <a:rPr lang="en-US" sz="2800" dirty="0" err="1">
                <a:solidFill>
                  <a:srgbClr val="FF0000"/>
                </a:solidFill>
              </a:rPr>
              <a:t>ip</a:t>
            </a:r>
            <a:r>
              <a:rPr lang="en-US" sz="2800" dirty="0">
                <a:solidFill>
                  <a:srgbClr val="FF0000"/>
                </a:solidFill>
              </a:rPr>
              <a:t> </a:t>
            </a:r>
            <a:r>
              <a:rPr lang="en-US" sz="2800" dirty="0" err="1">
                <a:solidFill>
                  <a:srgbClr val="FF0000"/>
                </a:solidFill>
              </a:rPr>
              <a:t>addr</a:t>
            </a:r>
            <a:r>
              <a:rPr lang="en-US" sz="2800" dirty="0">
                <a:solidFill>
                  <a:srgbClr val="FF0000"/>
                </a:solidFill>
              </a:rPr>
              <a:t> show</a:t>
            </a:r>
          </a:p>
          <a:p>
            <a:pPr marL="450000" lvl="1" indent="0">
              <a:buNone/>
            </a:pPr>
            <a:endParaRPr lang="en-AU" sz="3200" dirty="0"/>
          </a:p>
        </p:txBody>
      </p:sp>
    </p:spTree>
    <p:extLst>
      <p:ext uri="{BB962C8B-B14F-4D97-AF65-F5344CB8AC3E}">
        <p14:creationId xmlns:p14="http://schemas.microsoft.com/office/powerpoint/2010/main" val="320147776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913795" y="136524"/>
            <a:ext cx="10353762" cy="1068150"/>
          </a:xfrm>
        </p:spPr>
        <p:txBody>
          <a:bodyPr/>
          <a:lstStyle/>
          <a:p>
            <a:r>
              <a:rPr lang="en-AU" dirty="0"/>
              <a:t>Compiling</a:t>
            </a:r>
          </a:p>
        </p:txBody>
      </p:sp>
      <p:sp>
        <p:nvSpPr>
          <p:cNvPr id="7" name="Title 3">
            <a:extLst>
              <a:ext uri="{FF2B5EF4-FFF2-40B4-BE49-F238E27FC236}">
                <a16:creationId xmlns:a16="http://schemas.microsoft.com/office/drawing/2014/main" id="{EBC053A3-DD58-4410-B408-D3593E92DB21}"/>
              </a:ext>
            </a:extLst>
          </p:cNvPr>
          <p:cNvSpPr txBox="1">
            <a:spLocks/>
          </p:cNvSpPr>
          <p:nvPr/>
        </p:nvSpPr>
        <p:spPr>
          <a:xfrm>
            <a:off x="913795" y="1716760"/>
            <a:ext cx="10846405" cy="2601239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ctr">
            <a:normAutofit/>
          </a:bodyPr>
          <a:lstStyle>
            <a:lvl1pPr algn="ctr" defTabSz="4572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b="1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j-lt"/>
                <a:ea typeface="+mj-ea"/>
                <a:cs typeface="Trebuchet M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l"/>
            <a:endParaRPr lang="en-AU" sz="2800" dirty="0">
              <a:solidFill>
                <a:srgbClr val="FF0000"/>
              </a:solidFill>
            </a:endParaRPr>
          </a:p>
        </p:txBody>
      </p:sp>
      <p:sp>
        <p:nvSpPr>
          <p:cNvPr id="9" name="Content Placeholder 1">
            <a:extLst>
              <a:ext uri="{FF2B5EF4-FFF2-40B4-BE49-F238E27FC236}">
                <a16:creationId xmlns:a16="http://schemas.microsoft.com/office/drawing/2014/main" id="{DBD64242-0479-4BCC-8D38-8F059B7E9F1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10623" y="1076592"/>
            <a:ext cx="10353762" cy="5289282"/>
          </a:xfrm>
        </p:spPr>
        <p:txBody>
          <a:bodyPr>
            <a:normAutofit/>
          </a:bodyPr>
          <a:lstStyle/>
          <a:p>
            <a:r>
              <a:rPr lang="en-US" sz="2800" dirty="0" err="1">
                <a:solidFill>
                  <a:srgbClr val="FF0000"/>
                </a:solidFill>
              </a:rPr>
              <a:t>gcc</a:t>
            </a:r>
            <a:r>
              <a:rPr lang="en-US" sz="2800" dirty="0">
                <a:solidFill>
                  <a:srgbClr val="FF0000"/>
                </a:solidFill>
              </a:rPr>
              <a:t> -o </a:t>
            </a:r>
            <a:r>
              <a:rPr lang="en-US" sz="2800" dirty="0" err="1">
                <a:solidFill>
                  <a:srgbClr val="FF0000"/>
                </a:solidFill>
              </a:rPr>
              <a:t>sniffex</a:t>
            </a:r>
            <a:r>
              <a:rPr lang="en-US" sz="2800" dirty="0">
                <a:solidFill>
                  <a:srgbClr val="FF0000"/>
                </a:solidFill>
              </a:rPr>
              <a:t> </a:t>
            </a:r>
            <a:r>
              <a:rPr lang="en-US" sz="2800" dirty="0" err="1">
                <a:solidFill>
                  <a:srgbClr val="FF0000"/>
                </a:solidFill>
              </a:rPr>
              <a:t>sniffex.c</a:t>
            </a:r>
            <a:r>
              <a:rPr lang="en-US" sz="2800" dirty="0">
                <a:solidFill>
                  <a:srgbClr val="FF0000"/>
                </a:solidFill>
              </a:rPr>
              <a:t> –</a:t>
            </a:r>
            <a:r>
              <a:rPr lang="en-US" sz="2800" dirty="0" err="1">
                <a:solidFill>
                  <a:srgbClr val="FF0000"/>
                </a:solidFill>
              </a:rPr>
              <a:t>lpcap</a:t>
            </a:r>
            <a:endParaRPr lang="en-US" sz="2800" dirty="0">
              <a:solidFill>
                <a:srgbClr val="FF0000"/>
              </a:solidFill>
            </a:endParaRPr>
          </a:p>
          <a:p>
            <a:pPr marL="450000" lvl="1" indent="0">
              <a:buNone/>
            </a:pPr>
            <a:endParaRPr lang="en-AU" sz="3200" dirty="0"/>
          </a:p>
        </p:txBody>
      </p:sp>
    </p:spTree>
    <p:extLst>
      <p:ext uri="{BB962C8B-B14F-4D97-AF65-F5344CB8AC3E}">
        <p14:creationId xmlns:p14="http://schemas.microsoft.com/office/powerpoint/2010/main" val="300915431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913795" y="136524"/>
            <a:ext cx="10353762" cy="1068150"/>
          </a:xfrm>
        </p:spPr>
        <p:txBody>
          <a:bodyPr/>
          <a:lstStyle/>
          <a:p>
            <a:r>
              <a:rPr lang="en-AU" dirty="0"/>
              <a:t>Compiling</a:t>
            </a:r>
          </a:p>
        </p:txBody>
      </p:sp>
      <p:sp>
        <p:nvSpPr>
          <p:cNvPr id="7" name="Title 3">
            <a:extLst>
              <a:ext uri="{FF2B5EF4-FFF2-40B4-BE49-F238E27FC236}">
                <a16:creationId xmlns:a16="http://schemas.microsoft.com/office/drawing/2014/main" id="{EBC053A3-DD58-4410-B408-D3593E92DB21}"/>
              </a:ext>
            </a:extLst>
          </p:cNvPr>
          <p:cNvSpPr txBox="1">
            <a:spLocks/>
          </p:cNvSpPr>
          <p:nvPr/>
        </p:nvSpPr>
        <p:spPr>
          <a:xfrm>
            <a:off x="913795" y="1716760"/>
            <a:ext cx="10846405" cy="2601239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ctr">
            <a:normAutofit/>
          </a:bodyPr>
          <a:lstStyle>
            <a:lvl1pPr algn="ctr" defTabSz="4572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b="1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j-lt"/>
                <a:ea typeface="+mj-ea"/>
                <a:cs typeface="Trebuchet M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l"/>
            <a:endParaRPr lang="en-AU" sz="2800" dirty="0">
              <a:solidFill>
                <a:srgbClr val="FF0000"/>
              </a:solidFill>
            </a:endParaRPr>
          </a:p>
        </p:txBody>
      </p:sp>
      <p:sp>
        <p:nvSpPr>
          <p:cNvPr id="9" name="Content Placeholder 1">
            <a:extLst>
              <a:ext uri="{FF2B5EF4-FFF2-40B4-BE49-F238E27FC236}">
                <a16:creationId xmlns:a16="http://schemas.microsoft.com/office/drawing/2014/main" id="{DBD64242-0479-4BCC-8D38-8F059B7E9F1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10623" y="1076592"/>
            <a:ext cx="10353762" cy="5289282"/>
          </a:xfrm>
        </p:spPr>
        <p:txBody>
          <a:bodyPr>
            <a:normAutofit/>
          </a:bodyPr>
          <a:lstStyle/>
          <a:p>
            <a:r>
              <a:rPr lang="en-US" sz="2800" dirty="0" err="1">
                <a:solidFill>
                  <a:srgbClr val="FF0000"/>
                </a:solidFill>
              </a:rPr>
              <a:t>gcc</a:t>
            </a:r>
            <a:r>
              <a:rPr lang="en-US" sz="2800" dirty="0">
                <a:solidFill>
                  <a:srgbClr val="FF0000"/>
                </a:solidFill>
              </a:rPr>
              <a:t> -o </a:t>
            </a:r>
            <a:r>
              <a:rPr lang="en-US" sz="2800" dirty="0" err="1">
                <a:solidFill>
                  <a:srgbClr val="FF0000"/>
                </a:solidFill>
              </a:rPr>
              <a:t>sniffex</a:t>
            </a:r>
            <a:r>
              <a:rPr lang="en-US" sz="2800" dirty="0">
                <a:solidFill>
                  <a:srgbClr val="FF0000"/>
                </a:solidFill>
              </a:rPr>
              <a:t> </a:t>
            </a:r>
            <a:r>
              <a:rPr lang="en-US" sz="2800" dirty="0" err="1">
                <a:solidFill>
                  <a:srgbClr val="FF0000"/>
                </a:solidFill>
              </a:rPr>
              <a:t>sniffex.c</a:t>
            </a:r>
            <a:r>
              <a:rPr lang="en-US" sz="2800" dirty="0">
                <a:solidFill>
                  <a:srgbClr val="FF0000"/>
                </a:solidFill>
              </a:rPr>
              <a:t> –</a:t>
            </a:r>
            <a:r>
              <a:rPr lang="en-US" sz="2800" dirty="0" err="1">
                <a:solidFill>
                  <a:srgbClr val="FF0000"/>
                </a:solidFill>
              </a:rPr>
              <a:t>lpcap</a:t>
            </a:r>
            <a:endParaRPr lang="en-US" sz="2800" dirty="0">
              <a:solidFill>
                <a:srgbClr val="FF0000"/>
              </a:solidFill>
            </a:endParaRPr>
          </a:p>
          <a:p>
            <a:r>
              <a:rPr lang="en-US" sz="2800" dirty="0"/>
              <a:t>if the error “</a:t>
            </a:r>
            <a:r>
              <a:rPr lang="en-US" sz="2800" dirty="0" err="1"/>
              <a:t>gcc</a:t>
            </a:r>
            <a:r>
              <a:rPr lang="en-US" sz="2800" dirty="0"/>
              <a:t> has no installation candidate” occurs</a:t>
            </a:r>
          </a:p>
          <a:p>
            <a:r>
              <a:rPr lang="en-US" sz="2800" dirty="0"/>
              <a:t>if “no </a:t>
            </a:r>
            <a:r>
              <a:rPr lang="en-US" sz="2800" dirty="0" err="1"/>
              <a:t>gcc</a:t>
            </a:r>
            <a:r>
              <a:rPr lang="en-US" sz="2800" dirty="0"/>
              <a:t>” is reported</a:t>
            </a:r>
          </a:p>
          <a:p>
            <a:r>
              <a:rPr lang="en-US" sz="2800" dirty="0"/>
              <a:t>if the error “</a:t>
            </a:r>
            <a:r>
              <a:rPr lang="en-US" sz="2800" dirty="0" err="1"/>
              <a:t>pcap.h</a:t>
            </a:r>
            <a:r>
              <a:rPr lang="en-US" sz="2800" dirty="0"/>
              <a:t>: No such file or directory compilation terminated” occurs</a:t>
            </a:r>
          </a:p>
          <a:p>
            <a:pPr marL="450000" lvl="1" indent="0">
              <a:buNone/>
            </a:pPr>
            <a:endParaRPr lang="en-AU" sz="3200" dirty="0"/>
          </a:p>
        </p:txBody>
      </p:sp>
    </p:spTree>
    <p:extLst>
      <p:ext uri="{BB962C8B-B14F-4D97-AF65-F5344CB8AC3E}">
        <p14:creationId xmlns:p14="http://schemas.microsoft.com/office/powerpoint/2010/main" val="162793495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913795" y="136524"/>
            <a:ext cx="10353762" cy="1068150"/>
          </a:xfrm>
        </p:spPr>
        <p:txBody>
          <a:bodyPr/>
          <a:lstStyle/>
          <a:p>
            <a:r>
              <a:rPr lang="en-AU" dirty="0"/>
              <a:t>Compiling</a:t>
            </a:r>
          </a:p>
        </p:txBody>
      </p:sp>
      <p:sp>
        <p:nvSpPr>
          <p:cNvPr id="7" name="Title 3">
            <a:extLst>
              <a:ext uri="{FF2B5EF4-FFF2-40B4-BE49-F238E27FC236}">
                <a16:creationId xmlns:a16="http://schemas.microsoft.com/office/drawing/2014/main" id="{EBC053A3-DD58-4410-B408-D3593E92DB21}"/>
              </a:ext>
            </a:extLst>
          </p:cNvPr>
          <p:cNvSpPr txBox="1">
            <a:spLocks/>
          </p:cNvSpPr>
          <p:nvPr/>
        </p:nvSpPr>
        <p:spPr>
          <a:xfrm>
            <a:off x="913795" y="1716760"/>
            <a:ext cx="10846405" cy="2601239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ctr">
            <a:normAutofit/>
          </a:bodyPr>
          <a:lstStyle>
            <a:lvl1pPr algn="ctr" defTabSz="4572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b="1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j-lt"/>
                <a:ea typeface="+mj-ea"/>
                <a:cs typeface="Trebuchet M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l"/>
            <a:endParaRPr lang="en-AU" sz="2800" dirty="0">
              <a:solidFill>
                <a:srgbClr val="FF0000"/>
              </a:solidFill>
            </a:endParaRPr>
          </a:p>
        </p:txBody>
      </p:sp>
      <p:sp>
        <p:nvSpPr>
          <p:cNvPr id="9" name="Content Placeholder 1">
            <a:extLst>
              <a:ext uri="{FF2B5EF4-FFF2-40B4-BE49-F238E27FC236}">
                <a16:creationId xmlns:a16="http://schemas.microsoft.com/office/drawing/2014/main" id="{DBD64242-0479-4BCC-8D38-8F059B7E9F1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10623" y="1076592"/>
            <a:ext cx="10353762" cy="5289282"/>
          </a:xfrm>
        </p:spPr>
        <p:txBody>
          <a:bodyPr>
            <a:normAutofit/>
          </a:bodyPr>
          <a:lstStyle/>
          <a:p>
            <a:r>
              <a:rPr lang="en-US" sz="2800" dirty="0" err="1">
                <a:solidFill>
                  <a:srgbClr val="FF0000"/>
                </a:solidFill>
              </a:rPr>
              <a:t>gcc</a:t>
            </a:r>
            <a:r>
              <a:rPr lang="en-US" sz="2800" dirty="0">
                <a:solidFill>
                  <a:srgbClr val="FF0000"/>
                </a:solidFill>
              </a:rPr>
              <a:t> -o </a:t>
            </a:r>
            <a:r>
              <a:rPr lang="en-US" sz="2800" dirty="0" err="1">
                <a:solidFill>
                  <a:srgbClr val="FF0000"/>
                </a:solidFill>
              </a:rPr>
              <a:t>sniffex</a:t>
            </a:r>
            <a:r>
              <a:rPr lang="en-US" sz="2800" dirty="0">
                <a:solidFill>
                  <a:srgbClr val="FF0000"/>
                </a:solidFill>
              </a:rPr>
              <a:t> </a:t>
            </a:r>
            <a:r>
              <a:rPr lang="en-US" sz="2800" dirty="0" err="1">
                <a:solidFill>
                  <a:srgbClr val="FF0000"/>
                </a:solidFill>
              </a:rPr>
              <a:t>sniffex.c</a:t>
            </a:r>
            <a:r>
              <a:rPr lang="en-US" sz="2800" dirty="0">
                <a:solidFill>
                  <a:srgbClr val="FF0000"/>
                </a:solidFill>
              </a:rPr>
              <a:t> –</a:t>
            </a:r>
            <a:r>
              <a:rPr lang="en-US" sz="2800" dirty="0" err="1">
                <a:solidFill>
                  <a:srgbClr val="FF0000"/>
                </a:solidFill>
              </a:rPr>
              <a:t>lpcap</a:t>
            </a:r>
            <a:endParaRPr lang="en-US" sz="2800" dirty="0">
              <a:solidFill>
                <a:srgbClr val="FF0000"/>
              </a:solidFill>
            </a:endParaRPr>
          </a:p>
          <a:p>
            <a:r>
              <a:rPr lang="en-US" sz="2800" dirty="0"/>
              <a:t>if the error “</a:t>
            </a:r>
            <a:r>
              <a:rPr lang="en-US" sz="2800" dirty="0" err="1"/>
              <a:t>gcc</a:t>
            </a:r>
            <a:r>
              <a:rPr lang="en-US" sz="2800" dirty="0"/>
              <a:t> has no installation candidate” occurs</a:t>
            </a:r>
          </a:p>
          <a:p>
            <a:pPr lvl="1"/>
            <a:r>
              <a:rPr lang="en-US" sz="2800" dirty="0" err="1"/>
              <a:t>sudo</a:t>
            </a:r>
            <a:r>
              <a:rPr lang="en-US" sz="2800" dirty="0"/>
              <a:t> apt-get update</a:t>
            </a:r>
          </a:p>
          <a:p>
            <a:r>
              <a:rPr lang="en-US" sz="2800" dirty="0"/>
              <a:t>if “no </a:t>
            </a:r>
            <a:r>
              <a:rPr lang="en-US" sz="2800" dirty="0" err="1"/>
              <a:t>gcc</a:t>
            </a:r>
            <a:r>
              <a:rPr lang="en-US" sz="2800" dirty="0"/>
              <a:t>” is reported</a:t>
            </a:r>
          </a:p>
          <a:p>
            <a:pPr lvl="1"/>
            <a:r>
              <a:rPr lang="en-US" sz="2800" dirty="0" err="1"/>
              <a:t>sudo</a:t>
            </a:r>
            <a:r>
              <a:rPr lang="en-US" sz="2800" dirty="0"/>
              <a:t> apt-get install </a:t>
            </a:r>
            <a:r>
              <a:rPr lang="en-US" sz="2800" dirty="0" err="1"/>
              <a:t>gcc</a:t>
            </a:r>
            <a:r>
              <a:rPr lang="en-US" sz="2800" dirty="0"/>
              <a:t> </a:t>
            </a:r>
            <a:endParaRPr lang="en-US" sz="2800" dirty="0">
              <a:solidFill>
                <a:srgbClr val="FF0000"/>
              </a:solidFill>
            </a:endParaRPr>
          </a:p>
          <a:p>
            <a:r>
              <a:rPr lang="en-US" sz="2800" dirty="0"/>
              <a:t>if the error “</a:t>
            </a:r>
            <a:r>
              <a:rPr lang="en-US" sz="2800" dirty="0" err="1"/>
              <a:t>pcap.h</a:t>
            </a:r>
            <a:r>
              <a:rPr lang="en-US" sz="2800" dirty="0"/>
              <a:t>: No such file or directory compilation terminated” occurs</a:t>
            </a:r>
          </a:p>
          <a:p>
            <a:pPr lvl="1"/>
            <a:r>
              <a:rPr lang="en-US" sz="2800" dirty="0" err="1"/>
              <a:t>sudo</a:t>
            </a:r>
            <a:r>
              <a:rPr lang="en-US" sz="2800" dirty="0"/>
              <a:t> apt-get install </a:t>
            </a:r>
            <a:r>
              <a:rPr lang="en-US" sz="2800" dirty="0" err="1"/>
              <a:t>libpcap</a:t>
            </a:r>
            <a:r>
              <a:rPr lang="en-US" sz="2800" dirty="0"/>
              <a:t>-dev</a:t>
            </a:r>
          </a:p>
          <a:p>
            <a:pPr marL="450000" lvl="1" indent="0">
              <a:buNone/>
            </a:pPr>
            <a:endParaRPr lang="en-AU" sz="3200" dirty="0"/>
          </a:p>
        </p:txBody>
      </p:sp>
    </p:spTree>
    <p:extLst>
      <p:ext uri="{BB962C8B-B14F-4D97-AF65-F5344CB8AC3E}">
        <p14:creationId xmlns:p14="http://schemas.microsoft.com/office/powerpoint/2010/main" val="94606640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>
            <a:extLst>
              <a:ext uri="{FF2B5EF4-FFF2-40B4-BE49-F238E27FC236}">
                <a16:creationId xmlns:a16="http://schemas.microsoft.com/office/drawing/2014/main" id="{D77F7B14-7C50-4AD6-BDD8-6BEE402DCB0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6343" y="4060216"/>
            <a:ext cx="8836888" cy="1965027"/>
          </a:xfrm>
          <a:prstGeom prst="rect">
            <a:avLst/>
          </a:prstGeom>
        </p:spPr>
      </p:pic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7BD3B4F3-8227-464C-A747-F16CD24335E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3384" y="225013"/>
            <a:ext cx="8969846" cy="766366"/>
          </a:xfrm>
        </p:spPr>
        <p:txBody>
          <a:bodyPr>
            <a:normAutofit fontScale="92500" lnSpcReduction="10000"/>
          </a:bodyPr>
          <a:lstStyle/>
          <a:p>
            <a:r>
              <a:rPr lang="en-US" altLang="en-US" sz="2400" dirty="0" err="1"/>
              <a:t>sudo</a:t>
            </a:r>
            <a:r>
              <a:rPr lang="en-US" altLang="en-US" sz="2400" dirty="0"/>
              <a:t> (Superuser Do): </a:t>
            </a:r>
            <a:r>
              <a:rPr lang="en-US" sz="2400" dirty="0"/>
              <a:t>allows a user to execute specific commands that require root user privileges. </a:t>
            </a:r>
            <a:endParaRPr lang="en-AU" sz="2400" dirty="0"/>
          </a:p>
        </p:txBody>
      </p:sp>
      <p:sp>
        <p:nvSpPr>
          <p:cNvPr id="14" name="Content Placeholder 2">
            <a:extLst>
              <a:ext uri="{FF2B5EF4-FFF2-40B4-BE49-F238E27FC236}">
                <a16:creationId xmlns:a16="http://schemas.microsoft.com/office/drawing/2014/main" id="{36524595-3E59-44BB-BC90-161806692760}"/>
              </a:ext>
            </a:extLst>
          </p:cNvPr>
          <p:cNvSpPr txBox="1">
            <a:spLocks/>
          </p:cNvSpPr>
          <p:nvPr/>
        </p:nvSpPr>
        <p:spPr>
          <a:xfrm>
            <a:off x="533382" y="3189738"/>
            <a:ext cx="9890777" cy="76636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auto">
              <a:spcAft>
                <a:spcPts val="0"/>
              </a:spcAft>
              <a:buClrTx/>
              <a:buSzTx/>
            </a:pPr>
            <a:r>
              <a:rPr lang="en-US" altLang="en-US" sz="2400" dirty="0" err="1"/>
              <a:t>su</a:t>
            </a:r>
            <a:r>
              <a:rPr lang="en-US" altLang="en-US" sz="2400" dirty="0"/>
              <a:t> (</a:t>
            </a:r>
            <a:r>
              <a:rPr lang="en-AU" sz="2400" dirty="0"/>
              <a:t>Switch User</a:t>
            </a:r>
            <a:r>
              <a:rPr lang="en-US" altLang="en-US" sz="2400" dirty="0"/>
              <a:t>): </a:t>
            </a:r>
            <a:r>
              <a:rPr lang="en-US" sz="2400" dirty="0"/>
              <a:t>allows a user to switch to another user account by entering that user account's password</a:t>
            </a:r>
            <a:r>
              <a:rPr lang="en-AU" sz="2400" dirty="0"/>
              <a:t>.</a:t>
            </a:r>
            <a:endParaRPr lang="en-US" sz="2400" dirty="0"/>
          </a:p>
          <a:p>
            <a:pPr fontAlgn="auto">
              <a:spcAft>
                <a:spcPts val="0"/>
              </a:spcAft>
              <a:buClrTx/>
              <a:buSzTx/>
            </a:pPr>
            <a:endParaRPr lang="en-AU" sz="2400" dirty="0"/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C1DB814B-1223-44E8-B0A8-423121716A9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6343" y="1240971"/>
            <a:ext cx="8836888" cy="16226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8269329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1">
            <a:extLst>
              <a:ext uri="{FF2B5EF4-FFF2-40B4-BE49-F238E27FC236}">
                <a16:creationId xmlns:a16="http://schemas.microsoft.com/office/drawing/2014/main" id="{08106222-633E-4F94-9E9F-49816C6A13D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1286" y="1568606"/>
            <a:ext cx="10726270" cy="3783979"/>
          </a:xfrm>
        </p:spPr>
        <p:txBody>
          <a:bodyPr>
            <a:normAutofit/>
          </a:bodyPr>
          <a:lstStyle/>
          <a:p>
            <a:pPr lvl="1"/>
            <a:r>
              <a:rPr lang="en-AU" sz="2800" dirty="0"/>
              <a:t>$: a normal user</a:t>
            </a:r>
          </a:p>
          <a:p>
            <a:pPr lvl="1"/>
            <a:endParaRPr lang="en-AU" sz="2800" dirty="0"/>
          </a:p>
          <a:p>
            <a:pPr lvl="1"/>
            <a:r>
              <a:rPr lang="en-AU" sz="2800" dirty="0"/>
              <a:t>#: a root user</a:t>
            </a:r>
          </a:p>
          <a:p>
            <a:pPr lvl="1"/>
            <a:endParaRPr lang="en-AU" sz="2800" dirty="0"/>
          </a:p>
        </p:txBody>
      </p:sp>
    </p:spTree>
    <p:extLst>
      <p:ext uri="{BB962C8B-B14F-4D97-AF65-F5344CB8AC3E}">
        <p14:creationId xmlns:p14="http://schemas.microsoft.com/office/powerpoint/2010/main" val="376464848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913795" y="136524"/>
            <a:ext cx="10353762" cy="1068150"/>
          </a:xfrm>
        </p:spPr>
        <p:txBody>
          <a:bodyPr/>
          <a:lstStyle/>
          <a:p>
            <a:r>
              <a:rPr lang="en-AU" dirty="0"/>
              <a:t>Sniffing</a:t>
            </a:r>
          </a:p>
        </p:txBody>
      </p:sp>
      <p:sp>
        <p:nvSpPr>
          <p:cNvPr id="8" name="Rounded Rectangle 10">
            <a:extLst>
              <a:ext uri="{FF2B5EF4-FFF2-40B4-BE49-F238E27FC236}">
                <a16:creationId xmlns:a16="http://schemas.microsoft.com/office/drawing/2014/main" id="{EFF2A714-4BFE-4265-87E4-34F8FECB8F6F}"/>
              </a:ext>
            </a:extLst>
          </p:cNvPr>
          <p:cNvSpPr/>
          <p:nvPr/>
        </p:nvSpPr>
        <p:spPr>
          <a:xfrm>
            <a:off x="0" y="953894"/>
            <a:ext cx="4220308" cy="639549"/>
          </a:xfrm>
          <a:prstGeom prst="roundRect">
            <a:avLst/>
          </a:prstGeom>
          <a:noFill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b="1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1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</a:rPr>
              <a:t>How to run the demo </a:t>
            </a:r>
          </a:p>
        </p:txBody>
      </p:sp>
      <p:sp>
        <p:nvSpPr>
          <p:cNvPr id="6" name="Content Placeholder 1">
            <a:extLst>
              <a:ext uri="{FF2B5EF4-FFF2-40B4-BE49-F238E27FC236}">
                <a16:creationId xmlns:a16="http://schemas.microsoft.com/office/drawing/2014/main" id="{BCECF946-B0B0-4030-9A88-08D30D45E5B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0823" y="1538527"/>
            <a:ext cx="10353762" cy="4827347"/>
          </a:xfrm>
        </p:spPr>
        <p:txBody>
          <a:bodyPr>
            <a:normAutofit/>
          </a:bodyPr>
          <a:lstStyle/>
          <a:p>
            <a:r>
              <a:rPr lang="en-US" sz="2800" dirty="0">
                <a:effectLst/>
              </a:rPr>
              <a:t>One terminal runs the sniffing executable</a:t>
            </a:r>
          </a:p>
          <a:p>
            <a:pPr lvl="1"/>
            <a:r>
              <a:rPr lang="en-US" sz="2800" dirty="0" err="1">
                <a:solidFill>
                  <a:srgbClr val="FF0000"/>
                </a:solidFill>
                <a:effectLst/>
              </a:rPr>
              <a:t>sudo</a:t>
            </a:r>
            <a:r>
              <a:rPr lang="en-US" sz="2800" dirty="0">
                <a:solidFill>
                  <a:srgbClr val="FF0000"/>
                </a:solidFill>
                <a:effectLst/>
              </a:rPr>
              <a:t> ./</a:t>
            </a:r>
            <a:r>
              <a:rPr lang="en-US" sz="2800" dirty="0" err="1">
                <a:solidFill>
                  <a:srgbClr val="FF0000"/>
                </a:solidFill>
                <a:effectLst/>
              </a:rPr>
              <a:t>sniffex</a:t>
            </a:r>
            <a:endParaRPr lang="en-US" sz="2800" dirty="0">
              <a:solidFill>
                <a:srgbClr val="FF0000"/>
              </a:solidFill>
              <a:effectLst/>
            </a:endParaRPr>
          </a:p>
          <a:p>
            <a:r>
              <a:rPr lang="en-US" sz="2800" dirty="0">
                <a:effectLst/>
              </a:rPr>
              <a:t>The other terminal connects with a telnet service</a:t>
            </a:r>
          </a:p>
          <a:p>
            <a:pPr lvl="1"/>
            <a:r>
              <a:rPr lang="en-AU" sz="2800" dirty="0">
                <a:solidFill>
                  <a:srgbClr val="FF0000"/>
                </a:solidFill>
                <a:effectLst/>
              </a:rPr>
              <a:t>telnet telehack.com</a:t>
            </a:r>
            <a:endParaRPr lang="en-US" sz="2800" dirty="0">
              <a:solidFill>
                <a:srgbClr val="FF0000"/>
              </a:solidFill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3727019504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913795" y="136524"/>
            <a:ext cx="10353762" cy="1068150"/>
          </a:xfrm>
        </p:spPr>
        <p:txBody>
          <a:bodyPr/>
          <a:lstStyle/>
          <a:p>
            <a:r>
              <a:rPr lang="en-AU" dirty="0"/>
              <a:t>Sniffing</a:t>
            </a:r>
          </a:p>
        </p:txBody>
      </p:sp>
      <p:sp>
        <p:nvSpPr>
          <p:cNvPr id="8" name="Rounded Rectangle 10">
            <a:extLst>
              <a:ext uri="{FF2B5EF4-FFF2-40B4-BE49-F238E27FC236}">
                <a16:creationId xmlns:a16="http://schemas.microsoft.com/office/drawing/2014/main" id="{EFF2A714-4BFE-4265-87E4-34F8FECB8F6F}"/>
              </a:ext>
            </a:extLst>
          </p:cNvPr>
          <p:cNvSpPr/>
          <p:nvPr/>
        </p:nvSpPr>
        <p:spPr>
          <a:xfrm>
            <a:off x="257908" y="953894"/>
            <a:ext cx="2579077" cy="1068150"/>
          </a:xfrm>
          <a:prstGeom prst="roundRect">
            <a:avLst/>
          </a:prstGeom>
          <a:noFill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b="1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1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</a:rPr>
              <a:t>Demo </a:t>
            </a:r>
          </a:p>
        </p:txBody>
      </p:sp>
    </p:spTree>
    <p:extLst>
      <p:ext uri="{BB962C8B-B14F-4D97-AF65-F5344CB8AC3E}">
        <p14:creationId xmlns:p14="http://schemas.microsoft.com/office/powerpoint/2010/main" val="51452464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4C54BF-1B93-4CCC-BD49-AA733C7F54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1257300"/>
          </a:xfrm>
        </p:spPr>
        <p:txBody>
          <a:bodyPr/>
          <a:lstStyle/>
          <a:p>
            <a:r>
              <a:rPr lang="en-AU" dirty="0"/>
              <a:t>Sniffing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CF7B76A-2B9A-4665-BB75-DA2D8B119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92085" y="1257300"/>
            <a:ext cx="11597182" cy="3714749"/>
          </a:xfrm>
        </p:spPr>
        <p:txBody>
          <a:bodyPr/>
          <a:lstStyle/>
          <a:p>
            <a:r>
              <a:rPr lang="en-AU" sz="2800" dirty="0"/>
              <a:t>Is sniffing attack a concern with all the advances in cybersecurity? Why?</a:t>
            </a:r>
          </a:p>
          <a:p>
            <a:r>
              <a:rPr lang="en-AU" sz="2800" dirty="0"/>
              <a:t>What condition would make sniffing attacks more likely to succeed?</a:t>
            </a:r>
          </a:p>
          <a:p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431338483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4C54BF-1B93-4CCC-BD49-AA733C7F54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119" y="69113"/>
            <a:ext cx="10353762" cy="1257300"/>
          </a:xfrm>
        </p:spPr>
        <p:txBody>
          <a:bodyPr/>
          <a:lstStyle/>
          <a:p>
            <a:r>
              <a:rPr lang="en-AU" dirty="0"/>
              <a:t>Sniffing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CF7B76A-2B9A-4665-BB75-DA2D8B119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75841" y="1816838"/>
            <a:ext cx="11278205" cy="3714749"/>
          </a:xfrm>
        </p:spPr>
        <p:txBody>
          <a:bodyPr/>
          <a:lstStyle/>
          <a:p>
            <a:r>
              <a:rPr lang="en-AU" sz="2800" dirty="0"/>
              <a:t>Is sniffing attack a concern with all the advances in cybersecurity? Why?</a:t>
            </a:r>
          </a:p>
          <a:p>
            <a:pPr lvl="1"/>
            <a:r>
              <a:rPr lang="en-AU" sz="2800" dirty="0"/>
              <a:t>e.g., cloud computing vs IoT (Internet of Things)</a:t>
            </a:r>
          </a:p>
          <a:p>
            <a:pPr lvl="1"/>
            <a:r>
              <a:rPr lang="en-AU" sz="2800" dirty="0"/>
              <a:t>Cloud providers guarantee data security and privacy. </a:t>
            </a:r>
          </a:p>
          <a:p>
            <a:pPr lvl="1"/>
            <a:r>
              <a:rPr lang="en-AU" sz="2800" dirty="0"/>
              <a:t>IoT vendors focus more on performance</a:t>
            </a:r>
          </a:p>
          <a:p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3311076584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4C54BF-1B93-4CCC-BD49-AA733C7F54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184298"/>
            <a:ext cx="10353762" cy="1257300"/>
          </a:xfrm>
        </p:spPr>
        <p:txBody>
          <a:bodyPr/>
          <a:lstStyle/>
          <a:p>
            <a:r>
              <a:rPr lang="en-AU" dirty="0"/>
              <a:t>Sniffing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CF7B76A-2B9A-4665-BB75-DA2D8B119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86030" y="1441598"/>
            <a:ext cx="11609292" cy="4637789"/>
          </a:xfrm>
        </p:spPr>
        <p:txBody>
          <a:bodyPr>
            <a:normAutofit/>
          </a:bodyPr>
          <a:lstStyle/>
          <a:p>
            <a:r>
              <a:rPr lang="en-AU" sz="2800" dirty="0"/>
              <a:t>Is sniffing attack a concern with all the advances in cybersecurity? Why?</a:t>
            </a:r>
          </a:p>
          <a:p>
            <a:pPr lvl="1"/>
            <a:r>
              <a:rPr lang="en-AU" sz="2800" dirty="0"/>
              <a:t>e.g., cloud computing vs IoT</a:t>
            </a:r>
          </a:p>
          <a:p>
            <a:pPr lvl="1"/>
            <a:endParaRPr lang="en-AU" sz="2800" dirty="0"/>
          </a:p>
          <a:p>
            <a:r>
              <a:rPr lang="en-AU" sz="2800" dirty="0"/>
              <a:t>What condition would make sniffing attacks more likely to succeed?</a:t>
            </a:r>
          </a:p>
          <a:p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3367880633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4C54BF-1B93-4CCC-BD49-AA733C7F54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184298"/>
            <a:ext cx="10353762" cy="1257300"/>
          </a:xfrm>
        </p:spPr>
        <p:txBody>
          <a:bodyPr/>
          <a:lstStyle/>
          <a:p>
            <a:r>
              <a:rPr lang="en-AU" dirty="0"/>
              <a:t>Sniffing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CF7B76A-2B9A-4665-BB75-DA2D8B119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86030" y="1441598"/>
            <a:ext cx="11609292" cy="4637789"/>
          </a:xfrm>
        </p:spPr>
        <p:txBody>
          <a:bodyPr>
            <a:normAutofit/>
          </a:bodyPr>
          <a:lstStyle/>
          <a:p>
            <a:r>
              <a:rPr lang="en-AU" sz="2800" dirty="0"/>
              <a:t>Is sniffing attack a concern with all the advances in cybersecurity? Why?</a:t>
            </a:r>
          </a:p>
          <a:p>
            <a:pPr lvl="1"/>
            <a:r>
              <a:rPr lang="en-AU" sz="2800" dirty="0"/>
              <a:t>e.g., cloud computing vs IoT</a:t>
            </a:r>
          </a:p>
          <a:p>
            <a:pPr lvl="1"/>
            <a:endParaRPr lang="en-AU" sz="2800" dirty="0"/>
          </a:p>
          <a:p>
            <a:r>
              <a:rPr lang="en-AU" sz="2800" dirty="0"/>
              <a:t>What condition would make sniffing attacks more likely to succeed?</a:t>
            </a:r>
          </a:p>
          <a:p>
            <a:pPr lvl="1"/>
            <a:r>
              <a:rPr lang="en-AU" sz="2800" dirty="0"/>
              <a:t>e.g., a non-encryption or weak-encryption channel</a:t>
            </a:r>
          </a:p>
          <a:p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456693173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idx="1"/>
          </p:nvPr>
        </p:nvSpPr>
        <p:spPr>
          <a:xfrm>
            <a:off x="0" y="1571625"/>
            <a:ext cx="12192000" cy="3714749"/>
          </a:xfrm>
        </p:spPr>
        <p:txBody>
          <a:bodyPr>
            <a:noAutofit/>
          </a:bodyPr>
          <a:lstStyle/>
          <a:p>
            <a:r>
              <a:rPr lang="en-AU" sz="2800" dirty="0"/>
              <a:t>What is it: remotely execute shell commands on a target system over the internet. </a:t>
            </a:r>
          </a:p>
          <a:p>
            <a:pPr lvl="2"/>
            <a:r>
              <a:rPr lang="en-AU" sz="2800" dirty="0"/>
              <a:t>Bash shell commands, e.g., create/edit/copy/remove files and folders</a:t>
            </a:r>
          </a:p>
          <a:p>
            <a:pPr marL="450000" lvl="1" indent="0">
              <a:buNone/>
            </a:pPr>
            <a:endParaRPr lang="en-AU" sz="2800" dirty="0"/>
          </a:p>
          <a:p>
            <a:r>
              <a:rPr lang="en-AU" sz="2800" dirty="0"/>
              <a:t>Malicious use: remote shell can be leveraged by malicious users to cause system damage.</a:t>
            </a:r>
          </a:p>
          <a:p>
            <a:pPr lvl="2"/>
            <a:r>
              <a:rPr lang="en-AU" sz="2800" dirty="0"/>
              <a:t>e.g., delete all files on the system, steal and/or corrupt sensitive data</a:t>
            </a:r>
          </a:p>
        </p:txBody>
      </p:sp>
      <p:sp>
        <p:nvSpPr>
          <p:cNvPr id="7" name="Title 3">
            <a:extLst>
              <a:ext uri="{FF2B5EF4-FFF2-40B4-BE49-F238E27FC236}">
                <a16:creationId xmlns:a16="http://schemas.microsoft.com/office/drawing/2014/main" id="{1D06F907-04AE-40C1-BAAA-1C8B0028F6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123825"/>
            <a:ext cx="10353762" cy="1257300"/>
          </a:xfrm>
        </p:spPr>
        <p:txBody>
          <a:bodyPr/>
          <a:lstStyle/>
          <a:p>
            <a:r>
              <a:rPr lang="en-AU" dirty="0"/>
              <a:t>Remote Shell</a:t>
            </a:r>
          </a:p>
        </p:txBody>
      </p:sp>
    </p:spTree>
    <p:extLst>
      <p:ext uri="{BB962C8B-B14F-4D97-AF65-F5344CB8AC3E}">
        <p14:creationId xmlns:p14="http://schemas.microsoft.com/office/powerpoint/2010/main" val="2250758883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ounded Rectangle 10">
            <a:extLst>
              <a:ext uri="{FF2B5EF4-FFF2-40B4-BE49-F238E27FC236}">
                <a16:creationId xmlns:a16="http://schemas.microsoft.com/office/drawing/2014/main" id="{DA3B3F57-6312-429B-A3DE-EF0CF5140E67}"/>
              </a:ext>
            </a:extLst>
          </p:cNvPr>
          <p:cNvSpPr/>
          <p:nvPr/>
        </p:nvSpPr>
        <p:spPr>
          <a:xfrm>
            <a:off x="0" y="849539"/>
            <a:ext cx="4549140" cy="639549"/>
          </a:xfrm>
          <a:prstGeom prst="roundRect">
            <a:avLst/>
          </a:prstGeom>
          <a:noFill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b="1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1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</a:rPr>
              <a:t>Demo: use our VM</a:t>
            </a:r>
          </a:p>
        </p:txBody>
      </p:sp>
      <p:sp>
        <p:nvSpPr>
          <p:cNvPr id="12" name="Title 3">
            <a:extLst>
              <a:ext uri="{FF2B5EF4-FFF2-40B4-BE49-F238E27FC236}">
                <a16:creationId xmlns:a16="http://schemas.microsoft.com/office/drawing/2014/main" id="{2A56023D-2EEC-4CB2-B440-50B7810564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136524"/>
            <a:ext cx="10353762" cy="1068150"/>
          </a:xfrm>
        </p:spPr>
        <p:txBody>
          <a:bodyPr/>
          <a:lstStyle/>
          <a:p>
            <a:r>
              <a:rPr lang="en-AU" dirty="0"/>
              <a:t>Remote </a:t>
            </a:r>
            <a:r>
              <a:rPr lang="en-US" dirty="0"/>
              <a:t>Communication</a:t>
            </a:r>
            <a:endParaRPr lang="en-AU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6A77370A-B705-44A5-B00A-C7F6D90CC90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3795" y="1433945"/>
            <a:ext cx="7098091" cy="2985655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86D36B1A-CC5E-419F-B961-C02473532CD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3795" y="4576212"/>
            <a:ext cx="2025348" cy="847843"/>
          </a:xfrm>
          <a:prstGeom prst="rect">
            <a:avLst/>
          </a:prstGeom>
        </p:spPr>
      </p:pic>
      <p:sp>
        <p:nvSpPr>
          <p:cNvPr id="10" name="Title 3">
            <a:extLst>
              <a:ext uri="{FF2B5EF4-FFF2-40B4-BE49-F238E27FC236}">
                <a16:creationId xmlns:a16="http://schemas.microsoft.com/office/drawing/2014/main" id="{F0CD6C98-7FD8-4070-8428-106078F59954}"/>
              </a:ext>
            </a:extLst>
          </p:cNvPr>
          <p:cNvSpPr txBox="1">
            <a:spLocks/>
          </p:cNvSpPr>
          <p:nvPr/>
        </p:nvSpPr>
        <p:spPr>
          <a:xfrm>
            <a:off x="519559" y="5409145"/>
            <a:ext cx="11142234" cy="956729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ctr">
            <a:normAutofit/>
          </a:bodyPr>
          <a:lstStyle>
            <a:lvl1pPr algn="ctr" defTabSz="4572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b="1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j-lt"/>
                <a:ea typeface="+mj-ea"/>
                <a:cs typeface="Trebuchet M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l"/>
            <a:r>
              <a:rPr lang="en-AU" sz="2800" dirty="0">
                <a:latin typeface="+mn-lt"/>
              </a:rPr>
              <a:t>https://github.com/uwacyber/cits1003/tree/2022s1/cits1003-labs/files</a:t>
            </a:r>
            <a:endParaRPr lang="en-AU" sz="2800" dirty="0">
              <a:solidFill>
                <a:srgbClr val="FF0000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557833265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913795" y="136524"/>
            <a:ext cx="10353762" cy="1068150"/>
          </a:xfrm>
        </p:spPr>
        <p:txBody>
          <a:bodyPr/>
          <a:lstStyle/>
          <a:p>
            <a:r>
              <a:rPr lang="en-AU" dirty="0"/>
              <a:t>Updating</a:t>
            </a:r>
          </a:p>
        </p:txBody>
      </p:sp>
      <p:sp>
        <p:nvSpPr>
          <p:cNvPr id="9" name="Content Placeholder 1">
            <a:extLst>
              <a:ext uri="{FF2B5EF4-FFF2-40B4-BE49-F238E27FC236}">
                <a16:creationId xmlns:a16="http://schemas.microsoft.com/office/drawing/2014/main" id="{A7133173-7212-4D21-ACAE-4C63AFD84F2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10623" y="1834163"/>
            <a:ext cx="10456934" cy="4792971"/>
          </a:xfrm>
        </p:spPr>
        <p:txBody>
          <a:bodyPr>
            <a:normAutofit/>
          </a:bodyPr>
          <a:lstStyle/>
          <a:p>
            <a:r>
              <a:rPr lang="en-US" sz="2800" dirty="0"/>
              <a:t>Update </a:t>
            </a:r>
            <a:r>
              <a:rPr lang="en-US" sz="2800" dirty="0" err="1"/>
              <a:t>client.c</a:t>
            </a:r>
            <a:r>
              <a:rPr lang="en-US" sz="2800" dirty="0"/>
              <a:t> and client2.c with VM’s IP address</a:t>
            </a:r>
          </a:p>
          <a:p>
            <a:pPr lvl="1"/>
            <a:r>
              <a:rPr lang="en-US" sz="2800" dirty="0"/>
              <a:t>Jump to </a:t>
            </a:r>
            <a:r>
              <a:rPr lang="en-US" sz="2800" dirty="0">
                <a:solidFill>
                  <a:srgbClr val="FF0000"/>
                </a:solidFill>
              </a:rPr>
              <a:t>line 26</a:t>
            </a:r>
            <a:r>
              <a:rPr lang="en-US" sz="2800" dirty="0"/>
              <a:t>, update the IP address with your VM’s IP address</a:t>
            </a:r>
          </a:p>
          <a:p>
            <a:pPr lvl="1"/>
            <a:r>
              <a:rPr lang="en-US" sz="2800" dirty="0"/>
              <a:t>IP address command: </a:t>
            </a:r>
            <a:r>
              <a:rPr lang="en-US" sz="2800" dirty="0" err="1"/>
              <a:t>ip</a:t>
            </a:r>
            <a:r>
              <a:rPr lang="en-US" sz="2800" dirty="0"/>
              <a:t> </a:t>
            </a:r>
            <a:r>
              <a:rPr lang="en-US" sz="2800" dirty="0" err="1"/>
              <a:t>addr</a:t>
            </a:r>
            <a:r>
              <a:rPr lang="en-US" sz="2800" dirty="0"/>
              <a:t> show</a:t>
            </a:r>
          </a:p>
          <a:p>
            <a:pPr lvl="1"/>
            <a:r>
              <a:rPr lang="en-US" sz="2800" dirty="0"/>
              <a:t>For client2.c, repeat the above steps</a:t>
            </a:r>
          </a:p>
          <a:p>
            <a:r>
              <a:rPr lang="en-US" sz="2800" dirty="0"/>
              <a:t>Besides the source file updates, README.txt and </a:t>
            </a:r>
            <a:r>
              <a:rPr lang="en-US" sz="2800" dirty="0" err="1"/>
              <a:t>Makefile</a:t>
            </a:r>
            <a:r>
              <a:rPr lang="en-US" sz="2800" dirty="0"/>
              <a:t> are also interesting</a:t>
            </a:r>
          </a:p>
        </p:txBody>
      </p:sp>
    </p:spTree>
    <p:extLst>
      <p:ext uri="{BB962C8B-B14F-4D97-AF65-F5344CB8AC3E}">
        <p14:creationId xmlns:p14="http://schemas.microsoft.com/office/powerpoint/2010/main" val="2455204925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3">
            <a:extLst>
              <a:ext uri="{FF2B5EF4-FFF2-40B4-BE49-F238E27FC236}">
                <a16:creationId xmlns:a16="http://schemas.microsoft.com/office/drawing/2014/main" id="{EBC053A3-DD58-4410-B408-D3593E92DB21}"/>
              </a:ext>
            </a:extLst>
          </p:cNvPr>
          <p:cNvSpPr txBox="1">
            <a:spLocks/>
          </p:cNvSpPr>
          <p:nvPr/>
        </p:nvSpPr>
        <p:spPr>
          <a:xfrm>
            <a:off x="913795" y="1716760"/>
            <a:ext cx="10846405" cy="2601239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ctr">
            <a:normAutofit/>
          </a:bodyPr>
          <a:lstStyle>
            <a:lvl1pPr algn="ctr" defTabSz="4572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b="1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j-lt"/>
                <a:ea typeface="+mj-ea"/>
                <a:cs typeface="Trebuchet M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l"/>
            <a:endParaRPr lang="en-AU" sz="2800" dirty="0">
              <a:solidFill>
                <a:srgbClr val="FF0000"/>
              </a:solidFill>
            </a:endParaRPr>
          </a:p>
        </p:txBody>
      </p:sp>
      <p:sp>
        <p:nvSpPr>
          <p:cNvPr id="9" name="Content Placeholder 1">
            <a:extLst>
              <a:ext uri="{FF2B5EF4-FFF2-40B4-BE49-F238E27FC236}">
                <a16:creationId xmlns:a16="http://schemas.microsoft.com/office/drawing/2014/main" id="{DBD64242-0479-4BCC-8D38-8F059B7E9F1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10623" y="1020418"/>
            <a:ext cx="10353762" cy="4149370"/>
          </a:xfrm>
        </p:spPr>
        <p:txBody>
          <a:bodyPr>
            <a:normAutofit/>
          </a:bodyPr>
          <a:lstStyle/>
          <a:p>
            <a:r>
              <a:rPr lang="en-US" sz="2800" dirty="0"/>
              <a:t>README.txt: serves as a basic documentation for a open-source project</a:t>
            </a:r>
          </a:p>
          <a:p>
            <a:endParaRPr lang="en-US" sz="2800" dirty="0"/>
          </a:p>
          <a:p>
            <a:r>
              <a:rPr lang="en-US" sz="2800" dirty="0" err="1"/>
              <a:t>Makefile</a:t>
            </a:r>
            <a:r>
              <a:rPr lang="en-US" sz="2800" dirty="0"/>
              <a:t>: serves as a script to automatically compile and link a set of source files for the project</a:t>
            </a:r>
          </a:p>
          <a:p>
            <a:pPr lvl="1"/>
            <a:r>
              <a:rPr lang="en-US" sz="2800" dirty="0"/>
              <a:t>With </a:t>
            </a:r>
            <a:r>
              <a:rPr lang="en-US" sz="2800" dirty="0" err="1"/>
              <a:t>Makefile</a:t>
            </a:r>
            <a:r>
              <a:rPr lang="en-US" sz="2800" dirty="0"/>
              <a:t>, simply run the ‘make’ command.</a:t>
            </a:r>
          </a:p>
        </p:txBody>
      </p:sp>
      <p:sp>
        <p:nvSpPr>
          <p:cNvPr id="10" name="Title 3">
            <a:extLst>
              <a:ext uri="{FF2B5EF4-FFF2-40B4-BE49-F238E27FC236}">
                <a16:creationId xmlns:a16="http://schemas.microsoft.com/office/drawing/2014/main" id="{949C7A3E-694A-47A4-856B-6545310A4A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136524"/>
            <a:ext cx="10353762" cy="883894"/>
          </a:xfrm>
        </p:spPr>
        <p:txBody>
          <a:bodyPr/>
          <a:lstStyle/>
          <a:p>
            <a:r>
              <a:rPr lang="en-AU" dirty="0"/>
              <a:t>Compiling</a:t>
            </a:r>
          </a:p>
        </p:txBody>
      </p:sp>
      <p:sp>
        <p:nvSpPr>
          <p:cNvPr id="11" name="Content Placeholder 1">
            <a:extLst>
              <a:ext uri="{FF2B5EF4-FFF2-40B4-BE49-F238E27FC236}">
                <a16:creationId xmlns:a16="http://schemas.microsoft.com/office/drawing/2014/main" id="{F741F486-DE2E-4BCC-B07D-CA510A70F463}"/>
              </a:ext>
            </a:extLst>
          </p:cNvPr>
          <p:cNvSpPr txBox="1">
            <a:spLocks/>
          </p:cNvSpPr>
          <p:nvPr/>
        </p:nvSpPr>
        <p:spPr>
          <a:xfrm>
            <a:off x="810623" y="4830085"/>
            <a:ext cx="10353762" cy="1232268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 marL="342900" indent="-306000" algn="l" defTabSz="457200" rtl="0" eaLnBrk="1" latinLnBrk="0" hangingPunct="1">
              <a:lnSpc>
                <a:spcPct val="110000"/>
              </a:lnSpc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2100" b="1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1pPr>
            <a:lvl2pPr marL="72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"/>
              <a:defRPr sz="1900" b="1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2pPr>
            <a:lvl3pPr marL="1026000" indent="-21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700" b="1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3pPr>
            <a:lvl4pPr marL="1386000" indent="-21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"/>
              <a:defRPr sz="1500" b="1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4pPr>
            <a:lvl5pPr marL="1674000" indent="-21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500" b="1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5pPr>
            <a:lvl6pPr marL="20146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6pPr>
            <a:lvl7pPr marL="24018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7pPr>
            <a:lvl8pPr marL="2789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8pPr>
            <a:lvl9pPr marL="31062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9pPr>
          </a:lstStyle>
          <a:p>
            <a:r>
              <a:rPr lang="en-US" sz="2800" dirty="0"/>
              <a:t>If the command “make” is not found</a:t>
            </a:r>
          </a:p>
          <a:p>
            <a:pPr lvl="1"/>
            <a:r>
              <a:rPr lang="en-US" sz="2800" dirty="0" err="1"/>
              <a:t>sudo</a:t>
            </a:r>
            <a:r>
              <a:rPr lang="en-US" sz="2800" dirty="0"/>
              <a:t> apt-get install make</a:t>
            </a:r>
            <a:endParaRPr lang="en-US" sz="2800" dirty="0">
              <a:solidFill>
                <a:srgbClr val="FF0000"/>
              </a:solidFill>
            </a:endParaRPr>
          </a:p>
          <a:p>
            <a:pPr marL="450000" lvl="1" indent="0">
              <a:buFont typeface="Wingdings 2" charset="2"/>
              <a:buNone/>
            </a:pPr>
            <a:endParaRPr lang="en-AU" sz="3200" dirty="0"/>
          </a:p>
        </p:txBody>
      </p:sp>
    </p:spTree>
    <p:extLst>
      <p:ext uri="{BB962C8B-B14F-4D97-AF65-F5344CB8AC3E}">
        <p14:creationId xmlns:p14="http://schemas.microsoft.com/office/powerpoint/2010/main" val="1300143618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913795" y="136524"/>
            <a:ext cx="10353762" cy="1068150"/>
          </a:xfrm>
        </p:spPr>
        <p:txBody>
          <a:bodyPr/>
          <a:lstStyle/>
          <a:p>
            <a:r>
              <a:rPr lang="en-AU" dirty="0"/>
              <a:t>Remote </a:t>
            </a:r>
            <a:r>
              <a:rPr lang="en-US" dirty="0"/>
              <a:t>Communication</a:t>
            </a:r>
            <a:endParaRPr lang="en-AU" dirty="0"/>
          </a:p>
        </p:txBody>
      </p:sp>
      <p:sp>
        <p:nvSpPr>
          <p:cNvPr id="8" name="Rounded Rectangle 10">
            <a:extLst>
              <a:ext uri="{FF2B5EF4-FFF2-40B4-BE49-F238E27FC236}">
                <a16:creationId xmlns:a16="http://schemas.microsoft.com/office/drawing/2014/main" id="{EFF2A714-4BFE-4265-87E4-34F8FECB8F6F}"/>
              </a:ext>
            </a:extLst>
          </p:cNvPr>
          <p:cNvSpPr/>
          <p:nvPr/>
        </p:nvSpPr>
        <p:spPr>
          <a:xfrm>
            <a:off x="0" y="953894"/>
            <a:ext cx="4220308" cy="639549"/>
          </a:xfrm>
          <a:prstGeom prst="roundRect">
            <a:avLst/>
          </a:prstGeom>
          <a:noFill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b="1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1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</a:rPr>
              <a:t>How to run the demo </a:t>
            </a:r>
          </a:p>
        </p:txBody>
      </p:sp>
      <p:sp>
        <p:nvSpPr>
          <p:cNvPr id="6" name="Content Placeholder 1">
            <a:extLst>
              <a:ext uri="{FF2B5EF4-FFF2-40B4-BE49-F238E27FC236}">
                <a16:creationId xmlns:a16="http://schemas.microsoft.com/office/drawing/2014/main" id="{BCECF946-B0B0-4030-9A88-08D30D45E5B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0823" y="1538527"/>
            <a:ext cx="10353762" cy="4827347"/>
          </a:xfrm>
        </p:spPr>
        <p:txBody>
          <a:bodyPr>
            <a:normAutofit/>
          </a:bodyPr>
          <a:lstStyle/>
          <a:p>
            <a:r>
              <a:rPr lang="en-US" sz="2800" dirty="0">
                <a:effectLst/>
              </a:rPr>
              <a:t>One terminal runs an executable called server</a:t>
            </a:r>
          </a:p>
          <a:p>
            <a:pPr lvl="1"/>
            <a:r>
              <a:rPr lang="en-US" sz="2800" dirty="0">
                <a:effectLst/>
              </a:rPr>
              <a:t>./server</a:t>
            </a:r>
          </a:p>
          <a:p>
            <a:r>
              <a:rPr lang="en-US" sz="2800" dirty="0">
                <a:effectLst/>
              </a:rPr>
              <a:t>The other terminal runs three executables, each of which connects with the server</a:t>
            </a:r>
          </a:p>
          <a:p>
            <a:pPr lvl="1"/>
            <a:r>
              <a:rPr lang="en-AU" sz="2800" dirty="0">
                <a:effectLst/>
              </a:rPr>
              <a:t>./client (sends “</a:t>
            </a:r>
            <a:r>
              <a:rPr lang="en-US" sz="2800" dirty="0">
                <a:effectLst/>
              </a:rPr>
              <a:t>hello I am Alice </a:t>
            </a:r>
            <a:r>
              <a:rPr lang="en-AU" sz="2800" dirty="0">
                <a:effectLst/>
              </a:rPr>
              <a:t>”)</a:t>
            </a:r>
          </a:p>
          <a:p>
            <a:pPr lvl="1"/>
            <a:r>
              <a:rPr lang="en-AU" sz="2800" dirty="0">
                <a:effectLst/>
              </a:rPr>
              <a:t>./client2 (sends “</a:t>
            </a:r>
            <a:r>
              <a:rPr lang="en-US" sz="2800" dirty="0">
                <a:effectLst/>
              </a:rPr>
              <a:t>hello I am Bob</a:t>
            </a:r>
            <a:r>
              <a:rPr lang="en-AU" sz="2800" dirty="0">
                <a:effectLst/>
              </a:rPr>
              <a:t>”)</a:t>
            </a:r>
          </a:p>
          <a:p>
            <a:pPr lvl="1"/>
            <a:r>
              <a:rPr lang="en-AU" sz="2800" dirty="0">
                <a:effectLst/>
              </a:rPr>
              <a:t>./quit (terminates the connection)</a:t>
            </a:r>
            <a:endParaRPr lang="en-US" sz="2800" dirty="0"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3621300664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ounded Rectangle 10">
            <a:extLst>
              <a:ext uri="{FF2B5EF4-FFF2-40B4-BE49-F238E27FC236}">
                <a16:creationId xmlns:a16="http://schemas.microsoft.com/office/drawing/2014/main" id="{EFF2A714-4BFE-4265-87E4-34F8FECB8F6F}"/>
              </a:ext>
            </a:extLst>
          </p:cNvPr>
          <p:cNvSpPr/>
          <p:nvPr/>
        </p:nvSpPr>
        <p:spPr>
          <a:xfrm>
            <a:off x="257908" y="1204674"/>
            <a:ext cx="2579077" cy="1068150"/>
          </a:xfrm>
          <a:prstGeom prst="roundRect">
            <a:avLst/>
          </a:prstGeom>
          <a:noFill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b="1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1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</a:rPr>
              <a:t>Demo </a:t>
            </a:r>
          </a:p>
        </p:txBody>
      </p:sp>
      <p:sp>
        <p:nvSpPr>
          <p:cNvPr id="7" name="Title 3">
            <a:extLst>
              <a:ext uri="{FF2B5EF4-FFF2-40B4-BE49-F238E27FC236}">
                <a16:creationId xmlns:a16="http://schemas.microsoft.com/office/drawing/2014/main" id="{ACA4235B-CCA1-4F04-9392-C9AAEB71FA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136524"/>
            <a:ext cx="10353762" cy="1068150"/>
          </a:xfrm>
        </p:spPr>
        <p:txBody>
          <a:bodyPr/>
          <a:lstStyle/>
          <a:p>
            <a:r>
              <a:rPr lang="en-AU" dirty="0"/>
              <a:t>Remote </a:t>
            </a:r>
            <a:r>
              <a:rPr lang="en-US" dirty="0"/>
              <a:t>Communication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4219393452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idx="1"/>
          </p:nvPr>
        </p:nvSpPr>
        <p:spPr>
          <a:xfrm>
            <a:off x="541286" y="1568606"/>
            <a:ext cx="10726270" cy="3714749"/>
          </a:xfrm>
        </p:spPr>
        <p:txBody>
          <a:bodyPr>
            <a:normAutofit/>
          </a:bodyPr>
          <a:lstStyle/>
          <a:p>
            <a:r>
              <a:rPr lang="en-AU" sz="2800" dirty="0"/>
              <a:t>Two types:</a:t>
            </a:r>
          </a:p>
          <a:p>
            <a:pPr lvl="1"/>
            <a:r>
              <a:rPr lang="en-AU" sz="2800" dirty="0">
                <a:solidFill>
                  <a:srgbClr val="FF0000"/>
                </a:solidFill>
              </a:rPr>
              <a:t>Forward shell</a:t>
            </a:r>
          </a:p>
          <a:p>
            <a:pPr lvl="2"/>
            <a:r>
              <a:rPr lang="en-AU" sz="2800" dirty="0"/>
              <a:t>The malicious client executes shell commands on the server</a:t>
            </a:r>
          </a:p>
          <a:p>
            <a:pPr lvl="1"/>
            <a:r>
              <a:rPr lang="en-AU" sz="2800" dirty="0">
                <a:solidFill>
                  <a:srgbClr val="FF0000"/>
                </a:solidFill>
              </a:rPr>
              <a:t>Reverse shell</a:t>
            </a:r>
          </a:p>
          <a:p>
            <a:pPr lvl="2"/>
            <a:r>
              <a:rPr lang="en-AU" sz="2800" dirty="0"/>
              <a:t>The malicious server executes shell commands on the client</a:t>
            </a:r>
          </a:p>
        </p:txBody>
      </p:sp>
      <p:sp>
        <p:nvSpPr>
          <p:cNvPr id="10" name="Title 3">
            <a:extLst>
              <a:ext uri="{FF2B5EF4-FFF2-40B4-BE49-F238E27FC236}">
                <a16:creationId xmlns:a16="http://schemas.microsoft.com/office/drawing/2014/main" id="{F74B009D-3931-4B90-88FC-DA49D1752B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4" y="311306"/>
            <a:ext cx="10353762" cy="1257300"/>
          </a:xfrm>
        </p:spPr>
        <p:txBody>
          <a:bodyPr/>
          <a:lstStyle/>
          <a:p>
            <a:r>
              <a:rPr lang="en-AU" dirty="0"/>
              <a:t>Remote Shell</a:t>
            </a:r>
          </a:p>
        </p:txBody>
      </p:sp>
    </p:spTree>
    <p:extLst>
      <p:ext uri="{BB962C8B-B14F-4D97-AF65-F5344CB8AC3E}">
        <p14:creationId xmlns:p14="http://schemas.microsoft.com/office/powerpoint/2010/main" val="2636565957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idx="1"/>
          </p:nvPr>
        </p:nvSpPr>
        <p:spPr>
          <a:xfrm>
            <a:off x="609600" y="1441218"/>
            <a:ext cx="10972800" cy="4924656"/>
          </a:xfrm>
        </p:spPr>
        <p:txBody>
          <a:bodyPr>
            <a:normAutofit/>
          </a:bodyPr>
          <a:lstStyle/>
          <a:p>
            <a:r>
              <a:rPr lang="en-AU" sz="2800" dirty="0"/>
              <a:t>Malicious clients can exploit a weakness in their normal connection with the server to gain unauthorized access, thus executing arbitrary commands on the server. </a:t>
            </a:r>
          </a:p>
          <a:p>
            <a:pPr lvl="1"/>
            <a:r>
              <a:rPr lang="en-AU" sz="2800" dirty="0"/>
              <a:t>e.g., we embed a weakness within a server program for our demo</a:t>
            </a:r>
          </a:p>
          <a:p>
            <a:pPr lvl="1"/>
            <a:endParaRPr lang="en-AU" dirty="0"/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913794" y="183918"/>
            <a:ext cx="10353762" cy="1257300"/>
          </a:xfrm>
        </p:spPr>
        <p:txBody>
          <a:bodyPr/>
          <a:lstStyle/>
          <a:p>
            <a:r>
              <a:rPr lang="en-AU" dirty="0"/>
              <a:t>Forward Shell</a:t>
            </a:r>
          </a:p>
        </p:txBody>
      </p:sp>
    </p:spTree>
    <p:extLst>
      <p:ext uri="{BB962C8B-B14F-4D97-AF65-F5344CB8AC3E}">
        <p14:creationId xmlns:p14="http://schemas.microsoft.com/office/powerpoint/2010/main" val="2338193120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ounded Rectangle 10">
            <a:extLst>
              <a:ext uri="{FF2B5EF4-FFF2-40B4-BE49-F238E27FC236}">
                <a16:creationId xmlns:a16="http://schemas.microsoft.com/office/drawing/2014/main" id="{EFF2A714-4BFE-4265-87E4-34F8FECB8F6F}"/>
              </a:ext>
            </a:extLst>
          </p:cNvPr>
          <p:cNvSpPr/>
          <p:nvPr/>
        </p:nvSpPr>
        <p:spPr>
          <a:xfrm>
            <a:off x="0" y="953894"/>
            <a:ext cx="4220308" cy="639549"/>
          </a:xfrm>
          <a:prstGeom prst="roundRect">
            <a:avLst/>
          </a:prstGeom>
          <a:noFill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b="1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1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</a:rPr>
              <a:t>How to run the demo </a:t>
            </a:r>
          </a:p>
        </p:txBody>
      </p:sp>
      <p:sp>
        <p:nvSpPr>
          <p:cNvPr id="6" name="Content Placeholder 1">
            <a:extLst>
              <a:ext uri="{FF2B5EF4-FFF2-40B4-BE49-F238E27FC236}">
                <a16:creationId xmlns:a16="http://schemas.microsoft.com/office/drawing/2014/main" id="{BCECF946-B0B0-4030-9A88-08D30D45E5B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0823" y="1538527"/>
            <a:ext cx="10353762" cy="4827347"/>
          </a:xfrm>
        </p:spPr>
        <p:txBody>
          <a:bodyPr>
            <a:normAutofit/>
          </a:bodyPr>
          <a:lstStyle/>
          <a:p>
            <a:r>
              <a:rPr lang="en-US" sz="2800" dirty="0">
                <a:effectLst/>
              </a:rPr>
              <a:t>One terminal runs an executable called server</a:t>
            </a:r>
          </a:p>
          <a:p>
            <a:pPr lvl="1"/>
            <a:r>
              <a:rPr lang="en-US" sz="2800" dirty="0" err="1">
                <a:effectLst/>
              </a:rPr>
              <a:t>sudo</a:t>
            </a:r>
            <a:r>
              <a:rPr lang="en-US" sz="2800" dirty="0">
                <a:effectLst/>
              </a:rPr>
              <a:t> ./victim</a:t>
            </a:r>
          </a:p>
          <a:p>
            <a:r>
              <a:rPr lang="en-US" sz="2800" dirty="0">
                <a:effectLst/>
              </a:rPr>
              <a:t>The other terminal runs an executable called hacker</a:t>
            </a:r>
          </a:p>
          <a:p>
            <a:pPr lvl="1"/>
            <a:r>
              <a:rPr lang="en-AU" sz="2800" dirty="0">
                <a:effectLst/>
              </a:rPr>
              <a:t>./hacker</a:t>
            </a:r>
          </a:p>
        </p:txBody>
      </p:sp>
      <p:sp>
        <p:nvSpPr>
          <p:cNvPr id="9" name="Title 3">
            <a:extLst>
              <a:ext uri="{FF2B5EF4-FFF2-40B4-BE49-F238E27FC236}">
                <a16:creationId xmlns:a16="http://schemas.microsoft.com/office/drawing/2014/main" id="{293D384D-F937-4C9C-84F5-46EB560B17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4" y="183918"/>
            <a:ext cx="10353762" cy="1088743"/>
          </a:xfrm>
        </p:spPr>
        <p:txBody>
          <a:bodyPr/>
          <a:lstStyle/>
          <a:p>
            <a:r>
              <a:rPr lang="en-AU" dirty="0"/>
              <a:t>Forward Shell</a:t>
            </a:r>
          </a:p>
        </p:txBody>
      </p:sp>
    </p:spTree>
    <p:extLst>
      <p:ext uri="{BB962C8B-B14F-4D97-AF65-F5344CB8AC3E}">
        <p14:creationId xmlns:p14="http://schemas.microsoft.com/office/powerpoint/2010/main" val="3162538860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ounded Rectangle 10">
            <a:extLst>
              <a:ext uri="{FF2B5EF4-FFF2-40B4-BE49-F238E27FC236}">
                <a16:creationId xmlns:a16="http://schemas.microsoft.com/office/drawing/2014/main" id="{EFF2A714-4BFE-4265-87E4-34F8FECB8F6F}"/>
              </a:ext>
            </a:extLst>
          </p:cNvPr>
          <p:cNvSpPr/>
          <p:nvPr/>
        </p:nvSpPr>
        <p:spPr>
          <a:xfrm>
            <a:off x="257908" y="1204674"/>
            <a:ext cx="2579077" cy="1068150"/>
          </a:xfrm>
          <a:prstGeom prst="roundRect">
            <a:avLst/>
          </a:prstGeom>
          <a:noFill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b="1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1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</a:rPr>
              <a:t>Demo </a:t>
            </a:r>
          </a:p>
        </p:txBody>
      </p:sp>
      <p:sp>
        <p:nvSpPr>
          <p:cNvPr id="9" name="Title 3">
            <a:extLst>
              <a:ext uri="{FF2B5EF4-FFF2-40B4-BE49-F238E27FC236}">
                <a16:creationId xmlns:a16="http://schemas.microsoft.com/office/drawing/2014/main" id="{7EE480CE-D865-44EE-88D9-277E031892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4" y="183918"/>
            <a:ext cx="10353762" cy="1088743"/>
          </a:xfrm>
        </p:spPr>
        <p:txBody>
          <a:bodyPr/>
          <a:lstStyle/>
          <a:p>
            <a:r>
              <a:rPr lang="en-AU" dirty="0"/>
              <a:t>Forward Shell</a:t>
            </a:r>
          </a:p>
        </p:txBody>
      </p:sp>
    </p:spTree>
    <p:extLst>
      <p:ext uri="{BB962C8B-B14F-4D97-AF65-F5344CB8AC3E}">
        <p14:creationId xmlns:p14="http://schemas.microsoft.com/office/powerpoint/2010/main" val="588833325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idx="1"/>
          </p:nvPr>
        </p:nvSpPr>
        <p:spPr>
          <a:xfrm>
            <a:off x="913795" y="1571625"/>
            <a:ext cx="10353762" cy="3714749"/>
          </a:xfrm>
        </p:spPr>
        <p:txBody>
          <a:bodyPr/>
          <a:lstStyle/>
          <a:p>
            <a:r>
              <a:rPr lang="en-AU" sz="2800" dirty="0"/>
              <a:t>In what malicious scenario forward shell is useful?</a:t>
            </a:r>
          </a:p>
          <a:p>
            <a:r>
              <a:rPr lang="en-AU" sz="2800" dirty="0"/>
              <a:t>What are possible methods we can use to mitigate forward shell?</a:t>
            </a:r>
          </a:p>
          <a:p>
            <a:endParaRPr lang="en-AU" dirty="0"/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913795" y="123825"/>
            <a:ext cx="10353762" cy="1257300"/>
          </a:xfrm>
        </p:spPr>
        <p:txBody>
          <a:bodyPr/>
          <a:lstStyle/>
          <a:p>
            <a:r>
              <a:rPr lang="en-AU" dirty="0"/>
              <a:t>Forward Shell</a:t>
            </a:r>
          </a:p>
        </p:txBody>
      </p:sp>
    </p:spTree>
    <p:extLst>
      <p:ext uri="{BB962C8B-B14F-4D97-AF65-F5344CB8AC3E}">
        <p14:creationId xmlns:p14="http://schemas.microsoft.com/office/powerpoint/2010/main" val="1239153211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idx="1"/>
          </p:nvPr>
        </p:nvSpPr>
        <p:spPr>
          <a:xfrm>
            <a:off x="913794" y="1571625"/>
            <a:ext cx="10888345" cy="3714749"/>
          </a:xfrm>
        </p:spPr>
        <p:txBody>
          <a:bodyPr>
            <a:normAutofit/>
          </a:bodyPr>
          <a:lstStyle/>
          <a:p>
            <a:r>
              <a:rPr lang="en-AU" sz="2800" dirty="0"/>
              <a:t>In what malicious scenario forward shell is useful?</a:t>
            </a:r>
          </a:p>
          <a:p>
            <a:pPr lvl="1"/>
            <a:r>
              <a:rPr lang="en-AU" sz="2800" dirty="0"/>
              <a:t>e.g., steal/delete/lock sensitive data stored in a high-value server such as UWA. </a:t>
            </a:r>
          </a:p>
          <a:p>
            <a:pPr lvl="1"/>
            <a:endParaRPr lang="en-AU" sz="2800" dirty="0"/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913795" y="123825"/>
            <a:ext cx="10353762" cy="1257300"/>
          </a:xfrm>
        </p:spPr>
        <p:txBody>
          <a:bodyPr/>
          <a:lstStyle/>
          <a:p>
            <a:r>
              <a:rPr lang="en-AU" dirty="0"/>
              <a:t>Forward Shell</a:t>
            </a:r>
          </a:p>
        </p:txBody>
      </p:sp>
    </p:spTree>
    <p:extLst>
      <p:ext uri="{BB962C8B-B14F-4D97-AF65-F5344CB8AC3E}">
        <p14:creationId xmlns:p14="http://schemas.microsoft.com/office/powerpoint/2010/main" val="2462658539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idx="1"/>
          </p:nvPr>
        </p:nvSpPr>
        <p:spPr>
          <a:xfrm>
            <a:off x="924443" y="1381125"/>
            <a:ext cx="10686310" cy="3714749"/>
          </a:xfrm>
        </p:spPr>
        <p:txBody>
          <a:bodyPr/>
          <a:lstStyle/>
          <a:p>
            <a:r>
              <a:rPr lang="en-AU" sz="2800" dirty="0"/>
              <a:t>In what scenarios forward shell is useful?</a:t>
            </a:r>
          </a:p>
          <a:p>
            <a:pPr lvl="1"/>
            <a:r>
              <a:rPr lang="en-AU" sz="2800" dirty="0"/>
              <a:t>e.g., steal/delete/lock sensitive data stored in a high-value server. </a:t>
            </a:r>
          </a:p>
          <a:p>
            <a:r>
              <a:rPr lang="en-AU" sz="2800" dirty="0"/>
              <a:t>What possible countermeasure can be used to mitigate forward shell?</a:t>
            </a:r>
          </a:p>
          <a:p>
            <a:pPr lvl="1"/>
            <a:endParaRPr lang="en-AU" sz="2800" dirty="0"/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913795" y="123825"/>
            <a:ext cx="10353762" cy="1257300"/>
          </a:xfrm>
        </p:spPr>
        <p:txBody>
          <a:bodyPr/>
          <a:lstStyle/>
          <a:p>
            <a:r>
              <a:rPr lang="en-AU" dirty="0"/>
              <a:t>Forward Shell</a:t>
            </a:r>
          </a:p>
        </p:txBody>
      </p:sp>
    </p:spTree>
    <p:extLst>
      <p:ext uri="{BB962C8B-B14F-4D97-AF65-F5344CB8AC3E}">
        <p14:creationId xmlns:p14="http://schemas.microsoft.com/office/powerpoint/2010/main" val="912776464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idx="1"/>
          </p:nvPr>
        </p:nvSpPr>
        <p:spPr>
          <a:xfrm>
            <a:off x="924443" y="1381125"/>
            <a:ext cx="10686310" cy="3714749"/>
          </a:xfrm>
        </p:spPr>
        <p:txBody>
          <a:bodyPr/>
          <a:lstStyle/>
          <a:p>
            <a:r>
              <a:rPr lang="en-AU" sz="2800" dirty="0"/>
              <a:t>In what scenarios forward shell is useful?</a:t>
            </a:r>
          </a:p>
          <a:p>
            <a:pPr lvl="1"/>
            <a:r>
              <a:rPr lang="en-AU" sz="2800" dirty="0"/>
              <a:t>e.g., steal/delete/lock sensitive data stored in a high-value server. </a:t>
            </a:r>
          </a:p>
          <a:p>
            <a:r>
              <a:rPr lang="en-AU" sz="2800" dirty="0"/>
              <a:t>What possible countermeasure can be used to mitigate forward shell?</a:t>
            </a:r>
          </a:p>
          <a:p>
            <a:pPr lvl="1"/>
            <a:r>
              <a:rPr lang="en-AU" sz="2800" dirty="0"/>
              <a:t>e.g., test a server software to identify weaknesses, and apply regular security patches to the software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913795" y="123825"/>
            <a:ext cx="10353762" cy="1257300"/>
          </a:xfrm>
        </p:spPr>
        <p:txBody>
          <a:bodyPr/>
          <a:lstStyle/>
          <a:p>
            <a:r>
              <a:rPr lang="en-AU" dirty="0"/>
              <a:t>Forward Shell</a:t>
            </a:r>
          </a:p>
        </p:txBody>
      </p:sp>
    </p:spTree>
    <p:extLst>
      <p:ext uri="{BB962C8B-B14F-4D97-AF65-F5344CB8AC3E}">
        <p14:creationId xmlns:p14="http://schemas.microsoft.com/office/powerpoint/2010/main" val="2114615250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idx="1"/>
          </p:nvPr>
        </p:nvSpPr>
        <p:spPr>
          <a:xfrm>
            <a:off x="988405" y="1219200"/>
            <a:ext cx="10353762" cy="4667249"/>
          </a:xfrm>
        </p:spPr>
        <p:txBody>
          <a:bodyPr>
            <a:normAutofit/>
          </a:bodyPr>
          <a:lstStyle/>
          <a:p>
            <a:r>
              <a:rPr lang="en-AU" sz="2800" dirty="0"/>
              <a:t>A malicious server lures victim clients (victims) for connection</a:t>
            </a:r>
          </a:p>
          <a:p>
            <a:pPr lvl="1"/>
            <a:r>
              <a:rPr lang="en-AU" sz="2800" dirty="0"/>
              <a:t>e.g., we craft a vulnerability within a client program for our demo 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1561495" y="0"/>
            <a:ext cx="8725505" cy="1257300"/>
          </a:xfrm>
        </p:spPr>
        <p:txBody>
          <a:bodyPr/>
          <a:lstStyle/>
          <a:p>
            <a:r>
              <a:rPr lang="en-AU" dirty="0"/>
              <a:t>Reverse Shell</a:t>
            </a:r>
          </a:p>
        </p:txBody>
      </p:sp>
    </p:spTree>
    <p:extLst>
      <p:ext uri="{BB962C8B-B14F-4D97-AF65-F5344CB8AC3E}">
        <p14:creationId xmlns:p14="http://schemas.microsoft.com/office/powerpoint/2010/main" val="1143142775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1">
            <a:extLst>
              <a:ext uri="{FF2B5EF4-FFF2-40B4-BE49-F238E27FC236}">
                <a16:creationId xmlns:a16="http://schemas.microsoft.com/office/drawing/2014/main" id="{08106222-633E-4F94-9E9F-49816C6A13D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32865" y="951616"/>
            <a:ext cx="10726270" cy="1701209"/>
          </a:xfrm>
        </p:spPr>
        <p:txBody>
          <a:bodyPr>
            <a:normAutofit/>
          </a:bodyPr>
          <a:lstStyle/>
          <a:p>
            <a:pPr marL="450000" lvl="1" indent="0">
              <a:buNone/>
            </a:pPr>
            <a:endParaRPr lang="en-AU" sz="2800" dirty="0"/>
          </a:p>
          <a:p>
            <a:pPr marL="450000" lvl="1" indent="0">
              <a:buNone/>
            </a:pPr>
            <a:r>
              <a:rPr lang="en-AU" sz="2800" b="1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</a:rPr>
              <a:t>Demo</a:t>
            </a:r>
            <a:endParaRPr lang="en-AU" sz="2800" dirty="0"/>
          </a:p>
          <a:p>
            <a:pPr marL="810000" lvl="2" indent="0">
              <a:buNone/>
            </a:pPr>
            <a:endParaRPr lang="en-AU" sz="2800" dirty="0"/>
          </a:p>
        </p:txBody>
      </p:sp>
      <p:sp>
        <p:nvSpPr>
          <p:cNvPr id="7" name="Title 3">
            <a:extLst>
              <a:ext uri="{FF2B5EF4-FFF2-40B4-BE49-F238E27FC236}">
                <a16:creationId xmlns:a16="http://schemas.microsoft.com/office/drawing/2014/main" id="{7AF2CD78-8763-4C94-B120-CC8C0B08A8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61495" y="0"/>
            <a:ext cx="8725505" cy="1257300"/>
          </a:xfrm>
        </p:spPr>
        <p:txBody>
          <a:bodyPr/>
          <a:lstStyle/>
          <a:p>
            <a:r>
              <a:rPr lang="en-AU" dirty="0"/>
              <a:t>Reverse Shell</a:t>
            </a:r>
          </a:p>
        </p:txBody>
      </p:sp>
    </p:spTree>
    <p:extLst>
      <p:ext uri="{BB962C8B-B14F-4D97-AF65-F5344CB8AC3E}">
        <p14:creationId xmlns:p14="http://schemas.microsoft.com/office/powerpoint/2010/main" val="2507478080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idx="1"/>
          </p:nvPr>
        </p:nvSpPr>
        <p:spPr>
          <a:xfrm>
            <a:off x="761395" y="1866900"/>
            <a:ext cx="10353762" cy="3714749"/>
          </a:xfrm>
        </p:spPr>
        <p:txBody>
          <a:bodyPr>
            <a:normAutofit/>
          </a:bodyPr>
          <a:lstStyle/>
          <a:p>
            <a:r>
              <a:rPr lang="en-AU" sz="2800" dirty="0"/>
              <a:t>Is reverse shell as easy as forward shell? Why?</a:t>
            </a:r>
          </a:p>
          <a:p>
            <a:r>
              <a:rPr lang="en-AU" sz="2800" dirty="0"/>
              <a:t>Can mitigations for forward shell be used for reverse shell? Why?</a:t>
            </a:r>
          </a:p>
          <a:p>
            <a:endParaRPr lang="en-AU" dirty="0"/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919119" y="19051"/>
            <a:ext cx="10353762" cy="1257300"/>
          </a:xfrm>
        </p:spPr>
        <p:txBody>
          <a:bodyPr/>
          <a:lstStyle/>
          <a:p>
            <a:r>
              <a:rPr lang="en-AU" dirty="0"/>
              <a:t>Reverse Shell</a:t>
            </a:r>
          </a:p>
        </p:txBody>
      </p:sp>
    </p:spTree>
    <p:extLst>
      <p:ext uri="{BB962C8B-B14F-4D97-AF65-F5344CB8AC3E}">
        <p14:creationId xmlns:p14="http://schemas.microsoft.com/office/powerpoint/2010/main" val="3601544358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idx="1"/>
          </p:nvPr>
        </p:nvSpPr>
        <p:spPr>
          <a:xfrm>
            <a:off x="761395" y="1866900"/>
            <a:ext cx="10353762" cy="3714749"/>
          </a:xfrm>
        </p:spPr>
        <p:txBody>
          <a:bodyPr>
            <a:normAutofit/>
          </a:bodyPr>
          <a:lstStyle/>
          <a:p>
            <a:r>
              <a:rPr lang="en-AU" sz="2800" dirty="0"/>
              <a:t>Is reverse shell as easy as forward shell? Why?</a:t>
            </a:r>
          </a:p>
          <a:p>
            <a:pPr lvl="1"/>
            <a:r>
              <a:rPr lang="en-AU" sz="2800" dirty="0"/>
              <a:t>No, e.g., a high-value server might enforce more strict security polices, compared to a client.</a:t>
            </a:r>
          </a:p>
          <a:p>
            <a:endParaRPr lang="en-AU" dirty="0"/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919119" y="19051"/>
            <a:ext cx="10353762" cy="1257300"/>
          </a:xfrm>
        </p:spPr>
        <p:txBody>
          <a:bodyPr/>
          <a:lstStyle/>
          <a:p>
            <a:r>
              <a:rPr lang="en-AU" dirty="0"/>
              <a:t>Reverse Shell</a:t>
            </a:r>
          </a:p>
        </p:txBody>
      </p:sp>
    </p:spTree>
    <p:extLst>
      <p:ext uri="{BB962C8B-B14F-4D97-AF65-F5344CB8AC3E}">
        <p14:creationId xmlns:p14="http://schemas.microsoft.com/office/powerpoint/2010/main" val="3860468814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idx="1"/>
          </p:nvPr>
        </p:nvSpPr>
        <p:spPr>
          <a:xfrm>
            <a:off x="761395" y="1866900"/>
            <a:ext cx="10353762" cy="3714749"/>
          </a:xfrm>
        </p:spPr>
        <p:txBody>
          <a:bodyPr>
            <a:normAutofit/>
          </a:bodyPr>
          <a:lstStyle/>
          <a:p>
            <a:r>
              <a:rPr lang="en-AU" sz="2800" dirty="0"/>
              <a:t>Is reverse shell as easy as forward shell? Why?</a:t>
            </a:r>
          </a:p>
          <a:p>
            <a:pPr lvl="1"/>
            <a:r>
              <a:rPr lang="en-AU" sz="2800" dirty="0"/>
              <a:t>No, e.g., a high-value server might enforce more strict security polices, compared to a client.</a:t>
            </a:r>
          </a:p>
          <a:p>
            <a:r>
              <a:rPr lang="en-AU" sz="2800" dirty="0"/>
              <a:t>Can mitigations for forward shell be used for reverse shell? Why?</a:t>
            </a:r>
          </a:p>
          <a:p>
            <a:endParaRPr lang="en-AU" sz="2800" dirty="0"/>
          </a:p>
          <a:p>
            <a:endParaRPr lang="en-AU" dirty="0"/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919119" y="19051"/>
            <a:ext cx="10353762" cy="1257300"/>
          </a:xfrm>
        </p:spPr>
        <p:txBody>
          <a:bodyPr/>
          <a:lstStyle/>
          <a:p>
            <a:r>
              <a:rPr lang="en-AU" dirty="0"/>
              <a:t>Reverse Shell</a:t>
            </a:r>
          </a:p>
        </p:txBody>
      </p:sp>
    </p:spTree>
    <p:extLst>
      <p:ext uri="{BB962C8B-B14F-4D97-AF65-F5344CB8AC3E}">
        <p14:creationId xmlns:p14="http://schemas.microsoft.com/office/powerpoint/2010/main" val="2695140818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idx="1"/>
          </p:nvPr>
        </p:nvSpPr>
        <p:spPr>
          <a:xfrm>
            <a:off x="761395" y="1866900"/>
            <a:ext cx="10353762" cy="3714749"/>
          </a:xfrm>
        </p:spPr>
        <p:txBody>
          <a:bodyPr>
            <a:normAutofit/>
          </a:bodyPr>
          <a:lstStyle/>
          <a:p>
            <a:r>
              <a:rPr lang="en-AU" sz="2800" dirty="0"/>
              <a:t>Is reverse shell as easy as forward shell? Why?</a:t>
            </a:r>
          </a:p>
          <a:p>
            <a:pPr lvl="1"/>
            <a:r>
              <a:rPr lang="en-AU" sz="2800" dirty="0"/>
              <a:t>No, e.g., a high-value server might enforce more strict security polices, compared to a client.</a:t>
            </a:r>
          </a:p>
          <a:p>
            <a:r>
              <a:rPr lang="en-AU" sz="2800" dirty="0"/>
              <a:t>Can mitigations for forward shell be used for reverse shell? Why?</a:t>
            </a:r>
          </a:p>
          <a:p>
            <a:pPr lvl="1"/>
            <a:r>
              <a:rPr lang="en-AU" sz="2800" dirty="0"/>
              <a:t>Yes, e.g., regular security patches to software</a:t>
            </a:r>
            <a:endParaRPr lang="en-US" sz="2800" dirty="0"/>
          </a:p>
          <a:p>
            <a:endParaRPr lang="en-AU" sz="2800" dirty="0"/>
          </a:p>
          <a:p>
            <a:endParaRPr lang="en-AU" dirty="0"/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919119" y="19051"/>
            <a:ext cx="10353762" cy="1257300"/>
          </a:xfrm>
        </p:spPr>
        <p:txBody>
          <a:bodyPr/>
          <a:lstStyle/>
          <a:p>
            <a:r>
              <a:rPr lang="en-AU" dirty="0"/>
              <a:t>Reverse Shell</a:t>
            </a:r>
          </a:p>
        </p:txBody>
      </p:sp>
    </p:spTree>
    <p:extLst>
      <p:ext uri="{BB962C8B-B14F-4D97-AF65-F5344CB8AC3E}">
        <p14:creationId xmlns:p14="http://schemas.microsoft.com/office/powerpoint/2010/main" val="2323148058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SlateVTI">
  <a:themeElements>
    <a:clrScheme name="AnalogousFromDarkSeedLeftStep">
      <a:dk1>
        <a:srgbClr val="000000"/>
      </a:dk1>
      <a:lt1>
        <a:srgbClr val="FFFFFF"/>
      </a:lt1>
      <a:dk2>
        <a:srgbClr val="243541"/>
      </a:dk2>
      <a:lt2>
        <a:srgbClr val="E4E8E2"/>
      </a:lt2>
      <a:accent1>
        <a:srgbClr val="A629E7"/>
      </a:accent1>
      <a:accent2>
        <a:srgbClr val="6640DC"/>
      </a:accent2>
      <a:accent3>
        <a:srgbClr val="2F4FE7"/>
      </a:accent3>
      <a:accent4>
        <a:srgbClr val="1787D5"/>
      </a:accent4>
      <a:accent5>
        <a:srgbClr val="20B6B5"/>
      </a:accent5>
      <a:accent6>
        <a:srgbClr val="14B973"/>
      </a:accent6>
      <a:hlink>
        <a:srgbClr val="358E9F"/>
      </a:hlink>
      <a:folHlink>
        <a:srgbClr val="7F7F7F"/>
      </a:folHlink>
    </a:clrScheme>
    <a:fontScheme name="Slate">
      <a:majorFont>
        <a:latin typeface="Georgia Pro Cond Light" panose="02040603050505030304"/>
        <a:ea typeface=""/>
        <a:cs typeface=""/>
        <a:font script="Jpan" typeface="ＭＳ Ｐゴシック"/>
        <a:font script="Hang" typeface="돋움"/>
        <a:font script="Hans" typeface="方正舒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Speak Pro" panose="02040603050505030304"/>
        <a:ea typeface=""/>
        <a:cs typeface=""/>
        <a:font script="Jpan" typeface="ＭＳ Ｐゴシック"/>
        <a:font script="Hang" typeface="돋움"/>
        <a:font script="Hans" typeface="方正舒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Slate">
      <a:fillStyleLst>
        <a:solidFill>
          <a:schemeClr val="phClr"/>
        </a:solidFill>
        <a:gradFill rotWithShape="1">
          <a:gsLst>
            <a:gs pos="0">
              <a:schemeClr val="phClr">
                <a:tint val="60000"/>
                <a:lumMod val="110000"/>
              </a:schemeClr>
            </a:gs>
            <a:gs pos="100000">
              <a:schemeClr val="phClr">
                <a:tint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4000"/>
              </a:schemeClr>
            </a:gs>
            <a:gs pos="100000">
              <a:schemeClr val="phClr">
                <a:shade val="90000"/>
                <a:lumMod val="90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>
              <a:shade val="90000"/>
            </a:schemeClr>
          </a:solidFill>
          <a:prstDash val="solid"/>
        </a:ln>
        <a:ln w="15875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63500" dist="25400" dir="5400000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76200" dist="38100" dir="5400000" rotWithShape="0">
              <a:srgbClr val="000000">
                <a:alpha val="7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 prst="hardEdge"/>
          </a:sp3d>
        </a:effectStyle>
      </a:effectStyleLst>
      <a:bgFillStyleLst>
        <a:solidFill>
          <a:schemeClr val="phClr"/>
        </a:solidFill>
        <a:solidFill>
          <a:schemeClr val="phClr"/>
        </a:solidFill>
        <a:blipFill rotWithShape="1">
          <a:blip xmlns:r="http://schemas.openxmlformats.org/officeDocument/2006/relationships" r:embed="rId1">
            <a:duotone>
              <a:schemeClr val="phClr">
                <a:shade val="80000"/>
                <a:lumMod val="80000"/>
              </a:schemeClr>
              <a:schemeClr val="phClr">
                <a:tint val="98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SlateVTI" id="{35C4A07C-0176-4A32-9BCB-B016516853F0}" vid="{9B70D35C-BCA8-4715-BB49-8BE54A7FC07C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NoStarch</Template>
  <TotalTime>0</TotalTime>
  <Words>2092</Words>
  <Application>Microsoft Office PowerPoint</Application>
  <PresentationFormat>Widescreen</PresentationFormat>
  <Paragraphs>318</Paragraphs>
  <Slides>53</Slides>
  <Notes>53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53</vt:i4>
      </vt:variant>
    </vt:vector>
  </HeadingPairs>
  <TitlesOfParts>
    <vt:vector size="59" baseType="lpstr">
      <vt:lpstr>Arial</vt:lpstr>
      <vt:lpstr>Calibri</vt:lpstr>
      <vt:lpstr>Georgia Pro Cond Light</vt:lpstr>
      <vt:lpstr>Speak Pro</vt:lpstr>
      <vt:lpstr>Wingdings 2</vt:lpstr>
      <vt:lpstr>SlateVTI</vt:lpstr>
      <vt:lpstr>CITS1003 Introduction to Cybersecurity [3] Introduction to Computers and Networks exercises</vt:lpstr>
      <vt:lpstr>PowerPoint Presentation</vt:lpstr>
      <vt:lpstr>Sniffing</vt:lpstr>
      <vt:lpstr>Sniffing</vt:lpstr>
      <vt:lpstr>Sniffing</vt:lpstr>
      <vt:lpstr>Sniffing</vt:lpstr>
      <vt:lpstr>Sniffing</vt:lpstr>
      <vt:lpstr>Sniffing</vt:lpstr>
      <vt:lpstr>Sniffing</vt:lpstr>
      <vt:lpstr>PowerPoint Presentation</vt:lpstr>
      <vt:lpstr>Sniffing</vt:lpstr>
      <vt:lpstr>Sniffing</vt:lpstr>
      <vt:lpstr>Updating</vt:lpstr>
      <vt:lpstr>IP Address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Updating</vt:lpstr>
      <vt:lpstr>Updating</vt:lpstr>
      <vt:lpstr>Compiling</vt:lpstr>
      <vt:lpstr>Compiling</vt:lpstr>
      <vt:lpstr>Compiling</vt:lpstr>
      <vt:lpstr>PowerPoint Presentation</vt:lpstr>
      <vt:lpstr>PowerPoint Presentation</vt:lpstr>
      <vt:lpstr>Sniffing</vt:lpstr>
      <vt:lpstr>Sniffing</vt:lpstr>
      <vt:lpstr>Sniffing</vt:lpstr>
      <vt:lpstr>Sniffing</vt:lpstr>
      <vt:lpstr>Sniffing</vt:lpstr>
      <vt:lpstr>Sniffing</vt:lpstr>
      <vt:lpstr>Remote Shell</vt:lpstr>
      <vt:lpstr>Remote Communication</vt:lpstr>
      <vt:lpstr>Updating</vt:lpstr>
      <vt:lpstr>Compiling</vt:lpstr>
      <vt:lpstr>Remote Communication</vt:lpstr>
      <vt:lpstr>Remote Communication</vt:lpstr>
      <vt:lpstr>Remote Shell</vt:lpstr>
      <vt:lpstr>Forward Shell</vt:lpstr>
      <vt:lpstr>Forward Shell</vt:lpstr>
      <vt:lpstr>Forward Shell</vt:lpstr>
      <vt:lpstr>Forward Shell</vt:lpstr>
      <vt:lpstr>Forward Shell</vt:lpstr>
      <vt:lpstr>Forward Shell</vt:lpstr>
      <vt:lpstr>Forward Shell</vt:lpstr>
      <vt:lpstr>Reverse Shell</vt:lpstr>
      <vt:lpstr>Reverse Shell</vt:lpstr>
      <vt:lpstr>Reverse Shell</vt:lpstr>
      <vt:lpstr>Reverse Shell</vt:lpstr>
      <vt:lpstr>Reverse Shell</vt:lpstr>
      <vt:lpstr>Reverse Shell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/>
  <cp:revision>1</cp:revision>
  <dcterms:created xsi:type="dcterms:W3CDTF">2026-03-09T03:48:14Z</dcterms:created>
  <dcterms:modified xsi:type="dcterms:W3CDTF">2026-03-09T03:48:41Z</dcterms:modified>
</cp:coreProperties>
</file>