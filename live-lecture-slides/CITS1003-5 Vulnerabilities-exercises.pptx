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763" r:id="rId1"/>
  </p:sldMasterIdLst>
  <p:notesMasterIdLst>
    <p:notesMasterId r:id="rId65"/>
  </p:notesMasterIdLst>
  <p:sldIdLst>
    <p:sldId id="256" r:id="rId2"/>
    <p:sldId id="259" r:id="rId3"/>
    <p:sldId id="265" r:id="rId4"/>
    <p:sldId id="257" r:id="rId5"/>
    <p:sldId id="1471" r:id="rId6"/>
    <p:sldId id="1472" r:id="rId7"/>
    <p:sldId id="1473" r:id="rId8"/>
    <p:sldId id="349" r:id="rId9"/>
    <p:sldId id="1477" r:id="rId10"/>
    <p:sldId id="1474" r:id="rId11"/>
    <p:sldId id="270" r:id="rId12"/>
    <p:sldId id="332" r:id="rId13"/>
    <p:sldId id="272" r:id="rId14"/>
    <p:sldId id="274" r:id="rId15"/>
    <p:sldId id="275" r:id="rId16"/>
    <p:sldId id="342" r:id="rId17"/>
    <p:sldId id="343" r:id="rId18"/>
    <p:sldId id="345" r:id="rId19"/>
    <p:sldId id="276" r:id="rId20"/>
    <p:sldId id="279" r:id="rId21"/>
    <p:sldId id="334" r:id="rId22"/>
    <p:sldId id="333" r:id="rId23"/>
    <p:sldId id="286" r:id="rId24"/>
    <p:sldId id="350" r:id="rId25"/>
    <p:sldId id="282" r:id="rId26"/>
    <p:sldId id="284" r:id="rId27"/>
    <p:sldId id="283" r:id="rId28"/>
    <p:sldId id="288" r:id="rId29"/>
    <p:sldId id="280" r:id="rId30"/>
    <p:sldId id="290" r:id="rId31"/>
    <p:sldId id="281" r:id="rId32"/>
    <p:sldId id="335" r:id="rId33"/>
    <p:sldId id="289" r:id="rId34"/>
    <p:sldId id="315" r:id="rId35"/>
    <p:sldId id="291" r:id="rId36"/>
    <p:sldId id="263" r:id="rId37"/>
    <p:sldId id="292" r:id="rId38"/>
    <p:sldId id="293" r:id="rId39"/>
    <p:sldId id="294" r:id="rId40"/>
    <p:sldId id="336" r:id="rId41"/>
    <p:sldId id="351" r:id="rId42"/>
    <p:sldId id="277" r:id="rId43"/>
    <p:sldId id="278" r:id="rId44"/>
    <p:sldId id="339" r:id="rId45"/>
    <p:sldId id="341" r:id="rId46"/>
    <p:sldId id="1475" r:id="rId47"/>
    <p:sldId id="1476" r:id="rId48"/>
    <p:sldId id="340" r:id="rId49"/>
    <p:sldId id="338" r:id="rId50"/>
    <p:sldId id="296" r:id="rId51"/>
    <p:sldId id="299" r:id="rId52"/>
    <p:sldId id="300" r:id="rId53"/>
    <p:sldId id="301" r:id="rId54"/>
    <p:sldId id="302" r:id="rId55"/>
    <p:sldId id="303" r:id="rId56"/>
    <p:sldId id="304" r:id="rId57"/>
    <p:sldId id="307" r:id="rId58"/>
    <p:sldId id="308" r:id="rId59"/>
    <p:sldId id="309" r:id="rId60"/>
    <p:sldId id="312" r:id="rId61"/>
    <p:sldId id="313" r:id="rId62"/>
    <p:sldId id="337" r:id="rId63"/>
    <p:sldId id="331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618" autoAdjust="0"/>
    <p:restoredTop sz="54237" autoAdjust="0"/>
  </p:normalViewPr>
  <p:slideViewPr>
    <p:cSldViewPr snapToGrid="0" snapToObjects="1">
      <p:cViewPr varScale="1">
        <p:scale>
          <a:sx n="38" d="100"/>
          <a:sy n="38" d="100"/>
        </p:scale>
        <p:origin x="130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23/03/2026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08381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86879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6304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742417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1662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2139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7F8DB4-A4FF-4A8B-9A85-9B1874A58FCC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77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479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12467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943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168480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2214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67366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15432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06473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49255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12272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91319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3320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766511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64589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995500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3984362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41604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6547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528042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7680598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982624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00362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70228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5688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4863026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6799851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844940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794005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4172037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532379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01740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43554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206678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941752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7898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12216350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1732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789051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65020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67130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64013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475735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766180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474192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6412921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81424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134569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5297039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820902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9974293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7786749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550046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709974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492914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619021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5237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3/23/2026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2202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56201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[5] Vulnerabilities and Controls exercises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4390818"/>
            <a:ext cx="7219954" cy="104986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20D1FF"/>
                </a:solidFill>
              </a:rPr>
              <a:t>Dr </a:t>
            </a:r>
            <a:r>
              <a:rPr lang="en-US" dirty="0" err="1">
                <a:solidFill>
                  <a:srgbClr val="20D1FF"/>
                </a:solidFill>
              </a:rPr>
              <a:t>Zhi</a:t>
            </a:r>
            <a:r>
              <a:rPr lang="en-US" dirty="0">
                <a:solidFill>
                  <a:srgbClr val="20D1FF"/>
                </a:solidFill>
              </a:rPr>
              <a:t> Zhang</a:t>
            </a: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F3567-5243-45BC-9C25-261D8502A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52" y="884464"/>
            <a:ext cx="10353762" cy="4716236"/>
          </a:xfrm>
        </p:spPr>
        <p:txBody>
          <a:bodyPr>
            <a:normAutofit/>
          </a:bodyPr>
          <a:lstStyle/>
          <a:p>
            <a:r>
              <a:rPr lang="en-AU" sz="2800" dirty="0"/>
              <a:t>DVWA (Damn Vulnerable Web Application)</a:t>
            </a:r>
          </a:p>
          <a:p>
            <a:r>
              <a:rPr lang="en-AU" sz="2800" dirty="0"/>
              <a:t>Popular Web Attacks</a:t>
            </a:r>
          </a:p>
          <a:p>
            <a:pPr lvl="1"/>
            <a:r>
              <a:rPr lang="en-AU" sz="2800" dirty="0"/>
              <a:t>SQLi (SQL injection)</a:t>
            </a:r>
          </a:p>
          <a:p>
            <a:pPr lvl="1"/>
            <a:r>
              <a:rPr lang="en-AU" sz="2800" dirty="0"/>
              <a:t>Command Injection</a:t>
            </a:r>
          </a:p>
        </p:txBody>
      </p:sp>
    </p:spTree>
    <p:extLst>
      <p:ext uri="{BB962C8B-B14F-4D97-AF65-F5344CB8AC3E}">
        <p14:creationId xmlns:p14="http://schemas.microsoft.com/office/powerpoint/2010/main" val="1317409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0AFEE-9BA0-49B2-8E80-120D4C9AE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5564-A45F-4208-A8B7-B2082F977B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33" y="5828226"/>
            <a:ext cx="5910943" cy="797379"/>
          </a:xfrm>
        </p:spPr>
        <p:txBody>
          <a:bodyPr>
            <a:normAutofit fontScale="92500"/>
          </a:bodyPr>
          <a:lstStyle/>
          <a:p>
            <a:pPr marL="450000" lvl="1" indent="0">
              <a:buNone/>
            </a:pPr>
            <a:r>
              <a:rPr lang="en-AU" sz="3000" b="1" dirty="0"/>
              <a:t>https://github.com/digininja/DVWA</a:t>
            </a:r>
          </a:p>
          <a:p>
            <a:pPr lvl="1"/>
            <a:endParaRPr lang="en-AU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923DB4-A8C2-4E3D-AA3B-29697B11B0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660" y="1080855"/>
            <a:ext cx="10500896" cy="460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1369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66C9-9953-486E-B29D-0D1AE00C8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54790"/>
          </a:xfrm>
        </p:spPr>
        <p:txBody>
          <a:bodyPr/>
          <a:lstStyle/>
          <a:p>
            <a:r>
              <a:rPr lang="en-AU" dirty="0"/>
              <a:t>Deploying 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1C66-7170-4286-85E0-E9A193076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107" y="1054790"/>
            <a:ext cx="11655893" cy="3714749"/>
          </a:xfrm>
        </p:spPr>
        <p:txBody>
          <a:bodyPr>
            <a:noAutofit/>
          </a:bodyPr>
          <a:lstStyle/>
          <a:p>
            <a:r>
              <a:rPr lang="en-AU" sz="2800" dirty="0"/>
              <a:t>Docker image is available:</a:t>
            </a:r>
          </a:p>
          <a:p>
            <a:pPr lvl="1"/>
            <a:r>
              <a:rPr lang="en-AU" sz="2800" dirty="0">
                <a:solidFill>
                  <a:srgbClr val="92D050"/>
                </a:solidFill>
              </a:rPr>
              <a:t>https://hub.docker.com/r/vulnerables/web-dvwa</a:t>
            </a:r>
          </a:p>
          <a:p>
            <a:r>
              <a:rPr lang="en-AU" sz="2800" dirty="0"/>
              <a:t>Run this image in your VM:</a:t>
            </a:r>
          </a:p>
          <a:p>
            <a:pPr lvl="1"/>
            <a:r>
              <a:rPr lang="en-AU" sz="2800" dirty="0"/>
              <a:t>docker run --rm -it -p 80:80 </a:t>
            </a:r>
            <a:r>
              <a:rPr lang="en-AU" sz="2800" dirty="0" err="1"/>
              <a:t>vulnerables</a:t>
            </a:r>
            <a:r>
              <a:rPr lang="en-AU" sz="2800" dirty="0"/>
              <a:t>/web-</a:t>
            </a:r>
            <a:r>
              <a:rPr lang="en-AU" sz="2800" dirty="0" err="1"/>
              <a:t>dvwa</a:t>
            </a:r>
            <a:endParaRPr lang="en-AU" sz="2800" dirty="0"/>
          </a:p>
          <a:p>
            <a:r>
              <a:rPr lang="en-AU" sz="2800" dirty="0"/>
              <a:t>What is Network Port?</a:t>
            </a:r>
          </a:p>
          <a:p>
            <a:pPr marL="810000" lvl="2" indent="0">
              <a:buNone/>
            </a:pPr>
            <a:endParaRPr lang="en-AU" sz="2600" dirty="0"/>
          </a:p>
        </p:txBody>
      </p:sp>
    </p:spTree>
    <p:extLst>
      <p:ext uri="{BB962C8B-B14F-4D97-AF65-F5344CB8AC3E}">
        <p14:creationId xmlns:p14="http://schemas.microsoft.com/office/powerpoint/2010/main" val="2621613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14286" y="128352"/>
            <a:ext cx="5780306" cy="563312"/>
          </a:xfrm>
        </p:spPr>
        <p:txBody>
          <a:bodyPr>
            <a:normAutofit fontScale="90000"/>
          </a:bodyPr>
          <a:lstStyle/>
          <a:p>
            <a:r>
              <a:rPr lang="en-US" dirty="0"/>
              <a:t>IP Address and Network Port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006" y="1060224"/>
            <a:ext cx="11432344" cy="3718810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An IP address identifies a device on the network.</a:t>
            </a:r>
          </a:p>
          <a:p>
            <a:pPr algn="l"/>
            <a:r>
              <a:rPr lang="en-US" sz="2400" dirty="0"/>
              <a:t>A networked device can run different application protocols</a:t>
            </a:r>
          </a:p>
          <a:p>
            <a:pPr algn="l"/>
            <a:r>
              <a:rPr lang="en-US" sz="2400" dirty="0"/>
              <a:t>An application protocol defines rules for web applications on different devices to communicate over the network.</a:t>
            </a:r>
          </a:p>
          <a:p>
            <a:pPr algn="l"/>
            <a:r>
              <a:rPr lang="en-US" sz="2400" dirty="0"/>
              <a:t>A network port identifies a specific application protocol running on a networked device</a:t>
            </a:r>
            <a:r>
              <a:rPr lang="en-AU" sz="2400" dirty="0"/>
              <a:t>.</a:t>
            </a:r>
          </a:p>
          <a:p>
            <a:pPr lvl="1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770056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14286" y="128352"/>
            <a:ext cx="5780306" cy="563312"/>
          </a:xfrm>
        </p:spPr>
        <p:txBody>
          <a:bodyPr>
            <a:normAutofit fontScale="90000"/>
          </a:bodyPr>
          <a:lstStyle/>
          <a:p>
            <a:r>
              <a:rPr lang="en-US" dirty="0"/>
              <a:t>IP Address and Network Port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3" y="1060224"/>
            <a:ext cx="12155779" cy="3718810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A network port is identified by a number, the port number.</a:t>
            </a:r>
          </a:p>
          <a:p>
            <a:pPr algn="l"/>
            <a:r>
              <a:rPr lang="en-US" sz="2400" dirty="0"/>
              <a:t>There are some port numbers which are usually allocated for specific </a:t>
            </a:r>
            <a:r>
              <a:rPr lang="en-AU" sz="2400" dirty="0"/>
              <a:t>application protocols as their destination ports.</a:t>
            </a:r>
          </a:p>
          <a:p>
            <a:pPr lvl="1"/>
            <a:r>
              <a:rPr lang="en-AU" sz="2400" dirty="0"/>
              <a:t>e.g., </a:t>
            </a:r>
          </a:p>
          <a:p>
            <a:pPr lvl="1"/>
            <a:endParaRPr lang="en-AU" dirty="0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D641FEDF-93E1-46AE-A159-8575C2453D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697277"/>
              </p:ext>
            </p:extLst>
          </p:nvPr>
        </p:nvGraphicFramePr>
        <p:xfrm>
          <a:off x="2032000" y="3250748"/>
          <a:ext cx="8128000" cy="22964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09848292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116458"/>
                    </a:ext>
                  </a:extLst>
                </a:gridCol>
              </a:tblGrid>
              <a:tr h="679886">
                <a:tc>
                  <a:txBody>
                    <a:bodyPr/>
                    <a:lstStyle/>
                    <a:p>
                      <a:pPr algn="ctr"/>
                      <a:r>
                        <a:rPr lang="en-AU" sz="2400" b="1" dirty="0">
                          <a:solidFill>
                            <a:schemeClr val="tx1"/>
                          </a:solidFill>
                        </a:rPr>
                        <a:t>Application Protocols</a:t>
                      </a:r>
                      <a:endParaRPr lang="en-AU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400" dirty="0">
                          <a:solidFill>
                            <a:schemeClr val="tx1"/>
                          </a:solidFill>
                        </a:rPr>
                        <a:t>Default Port Numbers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2241401"/>
                  </a:ext>
                </a:extLst>
              </a:tr>
              <a:tr h="545829">
                <a:tc>
                  <a:txBody>
                    <a:bodyPr/>
                    <a:lstStyle/>
                    <a:p>
                      <a:pPr algn="ctr"/>
                      <a:r>
                        <a:rPr lang="en-AU" sz="2400" kern="1200" dirty="0">
                          <a:ln>
                            <a:solidFill>
                              <a:schemeClr val="bg1">
                                <a:lumMod val="75000"/>
                                <a:lumOff val="25000"/>
                                <a:alpha val="10000"/>
                              </a:schemeClr>
                            </a:solidFill>
                          </a:ln>
                          <a:solidFill>
                            <a:schemeClr val="tx2"/>
                          </a:solidFill>
                          <a:effectLst>
                            <a:outerShdw blurRad="9525" dist="25400" dir="14640000" algn="tl" rotWithShape="0">
                              <a:schemeClr val="bg1">
                                <a:alpha val="30000"/>
                              </a:scheme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HTTPS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400" kern="1200" dirty="0">
                          <a:ln>
                            <a:solidFill>
                              <a:schemeClr val="bg1">
                                <a:lumMod val="75000"/>
                                <a:lumOff val="25000"/>
                                <a:alpha val="10000"/>
                              </a:schemeClr>
                            </a:solidFill>
                          </a:ln>
                          <a:solidFill>
                            <a:schemeClr val="tx2"/>
                          </a:solidFill>
                          <a:effectLst>
                            <a:outerShdw blurRad="9525" dist="25400" dir="14640000" algn="tl" rotWithShape="0">
                              <a:schemeClr val="bg1">
                                <a:alpha val="30000"/>
                              </a:scheme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443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464488"/>
                  </a:ext>
                </a:extLst>
              </a:tr>
              <a:tr h="545829">
                <a:tc>
                  <a:txBody>
                    <a:bodyPr/>
                    <a:lstStyle/>
                    <a:p>
                      <a:pPr algn="ctr"/>
                      <a:r>
                        <a:rPr lang="en-AU" sz="2400" kern="1200" dirty="0">
                          <a:ln>
                            <a:solidFill>
                              <a:schemeClr val="bg1">
                                <a:lumMod val="75000"/>
                                <a:lumOff val="25000"/>
                                <a:alpha val="10000"/>
                              </a:schemeClr>
                            </a:solidFill>
                          </a:ln>
                          <a:solidFill>
                            <a:schemeClr val="tx2"/>
                          </a:solidFill>
                          <a:effectLst>
                            <a:outerShdw blurRad="9525" dist="25400" dir="14640000" algn="tl" rotWithShape="0">
                              <a:schemeClr val="bg1">
                                <a:alpha val="30000"/>
                              </a:scheme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HTTP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400" kern="1200" dirty="0">
                          <a:ln>
                            <a:solidFill>
                              <a:schemeClr val="bg1">
                                <a:lumMod val="75000"/>
                                <a:lumOff val="25000"/>
                                <a:alpha val="10000"/>
                              </a:schemeClr>
                            </a:solidFill>
                          </a:ln>
                          <a:solidFill>
                            <a:schemeClr val="tx2"/>
                          </a:solidFill>
                          <a:effectLst>
                            <a:outerShdw blurRad="9525" dist="25400" dir="14640000" algn="tl" rotWithShape="0">
                              <a:schemeClr val="bg1">
                                <a:alpha val="30000"/>
                              </a:scheme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830111"/>
                  </a:ext>
                </a:extLst>
              </a:tr>
              <a:tr h="524902">
                <a:tc>
                  <a:txBody>
                    <a:bodyPr/>
                    <a:lstStyle/>
                    <a:p>
                      <a:pPr algn="ctr"/>
                      <a:r>
                        <a:rPr lang="en-AU" sz="2400" kern="1200" dirty="0">
                          <a:ln>
                            <a:solidFill>
                              <a:schemeClr val="bg1">
                                <a:lumMod val="75000"/>
                                <a:lumOff val="25000"/>
                                <a:alpha val="10000"/>
                              </a:schemeClr>
                            </a:solidFill>
                          </a:ln>
                          <a:solidFill>
                            <a:schemeClr val="tx2"/>
                          </a:solidFill>
                          <a:effectLst>
                            <a:outerShdw blurRad="9525" dist="25400" dir="14640000" algn="tl" rotWithShape="0">
                              <a:schemeClr val="bg1">
                                <a:alpha val="30000"/>
                              </a:scheme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SSH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AU" sz="2400" kern="1200" dirty="0">
                          <a:ln>
                            <a:solidFill>
                              <a:schemeClr val="bg1">
                                <a:lumMod val="75000"/>
                                <a:lumOff val="25000"/>
                                <a:alpha val="10000"/>
                              </a:schemeClr>
                            </a:solidFill>
                          </a:ln>
                          <a:solidFill>
                            <a:schemeClr val="tx2"/>
                          </a:solidFill>
                          <a:effectLst>
                            <a:outerShdw blurRad="9525" dist="25400" dir="14640000" algn="tl" rotWithShape="0">
                              <a:schemeClr val="bg1">
                                <a:alpha val="30000"/>
                              </a:schemeClr>
                            </a:outerShdw>
                          </a:effectLst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52417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9574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14286" y="128352"/>
            <a:ext cx="5780306" cy="563312"/>
          </a:xfrm>
        </p:spPr>
        <p:txBody>
          <a:bodyPr>
            <a:normAutofit fontScale="90000"/>
          </a:bodyPr>
          <a:lstStyle/>
          <a:p>
            <a:r>
              <a:rPr lang="en-US" dirty="0"/>
              <a:t>IP Address and Network Port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C6157E-10AA-4ED2-A9F4-9BAC1D3A5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3" y="1060224"/>
            <a:ext cx="12155779" cy="3718810"/>
          </a:xfrm>
        </p:spPr>
        <p:txBody>
          <a:bodyPr>
            <a:noAutofit/>
          </a:bodyPr>
          <a:lstStyle/>
          <a:p>
            <a:pPr algn="l"/>
            <a:r>
              <a:rPr lang="en-US" sz="2400" dirty="0"/>
              <a:t>What is a destination port?</a:t>
            </a:r>
          </a:p>
          <a:p>
            <a:pPr lvl="1"/>
            <a:endParaRPr lang="en-US" sz="2200" dirty="0"/>
          </a:p>
          <a:p>
            <a:pPr lvl="1"/>
            <a:endParaRPr lang="en-US" sz="2200" dirty="0"/>
          </a:p>
          <a:p>
            <a:pPr algn="l"/>
            <a:r>
              <a:rPr lang="en-US" sz="2400" dirty="0"/>
              <a:t>A network port number is 16 bits long, i.e., 2 bytes.</a:t>
            </a:r>
          </a:p>
          <a:p>
            <a:pPr lvl="1"/>
            <a:r>
              <a:rPr lang="en-AU" sz="2400" dirty="0"/>
              <a:t>What is the possible port range?</a:t>
            </a:r>
          </a:p>
          <a:p>
            <a:pPr lvl="1"/>
            <a:endParaRPr lang="en-A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09279-36E6-42EE-9508-B99B0178C016}"/>
              </a:ext>
            </a:extLst>
          </p:cNvPr>
          <p:cNvSpPr txBox="1"/>
          <p:nvPr/>
        </p:nvSpPr>
        <p:spPr>
          <a:xfrm>
            <a:off x="511969" y="1632804"/>
            <a:ext cx="8128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400" dirty="0"/>
              <a:t>192.168.1.1:9000  -&gt;  210.100.100.1:443</a:t>
            </a:r>
          </a:p>
        </p:txBody>
      </p:sp>
    </p:spTree>
    <p:extLst>
      <p:ext uri="{BB962C8B-B14F-4D97-AF65-F5344CB8AC3E}">
        <p14:creationId xmlns:p14="http://schemas.microsoft.com/office/powerpoint/2010/main" val="2118485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66C9-9953-486E-B29D-0D1AE00C8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54790"/>
          </a:xfrm>
        </p:spPr>
        <p:txBody>
          <a:bodyPr/>
          <a:lstStyle/>
          <a:p>
            <a:r>
              <a:rPr lang="en-AU" dirty="0"/>
              <a:t>Deploying 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1C66-7170-4286-85E0-E9A193076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107" y="1054790"/>
            <a:ext cx="11655893" cy="3714749"/>
          </a:xfrm>
        </p:spPr>
        <p:txBody>
          <a:bodyPr>
            <a:noAutofit/>
          </a:bodyPr>
          <a:lstStyle/>
          <a:p>
            <a:r>
              <a:rPr lang="en-AU" sz="2800" dirty="0"/>
              <a:t>Docker image is available:</a:t>
            </a:r>
          </a:p>
          <a:p>
            <a:pPr lvl="1"/>
            <a:r>
              <a:rPr lang="en-AU" sz="2800" dirty="0">
                <a:solidFill>
                  <a:srgbClr val="92D050"/>
                </a:solidFill>
              </a:rPr>
              <a:t>https://hub.docker.com/r/vulnerables/web-dvwa</a:t>
            </a:r>
          </a:p>
          <a:p>
            <a:r>
              <a:rPr lang="en-AU" sz="2800" dirty="0"/>
              <a:t>Run this image in your VM:</a:t>
            </a:r>
          </a:p>
          <a:p>
            <a:pPr lvl="1"/>
            <a:r>
              <a:rPr lang="en-AU" sz="2800" dirty="0"/>
              <a:t>docker run --rm -it -p 80:80 </a:t>
            </a:r>
            <a:r>
              <a:rPr lang="en-AU" sz="2800" dirty="0" err="1"/>
              <a:t>vulnerables</a:t>
            </a:r>
            <a:r>
              <a:rPr lang="en-AU" sz="2800" dirty="0"/>
              <a:t>/web-</a:t>
            </a:r>
            <a:r>
              <a:rPr lang="en-AU" sz="2800" dirty="0" err="1"/>
              <a:t>dvwa</a:t>
            </a:r>
            <a:endParaRPr lang="en-AU" sz="2800" dirty="0"/>
          </a:p>
          <a:p>
            <a:r>
              <a:rPr lang="en-AU" sz="2800" dirty="0"/>
              <a:t>How to access the DVWA web server from your VM?</a:t>
            </a:r>
          </a:p>
        </p:txBody>
      </p:sp>
    </p:spTree>
    <p:extLst>
      <p:ext uri="{BB962C8B-B14F-4D97-AF65-F5344CB8AC3E}">
        <p14:creationId xmlns:p14="http://schemas.microsoft.com/office/powerpoint/2010/main" val="306312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66C9-9953-486E-B29D-0D1AE00C8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54790"/>
          </a:xfrm>
        </p:spPr>
        <p:txBody>
          <a:bodyPr/>
          <a:lstStyle/>
          <a:p>
            <a:r>
              <a:rPr lang="en-AU" dirty="0"/>
              <a:t>Deploying 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1C66-7170-4286-85E0-E9A193076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107" y="1054790"/>
            <a:ext cx="11655893" cy="3714749"/>
          </a:xfrm>
        </p:spPr>
        <p:txBody>
          <a:bodyPr>
            <a:noAutofit/>
          </a:bodyPr>
          <a:lstStyle/>
          <a:p>
            <a:r>
              <a:rPr lang="en-AU" sz="2800" dirty="0"/>
              <a:t>How to access the DVWA web server:</a:t>
            </a:r>
          </a:p>
          <a:p>
            <a:pPr lvl="1"/>
            <a:r>
              <a:rPr lang="en-AU" sz="2400" dirty="0"/>
              <a:t>access the DVWA web server from a web browser outside the container)</a:t>
            </a:r>
          </a:p>
        </p:txBody>
      </p:sp>
    </p:spTree>
    <p:extLst>
      <p:ext uri="{BB962C8B-B14F-4D97-AF65-F5344CB8AC3E}">
        <p14:creationId xmlns:p14="http://schemas.microsoft.com/office/powerpoint/2010/main" val="159134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666C9-9953-486E-B29D-0D1AE00C8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54790"/>
          </a:xfrm>
        </p:spPr>
        <p:txBody>
          <a:bodyPr/>
          <a:lstStyle/>
          <a:p>
            <a:r>
              <a:rPr lang="en-AU" dirty="0"/>
              <a:t>Deploying DVWA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31C66-7170-4286-85E0-E9A193076D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6107" y="1054790"/>
            <a:ext cx="11655893" cy="3714749"/>
          </a:xfrm>
        </p:spPr>
        <p:txBody>
          <a:bodyPr>
            <a:noAutofit/>
          </a:bodyPr>
          <a:lstStyle/>
          <a:p>
            <a:r>
              <a:rPr lang="en-AU" sz="2800" dirty="0"/>
              <a:t>Open a browser in your VM:</a:t>
            </a:r>
          </a:p>
          <a:p>
            <a:pPr lvl="1"/>
            <a:r>
              <a:rPr lang="en-AU" sz="2600" b="1" dirty="0"/>
              <a:t>Enter a URL: localhost/</a:t>
            </a:r>
            <a:r>
              <a:rPr lang="en-AU" sz="2600" b="1" dirty="0" err="1"/>
              <a:t>setup.php</a:t>
            </a:r>
            <a:endParaRPr lang="en-AU" sz="2600" b="1" dirty="0"/>
          </a:p>
        </p:txBody>
      </p:sp>
    </p:spTree>
    <p:extLst>
      <p:ext uri="{BB962C8B-B14F-4D97-AF65-F5344CB8AC3E}">
        <p14:creationId xmlns:p14="http://schemas.microsoft.com/office/powerpoint/2010/main" val="4163384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tup">
            <a:extLst>
              <a:ext uri="{FF2B5EF4-FFF2-40B4-BE49-F238E27FC236}">
                <a16:creationId xmlns:a16="http://schemas.microsoft.com/office/drawing/2014/main" id="{D00D0A4D-3404-4FDF-8AA9-E6E7719DB7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026" y="-103239"/>
            <a:ext cx="1111194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01BD9C1-FC5C-4C7F-8BA5-09CAD804DF8F}"/>
              </a:ext>
            </a:extLst>
          </p:cNvPr>
          <p:cNvCxnSpPr>
            <a:cxnSpLocks/>
          </p:cNvCxnSpPr>
          <p:nvPr/>
        </p:nvCxnSpPr>
        <p:spPr>
          <a:xfrm>
            <a:off x="3840018" y="4886926"/>
            <a:ext cx="160828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943DAD-C45E-4ADF-96F7-AFCEB7AB7F8C}"/>
              </a:ext>
            </a:extLst>
          </p:cNvPr>
          <p:cNvCxnSpPr>
            <a:cxnSpLocks/>
          </p:cNvCxnSpPr>
          <p:nvPr/>
        </p:nvCxnSpPr>
        <p:spPr>
          <a:xfrm>
            <a:off x="4506479" y="480026"/>
            <a:ext cx="3179041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4511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DD9578-DD1D-48D1-91AF-163DA0E19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600" y="1677564"/>
            <a:ext cx="7975600" cy="465232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2DC9878-7CC7-4509-9975-A873542FE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804" y="-342901"/>
            <a:ext cx="6786796" cy="1587501"/>
          </a:xfrm>
        </p:spPr>
        <p:txBody>
          <a:bodyPr>
            <a:noAutofit/>
          </a:bodyPr>
          <a:lstStyle/>
          <a:p>
            <a:endParaRPr lang="en-AU" sz="2800" dirty="0"/>
          </a:p>
          <a:p>
            <a:r>
              <a:rPr lang="en-AU" sz="2800" dirty="0"/>
              <a:t>Login with default credentials.</a:t>
            </a:r>
          </a:p>
          <a:p>
            <a:pPr lvl="1"/>
            <a:r>
              <a:rPr lang="en-AU" sz="2800" dirty="0"/>
              <a:t>Username: </a:t>
            </a:r>
            <a:r>
              <a:rPr lang="en-AU" sz="2800" dirty="0">
                <a:solidFill>
                  <a:srgbClr val="FF0000"/>
                </a:solidFill>
              </a:rPr>
              <a:t>admin</a:t>
            </a:r>
            <a:r>
              <a:rPr lang="en-AU" sz="2800" dirty="0"/>
              <a:t>; Password: </a:t>
            </a:r>
            <a:r>
              <a:rPr lang="en-AU" sz="2800" dirty="0">
                <a:solidFill>
                  <a:srgbClr val="FF0000"/>
                </a:solidFill>
              </a:rPr>
              <a:t>password</a:t>
            </a:r>
          </a:p>
        </p:txBody>
      </p:sp>
    </p:spTree>
    <p:extLst>
      <p:ext uri="{BB962C8B-B14F-4D97-AF65-F5344CB8AC3E}">
        <p14:creationId xmlns:p14="http://schemas.microsoft.com/office/powerpoint/2010/main" val="742099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ficulty">
            <a:extLst>
              <a:ext uri="{FF2B5EF4-FFF2-40B4-BE49-F238E27FC236}">
                <a16:creationId xmlns:a16="http://schemas.microsoft.com/office/drawing/2014/main" id="{E8E805E3-E036-4552-9CFA-1F50586DE3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199" y="1130300"/>
            <a:ext cx="10103679" cy="5429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CEADE-33BA-42C3-AF9A-04CC7A255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9904" y="-215900"/>
            <a:ext cx="5618396" cy="1638300"/>
          </a:xfrm>
        </p:spPr>
        <p:txBody>
          <a:bodyPr>
            <a:noAutofit/>
          </a:bodyPr>
          <a:lstStyle/>
          <a:p>
            <a:endParaRPr lang="en-AU" sz="2800" dirty="0"/>
          </a:p>
          <a:p>
            <a:r>
              <a:rPr lang="en-AU" sz="2800" dirty="0"/>
              <a:t>Set the security level to low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48F1AE-4D96-41A9-BE8F-E1D3148DF496}"/>
              </a:ext>
            </a:extLst>
          </p:cNvPr>
          <p:cNvCxnSpPr>
            <a:cxnSpLocks/>
          </p:cNvCxnSpPr>
          <p:nvPr/>
        </p:nvCxnSpPr>
        <p:spPr>
          <a:xfrm>
            <a:off x="4246418" y="4150326"/>
            <a:ext cx="160828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7239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306167"/>
            <a:ext cx="11411722" cy="3714749"/>
          </a:xfrm>
        </p:spPr>
        <p:txBody>
          <a:bodyPr/>
          <a:lstStyle/>
          <a:p>
            <a:r>
              <a:rPr lang="en-AU" sz="2800" dirty="0"/>
              <a:t>What is </a:t>
            </a:r>
            <a:r>
              <a:rPr lang="en-US" sz="2800" dirty="0"/>
              <a:t>SQLi?</a:t>
            </a:r>
          </a:p>
          <a:p>
            <a:pPr lvl="1"/>
            <a:r>
              <a:rPr lang="en-US" sz="2800" dirty="0"/>
              <a:t>SQL is Structured Query Language used to manage relational databases.</a:t>
            </a:r>
          </a:p>
          <a:p>
            <a:pPr lvl="1"/>
            <a:r>
              <a:rPr lang="en-US" sz="2800" dirty="0"/>
              <a:t>SQLi is an attack that targets security vulnerabilities in web applications that use SQL-based databases. SQLi allows an attacker to inject malicious SQL code into a vulnerable web application.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3042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188" y="593222"/>
            <a:ext cx="8970352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8379B2-AE89-421E-94BD-779504116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176914"/>
            <a:ext cx="9907383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2199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3FE9BF-1B07-4AED-B179-1B62EE49F6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683707"/>
            <a:ext cx="9247492" cy="492376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D0FD7A5-82C4-4688-A6A3-C6ADB8C00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2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750502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17472F-D4B0-4F4C-ACAD-5261A298C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47" y="1789061"/>
            <a:ext cx="9315593" cy="470027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8F52E0-6B3E-4ED9-BDD5-2F0F26B3A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1’ or ‘1’ = ‘1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007117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16267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87B5-BFE5-484D-8B10-F1B5E83CD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94" y="1357900"/>
            <a:ext cx="9568848" cy="511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7952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53" y="696568"/>
            <a:ext cx="10353762" cy="799724"/>
          </a:xfrm>
        </p:spPr>
        <p:txBody>
          <a:bodyPr/>
          <a:lstStyle/>
          <a:p>
            <a:r>
              <a:rPr lang="en-AU" sz="2800" dirty="0"/>
              <a:t>How does SQLi occur?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1E6E4-3848-465F-B3FD-46C1B23FE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57747"/>
            <a:ext cx="10071779" cy="50014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FD883DE-480B-4B56-9842-65D7CA568C2D}"/>
              </a:ext>
            </a:extLst>
          </p:cNvPr>
          <p:cNvCxnSpPr>
            <a:cxnSpLocks/>
          </p:cNvCxnSpPr>
          <p:nvPr/>
        </p:nvCxnSpPr>
        <p:spPr>
          <a:xfrm>
            <a:off x="1745673" y="1965926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A0CBE6-2D32-47CF-A224-BFCA6B578D6B}"/>
              </a:ext>
            </a:extLst>
          </p:cNvPr>
          <p:cNvCxnSpPr>
            <a:cxnSpLocks/>
          </p:cNvCxnSpPr>
          <p:nvPr/>
        </p:nvCxnSpPr>
        <p:spPr>
          <a:xfrm>
            <a:off x="1745672" y="2478544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95106C9-3F46-461B-A8FB-425CA4D7AABD}"/>
              </a:ext>
            </a:extLst>
          </p:cNvPr>
          <p:cNvCxnSpPr>
            <a:cxnSpLocks/>
          </p:cNvCxnSpPr>
          <p:nvPr/>
        </p:nvCxnSpPr>
        <p:spPr>
          <a:xfrm>
            <a:off x="1745673" y="2949599"/>
            <a:ext cx="9105042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708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2" y="2296015"/>
            <a:ext cx="6546327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120763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2" y="2296015"/>
            <a:ext cx="6546327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13775F1-B3D0-4D96-A4B5-CFEE30D4D86B}"/>
              </a:ext>
            </a:extLst>
          </p:cNvPr>
          <p:cNvSpPr txBox="1">
            <a:spLocks/>
          </p:cNvSpPr>
          <p:nvPr/>
        </p:nvSpPr>
        <p:spPr>
          <a:xfrm>
            <a:off x="7123289" y="2201320"/>
            <a:ext cx="4491749" cy="44095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450000" lvl="1" indent="0">
              <a:buNone/>
            </a:pPr>
            <a:r>
              <a:rPr lang="en-AU" sz="2800" dirty="0"/>
              <a:t>e.g., </a:t>
            </a:r>
          </a:p>
          <a:p>
            <a:pPr marL="450000" lvl="1" indent="0">
              <a:buNone/>
            </a:pPr>
            <a:r>
              <a:rPr lang="en-US" sz="2800" dirty="0"/>
              <a:t>1. $test = "30";</a:t>
            </a:r>
          </a:p>
          <a:p>
            <a:pPr marL="450000" lvl="1" indent="0">
              <a:buNone/>
            </a:pPr>
            <a:r>
              <a:rPr lang="en-US" sz="2800" dirty="0"/>
              <a:t>2. if ($test &gt; "29") {</a:t>
            </a:r>
          </a:p>
          <a:p>
            <a:pPr marL="450000" lvl="1" indent="0">
              <a:buNone/>
            </a:pPr>
            <a:r>
              <a:rPr lang="en-US" sz="2800" dirty="0"/>
              <a:t>3. 	   echo "hello world";</a:t>
            </a:r>
          </a:p>
          <a:p>
            <a:pPr marL="450000" lvl="1" indent="0">
              <a:buNone/>
            </a:pPr>
            <a:r>
              <a:rPr lang="en-US" sz="2800" dirty="0"/>
              <a:t>4. }</a:t>
            </a:r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2856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3" y="2296015"/>
            <a:ext cx="10353762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First, it is an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statement:</a:t>
            </a:r>
          </a:p>
          <a:p>
            <a:pPr marL="450000" lvl="1" indent="0">
              <a:buNone/>
            </a:pPr>
            <a:r>
              <a:rPr lang="en-AU" sz="2800" dirty="0"/>
              <a:t>1. if (condition) {</a:t>
            </a:r>
          </a:p>
          <a:p>
            <a:pPr marL="450000" lvl="1" indent="0">
              <a:buNone/>
            </a:pPr>
            <a:r>
              <a:rPr lang="en-AU" sz="2800" dirty="0"/>
              <a:t>2.     Code to be executed if condition is true. </a:t>
            </a:r>
          </a:p>
          <a:p>
            <a:pPr marL="450000" lvl="1" indent="0">
              <a:buNone/>
            </a:pPr>
            <a:r>
              <a:rPr lang="en-AU" sz="2800" dirty="0"/>
              <a:t>3. }</a:t>
            </a:r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r>
              <a:rPr lang="en-AU" sz="2800" dirty="0"/>
              <a:t>condition: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(): </a:t>
            </a: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09353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($var): </a:t>
            </a:r>
            <a:r>
              <a:rPr lang="en-AU" sz="2800" dirty="0"/>
              <a:t>a function that </a:t>
            </a:r>
            <a:r>
              <a:rPr lang="en-US" sz="2800" dirty="0"/>
              <a:t>checks whether the value of </a:t>
            </a:r>
            <a:r>
              <a:rPr lang="en-US" sz="2800" dirty="0">
                <a:solidFill>
                  <a:srgbClr val="FF0000"/>
                </a:solidFill>
              </a:rPr>
              <a:t>$var </a:t>
            </a:r>
            <a:r>
              <a:rPr lang="en-US" sz="2800" dirty="0"/>
              <a:t>exists. If yes, it returns true, or false otherwise.</a:t>
            </a:r>
            <a:r>
              <a:rPr lang="en-AU" sz="2800" dirty="0"/>
              <a:t> </a:t>
            </a:r>
          </a:p>
          <a:p>
            <a:r>
              <a:rPr lang="en-AU" sz="2800" dirty="0"/>
              <a:t>What is a function? A block of code that implements a specific task.</a:t>
            </a:r>
          </a:p>
        </p:txBody>
      </p:sp>
    </p:spTree>
    <p:extLst>
      <p:ext uri="{BB962C8B-B14F-4D97-AF65-F5344CB8AC3E}">
        <p14:creationId xmlns:p14="http://schemas.microsoft.com/office/powerpoint/2010/main" val="9847671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($var): </a:t>
            </a:r>
            <a:r>
              <a:rPr lang="en-AU" sz="2800" dirty="0"/>
              <a:t>a function that </a:t>
            </a:r>
            <a:r>
              <a:rPr lang="en-US" sz="2800" dirty="0"/>
              <a:t>checks whether the value of </a:t>
            </a:r>
            <a:r>
              <a:rPr lang="en-US" sz="2800" dirty="0">
                <a:solidFill>
                  <a:srgbClr val="FF0000"/>
                </a:solidFill>
              </a:rPr>
              <a:t>$var </a:t>
            </a:r>
            <a:r>
              <a:rPr lang="en-US" sz="2800" dirty="0"/>
              <a:t>exists. If yes, it returns true, or false otherwise.</a:t>
            </a:r>
            <a:r>
              <a:rPr lang="en-AU" sz="2800" dirty="0"/>
              <a:t> </a:t>
            </a:r>
          </a:p>
          <a:p>
            <a:r>
              <a:rPr lang="en-AU" sz="2800" dirty="0"/>
              <a:t>What is a function? A block of code that implements a specific task.</a:t>
            </a:r>
          </a:p>
          <a:p>
            <a:pPr marL="450000" lvl="1" indent="0">
              <a:buNone/>
            </a:pPr>
            <a:r>
              <a:rPr lang="en-AU" sz="2800" dirty="0"/>
              <a:t>e.g., function name($</a:t>
            </a:r>
            <a:r>
              <a:rPr lang="en-AU" sz="2800" dirty="0" err="1"/>
              <a:t>fname</a:t>
            </a:r>
            <a:r>
              <a:rPr lang="en-AU" sz="2800" dirty="0"/>
              <a:t>) {</a:t>
            </a:r>
            <a:br>
              <a:rPr lang="en-AU" sz="2800" dirty="0"/>
            </a:br>
            <a:r>
              <a:rPr lang="en-AU" sz="2800" dirty="0"/>
              <a:t>      echo "$</a:t>
            </a:r>
            <a:r>
              <a:rPr lang="en-AU" sz="2800" dirty="0" err="1"/>
              <a:t>fname</a:t>
            </a:r>
            <a:r>
              <a:rPr lang="en-AU" sz="2800" dirty="0"/>
              <a:t> says: hello world";</a:t>
            </a:r>
            <a:br>
              <a:rPr lang="en-AU" sz="2800" dirty="0"/>
            </a:br>
            <a:r>
              <a:rPr lang="en-AU" sz="2800" dirty="0"/>
              <a:t>}</a:t>
            </a:r>
            <a:br>
              <a:rPr lang="en-AU" sz="2800" dirty="0"/>
            </a:br>
            <a:r>
              <a:rPr lang="en-AU" sz="2800" dirty="0"/>
              <a:t>name(“Alice"); </a:t>
            </a:r>
          </a:p>
        </p:txBody>
      </p:sp>
    </p:spTree>
    <p:extLst>
      <p:ext uri="{BB962C8B-B14F-4D97-AF65-F5344CB8AC3E}">
        <p14:creationId xmlns:p14="http://schemas.microsoft.com/office/powerpoint/2010/main" val="3746115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01986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If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 </a:t>
            </a:r>
            <a:r>
              <a:rPr lang="en-AU" sz="2800" dirty="0"/>
              <a:t>returns true, then the condition for the </a:t>
            </a:r>
            <a:r>
              <a:rPr lang="en-AU" sz="2800" dirty="0">
                <a:solidFill>
                  <a:srgbClr val="FF0000"/>
                </a:solidFill>
              </a:rPr>
              <a:t>if</a:t>
            </a:r>
            <a:r>
              <a:rPr lang="en-AU" sz="2800" dirty="0"/>
              <a:t> statement is true:</a:t>
            </a:r>
          </a:p>
          <a:p>
            <a:pPr marL="450000" lvl="1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$_REQUEST: </a:t>
            </a:r>
            <a:r>
              <a:rPr lang="en-US" sz="2800" dirty="0"/>
              <a:t>a pre-defined variable storing values of multiple keys, such as ‘Submit’.</a:t>
            </a:r>
          </a:p>
          <a:p>
            <a:pPr marL="450000" lvl="1" indent="0">
              <a:buNone/>
            </a:pPr>
            <a:r>
              <a:rPr lang="en-US" sz="2800" dirty="0"/>
              <a:t>e.g., Given $names = [‘Alice’ =&gt; 0, ‘Bob’ =&gt; 50, ‘Eavesdropper’ =&gt; 100];</a:t>
            </a:r>
          </a:p>
          <a:p>
            <a:pPr marL="450000" lvl="1" indent="0">
              <a:buNone/>
            </a:pPr>
            <a:r>
              <a:rPr lang="en-US" sz="2800" dirty="0"/>
              <a:t>      $names[‘Alice’]?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88373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1840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157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AF21B7-7768-4B00-A160-4A6A573677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353" y="1393136"/>
            <a:ext cx="6626336" cy="79972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283157" y="2420193"/>
            <a:ext cx="11615038" cy="39904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  <a:r>
              <a:rPr lang="en-US" sz="2800" dirty="0"/>
              <a:t>is the value of the ‘Submit’ key. </a:t>
            </a:r>
          </a:p>
          <a:p>
            <a:pPr marL="36900" indent="0">
              <a:buNone/>
            </a:pPr>
            <a:r>
              <a:rPr lang="en-US" sz="2800" dirty="0"/>
              <a:t>  What is the value of the ‘Submit’ key?</a:t>
            </a:r>
          </a:p>
          <a:p>
            <a:endParaRPr lang="en-US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791317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484" y="-80329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359DB-8BB3-45CF-BAEA-AF9D15401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900704"/>
            <a:ext cx="10088383" cy="368258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4945274"/>
            <a:ext cx="10353762" cy="1484000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$_REQUEST[ ‘Submit’ ] </a:t>
            </a:r>
            <a:r>
              <a:rPr lang="en-AU" sz="2800" dirty="0"/>
              <a:t>returns the input after clicking ‘Submit’</a:t>
            </a:r>
          </a:p>
          <a:p>
            <a:endParaRPr lang="en-AU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3CA24F-2A0E-4158-9600-D457C7B28FE8}"/>
              </a:ext>
            </a:extLst>
          </p:cNvPr>
          <p:cNvCxnSpPr>
            <a:cxnSpLocks/>
          </p:cNvCxnSpPr>
          <p:nvPr/>
        </p:nvCxnSpPr>
        <p:spPr>
          <a:xfrm>
            <a:off x="5859624" y="2596896"/>
            <a:ext cx="315398" cy="242666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4791456" y="1755648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63938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484" y="-80329"/>
            <a:ext cx="10353762" cy="1034648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359DB-8BB3-45CF-BAEA-AF9D154014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787400"/>
            <a:ext cx="10088383" cy="3795890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0715" y="4854778"/>
            <a:ext cx="10770206" cy="1839718"/>
          </a:xfrm>
        </p:spPr>
        <p:txBody>
          <a:bodyPr>
            <a:normAutofit fontScale="85000" lnSpcReduction="10000"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$_REQUEST[ ‘Submit’ ] </a:t>
            </a:r>
            <a:r>
              <a:rPr lang="en-AU" sz="2800" dirty="0"/>
              <a:t>returns the input value after clicking ‘Submit’</a:t>
            </a:r>
          </a:p>
          <a:p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)</a:t>
            </a:r>
            <a:r>
              <a:rPr lang="en-US" sz="2800" dirty="0"/>
              <a:t> returns true if 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/>
              <a:t> is non-empty</a:t>
            </a:r>
          </a:p>
          <a:p>
            <a:r>
              <a:rPr lang="en-US" sz="2800" dirty="0">
                <a:solidFill>
                  <a:srgbClr val="FF0000"/>
                </a:solidFill>
              </a:rPr>
              <a:t>If (</a:t>
            </a:r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</a:t>
            </a:r>
            <a:r>
              <a:rPr lang="en-AU" sz="2800" dirty="0">
                <a:solidFill>
                  <a:srgbClr val="FF0000"/>
                </a:solidFill>
              </a:rPr>
              <a:t>$_REQUEST[ ‘Submit’ ]</a:t>
            </a:r>
            <a:r>
              <a:rPr lang="en-US" sz="2800" dirty="0">
                <a:solidFill>
                  <a:srgbClr val="FF0000"/>
                </a:solidFill>
              </a:rPr>
              <a:t>) ) </a:t>
            </a:r>
            <a:r>
              <a:rPr lang="en-US" sz="2800" dirty="0"/>
              <a:t>returns true if </a:t>
            </a:r>
            <a:r>
              <a:rPr lang="en-US" sz="2800" dirty="0" err="1">
                <a:solidFill>
                  <a:srgbClr val="FF0000"/>
                </a:solidFill>
              </a:rPr>
              <a:t>isset</a:t>
            </a:r>
            <a:r>
              <a:rPr lang="en-US" sz="2800" dirty="0">
                <a:solidFill>
                  <a:srgbClr val="FF0000"/>
                </a:solidFill>
              </a:rPr>
              <a:t>() </a:t>
            </a:r>
            <a:r>
              <a:rPr lang="en-US" sz="2800" dirty="0"/>
              <a:t>returns true</a:t>
            </a:r>
          </a:p>
          <a:p>
            <a:endParaRPr lang="en-AU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73CA24F-2A0E-4158-9600-D457C7B28FE8}"/>
              </a:ext>
            </a:extLst>
          </p:cNvPr>
          <p:cNvCxnSpPr>
            <a:cxnSpLocks/>
          </p:cNvCxnSpPr>
          <p:nvPr/>
        </p:nvCxnSpPr>
        <p:spPr>
          <a:xfrm>
            <a:off x="5859624" y="2596896"/>
            <a:ext cx="888648" cy="225788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4791456" y="1755648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46089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95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28559E-712E-419C-8BFF-23E2C2075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778" y="1441533"/>
            <a:ext cx="6017800" cy="62433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F5A3F82-926A-4D06-BD31-EB9A10FAE2E6}"/>
              </a:ext>
            </a:extLst>
          </p:cNvPr>
          <p:cNvSpPr txBox="1">
            <a:spLocks/>
          </p:cNvSpPr>
          <p:nvPr/>
        </p:nvSpPr>
        <p:spPr>
          <a:xfrm>
            <a:off x="496952" y="2438188"/>
            <a:ext cx="11355957" cy="39740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$id: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‘id’ ] </a:t>
            </a:r>
            <a:r>
              <a:rPr lang="en-AU" sz="2800" dirty="0"/>
              <a:t>returns the value of the ‘id’ key, which is the input from the ‘USER ID’</a:t>
            </a:r>
          </a:p>
          <a:p>
            <a:pPr lvl="1"/>
            <a:r>
              <a:rPr lang="en-AU" sz="2800" dirty="0"/>
              <a:t>What does </a:t>
            </a:r>
            <a:r>
              <a:rPr lang="en-AU" sz="2800" dirty="0">
                <a:solidFill>
                  <a:srgbClr val="FF0000"/>
                </a:solidFill>
              </a:rPr>
              <a:t>$id</a:t>
            </a:r>
            <a:r>
              <a:rPr lang="en-AU" sz="2800" dirty="0"/>
              <a:t> equal to? The value from $_REQUEST[ ‘id’ ]</a:t>
            </a:r>
          </a:p>
          <a:p>
            <a:r>
              <a:rPr lang="en-AU" sz="2800" dirty="0"/>
              <a:t>e.g., if the input box is: 1, then $id equals to 1</a:t>
            </a:r>
          </a:p>
          <a:p>
            <a:pPr marL="36900" indent="0">
              <a:buNone/>
            </a:pPr>
            <a:r>
              <a:rPr lang="en-AU" sz="1200" dirty="0"/>
              <a:t>		  </a:t>
            </a:r>
            <a:r>
              <a:rPr lang="en-AU" sz="2800" dirty="0"/>
              <a:t>if the input box is: 2, then $id equals to 2  </a:t>
            </a:r>
          </a:p>
          <a:p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2171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50F1D8D-4957-495F-A2C2-BE33901A3F76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365334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$query: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SQL Statement: </a:t>
            </a:r>
            <a:r>
              <a:rPr lang="en-AU" sz="2800" dirty="0"/>
              <a:t>SELECT </a:t>
            </a:r>
            <a:r>
              <a:rPr lang="en-AU" sz="2800" dirty="0" err="1"/>
              <a:t>first_name</a:t>
            </a:r>
            <a:r>
              <a:rPr lang="en-AU" sz="2800" dirty="0"/>
              <a:t>, </a:t>
            </a:r>
            <a:r>
              <a:rPr lang="en-AU" sz="2800" dirty="0" err="1"/>
              <a:t>last_name</a:t>
            </a:r>
            <a:r>
              <a:rPr lang="en-AU" sz="2800" dirty="0"/>
              <a:t> FROM users WHERE </a:t>
            </a:r>
            <a:r>
              <a:rPr lang="en-AU" sz="2800" dirty="0" err="1"/>
              <a:t>user_id</a:t>
            </a:r>
            <a:r>
              <a:rPr lang="en-AU" sz="2800" dirty="0"/>
              <a:t> equals to ‘$id’;</a:t>
            </a:r>
          </a:p>
          <a:p>
            <a:pPr marL="36900" indent="0">
              <a:buNone/>
            </a:pPr>
            <a:r>
              <a:rPr lang="en-AU" sz="2600" dirty="0"/>
              <a:t>   SELECT, FROM and WHERE are SQL keywords: </a:t>
            </a:r>
          </a:p>
          <a:p>
            <a:pPr marL="36900" indent="0">
              <a:buNone/>
            </a:pPr>
            <a:r>
              <a:rPr lang="en-US" sz="2600" dirty="0"/>
              <a:t>    		</a:t>
            </a:r>
          </a:p>
          <a:p>
            <a:pPr marL="36900" indent="0">
              <a:buNone/>
            </a:pPr>
            <a:r>
              <a:rPr lang="en-US" sz="2600" dirty="0"/>
              <a:t>    </a:t>
            </a:r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350573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F17F057-0E5C-4268-8B95-81EE5E1BF208}"/>
              </a:ext>
            </a:extLst>
          </p:cNvPr>
          <p:cNvSpPr txBox="1">
            <a:spLocks/>
          </p:cNvSpPr>
          <p:nvPr/>
        </p:nvSpPr>
        <p:spPr>
          <a:xfrm>
            <a:off x="474093" y="2707164"/>
            <a:ext cx="10353762" cy="7997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A ‘users’ table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AF0530-1818-4C24-99D7-E946C2172493}"/>
              </a:ext>
            </a:extLst>
          </p:cNvPr>
          <p:cNvSpPr txBox="1">
            <a:spLocks/>
          </p:cNvSpPr>
          <p:nvPr/>
        </p:nvSpPr>
        <p:spPr>
          <a:xfrm>
            <a:off x="641891" y="3429000"/>
            <a:ext cx="10625665" cy="9545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sz="2800" dirty="0"/>
              <a:t>e.g., SELECT </a:t>
            </a:r>
            <a:r>
              <a:rPr lang="en-US" sz="2800" dirty="0" err="1"/>
              <a:t>first_name</a:t>
            </a:r>
            <a:r>
              <a:rPr lang="en-US" sz="2800" dirty="0"/>
              <a:t>, </a:t>
            </a:r>
            <a:r>
              <a:rPr lang="en-US" sz="2800" dirty="0" err="1"/>
              <a:t>last_name</a:t>
            </a:r>
            <a:r>
              <a:rPr lang="en-US" sz="2800" dirty="0"/>
              <a:t> FROM users WHERE </a:t>
            </a:r>
            <a:r>
              <a:rPr lang="en-US" sz="2800" dirty="0" err="1"/>
              <a:t>user_id</a:t>
            </a:r>
            <a:r>
              <a:rPr lang="en-US" sz="2800" dirty="0"/>
              <a:t> = ‘1’;</a:t>
            </a:r>
          </a:p>
        </p:txBody>
      </p:sp>
    </p:spTree>
    <p:extLst>
      <p:ext uri="{BB962C8B-B14F-4D97-AF65-F5344CB8AC3E}">
        <p14:creationId xmlns:p14="http://schemas.microsoft.com/office/powerpoint/2010/main" val="32394287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2F51C21C-A7CC-4396-866F-B3B4B7FB8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665685"/>
              </p:ext>
            </p:extLst>
          </p:nvPr>
        </p:nvGraphicFramePr>
        <p:xfrm>
          <a:off x="641891" y="4424072"/>
          <a:ext cx="600829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9439">
                  <a:extLst>
                    <a:ext uri="{9D8B030D-6E8A-4147-A177-3AD203B41FA5}">
                      <a16:colId xmlns:a16="http://schemas.microsoft.com/office/drawing/2014/main" val="2440712974"/>
                    </a:ext>
                  </a:extLst>
                </a:gridCol>
                <a:gridCol w="1990678">
                  <a:extLst>
                    <a:ext uri="{9D8B030D-6E8A-4147-A177-3AD203B41FA5}">
                      <a16:colId xmlns:a16="http://schemas.microsoft.com/office/drawing/2014/main" val="3046353723"/>
                    </a:ext>
                  </a:extLst>
                </a:gridCol>
                <a:gridCol w="1698173">
                  <a:extLst>
                    <a:ext uri="{9D8B030D-6E8A-4147-A177-3AD203B41FA5}">
                      <a16:colId xmlns:a16="http://schemas.microsoft.com/office/drawing/2014/main" val="1693190542"/>
                    </a:ext>
                  </a:extLst>
                </a:gridCol>
              </a:tblGrid>
              <a:tr h="361486"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first_name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last_name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user_id</a:t>
                      </a:r>
                      <a:endParaRPr lang="en-AU" sz="2800" b="0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3879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‘Alice’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‘Jones’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‘1’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823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‘Bob’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‘Brown’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AU" sz="2800" b="0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‘2’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7490209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F17F057-0E5C-4268-8B95-81EE5E1BF208}"/>
              </a:ext>
            </a:extLst>
          </p:cNvPr>
          <p:cNvSpPr txBox="1">
            <a:spLocks/>
          </p:cNvSpPr>
          <p:nvPr/>
        </p:nvSpPr>
        <p:spPr>
          <a:xfrm>
            <a:off x="474093" y="2707164"/>
            <a:ext cx="10353762" cy="7997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A ‘users’ table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AF0530-1818-4C24-99D7-E946C2172493}"/>
              </a:ext>
            </a:extLst>
          </p:cNvPr>
          <p:cNvSpPr txBox="1">
            <a:spLocks/>
          </p:cNvSpPr>
          <p:nvPr/>
        </p:nvSpPr>
        <p:spPr>
          <a:xfrm>
            <a:off x="641891" y="3429000"/>
            <a:ext cx="10625665" cy="95454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sz="2800" dirty="0"/>
              <a:t>e.g., SELECT </a:t>
            </a:r>
            <a:r>
              <a:rPr lang="en-US" sz="2800" dirty="0" err="1"/>
              <a:t>first_name</a:t>
            </a:r>
            <a:r>
              <a:rPr lang="en-US" sz="2800" dirty="0"/>
              <a:t>, </a:t>
            </a:r>
            <a:r>
              <a:rPr lang="en-US" sz="2800" dirty="0" err="1"/>
              <a:t>last_name</a:t>
            </a:r>
            <a:r>
              <a:rPr lang="en-US" sz="2800" dirty="0"/>
              <a:t> FROM users WHERE </a:t>
            </a:r>
            <a:r>
              <a:rPr lang="en-US" sz="2800" dirty="0" err="1"/>
              <a:t>user_id</a:t>
            </a:r>
            <a:r>
              <a:rPr lang="en-US" sz="2800" dirty="0"/>
              <a:t> = ‘1’;</a:t>
            </a:r>
          </a:p>
        </p:txBody>
      </p:sp>
    </p:spTree>
    <p:extLst>
      <p:ext uri="{BB962C8B-B14F-4D97-AF65-F5344CB8AC3E}">
        <p14:creationId xmlns:p14="http://schemas.microsoft.com/office/powerpoint/2010/main" val="1002865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8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chemeClr val="tx1"/>
                </a:solidFill>
              </a:rPr>
              <a:t>When </a:t>
            </a:r>
            <a:r>
              <a:rPr lang="en-AU" sz="2800" dirty="0">
                <a:solidFill>
                  <a:srgbClr val="FF0000"/>
                </a:solidFill>
              </a:rPr>
              <a:t>$id</a:t>
            </a:r>
            <a:r>
              <a:rPr lang="en-AU" sz="2800" dirty="0">
                <a:solidFill>
                  <a:schemeClr val="tx1"/>
                </a:solidFill>
              </a:rPr>
              <a:t> equals to </a:t>
            </a:r>
            <a:r>
              <a:rPr lang="en-AU" sz="2800" dirty="0">
                <a:solidFill>
                  <a:srgbClr val="FF0000"/>
                </a:solidFill>
              </a:rPr>
              <a:t>1' or '1’=‘1</a:t>
            </a:r>
          </a:p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   ‘$id’ = ‘  1’   or  ‘1’=‘1  ’</a:t>
            </a:r>
          </a:p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   </a:t>
            </a:r>
            <a:r>
              <a:rPr lang="en-AU" sz="2800" dirty="0" err="1">
                <a:solidFill>
                  <a:srgbClr val="FF0000"/>
                </a:solidFill>
              </a:rPr>
              <a:t>user_id</a:t>
            </a:r>
            <a:r>
              <a:rPr lang="en-AU" sz="2800" dirty="0">
                <a:solidFill>
                  <a:srgbClr val="FF0000"/>
                </a:solidFill>
              </a:rPr>
              <a:t>  = ‘$id’</a:t>
            </a:r>
          </a:p>
          <a:p>
            <a:pPr marL="450000" lvl="1" indent="0">
              <a:buNone/>
            </a:pPr>
            <a:r>
              <a:rPr lang="en-AU" sz="2800" dirty="0" err="1">
                <a:solidFill>
                  <a:srgbClr val="FF0000"/>
                </a:solidFill>
              </a:rPr>
              <a:t>user_id</a:t>
            </a:r>
            <a:r>
              <a:rPr lang="en-AU" sz="2800" dirty="0">
                <a:solidFill>
                  <a:srgbClr val="FF0000"/>
                </a:solidFill>
              </a:rPr>
              <a:t> =  ‘1’   or  ‘1’=‘1’</a:t>
            </a:r>
          </a:p>
          <a:p>
            <a:pPr marL="36900" indent="0">
              <a:buNone/>
            </a:pPr>
            <a:r>
              <a:rPr lang="en-AU" sz="2600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F200F6-785C-41CF-A0D1-D89B135572D6}"/>
              </a:ext>
            </a:extLst>
          </p:cNvPr>
          <p:cNvSpPr/>
          <p:nvPr/>
        </p:nvSpPr>
        <p:spPr>
          <a:xfrm>
            <a:off x="2488767" y="4709377"/>
            <a:ext cx="746449" cy="64949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915703-FCCD-4AFC-A590-319A7B874AE5}"/>
              </a:ext>
            </a:extLst>
          </p:cNvPr>
          <p:cNvSpPr/>
          <p:nvPr/>
        </p:nvSpPr>
        <p:spPr>
          <a:xfrm>
            <a:off x="3776468" y="4728830"/>
            <a:ext cx="1175657" cy="649498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598481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0" y="2685778"/>
            <a:ext cx="11977284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AU" sz="2600" dirty="0"/>
              <a:t>   </a:t>
            </a:r>
          </a:p>
          <a:p>
            <a:pPr marL="36900" indent="0">
              <a:buNone/>
            </a:pPr>
            <a:r>
              <a:rPr lang="en-AU" sz="2600" dirty="0">
                <a:solidFill>
                  <a:schemeClr val="tx1"/>
                </a:solidFill>
              </a:rPr>
              <a:t>    </a:t>
            </a:r>
            <a:r>
              <a:rPr lang="en-US" sz="2800" dirty="0">
                <a:solidFill>
                  <a:schemeClr val="tx1"/>
                </a:solidFill>
              </a:rPr>
              <a:t>The SELECT statement:</a:t>
            </a:r>
          </a:p>
          <a:p>
            <a:pPr marL="3690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returns first name and second name where user id equals to 1</a:t>
            </a:r>
          </a:p>
          <a:p>
            <a:pPr marL="3690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    returns all other users’ first name and second name from the "users" table. </a:t>
            </a:r>
            <a:endParaRPr lang="en-A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32479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9 is vulnerable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D2F46B-C432-43C8-BA7F-F2D3950B9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92" y="1793306"/>
            <a:ext cx="10602805" cy="799724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173443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SQLi: </a:t>
            </a:r>
            <a:r>
              <a:rPr lang="en-AU" sz="2800" dirty="0"/>
              <a:t>‘$id’ is an input and its value is not sanitized before it is used for this SELECT-based SQL statement.</a:t>
            </a:r>
          </a:p>
          <a:p>
            <a:pPr marL="36900" indent="0">
              <a:buNone/>
            </a:pPr>
            <a:r>
              <a:rPr lang="en-AU" sz="2600" dirty="0"/>
              <a:t>  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093275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/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this vulnerability?</a:t>
            </a:r>
          </a:p>
          <a:p>
            <a:r>
              <a:rPr lang="en-AU" sz="2800" dirty="0"/>
              <a:t>How to mitigate SQLi?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5854738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573" y="955763"/>
            <a:ext cx="11518754" cy="2473237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pPr lvl="1"/>
            <a:r>
              <a:rPr lang="en-AU" sz="2800" dirty="0"/>
              <a:t>A malicious user </a:t>
            </a:r>
            <a:r>
              <a:rPr lang="en-US" sz="2800" dirty="0"/>
              <a:t>injects some malicious SQL code into a web application.</a:t>
            </a:r>
          </a:p>
          <a:p>
            <a:pPr lvl="1"/>
            <a:r>
              <a:rPr lang="en-US" sz="2800" dirty="0"/>
              <a:t>The application implements a vulnerable logic that uses the code to interact with an SQL database.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622054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83" y="875605"/>
            <a:ext cx="10353762" cy="973895"/>
          </a:xfrm>
        </p:spPr>
        <p:txBody>
          <a:bodyPr/>
          <a:lstStyle/>
          <a:p>
            <a:r>
              <a:rPr lang="en-AU" sz="2800" dirty="0"/>
              <a:t>How does SQLi occur?</a:t>
            </a:r>
          </a:p>
          <a:p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18D28-BB64-4E43-AA5C-2D7830368B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484" y="1755648"/>
            <a:ext cx="10088383" cy="3398243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4A623C-77D7-4E94-9E52-9275CEED45A3}"/>
              </a:ext>
            </a:extLst>
          </p:cNvPr>
          <p:cNvSpPr/>
          <p:nvPr/>
        </p:nvSpPr>
        <p:spPr>
          <a:xfrm>
            <a:off x="4791456" y="2488871"/>
            <a:ext cx="195681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66814A-D4A0-4E6E-85E5-126C80F7E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5" y="5582533"/>
            <a:ext cx="10602805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615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theft. </a:t>
            </a:r>
          </a:p>
          <a:p>
            <a:pPr lvl="1"/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7F15833-C27D-4CD0-961E-0E17851C7710}"/>
              </a:ext>
            </a:extLst>
          </p:cNvPr>
          <p:cNvSpPr txBox="1">
            <a:spLocks/>
          </p:cNvSpPr>
          <p:nvPr/>
        </p:nvSpPr>
        <p:spPr>
          <a:xfrm>
            <a:off x="1015936" y="310866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endParaRPr lang="en-A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61779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450150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theft. </a:t>
            </a:r>
          </a:p>
          <a:p>
            <a:r>
              <a:rPr lang="en-AU" sz="2800" dirty="0"/>
              <a:t>How to mitigate SQLi?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080757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SQLi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4501509"/>
          </a:xfrm>
        </p:spPr>
        <p:txBody>
          <a:bodyPr>
            <a:normAutofit/>
          </a:bodyPr>
          <a:lstStyle/>
          <a:p>
            <a:r>
              <a:rPr lang="en-AU" sz="2800" dirty="0"/>
              <a:t>How does SQLi occur?</a:t>
            </a:r>
          </a:p>
          <a:p>
            <a:r>
              <a:rPr lang="en-AU" sz="2800" dirty="0"/>
              <a:t>How dangerous is SQLi?</a:t>
            </a:r>
          </a:p>
          <a:p>
            <a:pPr lvl="1"/>
            <a:r>
              <a:rPr lang="en-AU" sz="2800" dirty="0"/>
              <a:t>e.g., data theft. </a:t>
            </a:r>
          </a:p>
          <a:p>
            <a:r>
              <a:rPr lang="en-AU" sz="2800" dirty="0"/>
              <a:t>How to mitigate SQLi?</a:t>
            </a:r>
          </a:p>
          <a:p>
            <a:pPr lvl="1"/>
            <a:r>
              <a:rPr lang="en-AU" sz="2800" dirty="0"/>
              <a:t>e.g., input sanitisation</a:t>
            </a:r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756370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241" y="13306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824624A-CF1A-44BD-9619-6E3AFE1535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122259"/>
            <a:ext cx="10901505" cy="3714749"/>
          </a:xfrm>
        </p:spPr>
        <p:txBody>
          <a:bodyPr/>
          <a:lstStyle/>
          <a:p>
            <a:r>
              <a:rPr lang="en-AU" sz="2800" dirty="0"/>
              <a:t>What is </a:t>
            </a:r>
            <a:r>
              <a:rPr lang="en-US" sz="2800" dirty="0"/>
              <a:t>command injection?</a:t>
            </a:r>
          </a:p>
          <a:p>
            <a:pPr lvl="1"/>
            <a:r>
              <a:rPr lang="en-US" sz="2800" dirty="0"/>
              <a:t>I</a:t>
            </a:r>
            <a:r>
              <a:rPr lang="en-US" altLang="zh-CN" sz="2800" dirty="0"/>
              <a:t>t</a:t>
            </a:r>
            <a:r>
              <a:rPr lang="en-US" sz="2800" dirty="0"/>
              <a:t> is an attack that allows a malicious user to inject crafted shell commands into vulnerable web applications. These commands are then executed by the applications to break the CIA triad.</a:t>
            </a:r>
            <a:endParaRPr lang="en-AU" sz="2800" dirty="0"/>
          </a:p>
          <a:p>
            <a:pPr lvl="1"/>
            <a:endParaRPr lang="en-AU" sz="26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037565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789713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2498D8-E810-457D-A8F2-1E890C572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96" y="1618001"/>
            <a:ext cx="8383463" cy="484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6620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98C2A4E-1F47-4C12-AF2F-3D4F2F97CFD0}"/>
              </a:ext>
            </a:extLst>
          </p:cNvPr>
          <p:cNvSpPr txBox="1">
            <a:spLocks/>
          </p:cNvSpPr>
          <p:nvPr/>
        </p:nvSpPr>
        <p:spPr>
          <a:xfrm>
            <a:off x="589284" y="670461"/>
            <a:ext cx="9210699" cy="11186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142.250.124.139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B22276-0794-46FF-9864-7459F854E0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11" y="1826383"/>
            <a:ext cx="7912127" cy="456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947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705460"/>
            <a:ext cx="3673797" cy="882851"/>
          </a:xfrm>
        </p:spPr>
        <p:txBody>
          <a:bodyPr/>
          <a:lstStyle/>
          <a:p>
            <a:r>
              <a:rPr lang="en-AU" sz="2800" dirty="0"/>
              <a:t>How to run the demo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F7D9FE-EE23-4CBF-B7FE-81FEE12058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45" y="1320691"/>
            <a:ext cx="10903510" cy="520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42529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74509"/>
            <a:ext cx="10353762" cy="774577"/>
          </a:xfrm>
        </p:spPr>
        <p:txBody>
          <a:bodyPr/>
          <a:lstStyle/>
          <a:p>
            <a:r>
              <a:rPr lang="en-US" sz="4000" dirty="0"/>
              <a:t>Ping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F027B16-CA95-41CF-A89F-D89E732A0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49" y="849086"/>
            <a:ext cx="11556501" cy="3714749"/>
          </a:xfrm>
        </p:spPr>
        <p:txBody>
          <a:bodyPr/>
          <a:lstStyle/>
          <a:p>
            <a:r>
              <a:rPr lang="en-AU" sz="2400" dirty="0"/>
              <a:t>64 bytes: includes 56 </a:t>
            </a:r>
            <a:r>
              <a:rPr lang="en-US" altLang="zh-CN" sz="2400" dirty="0"/>
              <a:t>data bytes as ICMP (</a:t>
            </a:r>
            <a:r>
              <a:rPr lang="en-AU" sz="2400" dirty="0"/>
              <a:t>Internet Control Message Protocol</a:t>
            </a:r>
            <a:r>
              <a:rPr lang="en-US" altLang="zh-CN" sz="2400" dirty="0"/>
              <a:t>) message size, and </a:t>
            </a:r>
            <a:r>
              <a:rPr lang="en-AU" sz="2400" dirty="0"/>
              <a:t>8 bytes as ICMP header size</a:t>
            </a:r>
          </a:p>
          <a:p>
            <a:r>
              <a:rPr lang="en-AU" sz="2400" dirty="0" err="1"/>
              <a:t>icmp_seq</a:t>
            </a:r>
            <a:r>
              <a:rPr lang="en-AU" sz="2400" dirty="0"/>
              <a:t>: </a:t>
            </a:r>
            <a:r>
              <a:rPr lang="en-US" sz="2400" dirty="0"/>
              <a:t>the sequence number used to distinguish different requests and replies.</a:t>
            </a:r>
          </a:p>
        </p:txBody>
      </p:sp>
    </p:spTree>
    <p:extLst>
      <p:ext uri="{BB962C8B-B14F-4D97-AF65-F5344CB8AC3E}">
        <p14:creationId xmlns:p14="http://schemas.microsoft.com/office/powerpoint/2010/main" val="11631594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74509"/>
            <a:ext cx="10353762" cy="774577"/>
          </a:xfrm>
        </p:spPr>
        <p:txBody>
          <a:bodyPr/>
          <a:lstStyle/>
          <a:p>
            <a:r>
              <a:rPr lang="en-US" sz="4000" dirty="0"/>
              <a:t>Ping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F027B16-CA95-41CF-A89F-D89E732A0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49" y="849086"/>
            <a:ext cx="11556501" cy="3714749"/>
          </a:xfrm>
        </p:spPr>
        <p:txBody>
          <a:bodyPr/>
          <a:lstStyle/>
          <a:p>
            <a:r>
              <a:rPr lang="en-AU" sz="2400" dirty="0"/>
              <a:t>64 bytes: includes 56 </a:t>
            </a:r>
            <a:r>
              <a:rPr lang="en-US" altLang="zh-CN" sz="2400" dirty="0"/>
              <a:t>data bytes as ICMP (</a:t>
            </a:r>
            <a:r>
              <a:rPr lang="en-AU" sz="2400" dirty="0"/>
              <a:t>Internet Control Message Protocol</a:t>
            </a:r>
            <a:r>
              <a:rPr lang="en-US" altLang="zh-CN" sz="2400" dirty="0"/>
              <a:t>) message size, and </a:t>
            </a:r>
            <a:r>
              <a:rPr lang="en-AU" sz="2400" dirty="0"/>
              <a:t>8 bytes as ICMP header size</a:t>
            </a:r>
          </a:p>
          <a:p>
            <a:r>
              <a:rPr lang="en-AU" sz="2400" dirty="0" err="1"/>
              <a:t>icmp_seq</a:t>
            </a:r>
            <a:r>
              <a:rPr lang="en-AU" sz="2400" dirty="0"/>
              <a:t>: </a:t>
            </a:r>
            <a:r>
              <a:rPr lang="en-US" sz="2400" dirty="0"/>
              <a:t>the sequence number used to distinguish different ping requests and replies.</a:t>
            </a:r>
          </a:p>
          <a:p>
            <a:r>
              <a:rPr lang="en-US" sz="2400" dirty="0" err="1"/>
              <a:t>ttl</a:t>
            </a:r>
            <a:r>
              <a:rPr lang="en-US" sz="2400" dirty="0"/>
              <a:t> (time to live): the maximum number of routers a packet is allowed to travel before being discarded.</a:t>
            </a:r>
            <a:endParaRPr lang="en-AU" sz="24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919986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670461"/>
            <a:ext cx="9210699" cy="1118600"/>
          </a:xfrm>
        </p:spPr>
        <p:txBody>
          <a:bodyPr>
            <a:normAutofit fontScale="92500" lnSpcReduction="10000"/>
          </a:bodyPr>
          <a:lstStyle/>
          <a:p>
            <a:r>
              <a:rPr lang="en-AU" sz="2800" dirty="0"/>
              <a:t>How to run the demo</a:t>
            </a:r>
          </a:p>
          <a:p>
            <a:pPr lvl="1"/>
            <a:r>
              <a:rPr lang="en-AU" sz="2800" dirty="0"/>
              <a:t>For the input box: </a:t>
            </a:r>
            <a:r>
              <a:rPr lang="en-AU" sz="2800" dirty="0">
                <a:solidFill>
                  <a:srgbClr val="FF0000"/>
                </a:solidFill>
              </a:rPr>
              <a:t>142.250.124.139 ; cat /etc/passwd</a:t>
            </a:r>
            <a:endParaRPr lang="en-US" sz="2800" dirty="0">
              <a:solidFill>
                <a:srgbClr val="FF0000"/>
              </a:solidFill>
            </a:endParaRPr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579F9E-840A-40CF-8653-69754A9D1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527" y="1789061"/>
            <a:ext cx="8542998" cy="469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3573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F23623-59A9-446D-90BF-9300A9352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762" y="1452828"/>
            <a:ext cx="9952517" cy="499980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4FDE27-006A-4168-A8DD-253286BC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284" y="877906"/>
            <a:ext cx="3673797" cy="882851"/>
          </a:xfrm>
        </p:spPr>
        <p:txBody>
          <a:bodyPr/>
          <a:lstStyle/>
          <a:p>
            <a:r>
              <a:rPr lang="en-AU" sz="2800" dirty="0"/>
              <a:t>Demo</a:t>
            </a: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7179570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6"/>
            <a:ext cx="10353762" cy="914441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4233C35-7554-4D91-81D3-CD0A13ECD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928" y="1419299"/>
            <a:ext cx="9460569" cy="509319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4C436C-2212-4652-9608-E56F3DF5E298}"/>
              </a:ext>
            </a:extLst>
          </p:cNvPr>
          <p:cNvCxnSpPr>
            <a:cxnSpLocks/>
          </p:cNvCxnSpPr>
          <p:nvPr/>
        </p:nvCxnSpPr>
        <p:spPr>
          <a:xfrm>
            <a:off x="2018004" y="2178358"/>
            <a:ext cx="3699163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293CF86-DC62-41E8-8467-4AA5DDDFD75E}"/>
              </a:ext>
            </a:extLst>
          </p:cNvPr>
          <p:cNvCxnSpPr>
            <a:cxnSpLocks/>
          </p:cNvCxnSpPr>
          <p:nvPr/>
        </p:nvCxnSpPr>
        <p:spPr>
          <a:xfrm>
            <a:off x="2000679" y="2849773"/>
            <a:ext cx="4095321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ABC622-4EE1-466D-8324-9A7CEDC9D6B4}"/>
              </a:ext>
            </a:extLst>
          </p:cNvPr>
          <p:cNvCxnSpPr>
            <a:cxnSpLocks/>
          </p:cNvCxnSpPr>
          <p:nvPr/>
        </p:nvCxnSpPr>
        <p:spPr>
          <a:xfrm>
            <a:off x="2544966" y="5047356"/>
            <a:ext cx="6672649" cy="0"/>
          </a:xfrm>
          <a:prstGeom prst="line">
            <a:avLst/>
          </a:prstGeom>
          <a:ln w="349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7EE4751-1791-4AEA-AA51-8D04E48FF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286" y="860311"/>
            <a:ext cx="10353762" cy="799724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893873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74204C0-4AFF-4259-B1A9-A6255EA8E0D3}"/>
              </a:ext>
            </a:extLst>
          </p:cNvPr>
          <p:cNvSpPr txBox="1">
            <a:spLocks/>
          </p:cNvSpPr>
          <p:nvPr/>
        </p:nvSpPr>
        <p:spPr>
          <a:xfrm>
            <a:off x="576963" y="2296015"/>
            <a:ext cx="11271326" cy="24087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if (condition)</a:t>
            </a:r>
            <a:r>
              <a:rPr lang="en-AU" sz="2800" dirty="0"/>
              <a:t> is a statement;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() </a:t>
            </a:r>
            <a:r>
              <a:rPr lang="en-AU" sz="2800" dirty="0"/>
              <a:t>is a function; </a:t>
            </a:r>
            <a:r>
              <a:rPr lang="en-AU" sz="2800" dirty="0">
                <a:solidFill>
                  <a:srgbClr val="FF0000"/>
                </a:solidFill>
              </a:rPr>
              <a:t>$_POST </a:t>
            </a:r>
            <a:r>
              <a:rPr lang="en-AU" sz="2800" dirty="0"/>
              <a:t>is a variable; </a:t>
            </a:r>
            <a:r>
              <a:rPr lang="en-AU" sz="2800" dirty="0">
                <a:solidFill>
                  <a:srgbClr val="FF0000"/>
                </a:solidFill>
              </a:rPr>
              <a:t>‘Submit’</a:t>
            </a:r>
            <a:r>
              <a:rPr lang="en-AU" sz="2800" dirty="0"/>
              <a:t>  is a key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95FD-3928-45F8-98C8-6E9D6340C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58" y="1353477"/>
            <a:ext cx="7923188" cy="79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9569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3</a:t>
            </a:r>
            <a:endParaRPr lang="en-US" sz="2800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95FD-3928-45F8-98C8-6E9D6340C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58" y="1353477"/>
            <a:ext cx="7923188" cy="79972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9379882-5F52-4E40-AEBC-110CB3BABD00}"/>
              </a:ext>
            </a:extLst>
          </p:cNvPr>
          <p:cNvSpPr txBox="1">
            <a:spLocks/>
          </p:cNvSpPr>
          <p:nvPr/>
        </p:nvSpPr>
        <p:spPr>
          <a:xfrm>
            <a:off x="576962" y="2402094"/>
            <a:ext cx="11615038" cy="31024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/>
              <a:t>1. </a:t>
            </a:r>
            <a:r>
              <a:rPr lang="en-AU" sz="2800" dirty="0">
                <a:solidFill>
                  <a:srgbClr val="FF0000"/>
                </a:solidFill>
              </a:rPr>
              <a:t>$_POST [ ‘Submit‘ ] </a:t>
            </a:r>
            <a:r>
              <a:rPr lang="en-AU" sz="2800" dirty="0"/>
              <a:t>returns the value of the </a:t>
            </a:r>
            <a:r>
              <a:rPr lang="en-AU" sz="2800" dirty="0">
                <a:solidFill>
                  <a:srgbClr val="FF0000"/>
                </a:solidFill>
              </a:rPr>
              <a:t>‘Submit’ </a:t>
            </a:r>
            <a:r>
              <a:rPr lang="en-AU" sz="2800" dirty="0"/>
              <a:t>key;</a:t>
            </a:r>
          </a:p>
          <a:p>
            <a:r>
              <a:rPr lang="en-AU" sz="2800" dirty="0"/>
              <a:t>2. if the returned value from step 1 exists,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($_POST [ ‘Submit‘ ]) </a:t>
            </a:r>
            <a:r>
              <a:rPr lang="en-AU" sz="2800" dirty="0"/>
              <a:t>returns true, or false otherwise. </a:t>
            </a:r>
          </a:p>
          <a:p>
            <a:r>
              <a:rPr lang="en-AU" sz="2800" dirty="0"/>
              <a:t>3. if the returned value from step 2 is true, for </a:t>
            </a:r>
            <a:r>
              <a:rPr lang="en-AU" sz="2800" dirty="0">
                <a:solidFill>
                  <a:srgbClr val="FF0000"/>
                </a:solidFill>
              </a:rPr>
              <a:t>if ( </a:t>
            </a:r>
            <a:r>
              <a:rPr lang="en-AU" sz="2800" dirty="0" err="1">
                <a:solidFill>
                  <a:srgbClr val="FF0000"/>
                </a:solidFill>
              </a:rPr>
              <a:t>isset</a:t>
            </a:r>
            <a:r>
              <a:rPr lang="en-AU" sz="2800" dirty="0">
                <a:solidFill>
                  <a:srgbClr val="FF0000"/>
                </a:solidFill>
              </a:rPr>
              <a:t>($_POST [ ‘Submit‘ ])  ),  </a:t>
            </a:r>
            <a:r>
              <a:rPr lang="en-AU" sz="2800" dirty="0"/>
              <a:t>the web application executes code inside its body. </a:t>
            </a:r>
          </a:p>
        </p:txBody>
      </p:sp>
    </p:spTree>
    <p:extLst>
      <p:ext uri="{BB962C8B-B14F-4D97-AF65-F5344CB8AC3E}">
        <p14:creationId xmlns:p14="http://schemas.microsoft.com/office/powerpoint/2010/main" val="13301030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54544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963" y="696568"/>
            <a:ext cx="10353762" cy="799724"/>
          </a:xfrm>
        </p:spPr>
        <p:txBody>
          <a:bodyPr/>
          <a:lstStyle/>
          <a:p>
            <a:r>
              <a:rPr lang="en-AU" sz="2800" dirty="0"/>
              <a:t>Line 6</a:t>
            </a:r>
            <a:endParaRPr lang="en-US" sz="2800" dirty="0"/>
          </a:p>
          <a:p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75A36D-3C23-4A9A-BB7E-105AF3C66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963" y="1496292"/>
            <a:ext cx="7463934" cy="95454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1E21E5D-2492-4C2A-A62C-621E71BBA6AB}"/>
              </a:ext>
            </a:extLst>
          </p:cNvPr>
          <p:cNvSpPr txBox="1">
            <a:spLocks/>
          </p:cNvSpPr>
          <p:nvPr/>
        </p:nvSpPr>
        <p:spPr>
          <a:xfrm>
            <a:off x="576963" y="2526824"/>
            <a:ext cx="11355957" cy="397404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$target: </a:t>
            </a:r>
            <a:r>
              <a:rPr lang="en-AU" sz="2800" dirty="0"/>
              <a:t>a variable 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 </a:t>
            </a:r>
            <a:r>
              <a:rPr lang="en-AU" sz="2800" dirty="0"/>
              <a:t>returns the value of the ‘</a:t>
            </a:r>
            <a:r>
              <a:rPr lang="en-AU" sz="2800" dirty="0" err="1"/>
              <a:t>ip</a:t>
            </a:r>
            <a:r>
              <a:rPr lang="en-AU" sz="2800" dirty="0"/>
              <a:t>’ key, which is the input from the ‘Enter an IP address’ from the web page. 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767840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4F43F54-F5B1-4260-A7EE-99E69D9D2A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4537" y="5075434"/>
            <a:ext cx="10353762" cy="1477766"/>
          </a:xfrm>
        </p:spPr>
        <p:txBody>
          <a:bodyPr>
            <a:normAutofit fontScale="92500" lnSpcReduction="20000"/>
          </a:bodyPr>
          <a:lstStyle/>
          <a:p>
            <a:r>
              <a:rPr lang="en-AU" sz="2800" dirty="0"/>
              <a:t>What does </a:t>
            </a:r>
            <a:r>
              <a:rPr lang="en-AU" sz="2800" dirty="0">
                <a:solidFill>
                  <a:srgbClr val="FF0000"/>
                </a:solidFill>
              </a:rPr>
              <a:t>$target</a:t>
            </a:r>
            <a:r>
              <a:rPr lang="en-AU" sz="2800" dirty="0"/>
              <a:t> equal to? The value from </a:t>
            </a:r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</a:t>
            </a:r>
          </a:p>
          <a:p>
            <a:r>
              <a:rPr lang="en-AU" sz="2800" dirty="0">
                <a:solidFill>
                  <a:srgbClr val="FF0000"/>
                </a:solidFill>
              </a:rPr>
              <a:t>$_REQUEST[ ‘</a:t>
            </a:r>
            <a:r>
              <a:rPr lang="en-AU" sz="2800" dirty="0" err="1">
                <a:solidFill>
                  <a:srgbClr val="FF0000"/>
                </a:solidFill>
              </a:rPr>
              <a:t>ip</a:t>
            </a:r>
            <a:r>
              <a:rPr lang="en-AU" sz="2800" dirty="0">
                <a:solidFill>
                  <a:srgbClr val="FF0000"/>
                </a:solidFill>
              </a:rPr>
              <a:t>’ ] </a:t>
            </a:r>
            <a:r>
              <a:rPr lang="en-AU" sz="2800" dirty="0"/>
              <a:t>returns the value of the ‘</a:t>
            </a:r>
            <a:r>
              <a:rPr lang="en-AU" sz="2800" dirty="0" err="1"/>
              <a:t>ip</a:t>
            </a:r>
            <a:r>
              <a:rPr lang="en-AU" sz="2800" dirty="0"/>
              <a:t>’ key, which is the user input from the ‘Enter an IP address’ from the web page. </a:t>
            </a:r>
          </a:p>
          <a:p>
            <a:endParaRPr lang="en-AU" sz="2800" dirty="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9ADD435A-D533-4222-B456-02D19EE3B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8E20AFB-0F5D-412D-9B99-5409B2742B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37" y="849062"/>
            <a:ext cx="10905357" cy="3994501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54D490E3-9CE5-4B3D-9453-052AAFF4456E}"/>
              </a:ext>
            </a:extLst>
          </p:cNvPr>
          <p:cNvSpPr/>
          <p:nvPr/>
        </p:nvSpPr>
        <p:spPr>
          <a:xfrm>
            <a:off x="3286506" y="2012728"/>
            <a:ext cx="1956816" cy="64692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1690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283E0DA-77D5-48F7-9B9A-2D157BF4553B}"/>
              </a:ext>
            </a:extLst>
          </p:cNvPr>
          <p:cNvSpPr txBox="1">
            <a:spLocks/>
          </p:cNvSpPr>
          <p:nvPr/>
        </p:nvSpPr>
        <p:spPr>
          <a:xfrm>
            <a:off x="474093" y="2867515"/>
            <a:ext cx="11271326" cy="351423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$</a:t>
            </a:r>
            <a:r>
              <a:rPr lang="en-AU" sz="2800" dirty="0" err="1">
                <a:solidFill>
                  <a:srgbClr val="FF0000"/>
                </a:solidFill>
              </a:rPr>
              <a:t>cmd</a:t>
            </a:r>
            <a:r>
              <a:rPr lang="en-AU" sz="2800" dirty="0">
                <a:solidFill>
                  <a:srgbClr val="FF0000"/>
                </a:solidFill>
              </a:rPr>
              <a:t> </a:t>
            </a:r>
            <a:r>
              <a:rPr lang="en-AU" sz="2800" dirty="0"/>
              <a:t>is a variable; </a:t>
            </a:r>
            <a:r>
              <a:rPr lang="en-AU" sz="2800" dirty="0" err="1">
                <a:solidFill>
                  <a:srgbClr val="FF0000"/>
                </a:solidFill>
              </a:rPr>
              <a:t>shell_exec</a:t>
            </a:r>
            <a:r>
              <a:rPr lang="en-AU" sz="2800" dirty="0">
                <a:solidFill>
                  <a:srgbClr val="FF0000"/>
                </a:solidFill>
              </a:rPr>
              <a:t>(command) </a:t>
            </a:r>
            <a:r>
              <a:rPr lang="en-AU" sz="2800" dirty="0"/>
              <a:t>is a function; </a:t>
            </a:r>
            <a:r>
              <a:rPr lang="en-AU" sz="2800" dirty="0">
                <a:solidFill>
                  <a:srgbClr val="FF0000"/>
                </a:solidFill>
              </a:rPr>
              <a:t>‘ping –c 4’ </a:t>
            </a:r>
            <a:r>
              <a:rPr lang="en-AU" sz="2800" dirty="0"/>
              <a:t>is a shell command that sends 4 network packets; The dot (</a:t>
            </a:r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AU" sz="2800" dirty="0"/>
              <a:t>) is an operator; </a:t>
            </a:r>
            <a:r>
              <a:rPr lang="en-AU" sz="2800" dirty="0">
                <a:solidFill>
                  <a:srgbClr val="FF0000"/>
                </a:solidFill>
              </a:rPr>
              <a:t>$target </a:t>
            </a:r>
            <a:r>
              <a:rPr lang="en-AU" sz="2800" dirty="0"/>
              <a:t>is a variable.</a:t>
            </a:r>
          </a:p>
          <a:p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2763411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283E0DA-77D5-48F7-9B9A-2D157BF4553B}"/>
              </a:ext>
            </a:extLst>
          </p:cNvPr>
          <p:cNvSpPr txBox="1">
            <a:spLocks/>
          </p:cNvSpPr>
          <p:nvPr/>
        </p:nvSpPr>
        <p:spPr>
          <a:xfrm>
            <a:off x="474093" y="2867515"/>
            <a:ext cx="11271326" cy="351423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 err="1">
                <a:solidFill>
                  <a:srgbClr val="FF0000"/>
                </a:solidFill>
              </a:rPr>
              <a:t>shell_exec</a:t>
            </a:r>
            <a:r>
              <a:rPr lang="en-AU" sz="2800" dirty="0">
                <a:solidFill>
                  <a:srgbClr val="FF0000"/>
                </a:solidFill>
              </a:rPr>
              <a:t>(command) </a:t>
            </a:r>
            <a:r>
              <a:rPr lang="en-US" sz="2800" dirty="0"/>
              <a:t>takes a </a:t>
            </a:r>
            <a:r>
              <a:rPr lang="en-US" sz="2800" dirty="0">
                <a:solidFill>
                  <a:srgbClr val="FF0000"/>
                </a:solidFill>
              </a:rPr>
              <a:t>command</a:t>
            </a:r>
            <a:r>
              <a:rPr lang="en-US" sz="2800" dirty="0"/>
              <a:t> as a string input and returns an output generated by the </a:t>
            </a:r>
            <a:r>
              <a:rPr lang="en-US" sz="2800" dirty="0">
                <a:solidFill>
                  <a:srgbClr val="FF0000"/>
                </a:solidFill>
              </a:rPr>
              <a:t>command</a:t>
            </a:r>
            <a:r>
              <a:rPr lang="en-US" sz="2800" dirty="0"/>
              <a:t> as a string.</a:t>
            </a:r>
          </a:p>
          <a:p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US" sz="2800" dirty="0"/>
              <a:t> concatenates two strings together.</a:t>
            </a:r>
            <a:endParaRPr lang="en-AU" sz="2800" dirty="0"/>
          </a:p>
          <a:p>
            <a:pPr marL="36900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  <a:p>
            <a:pPr marL="450000" lvl="1" indent="0">
              <a:buNone/>
            </a:pPr>
            <a:endParaRPr lang="en-US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488744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4B82124-64BE-4551-B515-BC8CEF397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9335" y="75717"/>
            <a:ext cx="10353762" cy="773345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5C090A-BF9E-416E-92B6-05235E31AE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C3AFE85-B4CA-481F-AF16-9F34CF2E6252}"/>
              </a:ext>
            </a:extLst>
          </p:cNvPr>
          <p:cNvSpPr txBox="1">
            <a:spLocks/>
          </p:cNvSpPr>
          <p:nvPr/>
        </p:nvSpPr>
        <p:spPr>
          <a:xfrm>
            <a:off x="656713" y="2873189"/>
            <a:ext cx="10747745" cy="382449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‘.’</a:t>
            </a:r>
            <a:r>
              <a:rPr lang="en-US" sz="2800" dirty="0"/>
              <a:t> concatenates two strings together.</a:t>
            </a:r>
            <a:endParaRPr lang="en-AU" sz="2800" dirty="0">
              <a:solidFill>
                <a:schemeClr val="tx1"/>
              </a:solidFill>
            </a:endParaRPr>
          </a:p>
          <a:p>
            <a:r>
              <a:rPr lang="en-AU" sz="2800" dirty="0">
                <a:solidFill>
                  <a:schemeClr val="tx1"/>
                </a:solidFill>
              </a:rPr>
              <a:t>When </a:t>
            </a:r>
            <a:r>
              <a:rPr lang="en-AU" sz="2800" dirty="0">
                <a:solidFill>
                  <a:srgbClr val="FF0000"/>
                </a:solidFill>
              </a:rPr>
              <a:t>$target</a:t>
            </a:r>
            <a:r>
              <a:rPr lang="en-AU" sz="2800" dirty="0">
                <a:solidFill>
                  <a:schemeClr val="tx1"/>
                </a:solidFill>
              </a:rPr>
              <a:t> equals to </a:t>
            </a:r>
            <a:r>
              <a:rPr lang="en-AU" sz="2800" dirty="0">
                <a:solidFill>
                  <a:srgbClr val="FF0000"/>
                </a:solidFill>
              </a:rPr>
              <a:t>‘142.250.124.139 ; cat /etc/passwd’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The whole input for </a:t>
            </a:r>
            <a:r>
              <a:rPr lang="en-US" sz="2800" dirty="0" err="1">
                <a:solidFill>
                  <a:schemeClr val="tx1"/>
                </a:solidFill>
              </a:rPr>
              <a:t>shell_exec</a:t>
            </a:r>
            <a:r>
              <a:rPr lang="en-US" sz="2800" dirty="0">
                <a:solidFill>
                  <a:schemeClr val="tx1"/>
                </a:solidFill>
              </a:rPr>
              <a:t>() becomes a string as below: 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rgbClr val="FF0000"/>
                </a:solidFill>
              </a:rPr>
              <a:t>’ping –c 4 </a:t>
            </a:r>
            <a:r>
              <a:rPr lang="en-AU" sz="2800" dirty="0">
                <a:solidFill>
                  <a:srgbClr val="FF0000"/>
                </a:solidFill>
              </a:rPr>
              <a:t>142.250.124.139 ; cat /etc/passwd</a:t>
            </a:r>
            <a:r>
              <a:rPr lang="en-US" sz="2800" dirty="0">
                <a:solidFill>
                  <a:srgbClr val="FF0000"/>
                </a:solidFill>
              </a:rPr>
              <a:t>’ </a:t>
            </a:r>
          </a:p>
          <a:p>
            <a:pPr marL="450000" lvl="1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The command will be executed by executing the </a:t>
            </a:r>
            <a:r>
              <a:rPr lang="en-US" sz="2800" dirty="0">
                <a:solidFill>
                  <a:srgbClr val="FF0000"/>
                </a:solidFill>
              </a:rPr>
              <a:t>ping</a:t>
            </a:r>
            <a:r>
              <a:rPr lang="en-US" sz="2800" dirty="0">
                <a:solidFill>
                  <a:schemeClr val="tx1"/>
                </a:solidFill>
              </a:rPr>
              <a:t> and </a:t>
            </a:r>
            <a:r>
              <a:rPr lang="en-US" sz="2800" dirty="0">
                <a:solidFill>
                  <a:srgbClr val="FF0000"/>
                </a:solidFill>
              </a:rPr>
              <a:t>cat</a:t>
            </a:r>
            <a:r>
              <a:rPr lang="en-US" sz="2800" dirty="0">
                <a:solidFill>
                  <a:schemeClr val="tx1"/>
                </a:solidFill>
              </a:rPr>
              <a:t> commands and its output will be assigned to $cmd. </a:t>
            </a:r>
            <a:endParaRPr lang="en-A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7424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4093" y="879448"/>
            <a:ext cx="10353762" cy="799724"/>
          </a:xfrm>
        </p:spPr>
        <p:txBody>
          <a:bodyPr/>
          <a:lstStyle/>
          <a:p>
            <a:r>
              <a:rPr lang="en-AU" sz="2800" dirty="0"/>
              <a:t>Line 16 is vulnerable</a:t>
            </a:r>
            <a:endParaRPr lang="en-US" sz="2800" dirty="0"/>
          </a:p>
          <a:p>
            <a:endParaRPr lang="en-AU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8746E24-E9C2-4B10-A76B-842D8D36B280}"/>
              </a:ext>
            </a:extLst>
          </p:cNvPr>
          <p:cNvSpPr txBox="1">
            <a:spLocks/>
          </p:cNvSpPr>
          <p:nvPr/>
        </p:nvSpPr>
        <p:spPr>
          <a:xfrm>
            <a:off x="496952" y="2873190"/>
            <a:ext cx="11538838" cy="232278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solidFill>
                  <a:srgbClr val="FF0000"/>
                </a:solidFill>
              </a:rPr>
              <a:t>Root cause of command injection: </a:t>
            </a:r>
            <a:r>
              <a:rPr lang="en-AU" sz="2800" dirty="0"/>
              <a:t>‘$target’ is a variable and its value is decided by user inputs. The value is not sanitized before it is executed by the web application.</a:t>
            </a:r>
          </a:p>
          <a:p>
            <a:pPr marL="36900" indent="0">
              <a:buNone/>
            </a:pPr>
            <a:r>
              <a:rPr lang="en-AU" sz="2600" dirty="0"/>
              <a:t>   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D792DDF-07DF-470B-B386-022154071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13" y="1662026"/>
            <a:ext cx="9672880" cy="100497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21AE0263-BE44-4273-AD95-4694B2499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954088"/>
          </a:xfrm>
        </p:spPr>
        <p:txBody>
          <a:bodyPr/>
          <a:lstStyle/>
          <a:p>
            <a:r>
              <a:rPr lang="en-US" sz="4000" dirty="0"/>
              <a:t>Command Injection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38630863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endParaRPr lang="en-A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</p:spTree>
    <p:extLst>
      <p:ext uri="{BB962C8B-B14F-4D97-AF65-F5344CB8AC3E}">
        <p14:creationId xmlns:p14="http://schemas.microsoft.com/office/powerpoint/2010/main" val="5098057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325" y="1257300"/>
            <a:ext cx="11860701" cy="2473237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pPr lvl="1"/>
            <a:r>
              <a:rPr lang="en-AU" sz="2800" dirty="0"/>
              <a:t>A user </a:t>
            </a:r>
            <a:r>
              <a:rPr lang="en-US" sz="2800" dirty="0"/>
              <a:t>injects some malicious shell commands into a web application.</a:t>
            </a:r>
          </a:p>
          <a:p>
            <a:pPr lvl="1"/>
            <a:r>
              <a:rPr lang="en-US" sz="2800" dirty="0"/>
              <a:t>The application implements a vulnerable logic that executes the commands.</a:t>
            </a:r>
            <a:endParaRPr lang="en-AU" sz="2800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5981876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1435D-7AB2-4E7C-8EF1-70FB90F05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12573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983" y="1071759"/>
            <a:ext cx="10353762" cy="799725"/>
          </a:xfrm>
        </p:spPr>
        <p:txBody>
          <a:bodyPr/>
          <a:lstStyle/>
          <a:p>
            <a:r>
              <a:rPr lang="en-AU" sz="2800" dirty="0"/>
              <a:t>How does command injection occur?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78BC69-213D-4223-A219-C0F110C2B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4" y="1736881"/>
            <a:ext cx="10032951" cy="3488262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F4A623C-77D7-4E94-9E52-9275CEED45A3}"/>
              </a:ext>
            </a:extLst>
          </p:cNvPr>
          <p:cNvSpPr/>
          <p:nvPr/>
        </p:nvSpPr>
        <p:spPr>
          <a:xfrm>
            <a:off x="4805996" y="2536606"/>
            <a:ext cx="3292976" cy="84124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9AA6C7-6A83-46E8-8327-ED7E0D683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94" y="5387778"/>
            <a:ext cx="9601805" cy="1004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42741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9879B6-E764-497C-9358-4E7EA86DF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9" y="1306167"/>
            <a:ext cx="10353762" cy="3714749"/>
          </a:xfrm>
        </p:spPr>
        <p:txBody>
          <a:bodyPr>
            <a:normAutofit/>
          </a:bodyPr>
          <a:lstStyle/>
          <a:p>
            <a:r>
              <a:rPr lang="en-AU" sz="2800" dirty="0"/>
              <a:t>How does command injection occur?</a:t>
            </a:r>
          </a:p>
          <a:p>
            <a:r>
              <a:rPr lang="en-AU" sz="2800" dirty="0"/>
              <a:t>How to prevent command injection?</a:t>
            </a:r>
          </a:p>
          <a:p>
            <a:pPr lvl="1"/>
            <a:r>
              <a:rPr lang="en-AU" sz="2800" dirty="0"/>
              <a:t>e.g., input sanitisation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919DA0E-3463-484B-B44A-2E1519BC4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0"/>
            <a:ext cx="10353675" cy="1066800"/>
          </a:xfrm>
        </p:spPr>
        <p:txBody>
          <a:bodyPr/>
          <a:lstStyle/>
          <a:p>
            <a:r>
              <a:rPr lang="en-AU" dirty="0"/>
              <a:t>Command Injection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9514F62-0C30-45AE-BF6C-7D6F60AB0CB1}"/>
              </a:ext>
            </a:extLst>
          </p:cNvPr>
          <p:cNvSpPr txBox="1">
            <a:spLocks/>
          </p:cNvSpPr>
          <p:nvPr/>
        </p:nvSpPr>
        <p:spPr>
          <a:xfrm>
            <a:off x="1202739" y="3585816"/>
            <a:ext cx="6514952" cy="102219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AU" sz="2800" dirty="0">
                <a:solidFill>
                  <a:srgbClr val="FF0000"/>
                </a:solidFill>
              </a:rPr>
              <a:t>142.250.124.139 ; cat /etc/passwd</a:t>
            </a:r>
            <a:r>
              <a:rPr lang="en-US" sz="2800" dirty="0">
                <a:solidFill>
                  <a:srgbClr val="FF000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6401425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477AB-A4EE-4DE2-A76A-A8962C2DE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13967"/>
            <a:ext cx="10353762" cy="1257300"/>
          </a:xfrm>
        </p:spPr>
        <p:txBody>
          <a:bodyPr/>
          <a:lstStyle/>
          <a:p>
            <a:r>
              <a:rPr lang="en-AU" dirty="0"/>
              <a:t>Source Code Review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31887FB-D10F-4448-8F4C-D103A24E23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498" y="1306167"/>
            <a:ext cx="11251701" cy="3714749"/>
          </a:xfrm>
        </p:spPr>
        <p:txBody>
          <a:bodyPr>
            <a:normAutofit/>
          </a:bodyPr>
          <a:lstStyle/>
          <a:p>
            <a:r>
              <a:rPr lang="en-US" sz="2800" dirty="0"/>
              <a:t>Where does user input enter a web application?</a:t>
            </a:r>
            <a:r>
              <a:rPr lang="en-AU" sz="2800" dirty="0"/>
              <a:t>?</a:t>
            </a:r>
          </a:p>
          <a:p>
            <a:r>
              <a:rPr lang="en-US" sz="2800" dirty="0"/>
              <a:t>Is the input properly validated or sanitized before being used</a:t>
            </a:r>
            <a:r>
              <a:rPr lang="en-AU" sz="2800" dirty="0"/>
              <a:t>?</a:t>
            </a:r>
          </a:p>
          <a:p>
            <a:r>
              <a:rPr lang="en-US" sz="2800" dirty="0"/>
              <a:t>Does the application pass this input into a sensitive sink such as SQL queries, shell commands, file operations, or authentication checks?</a:t>
            </a:r>
            <a:endParaRPr lang="en-AU" sz="2800" dirty="0"/>
          </a:p>
          <a:p>
            <a:r>
              <a:rPr lang="en-US" sz="2800" dirty="0"/>
              <a:t>How to craft user input to alter the intended logic and gain unintended execution or </a:t>
            </a:r>
            <a:r>
              <a:rPr lang="en-US" sz="2800" dirty="0" err="1"/>
              <a:t>unauthorised</a:t>
            </a:r>
            <a:r>
              <a:rPr lang="en-US" sz="2800" dirty="0"/>
              <a:t> access?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5680560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0</TotalTime>
  <Words>2165</Words>
  <Application>Microsoft Office PowerPoint</Application>
  <PresentationFormat>Widescreen</PresentationFormat>
  <Paragraphs>341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Arial</vt:lpstr>
      <vt:lpstr>Calibri</vt:lpstr>
      <vt:lpstr>Georgia Pro Cond Light</vt:lpstr>
      <vt:lpstr>Speak Pro</vt:lpstr>
      <vt:lpstr>Wingdings 2</vt:lpstr>
      <vt:lpstr>SlateVTI</vt:lpstr>
      <vt:lpstr>CITS1003 Introduction to Cybersecurity [5] Vulnerabilities and Controls exercises</vt:lpstr>
      <vt:lpstr>PowerPoint Presentation</vt:lpstr>
      <vt:lpstr>DVWA</vt:lpstr>
      <vt:lpstr>Deploying DVWA</vt:lpstr>
      <vt:lpstr>IP Address and Network Port</vt:lpstr>
      <vt:lpstr>IP Address and Network Port</vt:lpstr>
      <vt:lpstr>IP Address and Network Port</vt:lpstr>
      <vt:lpstr>Deploying DVWA</vt:lpstr>
      <vt:lpstr>Deploying DVWA</vt:lpstr>
      <vt:lpstr>Deploying DVWA</vt:lpstr>
      <vt:lpstr>PowerPoint Presentation</vt:lpstr>
      <vt:lpstr>PowerPoint Presentation</vt:lpstr>
      <vt:lpstr>PowerPoint Presentation</vt:lpstr>
      <vt:lpstr>SQLi</vt:lpstr>
      <vt:lpstr>SQLi</vt:lpstr>
      <vt:lpstr>SQLi</vt:lpstr>
      <vt:lpstr>SQLi</vt:lpstr>
      <vt:lpstr>Command Injection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SQLi</vt:lpstr>
      <vt:lpstr>Command Injection</vt:lpstr>
      <vt:lpstr>Command Injection</vt:lpstr>
      <vt:lpstr>Command Injection</vt:lpstr>
      <vt:lpstr>Command Injection</vt:lpstr>
      <vt:lpstr>Ping</vt:lpstr>
      <vt:lpstr>Ping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Command Injection</vt:lpstr>
      <vt:lpstr>Source Code Review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2026-03-23T04:09:11Z</dcterms:created>
  <dcterms:modified xsi:type="dcterms:W3CDTF">2026-03-23T04:09:24Z</dcterms:modified>
</cp:coreProperties>
</file>