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3" r:id="rId1"/>
  </p:sldMasterIdLst>
  <p:notesMasterIdLst>
    <p:notesMasterId r:id="rId70"/>
  </p:notesMasterIdLst>
  <p:sldIdLst>
    <p:sldId id="256" r:id="rId2"/>
    <p:sldId id="260" r:id="rId3"/>
    <p:sldId id="445" r:id="rId4"/>
    <p:sldId id="443" r:id="rId5"/>
    <p:sldId id="1583" r:id="rId6"/>
    <p:sldId id="1582" r:id="rId7"/>
    <p:sldId id="1580" r:id="rId8"/>
    <p:sldId id="272" r:id="rId9"/>
    <p:sldId id="1558" r:id="rId10"/>
    <p:sldId id="1559" r:id="rId11"/>
    <p:sldId id="1560" r:id="rId12"/>
    <p:sldId id="1561" r:id="rId13"/>
    <p:sldId id="1562" r:id="rId14"/>
    <p:sldId id="1563" r:id="rId15"/>
    <p:sldId id="1557" r:id="rId16"/>
    <p:sldId id="450" r:id="rId17"/>
    <p:sldId id="480" r:id="rId18"/>
    <p:sldId id="451" r:id="rId19"/>
    <p:sldId id="461" r:id="rId20"/>
    <p:sldId id="452" r:id="rId21"/>
    <p:sldId id="462" r:id="rId22"/>
    <p:sldId id="453" r:id="rId23"/>
    <p:sldId id="463" r:id="rId24"/>
    <p:sldId id="455" r:id="rId25"/>
    <p:sldId id="454" r:id="rId26"/>
    <p:sldId id="481" r:id="rId27"/>
    <p:sldId id="464" r:id="rId28"/>
    <p:sldId id="466" r:id="rId29"/>
    <p:sldId id="467" r:id="rId30"/>
    <p:sldId id="465" r:id="rId31"/>
    <p:sldId id="456" r:id="rId32"/>
    <p:sldId id="468" r:id="rId33"/>
    <p:sldId id="388" r:id="rId34"/>
    <p:sldId id="459" r:id="rId35"/>
    <p:sldId id="1586" r:id="rId36"/>
    <p:sldId id="1584" r:id="rId37"/>
    <p:sldId id="483" r:id="rId38"/>
    <p:sldId id="460" r:id="rId39"/>
    <p:sldId id="473" r:id="rId40"/>
    <p:sldId id="387" r:id="rId41"/>
    <p:sldId id="475" r:id="rId42"/>
    <p:sldId id="484" r:id="rId43"/>
    <p:sldId id="476" r:id="rId44"/>
    <p:sldId id="477" r:id="rId45"/>
    <p:sldId id="478" r:id="rId46"/>
    <p:sldId id="479" r:id="rId47"/>
    <p:sldId id="470" r:id="rId48"/>
    <p:sldId id="1595" r:id="rId49"/>
    <p:sldId id="1594" r:id="rId50"/>
    <p:sldId id="1596" r:id="rId51"/>
    <p:sldId id="505" r:id="rId52"/>
    <p:sldId id="1597" r:id="rId53"/>
    <p:sldId id="1598" r:id="rId54"/>
    <p:sldId id="549" r:id="rId55"/>
    <p:sldId id="1592" r:id="rId56"/>
    <p:sldId id="1568" r:id="rId57"/>
    <p:sldId id="544" r:id="rId58"/>
    <p:sldId id="1574" r:id="rId59"/>
    <p:sldId id="1579" r:id="rId60"/>
    <p:sldId id="1576" r:id="rId61"/>
    <p:sldId id="1577" r:id="rId62"/>
    <p:sldId id="1575" r:id="rId63"/>
    <p:sldId id="1578" r:id="rId64"/>
    <p:sldId id="457" r:id="rId65"/>
    <p:sldId id="1564" r:id="rId66"/>
    <p:sldId id="1566" r:id="rId67"/>
    <p:sldId id="1567" r:id="rId68"/>
    <p:sldId id="159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8F6132-93F8-4F81-80E6-B21F36A98C0C}">
          <p14:sldIdLst>
            <p14:sldId id="256"/>
            <p14:sldId id="260"/>
            <p14:sldId id="445"/>
            <p14:sldId id="443"/>
            <p14:sldId id="1583"/>
            <p14:sldId id="1582"/>
            <p14:sldId id="1580"/>
            <p14:sldId id="272"/>
            <p14:sldId id="1558"/>
            <p14:sldId id="1559"/>
            <p14:sldId id="1560"/>
            <p14:sldId id="1561"/>
            <p14:sldId id="1562"/>
            <p14:sldId id="1563"/>
            <p14:sldId id="1557"/>
            <p14:sldId id="450"/>
            <p14:sldId id="480"/>
            <p14:sldId id="451"/>
            <p14:sldId id="461"/>
            <p14:sldId id="452"/>
            <p14:sldId id="462"/>
            <p14:sldId id="453"/>
            <p14:sldId id="463"/>
            <p14:sldId id="455"/>
            <p14:sldId id="454"/>
            <p14:sldId id="481"/>
            <p14:sldId id="464"/>
            <p14:sldId id="466"/>
            <p14:sldId id="467"/>
            <p14:sldId id="465"/>
            <p14:sldId id="456"/>
            <p14:sldId id="468"/>
            <p14:sldId id="388"/>
            <p14:sldId id="459"/>
            <p14:sldId id="1586"/>
            <p14:sldId id="1584"/>
            <p14:sldId id="483"/>
            <p14:sldId id="460"/>
            <p14:sldId id="473"/>
            <p14:sldId id="387"/>
            <p14:sldId id="475"/>
            <p14:sldId id="484"/>
            <p14:sldId id="476"/>
            <p14:sldId id="477"/>
            <p14:sldId id="478"/>
            <p14:sldId id="479"/>
            <p14:sldId id="470"/>
            <p14:sldId id="1595"/>
            <p14:sldId id="1594"/>
            <p14:sldId id="1596"/>
            <p14:sldId id="505"/>
            <p14:sldId id="1597"/>
            <p14:sldId id="1598"/>
            <p14:sldId id="549"/>
            <p14:sldId id="1592"/>
            <p14:sldId id="1568"/>
            <p14:sldId id="544"/>
            <p14:sldId id="1574"/>
            <p14:sldId id="1579"/>
            <p14:sldId id="1576"/>
            <p14:sldId id="1577"/>
            <p14:sldId id="1575"/>
            <p14:sldId id="1578"/>
            <p14:sldId id="457"/>
            <p14:sldId id="1564"/>
            <p14:sldId id="1566"/>
            <p14:sldId id="1567"/>
            <p14:sldId id="159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30" autoAdjust="0"/>
    <p:restoredTop sz="66476" autoAdjust="0"/>
  </p:normalViewPr>
  <p:slideViewPr>
    <p:cSldViewPr snapToGrid="0" snapToObjects="1">
      <p:cViewPr varScale="1">
        <p:scale>
          <a:sx n="78" d="100"/>
          <a:sy n="78" d="100"/>
        </p:scale>
        <p:origin x="8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15/6/2026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43397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2917725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1436303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469442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3416544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2543752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101736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951044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2494762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1745863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2983988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1113021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140388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221816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2881679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69623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3386289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3864231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fontAlgn="base">
              <a:buFont typeface="Symbol" panose="05050102010706020507" pitchFamily="18" charset="2"/>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1994091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2439732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3451395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279787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1057277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3381008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26899628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1142702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1449165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393811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33731282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8223181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29960120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3516033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1680107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3605297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31911037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28319982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2521746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2322425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1519511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2564385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4993874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9351073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38118699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5430898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614839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48</a:t>
            </a:fld>
            <a:endParaRPr lang="en-AU"/>
          </a:p>
        </p:txBody>
      </p:sp>
    </p:spTree>
    <p:extLst>
      <p:ext uri="{BB962C8B-B14F-4D97-AF65-F5344CB8AC3E}">
        <p14:creationId xmlns:p14="http://schemas.microsoft.com/office/powerpoint/2010/main" val="30460701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49</a:t>
            </a:fld>
            <a:endParaRPr lang="en-AU"/>
          </a:p>
        </p:txBody>
      </p:sp>
    </p:spTree>
    <p:extLst>
      <p:ext uri="{BB962C8B-B14F-4D97-AF65-F5344CB8AC3E}">
        <p14:creationId xmlns:p14="http://schemas.microsoft.com/office/powerpoint/2010/main" val="5582308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50</a:t>
            </a:fld>
            <a:endParaRPr lang="en-AU"/>
          </a:p>
        </p:txBody>
      </p:sp>
    </p:spTree>
    <p:extLst>
      <p:ext uri="{BB962C8B-B14F-4D97-AF65-F5344CB8AC3E}">
        <p14:creationId xmlns:p14="http://schemas.microsoft.com/office/powerpoint/2010/main" val="24294487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51</a:t>
            </a:fld>
            <a:endParaRPr lang="en-AU"/>
          </a:p>
        </p:txBody>
      </p:sp>
    </p:spTree>
    <p:extLst>
      <p:ext uri="{BB962C8B-B14F-4D97-AF65-F5344CB8AC3E}">
        <p14:creationId xmlns:p14="http://schemas.microsoft.com/office/powerpoint/2010/main" val="30281894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39621487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39414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753832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86894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5008585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062062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4944733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7444710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38475170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23788443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63</a:t>
            </a:fld>
            <a:endParaRPr lang="en-AU"/>
          </a:p>
        </p:txBody>
      </p:sp>
    </p:spTree>
    <p:extLst>
      <p:ext uri="{BB962C8B-B14F-4D97-AF65-F5344CB8AC3E}">
        <p14:creationId xmlns:p14="http://schemas.microsoft.com/office/powerpoint/2010/main" val="14383113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38066343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65</a:t>
            </a:fld>
            <a:endParaRPr lang="en-AU"/>
          </a:p>
        </p:txBody>
      </p:sp>
    </p:spTree>
    <p:extLst>
      <p:ext uri="{BB962C8B-B14F-4D97-AF65-F5344CB8AC3E}">
        <p14:creationId xmlns:p14="http://schemas.microsoft.com/office/powerpoint/2010/main" val="35206747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66</a:t>
            </a:fld>
            <a:endParaRPr lang="en-AU"/>
          </a:p>
        </p:txBody>
      </p:sp>
    </p:spTree>
    <p:extLst>
      <p:ext uri="{BB962C8B-B14F-4D97-AF65-F5344CB8AC3E}">
        <p14:creationId xmlns:p14="http://schemas.microsoft.com/office/powerpoint/2010/main" val="2939350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67</a:t>
            </a:fld>
            <a:endParaRPr lang="en-AU"/>
          </a:p>
        </p:txBody>
      </p:sp>
    </p:spTree>
    <p:extLst>
      <p:ext uri="{BB962C8B-B14F-4D97-AF65-F5344CB8AC3E}">
        <p14:creationId xmlns:p14="http://schemas.microsoft.com/office/powerpoint/2010/main" val="12692685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68</a:t>
            </a:fld>
            <a:endParaRPr lang="en-US"/>
          </a:p>
        </p:txBody>
      </p:sp>
    </p:spTree>
    <p:extLst>
      <p:ext uri="{BB962C8B-B14F-4D97-AF65-F5344CB8AC3E}">
        <p14:creationId xmlns:p14="http://schemas.microsoft.com/office/powerpoint/2010/main" val="185140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6/15/26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6/15/26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6/15/26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6/15/26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6/15/26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6/15/26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dirty="0"/>
            </a:br>
            <a:r>
              <a:rPr lang="en-US" sz="4800" dirty="0"/>
              <a:t>Exam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a:t>
            </a:r>
            <a:r>
              <a:rPr lang="en-US" dirty="0" err="1">
                <a:solidFill>
                  <a:srgbClr val="20D1FF"/>
                </a:solidFill>
              </a:rPr>
              <a:t>Zhi</a:t>
            </a:r>
            <a:r>
              <a:rPr lang="en-US" dirty="0">
                <a:solidFill>
                  <a:srgbClr val="20D1FF"/>
                </a:solidFill>
              </a:rPr>
              <a:t> Zhang</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Format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589944" y="1068742"/>
            <a:ext cx="10897206" cy="5053762"/>
          </a:xfrm>
        </p:spPr>
        <p:txBody>
          <a:bodyPr>
            <a:normAutofit/>
          </a:bodyPr>
          <a:lstStyle/>
          <a:p>
            <a:r>
              <a:rPr lang="en-AU" sz="2800" dirty="0"/>
              <a:t>The exam </a:t>
            </a:r>
            <a:r>
              <a:rPr lang="en-US" altLang="zh-CN" sz="2800" dirty="0"/>
              <a:t>is F2F and </a:t>
            </a:r>
            <a:r>
              <a:rPr lang="en-AU" sz="2800" dirty="0"/>
              <a:t>has a time limit of 2 hours.</a:t>
            </a:r>
          </a:p>
          <a:p>
            <a:r>
              <a:rPr lang="en-AU" sz="2800" dirty="0"/>
              <a:t>The exam is marked out of 100 points and is worth 50% of the overall unit mark.</a:t>
            </a:r>
          </a:p>
          <a:p>
            <a:r>
              <a:rPr lang="en-AU" sz="2800" dirty="0"/>
              <a:t>The exam is open book: any printed or written materials are allowed. </a:t>
            </a:r>
          </a:p>
          <a:p>
            <a:r>
              <a:rPr lang="en-AU" sz="2800" dirty="0">
                <a:effectLst/>
              </a:rPr>
              <a:t>UWA approved calculators with stickers are permitted.</a:t>
            </a:r>
            <a:endParaRPr lang="en-AU" sz="2800" dirty="0"/>
          </a:p>
        </p:txBody>
      </p:sp>
    </p:spTree>
    <p:extLst>
      <p:ext uri="{BB962C8B-B14F-4D97-AF65-F5344CB8AC3E}">
        <p14:creationId xmlns:p14="http://schemas.microsoft.com/office/powerpoint/2010/main" val="1112541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Instructions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6676" y="878242"/>
            <a:ext cx="12175324" cy="5560658"/>
          </a:xfrm>
        </p:spPr>
        <p:txBody>
          <a:bodyPr>
            <a:normAutofit/>
          </a:bodyPr>
          <a:lstStyle/>
          <a:p>
            <a:r>
              <a:rPr lang="en-AU" sz="2800" dirty="0"/>
              <a:t>For F2F exam :</a:t>
            </a:r>
          </a:p>
          <a:p>
            <a:pPr lvl="1"/>
            <a:r>
              <a:rPr lang="en-AU" sz="2800" dirty="0"/>
              <a:t>You will be provided with an answer booklet</a:t>
            </a:r>
          </a:p>
          <a:p>
            <a:pPr lvl="1"/>
            <a:r>
              <a:rPr lang="en-AU" sz="2800" dirty="0"/>
              <a:t>You should clearly state which questions of the final exam you are answering.</a:t>
            </a:r>
          </a:p>
          <a:p>
            <a:pPr lvl="1"/>
            <a:r>
              <a:rPr lang="en-AU" sz="2800" dirty="0"/>
              <a:t>Please do NOT use a pencil or a red pen.</a:t>
            </a:r>
          </a:p>
          <a:p>
            <a:pPr lvl="1"/>
            <a:r>
              <a:rPr lang="en-AU" sz="2800" dirty="0"/>
              <a:t>Please use readable handwriting. What cannot be read cannot be marked.</a:t>
            </a:r>
          </a:p>
          <a:p>
            <a:endParaRPr lang="en-AU" sz="2800" dirty="0"/>
          </a:p>
          <a:p>
            <a:pPr marL="36900" indent="0">
              <a:buNone/>
            </a:pPr>
            <a:endParaRPr lang="en-AU" dirty="0"/>
          </a:p>
        </p:txBody>
      </p:sp>
    </p:spTree>
    <p:extLst>
      <p:ext uri="{BB962C8B-B14F-4D97-AF65-F5344CB8AC3E}">
        <p14:creationId xmlns:p14="http://schemas.microsoft.com/office/powerpoint/2010/main" val="130609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68196"/>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1153036"/>
            <a:ext cx="11818975" cy="5374888"/>
          </a:xfrm>
        </p:spPr>
        <p:txBody>
          <a:bodyPr>
            <a:noAutofit/>
          </a:bodyPr>
          <a:lstStyle/>
          <a:p>
            <a:r>
              <a:rPr lang="en-AU" sz="2400" dirty="0"/>
              <a:t>Basic Unit Information (4 marks only)</a:t>
            </a:r>
          </a:p>
        </p:txBody>
      </p:sp>
    </p:spTree>
    <p:extLst>
      <p:ext uri="{BB962C8B-B14F-4D97-AF65-F5344CB8AC3E}">
        <p14:creationId xmlns:p14="http://schemas.microsoft.com/office/powerpoint/2010/main" val="4009072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68196"/>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1153036"/>
            <a:ext cx="11818975" cy="5374888"/>
          </a:xfrm>
        </p:spPr>
        <p:txBody>
          <a:bodyPr>
            <a:noAutofit/>
          </a:bodyPr>
          <a:lstStyle/>
          <a:p>
            <a:r>
              <a:rPr lang="en-AU" sz="2400" dirty="0"/>
              <a:t>Basic Unit Information (4 marks only)</a:t>
            </a:r>
          </a:p>
          <a:p>
            <a:r>
              <a:rPr lang="en-AU" sz="2400" dirty="0"/>
              <a:t>7 themed questions in 5 topics (96 marks)</a:t>
            </a:r>
          </a:p>
          <a:p>
            <a:pPr lvl="1"/>
            <a:r>
              <a:rPr lang="en-AU" sz="2400" dirty="0"/>
              <a:t>AI in cybersecurity (live-lecture)</a:t>
            </a:r>
          </a:p>
          <a:p>
            <a:pPr lvl="1"/>
            <a:r>
              <a:rPr lang="en-AU" sz="2400" dirty="0"/>
              <a:t>Computer Systems </a:t>
            </a:r>
          </a:p>
          <a:p>
            <a:pPr marL="810000" lvl="2" indent="0">
              <a:buNone/>
            </a:pPr>
            <a:r>
              <a:rPr lang="en-AU" sz="2400" dirty="0"/>
              <a:t>(Cyber concepts in </a:t>
            </a:r>
            <a:r>
              <a:rPr lang="en-AU" sz="2400" b="1" dirty="0"/>
              <a:t>Week1’s</a:t>
            </a:r>
            <a:r>
              <a:rPr lang="zh-CN" altLang="en-US" sz="2400" b="1" dirty="0"/>
              <a:t> </a:t>
            </a:r>
            <a:r>
              <a:rPr lang="en-AU" altLang="zh-CN" sz="2400" b="1" dirty="0"/>
              <a:t>live</a:t>
            </a:r>
            <a:r>
              <a:rPr lang="zh-CN" altLang="en-US" sz="2400" b="1" dirty="0"/>
              <a:t> </a:t>
            </a:r>
            <a:r>
              <a:rPr lang="en-AU" altLang="zh-CN" sz="2400" b="1" dirty="0"/>
              <a:t>lecture</a:t>
            </a:r>
            <a:r>
              <a:rPr lang="en-AU" sz="2400" b="1" dirty="0"/>
              <a:t> </a:t>
            </a:r>
            <a:r>
              <a:rPr lang="en-AU" sz="2400" dirty="0"/>
              <a:t>with a Linux command in </a:t>
            </a:r>
            <a:r>
              <a:rPr lang="en-AU" sz="2400" b="1" dirty="0"/>
              <a:t>S</a:t>
            </a:r>
            <a:r>
              <a:rPr lang="en-US" altLang="zh-CN" sz="2400" b="1" dirty="0"/>
              <a:t>ection1.3 in</a:t>
            </a:r>
            <a:r>
              <a:rPr lang="en-AU" sz="2400" b="1" dirty="0"/>
              <a:t> Lab3)</a:t>
            </a:r>
            <a:endParaRPr lang="en-AU" sz="2400" dirty="0"/>
          </a:p>
          <a:p>
            <a:pPr lvl="1"/>
            <a:r>
              <a:rPr lang="en-AU" sz="2400" dirty="0"/>
              <a:t>Cryptography (pre-recorded videos and live-lecture)</a:t>
            </a:r>
          </a:p>
          <a:p>
            <a:pPr lvl="1"/>
            <a:r>
              <a:rPr lang="en-AU" sz="2400" dirty="0"/>
              <a:t>Threats (live-lecture)</a:t>
            </a:r>
          </a:p>
          <a:p>
            <a:pPr lvl="1"/>
            <a:r>
              <a:rPr lang="en-AU" sz="2400" dirty="0"/>
              <a:t>Security Assessment (live-lecture)</a:t>
            </a:r>
          </a:p>
        </p:txBody>
      </p:sp>
    </p:spTree>
    <p:extLst>
      <p:ext uri="{BB962C8B-B14F-4D97-AF65-F5344CB8AC3E}">
        <p14:creationId xmlns:p14="http://schemas.microsoft.com/office/powerpoint/2010/main" val="3730813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860"/>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741556"/>
            <a:ext cx="11818975" cy="5374888"/>
          </a:xfrm>
        </p:spPr>
        <p:txBody>
          <a:bodyPr>
            <a:noAutofit/>
          </a:bodyPr>
          <a:lstStyle/>
          <a:p>
            <a:r>
              <a:rPr lang="en-AU" sz="2600" dirty="0"/>
              <a:t>Slides for pre-recorded videos: </a:t>
            </a:r>
          </a:p>
          <a:p>
            <a:pPr marL="450000" lvl="1" indent="0">
              <a:buNone/>
            </a:pPr>
            <a:r>
              <a:rPr lang="en-AU" sz="2600" dirty="0"/>
              <a:t>https://github.com/uwacyber/cits1003/tree/2022s1/preparation-lecture-slides</a:t>
            </a:r>
          </a:p>
          <a:p>
            <a:r>
              <a:rPr lang="en-AU" sz="2600" dirty="0"/>
              <a:t>A themed question describes a scenario where 1-3 actual questions are asked </a:t>
            </a:r>
          </a:p>
          <a:p>
            <a:r>
              <a:rPr lang="en-AU" sz="2400" dirty="0"/>
              <a:t>Demos in the live lectures will NOT be examined</a:t>
            </a:r>
          </a:p>
        </p:txBody>
      </p:sp>
    </p:spTree>
    <p:extLst>
      <p:ext uri="{BB962C8B-B14F-4D97-AF65-F5344CB8AC3E}">
        <p14:creationId xmlns:p14="http://schemas.microsoft.com/office/powerpoint/2010/main" val="2084434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729933" y="-1287"/>
            <a:ext cx="10353762" cy="843396"/>
          </a:xfrm>
        </p:spPr>
        <p:txBody>
          <a:bodyPr/>
          <a:lstStyle/>
          <a:p>
            <a:r>
              <a:rPr lang="en-AU" dirty="0"/>
              <a:t>Exam Content (</a:t>
            </a:r>
            <a:r>
              <a:rPr lang="en-AU" dirty="0">
                <a:solidFill>
                  <a:srgbClr val="FF0000"/>
                </a:solidFill>
              </a:rPr>
              <a:t>Deferred</a:t>
            </a:r>
            <a:r>
              <a:rPr lang="en-AU" dirty="0"/>
              <a:t>)</a:t>
            </a:r>
          </a:p>
        </p:txBody>
      </p:sp>
      <p:sp>
        <p:nvSpPr>
          <p:cNvPr id="8" name="Content Placeholder 2">
            <a:extLst>
              <a:ext uri="{FF2B5EF4-FFF2-40B4-BE49-F238E27FC236}">
                <a16:creationId xmlns:a16="http://schemas.microsoft.com/office/drawing/2014/main" id="{8FEF0C87-4708-0B5C-EC1F-7652E7D7C6EA}"/>
              </a:ext>
            </a:extLst>
          </p:cNvPr>
          <p:cNvSpPr>
            <a:spLocks noGrp="1"/>
          </p:cNvSpPr>
          <p:nvPr>
            <p:ph idx="1"/>
          </p:nvPr>
        </p:nvSpPr>
        <p:spPr>
          <a:xfrm>
            <a:off x="186512" y="1022408"/>
            <a:ext cx="11818975" cy="5374888"/>
          </a:xfrm>
        </p:spPr>
        <p:txBody>
          <a:bodyPr>
            <a:noAutofit/>
          </a:bodyPr>
          <a:lstStyle/>
          <a:p>
            <a:r>
              <a:rPr lang="en-AU" sz="2400" dirty="0"/>
              <a:t>8 themed questions in 5 topics (100 marks)</a:t>
            </a:r>
          </a:p>
          <a:p>
            <a:pPr lvl="1"/>
            <a:r>
              <a:rPr lang="en-AU" sz="2400" dirty="0"/>
              <a:t>AI in cybersecurity (live-lecture)</a:t>
            </a:r>
          </a:p>
          <a:p>
            <a:pPr lvl="1"/>
            <a:r>
              <a:rPr lang="en-AU" sz="2400" dirty="0"/>
              <a:t>Computer Systems </a:t>
            </a:r>
          </a:p>
          <a:p>
            <a:pPr marL="810000" lvl="2" indent="0">
              <a:buNone/>
            </a:pPr>
            <a:r>
              <a:rPr lang="en-AU" sz="2400" dirty="0"/>
              <a:t>(Cyber concepts in </a:t>
            </a:r>
            <a:r>
              <a:rPr lang="en-AU" sz="2400" b="1" dirty="0"/>
              <a:t>Week1’s</a:t>
            </a:r>
            <a:r>
              <a:rPr lang="zh-CN" altLang="en-US" sz="2400" b="1" dirty="0"/>
              <a:t> </a:t>
            </a:r>
            <a:r>
              <a:rPr lang="en-AU" altLang="zh-CN" sz="2400" b="1" dirty="0"/>
              <a:t>live</a:t>
            </a:r>
            <a:r>
              <a:rPr lang="zh-CN" altLang="en-US" sz="2400" b="1" dirty="0"/>
              <a:t> </a:t>
            </a:r>
            <a:r>
              <a:rPr lang="en-AU" altLang="zh-CN" sz="2400" b="1" dirty="0"/>
              <a:t>lecture</a:t>
            </a:r>
            <a:r>
              <a:rPr lang="en-AU" sz="2400" b="1" dirty="0"/>
              <a:t> </a:t>
            </a:r>
            <a:r>
              <a:rPr lang="en-AU" sz="2400" dirty="0"/>
              <a:t>with a Linux command in </a:t>
            </a:r>
            <a:r>
              <a:rPr lang="en-AU" sz="2400" b="1" dirty="0"/>
              <a:t>S</a:t>
            </a:r>
            <a:r>
              <a:rPr lang="en-US" altLang="zh-CN" sz="2400" b="1" dirty="0"/>
              <a:t>ection1.3 in</a:t>
            </a:r>
            <a:r>
              <a:rPr lang="en-AU" sz="2400" b="1" dirty="0"/>
              <a:t> Lab3)</a:t>
            </a:r>
            <a:endParaRPr lang="en-AU" sz="2400" dirty="0"/>
          </a:p>
          <a:p>
            <a:pPr lvl="1"/>
            <a:r>
              <a:rPr lang="en-AU" sz="2400" dirty="0"/>
              <a:t>Cryptography (pre-recorded videos and live-lecture)</a:t>
            </a:r>
          </a:p>
          <a:p>
            <a:pPr lvl="1"/>
            <a:r>
              <a:rPr lang="en-AU" sz="2400" dirty="0"/>
              <a:t>Threats (live-lecture)</a:t>
            </a:r>
          </a:p>
          <a:p>
            <a:pPr lvl="1"/>
            <a:r>
              <a:rPr lang="en-AU" sz="2400" dirty="0"/>
              <a:t>Security Assessment (live-lecture)</a:t>
            </a:r>
          </a:p>
        </p:txBody>
      </p:sp>
    </p:spTree>
    <p:extLst>
      <p:ext uri="{BB962C8B-B14F-4D97-AF65-F5344CB8AC3E}">
        <p14:creationId xmlns:p14="http://schemas.microsoft.com/office/powerpoint/2010/main" val="35181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29540"/>
            <a:ext cx="10353762" cy="543791"/>
          </a:xfrm>
        </p:spPr>
        <p:txBody>
          <a:bodyPr>
            <a:normAutofit fontScale="90000"/>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793611"/>
            <a:ext cx="11720945" cy="4493538"/>
          </a:xfrm>
          <a:prstGeom prst="rect">
            <a:avLst/>
          </a:prstGeom>
          <a:noFill/>
        </p:spPr>
        <p:txBody>
          <a:bodyPr wrap="square">
            <a:spAutoFit/>
          </a:bodyPr>
          <a:lstStyle/>
          <a:p>
            <a:pPr fontAlgn="base"/>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 are a malicious actor wanting to physically infiltrate the corporate headquarters of Company X. To do so, you will need to bypass the security camera system installed at the front door (the front door is the only way in). The camera system records video footage of people coming into the building and based on this, determines whether or not they have proper access. You do not know the specifics of the system, but you are at least certain that AI facial recognition is involved in identifying individuals. You thus begin to devise adversarial attack strategies to circumvent the system and gain illegal access to the building.</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p>
          <a:p>
            <a:pPr rtl="0">
              <a:spcBef>
                <a:spcPts val="0"/>
              </a:spcBef>
              <a:spcAft>
                <a:spcPts val="0"/>
              </a:spcAft>
            </a:pPr>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 </a:t>
            </a:r>
            <a:b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br>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Describe 3 possible challenges in devising mitigations against adversarial attacks for this system in the long-term.</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2683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1384995"/>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967945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108543"/>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black box</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we have no knowledge of how the AI system works including its model architecture, parameters and training dataset.</a:t>
            </a: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342774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288724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81779" y="1365295"/>
            <a:ext cx="11439160" cy="483209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a reasonable design (such as creating distortions) with an example (such as makeup).</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impact of the design on the AI system: the system will misidentify the attacker as an authorized individual or simply fail to recognize a face at all</a:t>
            </a:r>
          </a:p>
          <a:p>
            <a:br>
              <a:rPr lang="en-US" sz="2800" dirty="0"/>
            </a:b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29605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421017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077778"/>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76420" y="1115878"/>
            <a:ext cx="11439160" cy="5447645"/>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trade-off between security and user convenience: Implementing more stringent security measures may increase the system's resilience to attacks but could also make it more cumbersome for authorized users to access the building.</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complexity and resource requirements of maintaining a robust AI system: regularly updating the AI's training data, implementing new defenses, and monitoring the system can be time-consuming and resource-intensive.</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Updates or modifications to the system can inadvertently introduce new vulnerabilities to the system.</a:t>
            </a:r>
          </a:p>
          <a:p>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34362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49598" y="218826"/>
            <a:ext cx="10353762" cy="543791"/>
          </a:xfrm>
        </p:spPr>
        <p:txBody>
          <a:bodyPr>
            <a:normAutofit fontScale="90000"/>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933136"/>
            <a:ext cx="11720945" cy="5047536"/>
          </a:xfrm>
          <a:prstGeom prst="rect">
            <a:avLst/>
          </a:prstGeom>
          <a:noFill/>
        </p:spPr>
        <p:txBody>
          <a:bodyPr wrap="square">
            <a:spAutoFit/>
          </a:bodyPr>
          <a:lstStyle/>
          <a:p>
            <a:pPr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Dirty COW (Dirty copy-on-write) is a computer security vulnerability for the Linux kernel that affected many Linux-based operating systems. It is a local privilege escalation bug that exploits a race condition in the implementation of the copy-on-write mechanism in the kernel's memory-management subsystem. The exploit allows an attacker to obtain root permissions on a Linux device, also known as privilege escalation. </a:t>
            </a: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Write a command to find all files or directories that start with the string "host" (e.g., host123.txt,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endPar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2109811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10171"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392029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970318"/>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US" sz="2800" dirty="0">
                <a:solidFill>
                  <a:srgbClr val="FF0000"/>
                </a:solidFill>
              </a:rPr>
              <a:t>recursively deleting all files and directories in the currently logged-in user’s home directory</a:t>
            </a:r>
            <a:r>
              <a:rPr lang="en-AU" sz="2800" dirty="0">
                <a:solidFill>
                  <a:srgbClr val="FF0000"/>
                </a:solidFill>
                <a:effectLst/>
                <a:ea typeface="Times New Roman" panose="02020603050405020304" pitchFamily="18" charset="0"/>
              </a:rPr>
              <a:t>: rm –rf ~/*</a:t>
            </a:r>
            <a:endParaRPr lang="en-AU" sz="2800" dirty="0">
              <a:effectLst/>
              <a:ea typeface="Times New Roman" panose="02020603050405020304" pitchFamily="18" charset="0"/>
            </a:endParaRPr>
          </a:p>
          <a:p>
            <a:pPr marL="342900" lvl="0" indent="-342900" fontAlgn="base">
              <a:buFont typeface="Symbol" panose="05050102010706020507" pitchFamily="18" charset="2"/>
              <a:buChar char=""/>
            </a:pPr>
            <a:r>
              <a:rPr lang="en-AU" sz="2800" dirty="0">
                <a:solidFill>
                  <a:srgbClr val="FF0000"/>
                </a:solidFill>
                <a:effectLst/>
                <a:ea typeface="Times New Roman" panose="02020603050405020304" pitchFamily="18" charset="0"/>
              </a:rPr>
              <a:t>[2 marks] </a:t>
            </a:r>
            <a:r>
              <a:rPr lang="en-AU" sz="2800" dirty="0">
                <a:solidFill>
                  <a:srgbClr val="FF0000"/>
                </a:solidFill>
                <a:ea typeface="Times New Roman" panose="02020603050405020304" pitchFamily="18" charset="0"/>
              </a:rPr>
              <a:t>Changing the</a:t>
            </a:r>
            <a:r>
              <a:rPr lang="en-AU" sz="2800" dirty="0">
                <a:solidFill>
                  <a:srgbClr val="FF0000"/>
                </a:solidFill>
                <a:effectLst/>
                <a:ea typeface="Times New Roman" panose="02020603050405020304" pitchFamily="18" charset="0"/>
              </a:rPr>
              <a:t> permission of a regular user Alice: </a:t>
            </a:r>
            <a:r>
              <a:rPr lang="en-AU" sz="2800" dirty="0" err="1">
                <a:solidFill>
                  <a:srgbClr val="FF0000"/>
                </a:solidFill>
                <a:effectLst/>
                <a:ea typeface="Times New Roman" panose="02020603050405020304" pitchFamily="18" charset="0"/>
              </a:rPr>
              <a:t>usermod</a:t>
            </a:r>
            <a:r>
              <a:rPr lang="en-AU" sz="2800" dirty="0">
                <a:solidFill>
                  <a:srgbClr val="FF0000"/>
                </a:solidFill>
                <a:effectLst/>
                <a:ea typeface="Times New Roman" panose="02020603050405020304" pitchFamily="18" charset="0"/>
              </a:rPr>
              <a:t> –u 0 Alice</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4179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87037" y="23190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181588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890419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35117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2677656"/>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users programs that users have installed from source.</a:t>
            </a: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optional add-on applications</a:t>
            </a:r>
          </a:p>
        </p:txBody>
      </p:sp>
    </p:spTree>
    <p:extLst>
      <p:ext uri="{BB962C8B-B14F-4D97-AF65-F5344CB8AC3E}">
        <p14:creationId xmlns:p14="http://schemas.microsoft.com/office/powerpoint/2010/main" val="3626462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93904"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9" y="1371745"/>
            <a:ext cx="9522229" cy="181588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or directories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p:txBody>
      </p:sp>
    </p:spTree>
    <p:extLst>
      <p:ext uri="{BB962C8B-B14F-4D97-AF65-F5344CB8AC3E}">
        <p14:creationId xmlns:p14="http://schemas.microsoft.com/office/powerpoint/2010/main" val="366752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8" y="1371745"/>
            <a:ext cx="10774161"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or directories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AU" sz="2800" dirty="0">
                <a:solidFill>
                  <a:srgbClr val="FF0000"/>
                </a:solidFill>
                <a:effectLst/>
                <a:ea typeface="Times New Roman" panose="02020603050405020304" pitchFamily="18" charset="0"/>
              </a:rPr>
              <a:t>find ~/ -name 'host*'</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1628170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1569660"/>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p>
        </p:txBody>
      </p:sp>
    </p:spTree>
    <p:extLst>
      <p:ext uri="{BB962C8B-B14F-4D97-AF65-F5344CB8AC3E}">
        <p14:creationId xmlns:p14="http://schemas.microsoft.com/office/powerpoint/2010/main" val="3592248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2677656"/>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p>
          <a:p>
            <a:pPr fontAlgn="base"/>
            <a:endParaRPr lang="en-AU" sz="2400" dirty="0">
              <a:solidFill>
                <a:srgbClr val="FF0000"/>
              </a:solidFill>
              <a:effectLst/>
              <a:ea typeface="Times New Roman" panose="02020603050405020304" pitchFamily="18" charset="0"/>
            </a:endParaRPr>
          </a:p>
          <a:p>
            <a:pPr marL="34290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AU" sz="2400" dirty="0">
                <a:solidFill>
                  <a:srgbClr val="FF0000"/>
                </a:solidFill>
              </a:rPr>
              <a:t>cat ~/cits1003.txt</a:t>
            </a: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mv ~/cits1003.txt ~/1003.txt</a:t>
            </a:r>
            <a:endParaRPr lang="en-AU" sz="2400" dirty="0">
              <a:solidFill>
                <a:srgbClr val="FF0000"/>
              </a:solidFill>
            </a:endParaRPr>
          </a:p>
        </p:txBody>
      </p:sp>
    </p:spTree>
    <p:extLst>
      <p:ext uri="{BB962C8B-B14F-4D97-AF65-F5344CB8AC3E}">
        <p14:creationId xmlns:p14="http://schemas.microsoft.com/office/powerpoint/2010/main" val="3533530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0628"/>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1039975"/>
            <a:ext cx="11720945" cy="4493538"/>
          </a:xfrm>
          <a:prstGeom prst="rect">
            <a:avLst/>
          </a:prstGeom>
          <a:noFill/>
        </p:spPr>
        <p:txBody>
          <a:bodyPr wrap="square">
            <a:spAutoFit/>
          </a:bodyPr>
          <a:lstStyle/>
          <a:p>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CEO of Australia’s leading take-away chicken restaurant, ‘Chicken Delight’, received an email to his company email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ceo@chickendelight.com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from a sender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chockendelight@gmail.com</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email claims to be the new Chicken Delight finance executive. The email asked the CEO to verify the company’s bank details for a new finance system by clicking on a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bit.ly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link provided in the email. The CEO clicked the link, causing Chicken Delight to lose over $80,000. As a result, the CEO was fired last night.</a:t>
            </a:r>
          </a:p>
          <a:p>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mark] Which specific Social Engineering Threat is this?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How could the company mitigate similar attacks in the future?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Can you name two features of the email that the CEO have failed to pick up on?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Let’s assume you have developed a spam email filter that is currently 100% effective at filtering out spam emails. Will this solve the spam email threat? Why or why not? Justify your answer.</a:t>
            </a:r>
          </a:p>
        </p:txBody>
      </p:sp>
    </p:spTree>
    <p:extLst>
      <p:ext uri="{BB962C8B-B14F-4D97-AF65-F5344CB8AC3E}">
        <p14:creationId xmlns:p14="http://schemas.microsoft.com/office/powerpoint/2010/main" val="2414964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97127"/>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072650"/>
            <a:ext cx="11720945" cy="461665"/>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p:txBody>
      </p:sp>
    </p:spTree>
    <p:extLst>
      <p:ext uri="{BB962C8B-B14F-4D97-AF65-F5344CB8AC3E}">
        <p14:creationId xmlns:p14="http://schemas.microsoft.com/office/powerpoint/2010/main" val="110243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08611"/>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253011"/>
            <a:ext cx="11720945" cy="120032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p:txBody>
      </p:sp>
    </p:spTree>
    <p:extLst>
      <p:ext uri="{BB962C8B-B14F-4D97-AF65-F5344CB8AC3E}">
        <p14:creationId xmlns:p14="http://schemas.microsoft.com/office/powerpoint/2010/main" val="2857348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7026"/>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61182"/>
            <a:ext cx="11720945" cy="1938992"/>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p:txBody>
      </p:sp>
    </p:spTree>
    <p:extLst>
      <p:ext uri="{BB962C8B-B14F-4D97-AF65-F5344CB8AC3E}">
        <p14:creationId xmlns:p14="http://schemas.microsoft.com/office/powerpoint/2010/main" val="1690056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22271"/>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employees should be trained to verify the authenticity of emails, especially those requesting sensitive information or financial transactions.</a:t>
            </a:r>
            <a:endPar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implement robust email filtering solutions to detect and block phishing emails before they reach employees' inboxes</a:t>
            </a: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t>
            </a:r>
          </a:p>
        </p:txBody>
      </p:sp>
    </p:spTree>
    <p:extLst>
      <p:ext uri="{BB962C8B-B14F-4D97-AF65-F5344CB8AC3E}">
        <p14:creationId xmlns:p14="http://schemas.microsoft.com/office/powerpoint/2010/main" val="146274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8"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02815"/>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two features of the spam email that the CEO have failed to pick up on? </a:t>
            </a:r>
          </a:p>
        </p:txBody>
      </p:sp>
    </p:spTree>
    <p:extLst>
      <p:ext uri="{BB962C8B-B14F-4D97-AF65-F5344CB8AC3E}">
        <p14:creationId xmlns:p14="http://schemas.microsoft.com/office/powerpoint/2010/main" val="56589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91274"/>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863905"/>
            <a:ext cx="11720945" cy="526297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lvl="0"/>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solidFill>
                  <a:srgbClr val="FF0000"/>
                </a:solidFill>
                <a:effectLst/>
                <a:ea typeface="DengXian" panose="02010600030101010101" pitchFamily="2" charset="-122"/>
                <a:cs typeface="Times New Roman" panose="02020603050405020304" pitchFamily="18" charset="0"/>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two features of the spam email that the CEO have failed to pick up on? </a:t>
            </a:r>
            <a:endParaRPr lang="en-AU" sz="2400" b="1" dirty="0">
              <a:solidFill>
                <a:srgbClr val="FF0000"/>
              </a:solidFill>
              <a:effectLst/>
              <a:latin typeface="Speak Pro (Body)"/>
              <a:ea typeface="Times New Roman" panose="02020603050405020304" pitchFamily="18" charset="0"/>
              <a:cs typeface="Arial" panose="020B0604020202020204" pitchFamily="34" charset="0"/>
            </a:endParaRP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an external email as a non-company email: the CEO email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chickendelight.com </a:t>
            </a:r>
            <a:r>
              <a:rPr lang="en-AU" sz="2400" dirty="0">
                <a:solidFill>
                  <a:srgbClr val="FF0000"/>
                </a:solidFill>
                <a:cs typeface="Arial" panose="020B0604020202020204" pitchFamily="34" charset="0"/>
              </a:rPr>
              <a:t>and the scammer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gmail.com</a:t>
            </a:r>
            <a:r>
              <a:rPr lang="en-AU" sz="2400" dirty="0">
                <a:solidFill>
                  <a:srgbClr val="FF0000"/>
                </a:solidFill>
                <a:cs typeface="Arial" panose="020B0604020202020204" pitchFamily="34" charset="0"/>
              </a:rPr>
              <a:t>)</a:t>
            </a: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the short URL link is unknown and can be malicious. </a:t>
            </a:r>
          </a:p>
        </p:txBody>
      </p:sp>
    </p:spTree>
    <p:extLst>
      <p:ext uri="{BB962C8B-B14F-4D97-AF65-F5344CB8AC3E}">
        <p14:creationId xmlns:p14="http://schemas.microsoft.com/office/powerpoint/2010/main" val="822221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6700"/>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1115067"/>
            <a:ext cx="11720945" cy="1107996"/>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Let’s assume you have developed a spam email filter that is currently 100% effective at filtering out existing spam emails. Will this solve the spam email threat? Why or why not? Justify your answer.</a:t>
            </a:r>
          </a:p>
        </p:txBody>
      </p:sp>
    </p:spTree>
    <p:extLst>
      <p:ext uri="{BB962C8B-B14F-4D97-AF65-F5344CB8AC3E}">
        <p14:creationId xmlns:p14="http://schemas.microsoft.com/office/powerpoint/2010/main" val="1468594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24312"/>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971899"/>
            <a:ext cx="11720945" cy="2954655"/>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Let’s assume you have developed a spam email filter that is currently 100% effective at filtering out existing spam emails. Will this solve the spam email threat? Why or why not? Justify your answer.</a:t>
            </a:r>
          </a:p>
          <a:p>
            <a:pPr lvl="0"/>
            <a:r>
              <a:rPr lang="en-AU" sz="2400" dirty="0">
                <a:solidFill>
                  <a:srgbClr val="FF0000"/>
                </a:solidFill>
                <a:cs typeface="Arial" panose="020B0604020202020204" pitchFamily="34" charset="0"/>
              </a:rPr>
              <a:t>. </a:t>
            </a:r>
          </a:p>
          <a:p>
            <a:pPr marL="342900" indent="-342900">
              <a:buFont typeface="Symbol" panose="05050102010706020507" pitchFamily="18" charset="2"/>
              <a:buChar char=""/>
            </a:pPr>
            <a:r>
              <a:rPr lang="en-AU" sz="2400" dirty="0">
                <a:solidFill>
                  <a:srgbClr val="FF0000"/>
                </a:solidFill>
                <a:cs typeface="Arial" panose="020B0604020202020204" pitchFamily="34" charset="0"/>
              </a:rPr>
              <a:t>[2 marks] No, </a:t>
            </a:r>
            <a:r>
              <a:rPr lang="en-US" sz="2400" dirty="0">
                <a:solidFill>
                  <a:srgbClr val="FF0000"/>
                </a:solidFill>
                <a:cs typeface="Arial" panose="020B0604020202020204" pitchFamily="34" charset="0"/>
              </a:rPr>
              <a:t>spam email senders are constantly evolving their techniques to bypass filters and deceive recipients. They can employ various tactics such as image-based spam. As such, new types of spam emails can emerge that may not be effectively blocked by the existing filter.</a:t>
            </a:r>
            <a:endParaRPr lang="en-AU" sz="2400" dirty="0">
              <a:solidFill>
                <a:srgbClr val="FF0000"/>
              </a:solidFill>
              <a:cs typeface="Arial" panose="020B0604020202020204" pitchFamily="34" charset="0"/>
            </a:endParaRPr>
          </a:p>
        </p:txBody>
      </p:sp>
    </p:spTree>
    <p:extLst>
      <p:ext uri="{BB962C8B-B14F-4D97-AF65-F5344CB8AC3E}">
        <p14:creationId xmlns:p14="http://schemas.microsoft.com/office/powerpoint/2010/main" val="2017251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200" dirty="0"/>
              <a:t>Assume Alice is flatting in a house with others, and everyone uses the same router to access the internet. One of the flatmate, Bob, has been annoying Alice recently and Alice wants to compromise Bob’s computer </a:t>
            </a:r>
            <a:r>
              <a:rPr lang="en-US" altLang="zh-CN" sz="2200" dirty="0"/>
              <a:t>when Bob is searching the internet </a:t>
            </a:r>
            <a:r>
              <a:rPr lang="en-AU" sz="2200" dirty="0"/>
              <a:t>(please don't do this in real-world). </a:t>
            </a:r>
            <a:r>
              <a:rPr lang="en-US" sz="2200" dirty="0"/>
              <a:t>Alice begins by using the Linux command '</a:t>
            </a:r>
            <a:r>
              <a:rPr lang="en-US" sz="2200" dirty="0" err="1"/>
              <a:t>nmap</a:t>
            </a:r>
            <a:r>
              <a:rPr lang="en-US" sz="2200" dirty="0"/>
              <a:t>' to scan the local network.</a:t>
            </a:r>
            <a:endParaRPr lang="en-AU" sz="2200" dirty="0"/>
          </a:p>
          <a:p>
            <a:pPr marL="36900" indent="0">
              <a:buNone/>
            </a:pPr>
            <a:endParaRPr lang="en-AU" sz="2200" dirty="0"/>
          </a:p>
          <a:p>
            <a:pPr marL="36900" indent="0">
              <a:buNone/>
            </a:pPr>
            <a:r>
              <a:rPr lang="en-AU" sz="2200" dirty="0">
                <a:solidFill>
                  <a:srgbClr val="FF0000"/>
                </a:solidFill>
              </a:rPr>
              <a:t>Part 1</a:t>
            </a:r>
            <a:r>
              <a:rPr lang="en-AU" sz="2200" dirty="0"/>
              <a:t> [2 marks] </a:t>
            </a:r>
            <a:r>
              <a:rPr lang="en-US" sz="2200" dirty="0"/>
              <a:t>What does the Linux command do: </a:t>
            </a:r>
            <a:r>
              <a:rPr lang="en-US" sz="2200" dirty="0" err="1"/>
              <a:t>nmap</a:t>
            </a:r>
            <a:r>
              <a:rPr lang="en-US" sz="2200" dirty="0"/>
              <a:t> 192.168.1.0-16? </a:t>
            </a:r>
            <a:endParaRPr lang="en-AU" sz="2200" dirty="0"/>
          </a:p>
          <a:p>
            <a:pPr marL="36900" indent="0">
              <a:buNone/>
            </a:pPr>
            <a:r>
              <a:rPr lang="en-AU" sz="2200" dirty="0">
                <a:solidFill>
                  <a:srgbClr val="FF0000"/>
                </a:solidFill>
              </a:rPr>
              <a:t>Part 2 </a:t>
            </a:r>
            <a:r>
              <a:rPr lang="en-AU" sz="2200" dirty="0"/>
              <a:t>[2 marks] Describe a possible attack to violate the confidentiality of Bob’s computer system, and the limitation of the attack.</a:t>
            </a:r>
          </a:p>
          <a:p>
            <a:pPr marL="36900" indent="0">
              <a:buNone/>
            </a:pPr>
            <a:r>
              <a:rPr lang="en-AU" sz="2200" dirty="0">
                <a:solidFill>
                  <a:srgbClr val="FF0000"/>
                </a:solidFill>
              </a:rPr>
              <a:t>Part 3 </a:t>
            </a:r>
            <a:r>
              <a:rPr lang="en-AU" sz="2200" dirty="0"/>
              <a:t>[2 marks] Describe a possible attack to violate the integrity of Bob’s computer system, and the limitation of the attack.</a:t>
            </a:r>
          </a:p>
        </p:txBody>
      </p:sp>
    </p:spTree>
    <p:extLst>
      <p:ext uri="{BB962C8B-B14F-4D97-AF65-F5344CB8AC3E}">
        <p14:creationId xmlns:p14="http://schemas.microsoft.com/office/powerpoint/2010/main" val="162961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a:t>
            </a:r>
            <a:r>
              <a:rPr lang="en-US" sz="2400" dirty="0"/>
              <a:t>What does the Linux command do: </a:t>
            </a:r>
            <a:r>
              <a:rPr lang="en-US" sz="2400" dirty="0" err="1"/>
              <a:t>nmap</a:t>
            </a:r>
            <a:r>
              <a:rPr lang="en-US" sz="2400" dirty="0"/>
              <a:t> 192.168.1.0-16?</a:t>
            </a:r>
            <a:endParaRPr lang="en-AU" sz="2400" dirty="0"/>
          </a:p>
        </p:txBody>
      </p:sp>
    </p:spTree>
    <p:extLst>
      <p:ext uri="{BB962C8B-B14F-4D97-AF65-F5344CB8AC3E}">
        <p14:creationId xmlns:p14="http://schemas.microsoft.com/office/powerpoint/2010/main" val="2410610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a:t>
            </a:r>
            <a:r>
              <a:rPr lang="en-US" sz="2400" dirty="0"/>
              <a:t>What does the Linux command do: </a:t>
            </a:r>
            <a:r>
              <a:rPr lang="en-US" sz="2400" dirty="0" err="1"/>
              <a:t>nmap</a:t>
            </a:r>
            <a:r>
              <a:rPr lang="en-US" sz="2400" dirty="0"/>
              <a:t> 192.168.1.0-16?</a:t>
            </a:r>
            <a:endParaRPr lang="en-AU" sz="2400" dirty="0"/>
          </a:p>
          <a:p>
            <a:pPr marL="342900" lvl="0" indent="-342900" fontAlgn="base">
              <a:buClr>
                <a:srgbClr val="FF0000"/>
              </a:buClr>
              <a:buSzPct val="100000"/>
              <a:buFont typeface="Arial" panose="020B0604020202020204" pitchFamily="34" charset="0"/>
              <a:buChar char="•"/>
            </a:pPr>
            <a:r>
              <a:rPr lang="en-US" sz="2400" dirty="0">
                <a:solidFill>
                  <a:srgbClr val="FF0000"/>
                </a:solidFill>
              </a:rPr>
              <a:t>[2 mark] Perform a port scan on all the IP addresses within the range 192.168.1.0 to 192.168.1.16</a:t>
            </a:r>
            <a:endParaRPr lang="en-AU" sz="2400" dirty="0">
              <a:solidFill>
                <a:srgbClr val="FF0000"/>
              </a:solidFill>
            </a:endParaRPr>
          </a:p>
          <a:p>
            <a:pPr marL="36900" indent="0">
              <a:buNone/>
            </a:pPr>
            <a:endParaRPr lang="en-AU" dirty="0">
              <a:effectLst/>
            </a:endParaRPr>
          </a:p>
        </p:txBody>
      </p:sp>
    </p:spTree>
    <p:extLst>
      <p:ext uri="{BB962C8B-B14F-4D97-AF65-F5344CB8AC3E}">
        <p14:creationId xmlns:p14="http://schemas.microsoft.com/office/powerpoint/2010/main" val="2598505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2 </a:t>
            </a:r>
            <a:r>
              <a:rPr lang="en-AU" sz="2400" dirty="0"/>
              <a:t>[2 marks] Describe a possible attack to violate the confidentiality of Bob’s computer system, and the limitation of the attack.</a:t>
            </a:r>
          </a:p>
        </p:txBody>
      </p:sp>
    </p:spTree>
    <p:extLst>
      <p:ext uri="{BB962C8B-B14F-4D97-AF65-F5344CB8AC3E}">
        <p14:creationId xmlns:p14="http://schemas.microsoft.com/office/powerpoint/2010/main" val="1444907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2 </a:t>
            </a:r>
            <a:r>
              <a:rPr lang="en-AU" sz="2400" dirty="0"/>
              <a:t>[2 marks] Describe a possible attack to violate the confidentiality of Bob’s computer system, and the limitation of the attack.</a:t>
            </a:r>
          </a:p>
          <a:p>
            <a:pPr marL="36900" indent="0">
              <a:buNone/>
            </a:pPr>
            <a:endParaRPr lang="en-AU" sz="2400" dirty="0"/>
          </a:p>
          <a:p>
            <a:pPr marL="342900" lvl="0" indent="-342900" fontAlgn="base">
              <a:buClr>
                <a:srgbClr val="FF0000"/>
              </a:buClr>
              <a:buSzPct val="100000"/>
              <a:buFont typeface="Arial" panose="020B0604020202020204" pitchFamily="34" charset="0"/>
              <a:buChar char="•"/>
            </a:pPr>
            <a:r>
              <a:rPr lang="en-US" sz="2400" dirty="0">
                <a:solidFill>
                  <a:srgbClr val="FF0000"/>
                </a:solidFill>
              </a:rPr>
              <a:t>[1 mark] </a:t>
            </a:r>
            <a:r>
              <a:rPr lang="en-AU" sz="2400" dirty="0">
                <a:solidFill>
                  <a:srgbClr val="FF0000"/>
                </a:solidFill>
              </a:rPr>
              <a:t>Packet Sniffing:</a:t>
            </a:r>
            <a:r>
              <a:rPr lang="en-US" sz="2400" dirty="0">
                <a:solidFill>
                  <a:srgbClr val="FF0000"/>
                </a:solidFill>
              </a:rPr>
              <a:t> Alice could use the packet sniffing technique to filter and capture Bob’s network packets passing through the router. By capturing the packets, Alice could potentially analyze the data to extract Bob’s sensitive information, such as websites visited and login credentials. </a:t>
            </a:r>
            <a:endParaRPr lang="en-AU" sz="2400" dirty="0">
              <a:solidFill>
                <a:srgbClr val="FF0000"/>
              </a:solidFill>
            </a:endParaRPr>
          </a:p>
          <a:p>
            <a:pPr algn="l">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Encryption: Bob can use anonymous networks such as Tor where transmitted data are encrypted, making it difficult for Alice to decrypt the data.</a:t>
            </a:r>
            <a:endParaRPr lang="en-AU" sz="2400" dirty="0">
              <a:solidFill>
                <a:srgbClr val="FF0000"/>
              </a:solidFill>
            </a:endParaRPr>
          </a:p>
          <a:p>
            <a:pPr marL="36900" indent="0">
              <a:buNone/>
            </a:pPr>
            <a:endParaRPr lang="en-AU" dirty="0">
              <a:effectLst/>
            </a:endParaRPr>
          </a:p>
        </p:txBody>
      </p:sp>
    </p:spTree>
    <p:extLst>
      <p:ext uri="{BB962C8B-B14F-4D97-AF65-F5344CB8AC3E}">
        <p14:creationId xmlns:p14="http://schemas.microsoft.com/office/powerpoint/2010/main" val="3101025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a possible attack to violate the integrity of Bob’s computer system, and the limitation of the attack.</a:t>
            </a: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14361423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a possible attack to violate the integrity of Bob’s computer system, and the limitation of the attack.</a:t>
            </a:r>
            <a:endParaRPr lang="en-US" sz="2000" dirty="0">
              <a:solidFill>
                <a:srgbClr val="FF0000"/>
              </a:solidFill>
            </a:endParaRPr>
          </a:p>
          <a:p>
            <a:pPr marL="36900" indent="0">
              <a:buNone/>
            </a:pPr>
            <a:endParaRPr lang="en-AU" sz="2400" dirty="0"/>
          </a:p>
          <a:p>
            <a:pPr>
              <a:buClr>
                <a:srgbClr val="FF0000"/>
              </a:buClr>
              <a:buSzPct val="100000"/>
              <a:buFont typeface="Arial" panose="020B0604020202020204" pitchFamily="34" charset="0"/>
              <a:buChar char="•"/>
            </a:pPr>
            <a:r>
              <a:rPr lang="en-US" sz="2400" dirty="0">
                <a:solidFill>
                  <a:srgbClr val="FF0000"/>
                </a:solidFill>
              </a:rPr>
              <a:t>[1 mark] Malware Injection: Alice could attempt to inject malicious software, such as a keylogger or spyware, into Bob’s computer system. The malware can delete Bob’s sensitive files.</a:t>
            </a:r>
          </a:p>
          <a:p>
            <a:pPr>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Antimalware: Bob could regularly update and maintain antimalware to mitigate the risk of malware injection.</a:t>
            </a:r>
          </a:p>
          <a:p>
            <a:pPr marL="36900" indent="0">
              <a:buNone/>
            </a:pP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4283821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AU" sz="2400" dirty="0"/>
              <a:t>A power company has deployed smart meters to its customers to provide better power usage reports. To do this, the company needs to outsource some power usage data to a third party for data analysis. The company is concerned with user privacy as it has to send customer data to third parties. </a:t>
            </a:r>
          </a:p>
          <a:p>
            <a:pPr marL="36900" indent="0">
              <a:buNone/>
            </a:pPr>
            <a:endParaRPr lang="en-AU" sz="2400" dirty="0"/>
          </a:p>
          <a:p>
            <a:pPr marL="36900" indent="0">
              <a:buNone/>
            </a:pPr>
            <a:r>
              <a:rPr lang="en-AU" sz="2400" dirty="0">
                <a:solidFill>
                  <a:srgbClr val="FF0000"/>
                </a:solidFill>
              </a:rPr>
              <a:t>Part 1</a:t>
            </a:r>
            <a:r>
              <a:rPr lang="en-AU" sz="2400" dirty="0"/>
              <a:t> [2 marks] The first solution is to anonymize customer data. List a specific technique of this solution and what could go wrong with this technique?</a:t>
            </a:r>
          </a:p>
          <a:p>
            <a:pPr marL="36900" indent="0">
              <a:buNone/>
            </a:pPr>
            <a:r>
              <a:rPr lang="en-AU" sz="2400" dirty="0">
                <a:solidFill>
                  <a:srgbClr val="FF0000"/>
                </a:solidFill>
              </a:rPr>
              <a:t>Part 2 </a:t>
            </a:r>
            <a:r>
              <a:rPr lang="en-AU" sz="2400" dirty="0"/>
              <a:t>[2 marks] The company decided to use a privacy-preserving technique. Which one and why?</a:t>
            </a:r>
          </a:p>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p:txBody>
      </p:sp>
    </p:spTree>
    <p:extLst>
      <p:ext uri="{BB962C8B-B14F-4D97-AF65-F5344CB8AC3E}">
        <p14:creationId xmlns:p14="http://schemas.microsoft.com/office/powerpoint/2010/main" val="2518083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p:txBody>
      </p:sp>
    </p:spTree>
    <p:extLst>
      <p:ext uri="{BB962C8B-B14F-4D97-AF65-F5344CB8AC3E}">
        <p14:creationId xmlns:p14="http://schemas.microsoft.com/office/powerpoint/2010/main" val="3151914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a:p>
            <a:pPr marL="36900" indent="0">
              <a:buNone/>
            </a:pPr>
            <a:endParaRPr lang="en-AU" sz="2400" dirty="0"/>
          </a:p>
          <a:p>
            <a:pPr marL="342900" lvl="0"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data masking: it removes personally identifiable data such as user names </a:t>
            </a:r>
            <a:r>
              <a:rPr lang="en-US" sz="2400" dirty="0">
                <a:solidFill>
                  <a:srgbClr val="FF0000"/>
                </a:solidFill>
              </a:rPr>
              <a:t>that may lead to an individual being identified</a:t>
            </a:r>
            <a:endParaRPr lang="en-AU" sz="2400" dirty="0">
              <a:solidFill>
                <a:srgbClr val="FF0000"/>
              </a:solidFill>
            </a:endParaRPr>
          </a:p>
          <a:p>
            <a:pPr indent="-342900" fontAlgn="base">
              <a:buClr>
                <a:srgbClr val="FF0000"/>
              </a:buClr>
              <a:buFont typeface="Symbol" panose="05050102010706020507" pitchFamily="18" charset="2"/>
              <a:buChar char=""/>
            </a:pPr>
            <a:r>
              <a:rPr lang="en-AU" sz="2400" dirty="0">
                <a:solidFill>
                  <a:srgbClr val="FF0000"/>
                </a:solidFill>
              </a:rPr>
              <a:t>[1 mark] the technique is vulnerable to data linking attack, which </a:t>
            </a:r>
            <a:r>
              <a:rPr lang="en-US" sz="2400" dirty="0">
                <a:solidFill>
                  <a:srgbClr val="FF0000"/>
                </a:solidFill>
              </a:rPr>
              <a:t>correlates anonymized data with publicly available data sources to re-identify customers</a:t>
            </a:r>
            <a:r>
              <a:rPr lang="en-AU" sz="2400" dirty="0">
                <a:solidFill>
                  <a:srgbClr val="FF0000"/>
                </a:solidFill>
              </a:rPr>
              <a:t>. </a:t>
            </a:r>
            <a:endParaRPr lang="en-AU" sz="2400" dirty="0"/>
          </a:p>
          <a:p>
            <a:pPr marL="36900" indent="0">
              <a:buNone/>
            </a:pPr>
            <a:endParaRPr lang="en-AU" sz="2400" dirty="0"/>
          </a:p>
        </p:txBody>
      </p:sp>
    </p:spTree>
    <p:extLst>
      <p:ext uri="{BB962C8B-B14F-4D97-AF65-F5344CB8AC3E}">
        <p14:creationId xmlns:p14="http://schemas.microsoft.com/office/powerpoint/2010/main" val="1375948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p:txBody>
      </p:sp>
    </p:spTree>
    <p:extLst>
      <p:ext uri="{BB962C8B-B14F-4D97-AF65-F5344CB8AC3E}">
        <p14:creationId xmlns:p14="http://schemas.microsoft.com/office/powerpoint/2010/main" val="97459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a:p>
            <a:pPr marL="36900" indent="0">
              <a:buNone/>
            </a:pPr>
            <a:endParaRPr lang="en-AU" sz="2400" dirty="0"/>
          </a:p>
          <a:p>
            <a:pPr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Homographic Encryption </a:t>
            </a:r>
            <a:r>
              <a:rPr lang="en-US" sz="2400" dirty="0">
                <a:solidFill>
                  <a:srgbClr val="FF0000"/>
                </a:solidFill>
              </a:rPr>
              <a:t>(HE). </a:t>
            </a:r>
          </a:p>
          <a:p>
            <a:pPr indent="-342900" fontAlgn="base">
              <a:buClr>
                <a:srgbClr val="FF0000"/>
              </a:buClr>
              <a:buFont typeface="Symbol" panose="05050102010706020507" pitchFamily="18" charset="2"/>
              <a:buChar char=""/>
            </a:pPr>
            <a:r>
              <a:rPr lang="en-US" sz="2400" dirty="0">
                <a:solidFill>
                  <a:srgbClr val="FF0000"/>
                </a:solidFill>
              </a:rPr>
              <a:t>[1 mark] Because HE allows data analysis to be performed on encrypted data, the power company does not have to outsource its raw user data.  </a:t>
            </a:r>
            <a:endParaRPr lang="en-AU" sz="2400" dirty="0">
              <a:solidFill>
                <a:srgbClr val="FF0000"/>
              </a:solidFill>
            </a:endParaRPr>
          </a:p>
          <a:p>
            <a:pPr marL="36900" indent="0">
              <a:buNone/>
            </a:pPr>
            <a:endParaRPr lang="en-AU" sz="2400" dirty="0"/>
          </a:p>
        </p:txBody>
      </p:sp>
    </p:spTree>
    <p:extLst>
      <p:ext uri="{BB962C8B-B14F-4D97-AF65-F5344CB8AC3E}">
        <p14:creationId xmlns:p14="http://schemas.microsoft.com/office/powerpoint/2010/main" val="4081096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AU" sz="2400" dirty="0"/>
          </a:p>
          <a:p>
            <a:pPr marL="36900" indent="0">
              <a:buNone/>
            </a:pPr>
            <a:endParaRPr lang="en-AU" sz="2400" dirty="0"/>
          </a:p>
        </p:txBody>
      </p:sp>
    </p:spTree>
    <p:extLst>
      <p:ext uri="{BB962C8B-B14F-4D97-AF65-F5344CB8AC3E}">
        <p14:creationId xmlns:p14="http://schemas.microsoft.com/office/powerpoint/2010/main" val="4015799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US" sz="2400" dirty="0">
              <a:solidFill>
                <a:srgbClr val="FF0000"/>
              </a:solidFill>
            </a:endParaRPr>
          </a:p>
          <a:p>
            <a:pPr indent="-342900" fontAlgn="base">
              <a:buClr>
                <a:srgbClr val="FF0000"/>
              </a:buClr>
              <a:buFont typeface="Symbol" panose="05050102010706020507" pitchFamily="18" charset="2"/>
              <a:buChar char=""/>
            </a:pPr>
            <a:r>
              <a:rPr lang="en-US" sz="2400" dirty="0">
                <a:solidFill>
                  <a:srgbClr val="FF0000"/>
                </a:solidFill>
              </a:rPr>
              <a:t>[2 marks] Implement a monitoring system to track access to customer data. By doing so, data access, modifications, and transfers will be tracked to detect any suspicious or unauthorized behaviors. </a:t>
            </a:r>
          </a:p>
          <a:p>
            <a:pPr marL="36900" indent="0">
              <a:buNone/>
            </a:pPr>
            <a:endParaRPr lang="en-AU" sz="2400" dirty="0"/>
          </a:p>
        </p:txBody>
      </p:sp>
    </p:spTree>
    <p:extLst>
      <p:ext uri="{BB962C8B-B14F-4D97-AF65-F5344CB8AC3E}">
        <p14:creationId xmlns:p14="http://schemas.microsoft.com/office/powerpoint/2010/main" val="3022655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2460" y="537164"/>
            <a:ext cx="3943351" cy="720506"/>
          </a:xfrm>
        </p:spPr>
        <p:txBody>
          <a:bodyPr>
            <a:normAutofit/>
          </a:bodyPr>
          <a:lstStyle/>
          <a:p>
            <a:r>
              <a:rPr lang="en-AU" sz="24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5" name="Rectangle 4"/>
          <p:cNvSpPr/>
          <p:nvPr/>
        </p:nvSpPr>
        <p:spPr>
          <a:xfrm>
            <a:off x="220316" y="982176"/>
            <a:ext cx="11829224" cy="4524315"/>
          </a:xfrm>
          <a:prstGeom prst="rect">
            <a:avLst/>
          </a:prstGeom>
        </p:spPr>
        <p:txBody>
          <a:bodyPr wrap="square">
            <a:spAutoFit/>
          </a:bodyPr>
          <a:lstStyle/>
          <a:p>
            <a:r>
              <a:rPr lang="en-US" sz="2400" dirty="0">
                <a:ln>
                  <a:solidFill>
                    <a:schemeClr val="bg1">
                      <a:lumMod val="75000"/>
                      <a:lumOff val="25000"/>
                      <a:alpha val="10000"/>
                    </a:schemeClr>
                  </a:solidFill>
                </a:ln>
                <a:solidFill>
                  <a:schemeClr val="tx2"/>
                </a:solidFill>
              </a:rPr>
              <a:t>An adversary wants to tamper with students’ final grades stored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 CSSE website. That is, their attack goal is to Modify final grades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uses a backend database to store all mark-related data, including student IDs, student names, marks, and final grades. Marks are normally uploaded to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by teaching staffs. The adversary could achieve the goal in one of the two ways below: </a:t>
            </a:r>
          </a:p>
          <a:p>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1. Tamper with grades through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Steal a valid session cookie from a logged-in staff</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Use the stolen cookie to override grades on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2. Tamper with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backend database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Exploit a vulnerability in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website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Gain write access to the grade records in the database</a:t>
            </a:r>
          </a:p>
        </p:txBody>
      </p:sp>
      <p:sp>
        <p:nvSpPr>
          <p:cNvPr id="6" name="Content Placeholder 1">
            <a:extLst>
              <a:ext uri="{FF2B5EF4-FFF2-40B4-BE49-F238E27FC236}">
                <a16:creationId xmlns:a16="http://schemas.microsoft.com/office/drawing/2014/main" id="{845BA57E-A25D-414A-BF10-A1DB5E2A43E7}"/>
              </a:ext>
            </a:extLst>
          </p:cNvPr>
          <p:cNvSpPr txBox="1">
            <a:spLocks/>
          </p:cNvSpPr>
          <p:nvPr/>
        </p:nvSpPr>
        <p:spPr>
          <a:xfrm>
            <a:off x="142460" y="5707389"/>
            <a:ext cx="10696057" cy="115061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AU" sz="2400" dirty="0">
                <a:solidFill>
                  <a:srgbClr val="FF0000"/>
                </a:solidFill>
              </a:rPr>
              <a:t>Part 1 </a:t>
            </a:r>
            <a:r>
              <a:rPr lang="en-AU" sz="2400" dirty="0"/>
              <a:t>[7 marks] </a:t>
            </a:r>
            <a:r>
              <a:rPr lang="en-US" sz="2400" dirty="0"/>
              <a:t>Translate the above attack scenario into a correct attack tree</a:t>
            </a:r>
            <a:endParaRPr lang="en-AU" sz="2400" dirty="0"/>
          </a:p>
          <a:p>
            <a:endParaRPr lang="en-AU" dirty="0"/>
          </a:p>
        </p:txBody>
      </p:sp>
      <p:sp>
        <p:nvSpPr>
          <p:cNvPr id="10" name="Title 1">
            <a:extLst>
              <a:ext uri="{FF2B5EF4-FFF2-40B4-BE49-F238E27FC236}">
                <a16:creationId xmlns:a16="http://schemas.microsoft.com/office/drawing/2014/main" id="{3235179F-67A0-4E9A-8479-9536FAB59505}"/>
              </a:ext>
            </a:extLst>
          </p:cNvPr>
          <p:cNvSpPr>
            <a:spLocks noGrp="1"/>
          </p:cNvSpPr>
          <p:nvPr>
            <p:ph type="title"/>
          </p:nvPr>
        </p:nvSpPr>
        <p:spPr>
          <a:xfrm>
            <a:off x="913795" y="-41351"/>
            <a:ext cx="10353762" cy="720506"/>
          </a:xfrm>
        </p:spPr>
        <p:txBody>
          <a:bodyPr/>
          <a:lstStyle/>
          <a:p>
            <a:r>
              <a:rPr lang="en-AU" dirty="0"/>
              <a:t>Example Question 6</a:t>
            </a:r>
          </a:p>
        </p:txBody>
      </p:sp>
    </p:spTree>
    <p:extLst>
      <p:ext uri="{BB962C8B-B14F-4D97-AF65-F5344CB8AC3E}">
        <p14:creationId xmlns:p14="http://schemas.microsoft.com/office/powerpoint/2010/main" val="2767411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2460" y="537164"/>
            <a:ext cx="3943351" cy="720506"/>
          </a:xfrm>
        </p:spPr>
        <p:txBody>
          <a:bodyPr>
            <a:normAutofit/>
          </a:bodyPr>
          <a:lstStyle/>
          <a:p>
            <a:r>
              <a:rPr lang="en-AU" sz="24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5" name="Rectangle 4"/>
          <p:cNvSpPr/>
          <p:nvPr/>
        </p:nvSpPr>
        <p:spPr>
          <a:xfrm>
            <a:off x="220316" y="982176"/>
            <a:ext cx="11829224" cy="4524315"/>
          </a:xfrm>
          <a:prstGeom prst="rect">
            <a:avLst/>
          </a:prstGeom>
        </p:spPr>
        <p:txBody>
          <a:bodyPr wrap="square">
            <a:spAutoFit/>
          </a:bodyPr>
          <a:lstStyle/>
          <a:p>
            <a:r>
              <a:rPr lang="en-US" sz="2400" dirty="0">
                <a:ln>
                  <a:solidFill>
                    <a:schemeClr val="bg1">
                      <a:lumMod val="75000"/>
                      <a:lumOff val="25000"/>
                      <a:alpha val="10000"/>
                    </a:schemeClr>
                  </a:solidFill>
                </a:ln>
                <a:solidFill>
                  <a:schemeClr val="tx2"/>
                </a:solidFill>
              </a:rPr>
              <a:t>An adversary wants to tamper with students’ final grades stored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 CSSE website. That is, their attack goal is to Modify final grades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uses a backend database to store all mark-related data, including student IDs, student names, marks, and final grades. Marks are normally uploaded to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by teaching staffs. The adversary could achieve the goal in one of the two ways below: </a:t>
            </a:r>
          </a:p>
          <a:p>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1. Tamper with grades through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Steal a valid session cookie from a logged-in staff</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Use the stolen cookie to override grades on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2. Tamper with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backend database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Exploit a vulnerability in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website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Gain write access to the grade records in the database</a:t>
            </a:r>
          </a:p>
        </p:txBody>
      </p:sp>
      <p:sp>
        <p:nvSpPr>
          <p:cNvPr id="10" name="Title 1">
            <a:extLst>
              <a:ext uri="{FF2B5EF4-FFF2-40B4-BE49-F238E27FC236}">
                <a16:creationId xmlns:a16="http://schemas.microsoft.com/office/drawing/2014/main" id="{3235179F-67A0-4E9A-8479-9536FAB59505}"/>
              </a:ext>
            </a:extLst>
          </p:cNvPr>
          <p:cNvSpPr>
            <a:spLocks noGrp="1"/>
          </p:cNvSpPr>
          <p:nvPr>
            <p:ph type="title"/>
          </p:nvPr>
        </p:nvSpPr>
        <p:spPr>
          <a:xfrm>
            <a:off x="913795" y="-41351"/>
            <a:ext cx="10353762" cy="720506"/>
          </a:xfrm>
        </p:spPr>
        <p:txBody>
          <a:bodyPr/>
          <a:lstStyle/>
          <a:p>
            <a:r>
              <a:rPr lang="en-AU" dirty="0"/>
              <a:t>Example Question 6</a:t>
            </a:r>
          </a:p>
        </p:txBody>
      </p:sp>
      <p:cxnSp>
        <p:nvCxnSpPr>
          <p:cNvPr id="7" name="Straight Connector 6">
            <a:extLst>
              <a:ext uri="{FF2B5EF4-FFF2-40B4-BE49-F238E27FC236}">
                <a16:creationId xmlns:a16="http://schemas.microsoft.com/office/drawing/2014/main" id="{297F5CE2-9663-4BB1-9164-2D19F7CEB221}"/>
              </a:ext>
            </a:extLst>
          </p:cNvPr>
          <p:cNvCxnSpPr>
            <a:cxnSpLocks/>
          </p:cNvCxnSpPr>
          <p:nvPr/>
        </p:nvCxnSpPr>
        <p:spPr>
          <a:xfrm>
            <a:off x="4085811" y="1762857"/>
            <a:ext cx="393277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Content Placeholder 1">
            <a:extLst>
              <a:ext uri="{FF2B5EF4-FFF2-40B4-BE49-F238E27FC236}">
                <a16:creationId xmlns:a16="http://schemas.microsoft.com/office/drawing/2014/main" id="{38578C19-0B49-483B-8C49-CB8C1DDC5F81}"/>
              </a:ext>
            </a:extLst>
          </p:cNvPr>
          <p:cNvSpPr txBox="1">
            <a:spLocks/>
          </p:cNvSpPr>
          <p:nvPr/>
        </p:nvSpPr>
        <p:spPr>
          <a:xfrm>
            <a:off x="142460" y="5707389"/>
            <a:ext cx="10696057" cy="115061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AU" sz="2400" dirty="0">
                <a:solidFill>
                  <a:srgbClr val="FF0000"/>
                </a:solidFill>
              </a:rPr>
              <a:t>Part 1 </a:t>
            </a:r>
            <a:r>
              <a:rPr lang="en-AU" sz="2400" dirty="0"/>
              <a:t>[7 marks] </a:t>
            </a:r>
            <a:r>
              <a:rPr lang="en-US" sz="2400" dirty="0"/>
              <a:t>Translate the above attack scenario into a correct attack tree</a:t>
            </a:r>
            <a:endParaRPr lang="en-AU" sz="2400" dirty="0"/>
          </a:p>
          <a:p>
            <a:endParaRPr lang="en-AU" dirty="0"/>
          </a:p>
        </p:txBody>
      </p:sp>
    </p:spTree>
    <p:extLst>
      <p:ext uri="{BB962C8B-B14F-4D97-AF65-F5344CB8AC3E}">
        <p14:creationId xmlns:p14="http://schemas.microsoft.com/office/powerpoint/2010/main" val="38541415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DE9D88B-0DE2-4475-B2A1-72BCE94A98F1}"/>
              </a:ext>
            </a:extLst>
          </p:cNvPr>
          <p:cNvSpPr/>
          <p:nvPr/>
        </p:nvSpPr>
        <p:spPr>
          <a:xfrm>
            <a:off x="3722574" y="743865"/>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n>
                  <a:solidFill>
                    <a:schemeClr val="bg1">
                      <a:lumMod val="75000"/>
                      <a:lumOff val="25000"/>
                      <a:alpha val="10000"/>
                    </a:schemeClr>
                  </a:solidFill>
                </a:ln>
                <a:solidFill>
                  <a:schemeClr val="tx2"/>
                </a:solidFill>
              </a:rPr>
              <a:t>Modify final grades in </a:t>
            </a:r>
            <a:r>
              <a:rPr lang="en-US" sz="2800" dirty="0" err="1">
                <a:ln>
                  <a:solidFill>
                    <a:schemeClr val="bg1">
                      <a:lumMod val="75000"/>
                      <a:lumOff val="25000"/>
                      <a:alpha val="10000"/>
                    </a:schemeClr>
                  </a:solidFill>
                </a:ln>
                <a:solidFill>
                  <a:schemeClr val="tx2"/>
                </a:solidFill>
              </a:rPr>
              <a:t>CSMarks</a:t>
            </a:r>
            <a:endParaRPr lang="en-NZ" sz="2600" dirty="0">
              <a:solidFill>
                <a:schemeClr val="tx1"/>
              </a:solidFill>
            </a:endParaRPr>
          </a:p>
        </p:txBody>
      </p:sp>
    </p:spTree>
    <p:extLst>
      <p:ext uri="{BB962C8B-B14F-4D97-AF65-F5344CB8AC3E}">
        <p14:creationId xmlns:p14="http://schemas.microsoft.com/office/powerpoint/2010/main" val="3220855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2460" y="537164"/>
            <a:ext cx="3943351" cy="720506"/>
          </a:xfrm>
        </p:spPr>
        <p:txBody>
          <a:bodyPr>
            <a:normAutofit/>
          </a:bodyPr>
          <a:lstStyle/>
          <a:p>
            <a:r>
              <a:rPr lang="en-AU" sz="24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5" name="Rectangle 4"/>
          <p:cNvSpPr/>
          <p:nvPr/>
        </p:nvSpPr>
        <p:spPr>
          <a:xfrm>
            <a:off x="220316" y="982176"/>
            <a:ext cx="11829224" cy="4524315"/>
          </a:xfrm>
          <a:prstGeom prst="rect">
            <a:avLst/>
          </a:prstGeom>
        </p:spPr>
        <p:txBody>
          <a:bodyPr wrap="square">
            <a:spAutoFit/>
          </a:bodyPr>
          <a:lstStyle/>
          <a:p>
            <a:r>
              <a:rPr lang="en-US" sz="2400" dirty="0">
                <a:ln>
                  <a:solidFill>
                    <a:schemeClr val="bg1">
                      <a:lumMod val="75000"/>
                      <a:lumOff val="25000"/>
                      <a:alpha val="10000"/>
                    </a:schemeClr>
                  </a:solidFill>
                </a:ln>
                <a:solidFill>
                  <a:schemeClr val="tx2"/>
                </a:solidFill>
              </a:rPr>
              <a:t>An adversary wants to tamper with students’ final grades stored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 CSSE website. That is, their attack goal is to Modify final grades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uses a backend database to store all mark-related data, including student IDs, student names, marks, and final grades. Marks are normally uploaded to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by teaching staffs. The adversary could achieve the goal in one of the two ways below: </a:t>
            </a:r>
          </a:p>
          <a:p>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1. Tamper with grades through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Steal a valid session cookie from a logged-in staff</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Use the stolen cookie to override grades on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2. Tamper with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backend database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Exploit a vulnerability in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website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Gain write access to the grade records in the database</a:t>
            </a:r>
          </a:p>
        </p:txBody>
      </p:sp>
      <p:sp>
        <p:nvSpPr>
          <p:cNvPr id="10" name="Title 1">
            <a:extLst>
              <a:ext uri="{FF2B5EF4-FFF2-40B4-BE49-F238E27FC236}">
                <a16:creationId xmlns:a16="http://schemas.microsoft.com/office/drawing/2014/main" id="{3235179F-67A0-4E9A-8479-9536FAB59505}"/>
              </a:ext>
            </a:extLst>
          </p:cNvPr>
          <p:cNvSpPr>
            <a:spLocks noGrp="1"/>
          </p:cNvSpPr>
          <p:nvPr>
            <p:ph type="title"/>
          </p:nvPr>
        </p:nvSpPr>
        <p:spPr>
          <a:xfrm>
            <a:off x="913795" y="-41351"/>
            <a:ext cx="10353762" cy="720506"/>
          </a:xfrm>
        </p:spPr>
        <p:txBody>
          <a:bodyPr/>
          <a:lstStyle/>
          <a:p>
            <a:r>
              <a:rPr lang="en-AU" dirty="0"/>
              <a:t>Example Question 6</a:t>
            </a:r>
          </a:p>
        </p:txBody>
      </p:sp>
      <p:cxnSp>
        <p:nvCxnSpPr>
          <p:cNvPr id="7" name="Straight Connector 6">
            <a:extLst>
              <a:ext uri="{FF2B5EF4-FFF2-40B4-BE49-F238E27FC236}">
                <a16:creationId xmlns:a16="http://schemas.microsoft.com/office/drawing/2014/main" id="{297F5CE2-9663-4BB1-9164-2D19F7CEB221}"/>
              </a:ext>
            </a:extLst>
          </p:cNvPr>
          <p:cNvCxnSpPr>
            <a:cxnSpLocks/>
          </p:cNvCxnSpPr>
          <p:nvPr/>
        </p:nvCxnSpPr>
        <p:spPr>
          <a:xfrm>
            <a:off x="4085811" y="1762857"/>
            <a:ext cx="393277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FDCAE3E-3555-4373-A5A2-078691EE5FD9}"/>
              </a:ext>
            </a:extLst>
          </p:cNvPr>
          <p:cNvCxnSpPr>
            <a:cxnSpLocks/>
          </p:cNvCxnSpPr>
          <p:nvPr/>
        </p:nvCxnSpPr>
        <p:spPr>
          <a:xfrm>
            <a:off x="511141" y="3587135"/>
            <a:ext cx="499284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355EE1-0A18-4A22-AB03-E9B300C7E40A}"/>
              </a:ext>
            </a:extLst>
          </p:cNvPr>
          <p:cNvCxnSpPr>
            <a:cxnSpLocks/>
          </p:cNvCxnSpPr>
          <p:nvPr/>
        </p:nvCxnSpPr>
        <p:spPr>
          <a:xfrm>
            <a:off x="511141" y="4706687"/>
            <a:ext cx="583690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Content Placeholder 1">
            <a:extLst>
              <a:ext uri="{FF2B5EF4-FFF2-40B4-BE49-F238E27FC236}">
                <a16:creationId xmlns:a16="http://schemas.microsoft.com/office/drawing/2014/main" id="{432743AE-030E-4849-BF47-7A184AA5D902}"/>
              </a:ext>
            </a:extLst>
          </p:cNvPr>
          <p:cNvSpPr txBox="1">
            <a:spLocks/>
          </p:cNvSpPr>
          <p:nvPr/>
        </p:nvSpPr>
        <p:spPr>
          <a:xfrm>
            <a:off x="142460" y="5707389"/>
            <a:ext cx="10696057" cy="115061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AU" sz="2400" dirty="0">
                <a:solidFill>
                  <a:srgbClr val="FF0000"/>
                </a:solidFill>
              </a:rPr>
              <a:t>Part 1 </a:t>
            </a:r>
            <a:r>
              <a:rPr lang="en-AU" sz="2400" dirty="0"/>
              <a:t>[7 marks] </a:t>
            </a:r>
            <a:r>
              <a:rPr lang="en-US" sz="2400" dirty="0"/>
              <a:t>Translate the above attack scenario into a correct attack tree</a:t>
            </a:r>
            <a:endParaRPr lang="en-AU" sz="2400" dirty="0"/>
          </a:p>
          <a:p>
            <a:endParaRPr lang="en-AU" dirty="0"/>
          </a:p>
        </p:txBody>
      </p:sp>
    </p:spTree>
    <p:extLst>
      <p:ext uri="{BB962C8B-B14F-4D97-AF65-F5344CB8AC3E}">
        <p14:creationId xmlns:p14="http://schemas.microsoft.com/office/powerpoint/2010/main" val="30558905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a:cxnSpLocks/>
          </p:cNvCxnSpPr>
          <p:nvPr/>
        </p:nvCxnSpPr>
        <p:spPr>
          <a:xfrm flipH="1">
            <a:off x="3944744" y="1737372"/>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p:nvCxnSpPr>
        <p:spPr>
          <a:xfrm>
            <a:off x="6076950" y="1737372"/>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2566F88-3FB3-4BBE-BFA8-ED76B983A3EA}"/>
              </a:ext>
            </a:extLst>
          </p:cNvPr>
          <p:cNvSpPr/>
          <p:nvPr/>
        </p:nvSpPr>
        <p:spPr>
          <a:xfrm>
            <a:off x="3703524" y="40975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n>
                  <a:solidFill>
                    <a:schemeClr val="bg1">
                      <a:lumMod val="75000"/>
                      <a:lumOff val="25000"/>
                      <a:alpha val="10000"/>
                    </a:schemeClr>
                  </a:solidFill>
                </a:ln>
                <a:solidFill>
                  <a:schemeClr val="tx2"/>
                </a:solidFill>
              </a:rPr>
              <a:t>Modify final grades in </a:t>
            </a:r>
            <a:r>
              <a:rPr lang="en-US" sz="2800" dirty="0" err="1">
                <a:ln>
                  <a:solidFill>
                    <a:schemeClr val="bg1">
                      <a:lumMod val="75000"/>
                      <a:lumOff val="25000"/>
                      <a:alpha val="10000"/>
                    </a:schemeClr>
                  </a:solidFill>
                </a:ln>
                <a:solidFill>
                  <a:schemeClr val="tx2"/>
                </a:solidFill>
              </a:rPr>
              <a:t>CSMarks</a:t>
            </a:r>
            <a:endParaRPr lang="en-NZ" sz="2600" dirty="0">
              <a:solidFill>
                <a:schemeClr val="tx1"/>
              </a:solidFill>
            </a:endParaRPr>
          </a:p>
        </p:txBody>
      </p:sp>
      <p:sp>
        <p:nvSpPr>
          <p:cNvPr id="11" name="Rectangle 10">
            <a:extLst>
              <a:ext uri="{FF2B5EF4-FFF2-40B4-BE49-F238E27FC236}">
                <a16:creationId xmlns:a16="http://schemas.microsoft.com/office/drawing/2014/main" id="{F80F886E-9E15-4A6B-BD29-5338D8FAC439}"/>
              </a:ext>
            </a:extLst>
          </p:cNvPr>
          <p:cNvSpPr/>
          <p:nvPr/>
        </p:nvSpPr>
        <p:spPr>
          <a:xfrm>
            <a:off x="410650" y="2429232"/>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n>
                  <a:solidFill>
                    <a:schemeClr val="bg1">
                      <a:lumMod val="75000"/>
                      <a:lumOff val="25000"/>
                      <a:alpha val="10000"/>
                    </a:schemeClr>
                  </a:solidFill>
                </a:ln>
                <a:solidFill>
                  <a:schemeClr val="tx2"/>
                </a:solidFill>
              </a:rPr>
              <a:t>Tamper with grades through </a:t>
            </a:r>
            <a:r>
              <a:rPr lang="en-US" sz="2800" dirty="0" err="1">
                <a:ln>
                  <a:solidFill>
                    <a:schemeClr val="bg1">
                      <a:lumMod val="75000"/>
                      <a:lumOff val="25000"/>
                      <a:alpha val="10000"/>
                    </a:schemeClr>
                  </a:solidFill>
                </a:ln>
                <a:solidFill>
                  <a:schemeClr val="tx2"/>
                </a:solidFill>
              </a:rPr>
              <a:t>CSMarks</a:t>
            </a:r>
            <a:endParaRPr lang="en-NZ" sz="2600" dirty="0">
              <a:solidFill>
                <a:schemeClr val="tx1"/>
              </a:solidFill>
            </a:endParaRPr>
          </a:p>
        </p:txBody>
      </p:sp>
      <p:sp>
        <p:nvSpPr>
          <p:cNvPr id="12" name="Rectangle 11">
            <a:extLst>
              <a:ext uri="{FF2B5EF4-FFF2-40B4-BE49-F238E27FC236}">
                <a16:creationId xmlns:a16="http://schemas.microsoft.com/office/drawing/2014/main" id="{0D81F8ED-0FEC-4CFB-A3FC-7886E6B95731}"/>
              </a:ext>
            </a:extLst>
          </p:cNvPr>
          <p:cNvSpPr/>
          <p:nvPr/>
        </p:nvSpPr>
        <p:spPr>
          <a:xfrm>
            <a:off x="5697756" y="2425378"/>
            <a:ext cx="6223147" cy="1278763"/>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n>
                  <a:solidFill>
                    <a:schemeClr val="bg1">
                      <a:lumMod val="75000"/>
                      <a:lumOff val="25000"/>
                      <a:alpha val="10000"/>
                    </a:schemeClr>
                  </a:solidFill>
                </a:ln>
                <a:solidFill>
                  <a:schemeClr val="tx2"/>
                </a:solidFill>
              </a:rPr>
              <a:t>Tamper with the </a:t>
            </a:r>
            <a:r>
              <a:rPr lang="en-US" sz="2800" dirty="0" err="1">
                <a:ln>
                  <a:solidFill>
                    <a:schemeClr val="bg1">
                      <a:lumMod val="75000"/>
                      <a:lumOff val="25000"/>
                      <a:alpha val="10000"/>
                    </a:schemeClr>
                  </a:solidFill>
                </a:ln>
                <a:solidFill>
                  <a:schemeClr val="tx2"/>
                </a:solidFill>
              </a:rPr>
              <a:t>CSMarks</a:t>
            </a:r>
            <a:r>
              <a:rPr lang="en-US" sz="2800" dirty="0">
                <a:ln>
                  <a:solidFill>
                    <a:schemeClr val="bg1">
                      <a:lumMod val="75000"/>
                      <a:lumOff val="25000"/>
                      <a:alpha val="10000"/>
                    </a:schemeClr>
                  </a:solidFill>
                </a:ln>
                <a:solidFill>
                  <a:schemeClr val="tx2"/>
                </a:solidFill>
              </a:rPr>
              <a:t> backend database</a:t>
            </a:r>
            <a:endParaRPr lang="en-NZ" sz="2600" dirty="0">
              <a:solidFill>
                <a:schemeClr val="tx1"/>
              </a:solidFill>
            </a:endParaRPr>
          </a:p>
        </p:txBody>
      </p:sp>
    </p:spTree>
    <p:extLst>
      <p:ext uri="{BB962C8B-B14F-4D97-AF65-F5344CB8AC3E}">
        <p14:creationId xmlns:p14="http://schemas.microsoft.com/office/powerpoint/2010/main" val="2744936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2460" y="537164"/>
            <a:ext cx="3943351" cy="720506"/>
          </a:xfrm>
        </p:spPr>
        <p:txBody>
          <a:bodyPr>
            <a:normAutofit/>
          </a:bodyPr>
          <a:lstStyle/>
          <a:p>
            <a:r>
              <a:rPr lang="en-AU" sz="24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5" name="Rectangle 4"/>
          <p:cNvSpPr/>
          <p:nvPr/>
        </p:nvSpPr>
        <p:spPr>
          <a:xfrm>
            <a:off x="220316" y="982176"/>
            <a:ext cx="11829224" cy="4524315"/>
          </a:xfrm>
          <a:prstGeom prst="rect">
            <a:avLst/>
          </a:prstGeom>
        </p:spPr>
        <p:txBody>
          <a:bodyPr wrap="square">
            <a:spAutoFit/>
          </a:bodyPr>
          <a:lstStyle/>
          <a:p>
            <a:r>
              <a:rPr lang="en-US" sz="2400" dirty="0">
                <a:ln>
                  <a:solidFill>
                    <a:schemeClr val="bg1">
                      <a:lumMod val="75000"/>
                      <a:lumOff val="25000"/>
                      <a:alpha val="10000"/>
                    </a:schemeClr>
                  </a:solidFill>
                </a:ln>
                <a:solidFill>
                  <a:schemeClr val="tx2"/>
                </a:solidFill>
              </a:rPr>
              <a:t>An adversary wants to tamper with students’ final grades stored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 CSSE website. That is, their attack goal is to Modify final grades in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uses a backend database to store all mark-related data, including student IDs, student names, marks, and final grades. Marks are normally uploaded to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by teaching staffs. The adversary could achieve the goal in one of the two ways below: </a:t>
            </a:r>
          </a:p>
          <a:p>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1. Tamper with grades through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Steal a valid session cookie from a logged-in staff</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Use the stolen cookie to override grades on </a:t>
            </a:r>
            <a:r>
              <a:rPr lang="en-US" sz="2400" dirty="0" err="1">
                <a:ln>
                  <a:solidFill>
                    <a:schemeClr val="bg1">
                      <a:lumMod val="75000"/>
                      <a:lumOff val="25000"/>
                      <a:alpha val="10000"/>
                    </a:schemeClr>
                  </a:solidFill>
                </a:ln>
                <a:solidFill>
                  <a:schemeClr val="tx2"/>
                </a:solidFill>
              </a:rPr>
              <a:t>CSMarks</a:t>
            </a:r>
            <a:endParaRPr lang="en-US" sz="2400" dirty="0">
              <a:ln>
                <a:solidFill>
                  <a:schemeClr val="bg1">
                    <a:lumMod val="75000"/>
                    <a:lumOff val="25000"/>
                    <a:alpha val="10000"/>
                  </a:schemeClr>
                </a:solidFill>
              </a:ln>
              <a:solidFill>
                <a:schemeClr val="tx2"/>
              </a:solidFill>
            </a:endParaRPr>
          </a:p>
          <a:p>
            <a:r>
              <a:rPr lang="en-US" sz="2400" dirty="0">
                <a:ln>
                  <a:solidFill>
                    <a:schemeClr val="bg1">
                      <a:lumMod val="75000"/>
                      <a:lumOff val="25000"/>
                      <a:alpha val="10000"/>
                    </a:schemeClr>
                  </a:solidFill>
                </a:ln>
                <a:solidFill>
                  <a:schemeClr val="tx2"/>
                </a:solidFill>
              </a:rPr>
              <a:t>  2. Tamper with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backend database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Exploit a vulnerability in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website</a:t>
            </a:r>
          </a:p>
          <a:p>
            <a:pPr marL="800100" lvl="1" indent="-342900">
              <a:buFont typeface="Wingdings" panose="05000000000000000000" pitchFamily="2" charset="2"/>
              <a:buChar char="Ø"/>
            </a:pPr>
            <a:r>
              <a:rPr lang="en-US" sz="2400" dirty="0">
                <a:ln>
                  <a:solidFill>
                    <a:schemeClr val="bg1">
                      <a:lumMod val="75000"/>
                      <a:lumOff val="25000"/>
                      <a:alpha val="10000"/>
                    </a:schemeClr>
                  </a:solidFill>
                </a:ln>
                <a:solidFill>
                  <a:schemeClr val="tx2"/>
                </a:solidFill>
              </a:rPr>
              <a:t>Gain write access to the grade records in the database</a:t>
            </a:r>
          </a:p>
        </p:txBody>
      </p:sp>
      <p:sp>
        <p:nvSpPr>
          <p:cNvPr id="10" name="Title 1">
            <a:extLst>
              <a:ext uri="{FF2B5EF4-FFF2-40B4-BE49-F238E27FC236}">
                <a16:creationId xmlns:a16="http://schemas.microsoft.com/office/drawing/2014/main" id="{3235179F-67A0-4E9A-8479-9536FAB59505}"/>
              </a:ext>
            </a:extLst>
          </p:cNvPr>
          <p:cNvSpPr>
            <a:spLocks noGrp="1"/>
          </p:cNvSpPr>
          <p:nvPr>
            <p:ph type="title"/>
          </p:nvPr>
        </p:nvSpPr>
        <p:spPr>
          <a:xfrm>
            <a:off x="913795" y="-41351"/>
            <a:ext cx="10353762" cy="720506"/>
          </a:xfrm>
        </p:spPr>
        <p:txBody>
          <a:bodyPr/>
          <a:lstStyle/>
          <a:p>
            <a:r>
              <a:rPr lang="en-AU" dirty="0"/>
              <a:t>Example Question 6</a:t>
            </a:r>
          </a:p>
        </p:txBody>
      </p:sp>
      <p:cxnSp>
        <p:nvCxnSpPr>
          <p:cNvPr id="7" name="Straight Connector 6">
            <a:extLst>
              <a:ext uri="{FF2B5EF4-FFF2-40B4-BE49-F238E27FC236}">
                <a16:creationId xmlns:a16="http://schemas.microsoft.com/office/drawing/2014/main" id="{297F5CE2-9663-4BB1-9164-2D19F7CEB221}"/>
              </a:ext>
            </a:extLst>
          </p:cNvPr>
          <p:cNvCxnSpPr>
            <a:cxnSpLocks/>
          </p:cNvCxnSpPr>
          <p:nvPr/>
        </p:nvCxnSpPr>
        <p:spPr>
          <a:xfrm>
            <a:off x="4085811" y="1762857"/>
            <a:ext cx="393277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FDCAE3E-3555-4373-A5A2-078691EE5FD9}"/>
              </a:ext>
            </a:extLst>
          </p:cNvPr>
          <p:cNvCxnSpPr>
            <a:cxnSpLocks/>
          </p:cNvCxnSpPr>
          <p:nvPr/>
        </p:nvCxnSpPr>
        <p:spPr>
          <a:xfrm>
            <a:off x="511141" y="3587135"/>
            <a:ext cx="499284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355EE1-0A18-4A22-AB03-E9B300C7E40A}"/>
              </a:ext>
            </a:extLst>
          </p:cNvPr>
          <p:cNvCxnSpPr>
            <a:cxnSpLocks/>
          </p:cNvCxnSpPr>
          <p:nvPr/>
        </p:nvCxnSpPr>
        <p:spPr>
          <a:xfrm>
            <a:off x="511141" y="4706687"/>
            <a:ext cx="583690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Content Placeholder 1">
            <a:extLst>
              <a:ext uri="{FF2B5EF4-FFF2-40B4-BE49-F238E27FC236}">
                <a16:creationId xmlns:a16="http://schemas.microsoft.com/office/drawing/2014/main" id="{2992CEA8-ADE8-44AB-B517-698B44BB6548}"/>
              </a:ext>
            </a:extLst>
          </p:cNvPr>
          <p:cNvSpPr txBox="1">
            <a:spLocks/>
          </p:cNvSpPr>
          <p:nvPr/>
        </p:nvSpPr>
        <p:spPr>
          <a:xfrm>
            <a:off x="142460" y="5707389"/>
            <a:ext cx="10696057" cy="115061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AU" sz="2400" dirty="0">
                <a:solidFill>
                  <a:srgbClr val="FF0000"/>
                </a:solidFill>
              </a:rPr>
              <a:t>Part 1 </a:t>
            </a:r>
            <a:r>
              <a:rPr lang="en-AU" sz="2400" dirty="0"/>
              <a:t>[7 marks] </a:t>
            </a:r>
            <a:r>
              <a:rPr lang="en-US" sz="2400" dirty="0"/>
              <a:t>Translate the above attack scenario into a correct attack tree</a:t>
            </a:r>
            <a:endParaRPr lang="en-AU" sz="2400" dirty="0"/>
          </a:p>
          <a:p>
            <a:endParaRPr lang="en-AU" dirty="0"/>
          </a:p>
        </p:txBody>
      </p:sp>
    </p:spTree>
    <p:extLst>
      <p:ext uri="{BB962C8B-B14F-4D97-AF65-F5344CB8AC3E}">
        <p14:creationId xmlns:p14="http://schemas.microsoft.com/office/powerpoint/2010/main" val="3839841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a:cxnSpLocks/>
          </p:cNvCxnSpPr>
          <p:nvPr/>
        </p:nvCxnSpPr>
        <p:spPr>
          <a:xfrm flipH="1">
            <a:off x="3963794" y="1103036"/>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p:nvCxnSpPr>
        <p:spPr>
          <a:xfrm>
            <a:off x="6067278" y="1100981"/>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2566F88-3FB3-4BBE-BFA8-ED76B983A3EA}"/>
              </a:ext>
            </a:extLst>
          </p:cNvPr>
          <p:cNvSpPr/>
          <p:nvPr/>
        </p:nvSpPr>
        <p:spPr>
          <a:xfrm>
            <a:off x="3703524" y="409757"/>
            <a:ext cx="4784952" cy="670421"/>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Modify final grades in </a:t>
            </a:r>
            <a:r>
              <a:rPr lang="en-US" sz="2400" dirty="0" err="1">
                <a:ln>
                  <a:solidFill>
                    <a:schemeClr val="bg1">
                      <a:lumMod val="75000"/>
                      <a:lumOff val="25000"/>
                      <a:alpha val="10000"/>
                    </a:schemeClr>
                  </a:solidFill>
                </a:ln>
                <a:solidFill>
                  <a:schemeClr val="tx2"/>
                </a:solidFill>
              </a:rPr>
              <a:t>CSMarks</a:t>
            </a:r>
            <a:endParaRPr lang="en-NZ" sz="2400" dirty="0">
              <a:solidFill>
                <a:schemeClr val="tx1"/>
              </a:solidFill>
            </a:endParaRPr>
          </a:p>
        </p:txBody>
      </p:sp>
      <p:sp>
        <p:nvSpPr>
          <p:cNvPr id="11" name="Rectangle 10">
            <a:extLst>
              <a:ext uri="{FF2B5EF4-FFF2-40B4-BE49-F238E27FC236}">
                <a16:creationId xmlns:a16="http://schemas.microsoft.com/office/drawing/2014/main" id="{F80F886E-9E15-4A6B-BD29-5338D8FAC439}"/>
              </a:ext>
            </a:extLst>
          </p:cNvPr>
          <p:cNvSpPr/>
          <p:nvPr/>
        </p:nvSpPr>
        <p:spPr>
          <a:xfrm>
            <a:off x="448141" y="1820326"/>
            <a:ext cx="4784952" cy="8375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Tamper with grades through </a:t>
            </a:r>
            <a:r>
              <a:rPr lang="en-US" sz="2400" dirty="0" err="1">
                <a:ln>
                  <a:solidFill>
                    <a:schemeClr val="bg1">
                      <a:lumMod val="75000"/>
                      <a:lumOff val="25000"/>
                      <a:alpha val="10000"/>
                    </a:schemeClr>
                  </a:solidFill>
                </a:ln>
                <a:solidFill>
                  <a:schemeClr val="tx2"/>
                </a:solidFill>
              </a:rPr>
              <a:t>CSMarks</a:t>
            </a:r>
            <a:endParaRPr lang="en-NZ" sz="2400" dirty="0">
              <a:ln>
                <a:solidFill>
                  <a:schemeClr val="bg1">
                    <a:lumMod val="75000"/>
                    <a:lumOff val="25000"/>
                    <a:alpha val="10000"/>
                  </a:schemeClr>
                </a:solidFill>
              </a:ln>
              <a:solidFill>
                <a:schemeClr val="tx2"/>
              </a:solidFill>
            </a:endParaRPr>
          </a:p>
        </p:txBody>
      </p:sp>
      <p:sp>
        <p:nvSpPr>
          <p:cNvPr id="12" name="Rectangle 11">
            <a:extLst>
              <a:ext uri="{FF2B5EF4-FFF2-40B4-BE49-F238E27FC236}">
                <a16:creationId xmlns:a16="http://schemas.microsoft.com/office/drawing/2014/main" id="{0D81F8ED-0FEC-4CFB-A3FC-7886E6B95731}"/>
              </a:ext>
            </a:extLst>
          </p:cNvPr>
          <p:cNvSpPr/>
          <p:nvPr/>
        </p:nvSpPr>
        <p:spPr>
          <a:xfrm>
            <a:off x="5638580" y="1820327"/>
            <a:ext cx="6223147" cy="8375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Tamper with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backend database</a:t>
            </a:r>
            <a:endParaRPr lang="en-NZ" sz="2400" dirty="0">
              <a:solidFill>
                <a:schemeClr val="tx1"/>
              </a:solidFill>
            </a:endParaRPr>
          </a:p>
        </p:txBody>
      </p:sp>
      <p:sp>
        <p:nvSpPr>
          <p:cNvPr id="7" name="Freeform 30">
            <a:extLst>
              <a:ext uri="{FF2B5EF4-FFF2-40B4-BE49-F238E27FC236}">
                <a16:creationId xmlns:a16="http://schemas.microsoft.com/office/drawing/2014/main" id="{C39825CB-D26F-48BC-9ED4-24E8F4D0CFD7}"/>
              </a:ext>
            </a:extLst>
          </p:cNvPr>
          <p:cNvSpPr/>
          <p:nvPr/>
        </p:nvSpPr>
        <p:spPr>
          <a:xfrm>
            <a:off x="2622128" y="2782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cxnSp>
        <p:nvCxnSpPr>
          <p:cNvPr id="8" name="Straight Connector 7">
            <a:extLst>
              <a:ext uri="{FF2B5EF4-FFF2-40B4-BE49-F238E27FC236}">
                <a16:creationId xmlns:a16="http://schemas.microsoft.com/office/drawing/2014/main" id="{9AA7A1A0-9B50-4EAF-A246-0F6E2A2EEE2D}"/>
              </a:ext>
            </a:extLst>
          </p:cNvPr>
          <p:cNvCxnSpPr>
            <a:cxnSpLocks/>
          </p:cNvCxnSpPr>
          <p:nvPr/>
        </p:nvCxnSpPr>
        <p:spPr>
          <a:xfrm flipH="1">
            <a:off x="1232452" y="2657914"/>
            <a:ext cx="1573519" cy="959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23C04A8-A385-4939-B3A7-B072F9356C32}"/>
              </a:ext>
            </a:extLst>
          </p:cNvPr>
          <p:cNvCxnSpPr>
            <a:cxnSpLocks/>
          </p:cNvCxnSpPr>
          <p:nvPr/>
        </p:nvCxnSpPr>
        <p:spPr>
          <a:xfrm>
            <a:off x="2847244" y="2662871"/>
            <a:ext cx="1895862" cy="954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04C4824-8A71-402D-9E0B-3791E7A85995}"/>
              </a:ext>
            </a:extLst>
          </p:cNvPr>
          <p:cNvSpPr/>
          <p:nvPr/>
        </p:nvSpPr>
        <p:spPr>
          <a:xfrm>
            <a:off x="244945" y="3640423"/>
            <a:ext cx="2915698" cy="130926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Steal a valid session cookie from a logged-in staff</a:t>
            </a:r>
            <a:endParaRPr lang="en-NZ" sz="2400" dirty="0">
              <a:ln>
                <a:solidFill>
                  <a:schemeClr val="bg1">
                    <a:lumMod val="75000"/>
                    <a:lumOff val="25000"/>
                    <a:alpha val="10000"/>
                  </a:schemeClr>
                </a:solidFill>
              </a:ln>
              <a:solidFill>
                <a:schemeClr val="tx2"/>
              </a:solidFill>
            </a:endParaRPr>
          </a:p>
        </p:txBody>
      </p:sp>
      <p:sp>
        <p:nvSpPr>
          <p:cNvPr id="14" name="Rectangle 13">
            <a:extLst>
              <a:ext uri="{FF2B5EF4-FFF2-40B4-BE49-F238E27FC236}">
                <a16:creationId xmlns:a16="http://schemas.microsoft.com/office/drawing/2014/main" id="{936283A1-FD52-417F-8310-DB1D50624F99}"/>
              </a:ext>
            </a:extLst>
          </p:cNvPr>
          <p:cNvSpPr/>
          <p:nvPr/>
        </p:nvSpPr>
        <p:spPr>
          <a:xfrm>
            <a:off x="3359426" y="3640423"/>
            <a:ext cx="2611917" cy="130926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Use the stolen cookie to override grades on </a:t>
            </a:r>
            <a:r>
              <a:rPr lang="en-US" sz="2400" dirty="0" err="1">
                <a:ln>
                  <a:solidFill>
                    <a:schemeClr val="bg1">
                      <a:lumMod val="75000"/>
                      <a:lumOff val="25000"/>
                      <a:alpha val="10000"/>
                    </a:schemeClr>
                  </a:solidFill>
                </a:ln>
                <a:solidFill>
                  <a:schemeClr val="tx2"/>
                </a:solidFill>
              </a:rPr>
              <a:t>CSMarks</a:t>
            </a:r>
            <a:endParaRPr lang="en-NZ" sz="2400" dirty="0">
              <a:ln>
                <a:solidFill>
                  <a:schemeClr val="bg1">
                    <a:lumMod val="75000"/>
                    <a:lumOff val="25000"/>
                    <a:alpha val="10000"/>
                  </a:schemeClr>
                </a:solidFill>
              </a:ln>
              <a:solidFill>
                <a:schemeClr val="tx2"/>
              </a:solidFill>
            </a:endParaRPr>
          </a:p>
        </p:txBody>
      </p:sp>
      <p:sp>
        <p:nvSpPr>
          <p:cNvPr id="16" name="Freeform 30">
            <a:extLst>
              <a:ext uri="{FF2B5EF4-FFF2-40B4-BE49-F238E27FC236}">
                <a16:creationId xmlns:a16="http://schemas.microsoft.com/office/drawing/2014/main" id="{66A903BC-AF5A-4C36-AA44-D2F7E642A0AF}"/>
              </a:ext>
            </a:extLst>
          </p:cNvPr>
          <p:cNvSpPr/>
          <p:nvPr/>
        </p:nvSpPr>
        <p:spPr>
          <a:xfrm>
            <a:off x="8718134" y="2776063"/>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cxnSp>
        <p:nvCxnSpPr>
          <p:cNvPr id="19" name="Straight Connector 18">
            <a:extLst>
              <a:ext uri="{FF2B5EF4-FFF2-40B4-BE49-F238E27FC236}">
                <a16:creationId xmlns:a16="http://schemas.microsoft.com/office/drawing/2014/main" id="{37377ED0-7FF5-414E-8F60-DCA48272C40B}"/>
              </a:ext>
            </a:extLst>
          </p:cNvPr>
          <p:cNvCxnSpPr>
            <a:cxnSpLocks/>
          </p:cNvCxnSpPr>
          <p:nvPr/>
        </p:nvCxnSpPr>
        <p:spPr>
          <a:xfrm flipH="1">
            <a:off x="7328458" y="2651290"/>
            <a:ext cx="1573519" cy="959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008DB5D-D868-4CAD-A49F-A8065B13B69C}"/>
              </a:ext>
            </a:extLst>
          </p:cNvPr>
          <p:cNvCxnSpPr>
            <a:cxnSpLocks/>
          </p:cNvCxnSpPr>
          <p:nvPr/>
        </p:nvCxnSpPr>
        <p:spPr>
          <a:xfrm>
            <a:off x="8943250" y="2656247"/>
            <a:ext cx="1895862" cy="954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42EEDBD-58F1-4C93-A24D-75089B9385DB}"/>
              </a:ext>
            </a:extLst>
          </p:cNvPr>
          <p:cNvSpPr/>
          <p:nvPr/>
        </p:nvSpPr>
        <p:spPr>
          <a:xfrm>
            <a:off x="6181927" y="3633799"/>
            <a:ext cx="2915698" cy="130926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a:solidFill>
                    <a:schemeClr val="bg1">
                      <a:lumMod val="75000"/>
                      <a:lumOff val="25000"/>
                      <a:alpha val="10000"/>
                    </a:schemeClr>
                  </a:solidFill>
                </a:ln>
                <a:solidFill>
                  <a:schemeClr val="tx2"/>
                </a:solidFill>
              </a:rPr>
              <a:t>Exploit a vulnerability in the </a:t>
            </a:r>
            <a:r>
              <a:rPr lang="en-US" sz="2400" dirty="0" err="1">
                <a:ln>
                  <a:solidFill>
                    <a:schemeClr val="bg1">
                      <a:lumMod val="75000"/>
                      <a:lumOff val="25000"/>
                      <a:alpha val="10000"/>
                    </a:schemeClr>
                  </a:solidFill>
                </a:ln>
                <a:solidFill>
                  <a:schemeClr val="tx2"/>
                </a:solidFill>
              </a:rPr>
              <a:t>CSMarks</a:t>
            </a:r>
            <a:r>
              <a:rPr lang="en-US" sz="2400" dirty="0">
                <a:ln>
                  <a:solidFill>
                    <a:schemeClr val="bg1">
                      <a:lumMod val="75000"/>
                      <a:lumOff val="25000"/>
                      <a:alpha val="10000"/>
                    </a:schemeClr>
                  </a:solidFill>
                </a:ln>
                <a:solidFill>
                  <a:schemeClr val="tx2"/>
                </a:solidFill>
              </a:rPr>
              <a:t> website</a:t>
            </a:r>
            <a:endParaRPr lang="en-NZ" sz="2400" dirty="0">
              <a:ln>
                <a:solidFill>
                  <a:schemeClr val="bg1">
                    <a:lumMod val="75000"/>
                    <a:lumOff val="25000"/>
                    <a:alpha val="10000"/>
                  </a:schemeClr>
                </a:solidFill>
              </a:ln>
              <a:solidFill>
                <a:schemeClr val="tx2"/>
              </a:solidFill>
            </a:endParaRPr>
          </a:p>
        </p:txBody>
      </p:sp>
      <p:sp>
        <p:nvSpPr>
          <p:cNvPr id="22" name="Rectangle 21">
            <a:extLst>
              <a:ext uri="{FF2B5EF4-FFF2-40B4-BE49-F238E27FC236}">
                <a16:creationId xmlns:a16="http://schemas.microsoft.com/office/drawing/2014/main" id="{E5666917-E553-4EF5-9184-E192F1FCB222}"/>
              </a:ext>
            </a:extLst>
          </p:cNvPr>
          <p:cNvSpPr/>
          <p:nvPr/>
        </p:nvSpPr>
        <p:spPr>
          <a:xfrm>
            <a:off x="9328087" y="3633799"/>
            <a:ext cx="2731188" cy="130926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n>
                  <a:solidFill>
                    <a:schemeClr val="bg1">
                      <a:lumMod val="75000"/>
                      <a:lumOff val="25000"/>
                      <a:alpha val="10000"/>
                    </a:schemeClr>
                  </a:solidFill>
                </a:ln>
                <a:solidFill>
                  <a:schemeClr val="tx2"/>
                </a:solidFill>
              </a:rPr>
              <a:t>Gain write access to the grade records in the database</a:t>
            </a:r>
            <a:endParaRPr lang="en-NZ" sz="2400" dirty="0">
              <a:ln>
                <a:solidFill>
                  <a:schemeClr val="bg1">
                    <a:lumMod val="75000"/>
                    <a:lumOff val="25000"/>
                    <a:alpha val="10000"/>
                  </a:schemeClr>
                </a:solidFill>
              </a:ln>
              <a:solidFill>
                <a:schemeClr val="tx2"/>
              </a:solidFill>
            </a:endParaRPr>
          </a:p>
        </p:txBody>
      </p:sp>
    </p:spTree>
    <p:extLst>
      <p:ext uri="{BB962C8B-B14F-4D97-AF65-F5344CB8AC3E}">
        <p14:creationId xmlns:p14="http://schemas.microsoft.com/office/powerpoint/2010/main" val="6699991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43031" y="799925"/>
            <a:ext cx="8767965" cy="546736"/>
          </a:xfrm>
        </p:spPr>
        <p:txBody>
          <a:bodyPr/>
          <a:lstStyle/>
          <a:p>
            <a:r>
              <a:rPr lang="en-US" sz="2400" dirty="0">
                <a:solidFill>
                  <a:srgbClr val="FF0000"/>
                </a:solidFill>
                <a:latin typeface="+mn-lt"/>
                <a:ea typeface="+mn-ea"/>
                <a:cs typeface="+mn-cs"/>
              </a:rPr>
              <a:t>Part 1 </a:t>
            </a:r>
            <a:r>
              <a:rPr lang="en-US" sz="2400" dirty="0">
                <a:latin typeface="+mn-lt"/>
                <a:ea typeface="+mn-ea"/>
                <a:cs typeface="+mn-cs"/>
              </a:rPr>
              <a:t>Translate the attack-defense tree described below into code.</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38100"/>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7</a:t>
            </a:r>
          </a:p>
        </p:txBody>
      </p:sp>
      <p:pic>
        <p:nvPicPr>
          <p:cNvPr id="7" name="Picture 2">
            <a:extLst>
              <a:ext uri="{FF2B5EF4-FFF2-40B4-BE49-F238E27FC236}">
                <a16:creationId xmlns:a16="http://schemas.microsoft.com/office/drawing/2014/main" id="{CF6C3E4A-55F7-4154-98F9-7A7401459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055" y="1579878"/>
            <a:ext cx="10701241" cy="4678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0311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43031" y="799925"/>
            <a:ext cx="8767965" cy="546736"/>
          </a:xfrm>
        </p:spPr>
        <p:txBody>
          <a:bodyPr/>
          <a:lstStyle/>
          <a:p>
            <a:r>
              <a:rPr lang="en-US" sz="2400" dirty="0">
                <a:solidFill>
                  <a:srgbClr val="FF0000"/>
                </a:solidFill>
                <a:latin typeface="+mn-lt"/>
                <a:ea typeface="+mn-ea"/>
                <a:cs typeface="+mn-cs"/>
              </a:rPr>
              <a:t>Part 1 </a:t>
            </a:r>
            <a:r>
              <a:rPr lang="en-US" sz="2400" dirty="0">
                <a:latin typeface="+mn-lt"/>
                <a:ea typeface="+mn-ea"/>
                <a:cs typeface="+mn-cs"/>
              </a:rPr>
              <a:t>Translate the attack-defense tree described below into code.</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38100"/>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7</a:t>
            </a:r>
          </a:p>
        </p:txBody>
      </p:sp>
      <p:pic>
        <p:nvPicPr>
          <p:cNvPr id="3074" name="Picture 2">
            <a:extLst>
              <a:ext uri="{FF2B5EF4-FFF2-40B4-BE49-F238E27FC236}">
                <a16:creationId xmlns:a16="http://schemas.microsoft.com/office/drawing/2014/main" id="{D821FDFD-CA6A-426F-8E68-AF84358ED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94" y="1398441"/>
            <a:ext cx="5970494" cy="51107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D6826D-9825-426E-B60D-6BEABC3E6646}"/>
              </a:ext>
            </a:extLst>
          </p:cNvPr>
          <p:cNvSpPr txBox="1"/>
          <p:nvPr/>
        </p:nvSpPr>
        <p:spPr>
          <a:xfrm>
            <a:off x="303892" y="1330687"/>
            <a:ext cx="1219806" cy="461665"/>
          </a:xfrm>
          <a:prstGeom prst="rect">
            <a:avLst/>
          </a:prstGeom>
          <a:noFill/>
        </p:spPr>
        <p:txBody>
          <a:bodyPr wrap="square">
            <a:spAutoFit/>
          </a:bodyPr>
          <a:lstStyle/>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Answer:</a:t>
            </a:r>
            <a:endPar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41747975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82227" y="764770"/>
            <a:ext cx="11627545" cy="1296786"/>
          </a:xfrm>
        </p:spPr>
        <p:txBody>
          <a:bodyPr>
            <a:normAutofit/>
          </a:bodyPr>
          <a:lstStyle/>
          <a:p>
            <a:pPr algn="l" rtl="0">
              <a:spcBef>
                <a:spcPts val="0"/>
              </a:spcBef>
              <a:spcAft>
                <a:spcPts val="0"/>
              </a:spcAft>
            </a:pPr>
            <a:r>
              <a:rPr lang="en-US" sz="2400" dirty="0">
                <a:solidFill>
                  <a:srgbClr val="FF0000"/>
                </a:solidFill>
                <a:latin typeface="+mn-lt"/>
                <a:ea typeface="+mn-ea"/>
                <a:cs typeface="+mn-cs"/>
              </a:rPr>
              <a:t>Part 2 </a:t>
            </a:r>
            <a:r>
              <a:rPr lang="en-US" sz="2400" dirty="0">
                <a:latin typeface="+mn-lt"/>
                <a:ea typeface="+mn-ea"/>
                <a:cs typeface="+mn-cs"/>
              </a:rPr>
              <a:t>In the attack-defense tree mentioned previously, each editable node has been assigned an initial success-probability value. Calculate the success probability value for each node marked with a question mark.</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7</a:t>
            </a:r>
          </a:p>
        </p:txBody>
      </p:sp>
    </p:spTree>
    <p:extLst>
      <p:ext uri="{BB962C8B-B14F-4D97-AF65-F5344CB8AC3E}">
        <p14:creationId xmlns:p14="http://schemas.microsoft.com/office/powerpoint/2010/main" val="11609800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2A5540C-AA78-4657-865C-27FF42377EC9}"/>
              </a:ext>
            </a:extLst>
          </p:cNvPr>
          <p:cNvSpPr txBox="1">
            <a:spLocks/>
          </p:cNvSpPr>
          <p:nvPr/>
        </p:nvSpPr>
        <p:spPr>
          <a:xfrm>
            <a:off x="415338" y="335286"/>
            <a:ext cx="11627545" cy="52518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spcBef>
                <a:spcPts val="0"/>
              </a:spcBef>
            </a:pPr>
            <a:r>
              <a:rPr lang="en-US" sz="2400" dirty="0">
                <a:solidFill>
                  <a:srgbClr val="FF0000"/>
                </a:solidFill>
                <a:latin typeface="+mn-lt"/>
                <a:ea typeface="+mn-ea"/>
                <a:cs typeface="+mn-cs"/>
              </a:rPr>
              <a:t>Part 2</a:t>
            </a:r>
            <a:endParaRPr lang="en-AU" sz="2400" dirty="0">
              <a:latin typeface="+mn-lt"/>
              <a:ea typeface="+mn-ea"/>
              <a:cs typeface="+mn-cs"/>
            </a:endParaRPr>
          </a:p>
        </p:txBody>
      </p:sp>
      <p:sp>
        <p:nvSpPr>
          <p:cNvPr id="23" name="Title 1">
            <a:extLst>
              <a:ext uri="{FF2B5EF4-FFF2-40B4-BE49-F238E27FC236}">
                <a16:creationId xmlns:a16="http://schemas.microsoft.com/office/drawing/2014/main" id="{FF207394-4D38-4E05-9334-2F8FECB8A095}"/>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7</a:t>
            </a:r>
          </a:p>
        </p:txBody>
      </p:sp>
      <p:pic>
        <p:nvPicPr>
          <p:cNvPr id="2050" name="Picture 2">
            <a:extLst>
              <a:ext uri="{FF2B5EF4-FFF2-40B4-BE49-F238E27FC236}">
                <a16:creationId xmlns:a16="http://schemas.microsoft.com/office/drawing/2014/main" id="{9CE5D691-1CE7-4B11-8A13-D88B3127CD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795" y="935421"/>
            <a:ext cx="10284768" cy="49871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716611" y="935421"/>
            <a:ext cx="3220262" cy="1627742"/>
          </a:xfrm>
          <a:prstGeom prst="rect">
            <a:avLst/>
          </a:prstGeom>
        </p:spPr>
      </p:pic>
      <p:sp>
        <p:nvSpPr>
          <p:cNvPr id="24" name="TextBox 23">
            <a:extLst>
              <a:ext uri="{FF2B5EF4-FFF2-40B4-BE49-F238E27FC236}">
                <a16:creationId xmlns:a16="http://schemas.microsoft.com/office/drawing/2014/main" id="{250C0F0F-822B-4337-9AF3-C49E4E825FB1}"/>
              </a:ext>
            </a:extLst>
          </p:cNvPr>
          <p:cNvSpPr txBox="1"/>
          <p:nvPr/>
        </p:nvSpPr>
        <p:spPr>
          <a:xfrm>
            <a:off x="913794" y="6203110"/>
            <a:ext cx="10740323" cy="400110"/>
          </a:xfrm>
          <a:prstGeom prst="rect">
            <a:avLst/>
          </a:prstGeom>
          <a:noFill/>
        </p:spPr>
        <p:txBody>
          <a:bodyPr wrap="square">
            <a:spAutoFit/>
          </a:bodyPr>
          <a:lstStyle/>
          <a:p>
            <a:pPr rtl="0">
              <a:spcBef>
                <a:spcPts val="0"/>
              </a:spcBef>
              <a:spcAft>
                <a:spcPts val="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Answer: 1: 0.0972; 2: 0.0972; 3: 0.27; 4: 0.6; 5: 0.4</a:t>
            </a:r>
            <a:endPar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2649076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US" sz="2400" dirty="0"/>
              <a:t>Alice and Bob want to communicate securely via the internet. For instance, Alice wants to send a message to Bob with the message being encrypted. They have never met in person, nor have they communicated via the internet before.</a:t>
            </a:r>
            <a:endParaRPr lang="en-AU" sz="2400" dirty="0"/>
          </a:p>
          <a:p>
            <a:pPr marL="36900" indent="0">
              <a:buNone/>
            </a:pPr>
            <a:endParaRPr lang="en-AU" sz="2400" dirty="0"/>
          </a:p>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two parties. </a:t>
            </a:r>
          </a:p>
          <a:p>
            <a:pPr marL="36900" indent="0" rtl="0">
              <a:spcBef>
                <a:spcPts val="0"/>
              </a:spcBef>
              <a:spcAft>
                <a:spcPts val="0"/>
              </a:spcAft>
              <a:buNone/>
            </a:pPr>
            <a:br>
              <a:rPr lang="en-US" sz="2000" dirty="0"/>
            </a:b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16766280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30714" y="994683"/>
            <a:ext cx="11249452" cy="48686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the two parties. </a:t>
            </a:r>
          </a:p>
        </p:txBody>
      </p:sp>
    </p:spTree>
    <p:extLst>
      <p:ext uri="{BB962C8B-B14F-4D97-AF65-F5344CB8AC3E}">
        <p14:creationId xmlns:p14="http://schemas.microsoft.com/office/powerpoint/2010/main" val="11049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[2 marks]</a:t>
            </a:r>
            <a:r>
              <a:rPr lang="en-US" sz="2400" dirty="0">
                <a:solidFill>
                  <a:srgbClr val="FF0000"/>
                </a:solidFill>
                <a:effectLst/>
              </a:rPr>
              <a:t> </a:t>
            </a:r>
            <a:r>
              <a:rPr lang="en-US" sz="2400" dirty="0">
                <a:solidFill>
                  <a:srgbClr val="FF0000"/>
                </a:solidFill>
              </a:rPr>
              <a:t>Public key cryptography is a cryptographic system that utilizes a pair of keys for encryption and decryption: a public key and a private key. The public key is freely shared, while the private key remains confidential.</a:t>
            </a:r>
          </a:p>
        </p:txBody>
      </p:sp>
    </p:spTree>
    <p:extLst>
      <p:ext uri="{BB962C8B-B14F-4D97-AF65-F5344CB8AC3E}">
        <p14:creationId xmlns:p14="http://schemas.microsoft.com/office/powerpoint/2010/main" val="10287911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cryptography (PKC) and provide a step-by-step explanation of how PKC 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[2 marks] Public key cryptography.</a:t>
            </a:r>
          </a:p>
          <a:p>
            <a:pPr marL="36900" indent="0" rtl="0">
              <a:spcBef>
                <a:spcPts val="0"/>
              </a:spcBef>
              <a:spcAft>
                <a:spcPts val="0"/>
              </a:spcAft>
              <a:buNone/>
            </a:pPr>
            <a:r>
              <a:rPr lang="en-US" sz="2400" dirty="0">
                <a:solidFill>
                  <a:srgbClr val="FF0000"/>
                </a:solidFill>
              </a:rPr>
              <a:t>[4 marks]</a:t>
            </a:r>
          </a:p>
          <a:p>
            <a:pPr marL="36900" indent="0" rtl="0">
              <a:spcBef>
                <a:spcPts val="0"/>
              </a:spcBef>
              <a:spcAft>
                <a:spcPts val="0"/>
              </a:spcAft>
              <a:buNone/>
            </a:pPr>
            <a:r>
              <a:rPr lang="en-US" sz="2400" dirty="0">
                <a:solidFill>
                  <a:srgbClr val="FF0000"/>
                </a:solidFill>
              </a:rPr>
              <a:t>	1. Alice and Bob generate their own public and private key pairs.</a:t>
            </a:r>
          </a:p>
          <a:p>
            <a:pPr marL="36900" indent="0" rtl="0">
              <a:spcBef>
                <a:spcPts val="0"/>
              </a:spcBef>
              <a:spcAft>
                <a:spcPts val="0"/>
              </a:spcAft>
              <a:buNone/>
            </a:pPr>
            <a:r>
              <a:rPr lang="en-US" sz="2400" dirty="0">
                <a:solidFill>
                  <a:srgbClr val="FF0000"/>
                </a:solidFill>
              </a:rPr>
              <a:t>	2. Alice and Bob exchange their public keys while keeping their private keys secret.</a:t>
            </a:r>
          </a:p>
          <a:p>
            <a:pPr marL="36900" indent="0" rtl="0">
              <a:spcBef>
                <a:spcPts val="0"/>
              </a:spcBef>
              <a:spcAft>
                <a:spcPts val="0"/>
              </a:spcAft>
              <a:buNone/>
            </a:pPr>
            <a:r>
              <a:rPr lang="en-US" sz="2400" dirty="0">
                <a:solidFill>
                  <a:srgbClr val="FF0000"/>
                </a:solidFill>
              </a:rPr>
              <a:t>	3. To send a secure message to Bob, Alice encrypts the message using Bob's public key.</a:t>
            </a:r>
          </a:p>
          <a:p>
            <a:pPr marL="36900" indent="0" rtl="0">
              <a:spcBef>
                <a:spcPts val="0"/>
              </a:spcBef>
              <a:spcAft>
                <a:spcPts val="0"/>
              </a:spcAft>
              <a:buNone/>
            </a:pPr>
            <a:r>
              <a:rPr lang="en-US" sz="2400" dirty="0">
                <a:solidFill>
                  <a:srgbClr val="FF0000"/>
                </a:solidFill>
              </a:rPr>
              <a:t>	4. When receiving the message, Bob uses his private key for decryption. For Bob, he encrypts his message using Alice's public key, and Alice decrypts it with her private key.</a:t>
            </a:r>
            <a:br>
              <a:rPr lang="en-US" sz="2000" dirty="0"/>
            </a:br>
            <a:endParaRPr lang="en-US" sz="2400" dirty="0">
              <a:solidFill>
                <a:srgbClr val="FF0000"/>
              </a:solidFill>
            </a:endParaRPr>
          </a:p>
        </p:txBody>
      </p:sp>
    </p:spTree>
    <p:extLst>
      <p:ext uri="{BB962C8B-B14F-4D97-AF65-F5344CB8AC3E}">
        <p14:creationId xmlns:p14="http://schemas.microsoft.com/office/powerpoint/2010/main" val="36747127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534232" y="1066801"/>
            <a:ext cx="10524519" cy="4868634"/>
          </a:xfrm>
        </p:spPr>
        <p:txBody>
          <a:bodyPr>
            <a:normAutofit/>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21834899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a:p>
            <a:pPr marL="36900" indent="0" rtl="0">
              <a:spcBef>
                <a:spcPts val="0"/>
              </a:spcBef>
              <a:spcAft>
                <a:spcPts val="0"/>
              </a:spcAft>
              <a:buNone/>
            </a:pPr>
            <a:endParaRPr lang="en-US" sz="2600" dirty="0">
              <a:solidFill>
                <a:srgbClr val="FF0000"/>
              </a:solidFill>
            </a:endParaRPr>
          </a:p>
          <a:p>
            <a:pPr marL="36900" indent="0" rtl="0" fontAlgn="base">
              <a:spcBef>
                <a:spcPts val="0"/>
              </a:spcBef>
              <a:spcAft>
                <a:spcPts val="0"/>
              </a:spcAft>
              <a:buNone/>
            </a:pPr>
            <a:r>
              <a:rPr lang="en-US" sz="2400" dirty="0">
                <a:solidFill>
                  <a:srgbClr val="FF0000"/>
                </a:solidFill>
              </a:rPr>
              <a:t>[1 mark] Eve generates two pairs of privates and public keys.</a:t>
            </a:r>
          </a:p>
          <a:p>
            <a:pPr marL="36900" indent="0" rtl="0" fontAlgn="base">
              <a:spcBef>
                <a:spcPts val="0"/>
              </a:spcBef>
              <a:spcAft>
                <a:spcPts val="0"/>
              </a:spcAft>
              <a:buNone/>
            </a:pPr>
            <a:r>
              <a:rPr lang="en-US" sz="2400" dirty="0">
                <a:solidFill>
                  <a:srgbClr val="FF0000"/>
                </a:solidFill>
              </a:rPr>
              <a:t>[1 mark] Eve intercepts the public key exchange between Alice and Bob, </a:t>
            </a:r>
          </a:p>
          <a:p>
            <a:pPr marL="36900" indent="0" rtl="0" fontAlgn="base">
              <a:spcBef>
                <a:spcPts val="0"/>
              </a:spcBef>
              <a:spcAft>
                <a:spcPts val="0"/>
              </a:spcAft>
              <a:buNone/>
            </a:pPr>
            <a:r>
              <a:rPr lang="en-US" sz="2400" dirty="0">
                <a:solidFill>
                  <a:srgbClr val="FF0000"/>
                </a:solidFill>
              </a:rPr>
              <a:t>[1 mark] Eve substitutes her own public keys for Alice's and Bob’s. </a:t>
            </a:r>
          </a:p>
          <a:p>
            <a:pPr marL="36900" indent="0" rtl="0" fontAlgn="base">
              <a:spcBef>
                <a:spcPts val="0"/>
              </a:spcBef>
              <a:spcAft>
                <a:spcPts val="0"/>
              </a:spcAft>
              <a:buNone/>
            </a:pPr>
            <a:r>
              <a:rPr lang="en-US" sz="2400" dirty="0">
                <a:solidFill>
                  <a:srgbClr val="FF0000"/>
                </a:solidFill>
              </a:rPr>
              <a:t>[1 mark] As a result, when Alice and Bob send encrypted messages to each other, they are actually encrypted with Eve's public keys, allowing her to decrypt the messages with her private keys.</a:t>
            </a:r>
          </a:p>
        </p:txBody>
      </p:sp>
    </p:spTree>
    <p:extLst>
      <p:ext uri="{BB962C8B-B14F-4D97-AF65-F5344CB8AC3E}">
        <p14:creationId xmlns:p14="http://schemas.microsoft.com/office/powerpoint/2010/main" val="26144654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3170099"/>
          </a:xfrm>
          <a:prstGeom prst="rect">
            <a:avLst/>
          </a:prstGeom>
          <a:noFill/>
        </p:spPr>
        <p:txBody>
          <a:bodyPr wrap="square">
            <a:spAutoFit/>
          </a:bodyPr>
          <a:lstStyle/>
          <a:p>
            <a:pPr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[4 marks] You invent the “FRNZ” cryptographic algorithm, which works on English messages, and all letters are treated as upper cases. FRNZ is implemented by the following steps:</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 Caesar cipher operates over the plaintext by the rotation number R (a positive R value means a forward rotation by R).</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result in step 1 is converted, letter by letter, using the Alphanumeric table found below. For each output character, if it is even, its resulting character is 0 (i.e., even numbers are mapped to 0). If the output character is odd, its resulting character is 1 (i.e., odd numbers are mapped to 1).</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3.</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result in step 2 is now </a:t>
            </a:r>
            <a:r>
              <a:rPr lang="en-US"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XOR’d</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with the key K. If the length of the key is less than the length of the message, the key is padded (on the right) to the length of the message. For example, if the message has length 10, and K=1110, the padded key is 1110111011.</a:t>
            </a:r>
          </a:p>
        </p:txBody>
      </p:sp>
      <p:pic>
        <p:nvPicPr>
          <p:cNvPr id="1026" name="Picture 2">
            <a:extLst>
              <a:ext uri="{FF2B5EF4-FFF2-40B4-BE49-F238E27FC236}">
                <a16:creationId xmlns:a16="http://schemas.microsoft.com/office/drawing/2014/main" id="{91BB2D63-9A43-4A70-94A6-83ACD9DA0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007" y="4007127"/>
            <a:ext cx="5958700" cy="25714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2FFFC4-E00C-455E-BA6A-697EE9560C2D}"/>
              </a:ext>
            </a:extLst>
          </p:cNvPr>
          <p:cNvSpPr txBox="1"/>
          <p:nvPr/>
        </p:nvSpPr>
        <p:spPr>
          <a:xfrm>
            <a:off x="6510038" y="3902871"/>
            <a:ext cx="5557845" cy="2862322"/>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 example, the plaintext “HELLOWORLD”, with the values R=2, K=1110 produces the final result “1010000011”:</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“HELLOWORLD” -&gt; “JGNNQYQTNF”</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“JGNNQYQTNF” -&gt; “107141417251720146”</a:t>
            </a:r>
          </a:p>
          <a:p>
            <a:pPr fontAlgn="base">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“107141417251720146” -&gt; “0100111000”</a:t>
            </a:r>
          </a:p>
          <a:p>
            <a:pPr rtl="0" fontAlgn="base">
              <a:spcBef>
                <a:spcPts val="0"/>
              </a:spcBef>
              <a:spcAft>
                <a:spcPts val="120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“0100111000”</a:t>
            </a:r>
          </a:p>
          <a:p>
            <a:pPr fontAlgn="base">
              <a:spcAft>
                <a:spcPts val="1200"/>
              </a:spcAft>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1110111011.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-&gt; “1010000011”</a:t>
            </a:r>
          </a:p>
        </p:txBody>
      </p:sp>
    </p:spTree>
    <p:extLst>
      <p:ext uri="{BB962C8B-B14F-4D97-AF65-F5344CB8AC3E}">
        <p14:creationId xmlns:p14="http://schemas.microsoft.com/office/powerpoint/2010/main" val="35352882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5401479"/>
          </a:xfrm>
          <a:prstGeom prst="rect">
            <a:avLst/>
          </a:prstGeom>
          <a:noFill/>
        </p:spPr>
        <p:txBody>
          <a:bodyPr wrap="square">
            <a:spAutoFit/>
          </a:bodyPr>
          <a:lstStyle/>
          <a:p>
            <a:pPr rtl="0">
              <a:spcBef>
                <a:spcPts val="1200"/>
              </a:spcBef>
              <a:spcAft>
                <a:spcPts val="6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Your Task for this part: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Perform the FRNZ cryptographic algorithm, step by step, using the first 10 characters of your combined first and last names without spaces, e.g., “JOHNNY SMITH” becomes “JOHNNYSMIT”.  Also, if your first or last name contains characters that cannot be found in the Alphanumeric table, these characters will be skipped, e.g., “JOÚHNNY SMIÊTH” becomes “JOHNNYSMIT”.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If your first and last names combined without spaces are less than 10 characters long, pad the end of the combined string with the first characters from the string “LOREMIPSUM” until the final string is 10 characters long. For example, “JOHN DOE” becomes “JOHNDOE”. Then, as this is 7-characters long, pad it with the first 3 characters “LOR”. Thus, the final string becomes, “JOHNDOELOR”.</a:t>
            </a:r>
          </a:p>
          <a:p>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Use the values R=4, K=1010 in your answer.</a:t>
            </a:r>
          </a:p>
          <a:p>
            <a:endPar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rotation of R</a:t>
            </a:r>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 </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binary string conversion</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correctly padding the key.</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XOR </a:t>
            </a:r>
          </a:p>
        </p:txBody>
      </p:sp>
    </p:spTree>
    <p:extLst>
      <p:ext uri="{BB962C8B-B14F-4D97-AF65-F5344CB8AC3E}">
        <p14:creationId xmlns:p14="http://schemas.microsoft.com/office/powerpoint/2010/main" val="12175453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707886"/>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p:txBody>
      </p:sp>
    </p:spTree>
    <p:extLst>
      <p:ext uri="{BB962C8B-B14F-4D97-AF65-F5344CB8AC3E}">
        <p14:creationId xmlns:p14="http://schemas.microsoft.com/office/powerpoint/2010/main" val="693837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3631763"/>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a:p>
            <a:br>
              <a:rPr lang="en-US" sz="2000" dirty="0"/>
            </a:b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FRNZ mainly relies on K and the mapping between numbers and 0/1.</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the length of K determines the number of possible combinations for brute force, affecting the overall security. A longer K increases the number of combinations. For example, when K has 4 bits, it has 2^4 options. When K has 10 bits, it has 2^10 options. </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one to many mapping of 0/1 to letter contributes to security. The actual complexity is 13^10 when the message length is 10.</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either decreasing or increasing R has only a marginal effect on the security: only 26 rotations</a:t>
            </a:r>
          </a:p>
        </p:txBody>
      </p:sp>
    </p:spTree>
    <p:extLst>
      <p:ext uri="{BB962C8B-B14F-4D97-AF65-F5344CB8AC3E}">
        <p14:creationId xmlns:p14="http://schemas.microsoft.com/office/powerpoint/2010/main" val="12088144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F79D-16DD-4439-8342-17CBBB22DF56}"/>
              </a:ext>
            </a:extLst>
          </p:cNvPr>
          <p:cNvSpPr>
            <a:spLocks noGrp="1"/>
          </p:cNvSpPr>
          <p:nvPr>
            <p:ph type="ctrTitle"/>
          </p:nvPr>
        </p:nvSpPr>
        <p:spPr>
          <a:xfrm>
            <a:off x="876300" y="400049"/>
            <a:ext cx="10801349" cy="1981201"/>
          </a:xfrm>
          <a:noFill/>
          <a:ln>
            <a:noFill/>
          </a:ln>
          <a:effectLst/>
        </p:spPr>
        <p:txBody>
          <a:bodyPr>
            <a:normAutofit/>
          </a:bodyPr>
          <a:lstStyle/>
          <a:p>
            <a:r>
              <a:rPr lang="en-AU" dirty="0">
                <a:ln w="22225">
                  <a:noFill/>
                  <a:prstDash val="solid"/>
                </a:ln>
                <a:solidFill>
                  <a:srgbClr val="FF0000"/>
                </a:solidFill>
                <a:effectLst/>
                <a:latin typeface="Arial Rounded MT Bold" panose="020F0704030504030204" pitchFamily="34" charset="0"/>
                <a:cs typeface="Arial" panose="020B0604020202020204" pitchFamily="34" charset="0"/>
              </a:rPr>
              <a:t>Good </a:t>
            </a:r>
            <a:r>
              <a:rPr lang="en-AU">
                <a:ln w="22225">
                  <a:noFill/>
                  <a:prstDash val="solid"/>
                </a:ln>
                <a:solidFill>
                  <a:srgbClr val="FF0000"/>
                </a:solidFill>
                <a:effectLst/>
                <a:latin typeface="Arial Rounded MT Bold" panose="020F0704030504030204" pitchFamily="34" charset="0"/>
                <a:cs typeface="Arial" panose="020B0604020202020204" pitchFamily="34" charset="0"/>
              </a:rPr>
              <a:t>Luck </a:t>
            </a:r>
            <a:br>
              <a:rPr lang="en-AU">
                <a:ln w="22225">
                  <a:noFill/>
                  <a:prstDash val="solid"/>
                </a:ln>
                <a:solidFill>
                  <a:srgbClr val="FF0000"/>
                </a:solidFill>
                <a:effectLst/>
                <a:latin typeface="Arial Rounded MT Bold" panose="020F0704030504030204" pitchFamily="34" charset="0"/>
                <a:cs typeface="Arial" panose="020B0604020202020204" pitchFamily="34" charset="0"/>
              </a:rPr>
            </a:br>
            <a:r>
              <a:rPr lang="en-AU">
                <a:ln w="22225">
                  <a:noFill/>
                  <a:prstDash val="solid"/>
                </a:ln>
                <a:solidFill>
                  <a:srgbClr val="FF0000"/>
                </a:solidFill>
                <a:effectLst/>
                <a:latin typeface="Arial Rounded MT Bold" panose="020F0704030504030204" pitchFamily="34" charset="0"/>
                <a:cs typeface="Arial" panose="020B0604020202020204" pitchFamily="34" charset="0"/>
              </a:rPr>
              <a:t>in all </a:t>
            </a:r>
            <a:r>
              <a:rPr lang="en-AU" dirty="0">
                <a:ln w="22225">
                  <a:noFill/>
                  <a:prstDash val="solid"/>
                </a:ln>
                <a:solidFill>
                  <a:srgbClr val="FF0000"/>
                </a:solidFill>
                <a:effectLst/>
                <a:latin typeface="Arial Rounded MT Bold" panose="020F0704030504030204" pitchFamily="34" charset="0"/>
                <a:cs typeface="Arial" panose="020B0604020202020204" pitchFamily="34" charset="0"/>
              </a:rPr>
              <a:t>your final exams!!!</a:t>
            </a:r>
          </a:p>
        </p:txBody>
      </p:sp>
      <p:sp>
        <p:nvSpPr>
          <p:cNvPr id="3" name="Content Placeholder 2">
            <a:extLst>
              <a:ext uri="{FF2B5EF4-FFF2-40B4-BE49-F238E27FC236}">
                <a16:creationId xmlns:a16="http://schemas.microsoft.com/office/drawing/2014/main" id="{4ED86F02-6CA1-4157-BC69-AD1E9404270E}"/>
              </a:ext>
            </a:extLst>
          </p:cNvPr>
          <p:cNvSpPr txBox="1">
            <a:spLocks/>
          </p:cNvSpPr>
          <p:nvPr/>
        </p:nvSpPr>
        <p:spPr>
          <a:xfrm>
            <a:off x="675948" y="2813258"/>
            <a:ext cx="10965550" cy="312391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21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9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7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marL="36900" algn="l"/>
            <a:r>
              <a:rPr lang="en-AU" sz="2400" dirty="0">
                <a:solidFill>
                  <a:srgbClr val="FF0000"/>
                </a:solidFill>
              </a:rPr>
              <a:t>E</a:t>
            </a:r>
            <a:r>
              <a:rPr lang="en-US" altLang="zh-CN" sz="2400" dirty="0" err="1">
                <a:solidFill>
                  <a:srgbClr val="FF0000"/>
                </a:solidFill>
              </a:rPr>
              <a:t>xam</a:t>
            </a:r>
            <a:r>
              <a:rPr lang="en-US" altLang="zh-CN" sz="2400" dirty="0">
                <a:solidFill>
                  <a:srgbClr val="FF0000"/>
                </a:solidFill>
              </a:rPr>
              <a:t> Strategy:</a:t>
            </a:r>
            <a:r>
              <a:rPr lang="en-US" altLang="zh-CN" sz="2400" dirty="0">
                <a:solidFill>
                  <a:schemeClr val="tx2"/>
                </a:solidFill>
              </a:rPr>
              <a:t> </a:t>
            </a:r>
            <a:r>
              <a:rPr lang="en-US" sz="2400" dirty="0">
                <a:solidFill>
                  <a:schemeClr val="tx2"/>
                </a:solidFill>
              </a:rPr>
              <a:t>Prioritizing questions based on difficulty can help manage your time effectively and ensure you tackle the ones you're most confident about first.</a:t>
            </a:r>
            <a:endParaRPr lang="en-AU" sz="2400" dirty="0">
              <a:solidFill>
                <a:schemeClr val="tx2"/>
              </a:solidFill>
            </a:endParaRPr>
          </a:p>
          <a:p>
            <a:pPr marL="36900"/>
            <a:endParaRPr lang="en-AU" sz="2400" dirty="0"/>
          </a:p>
        </p:txBody>
      </p:sp>
    </p:spTree>
    <p:extLst>
      <p:ext uri="{BB962C8B-B14F-4D97-AF65-F5344CB8AC3E}">
        <p14:creationId xmlns:p14="http://schemas.microsoft.com/office/powerpoint/2010/main" val="33049920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5297</Words>
  <Application>Microsoft Macintosh PowerPoint</Application>
  <PresentationFormat>Widescreen</PresentationFormat>
  <Paragraphs>424</Paragraphs>
  <Slides>68</Slides>
  <Notes>65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DengXian</vt:lpstr>
      <vt:lpstr>Speak Pro (Body)</vt:lpstr>
      <vt:lpstr>Arial</vt:lpstr>
      <vt:lpstr>Arial Rounded MT Bold</vt:lpstr>
      <vt:lpstr>Calibri</vt:lpstr>
      <vt:lpstr>Georgia Pro Cond Light</vt:lpstr>
      <vt:lpstr>Speak Pro</vt:lpstr>
      <vt:lpstr>Symbol</vt:lpstr>
      <vt:lpstr>Times New Roman</vt:lpstr>
      <vt:lpstr>Wingdings</vt:lpstr>
      <vt:lpstr>Wingdings 2</vt:lpstr>
      <vt:lpstr>SlateVTI</vt:lpstr>
      <vt:lpstr>CITS1003 Introduction to Cybersecurity Exam Exercises</vt:lpstr>
      <vt:lpstr>Exam Format</vt:lpstr>
      <vt:lpstr>Exam Instructions</vt:lpstr>
      <vt:lpstr>Exam Content</vt:lpstr>
      <vt:lpstr>Exam Content</vt:lpstr>
      <vt:lpstr>Exam Content</vt:lpstr>
      <vt:lpstr>Exam Content (Deferred)</vt:lpstr>
      <vt:lpstr>Example Question 1</vt:lpstr>
      <vt:lpstr>Example Question 1</vt:lpstr>
      <vt:lpstr>Example Question 1</vt:lpstr>
      <vt:lpstr>Example Question 1</vt:lpstr>
      <vt:lpstr>Example Question 1</vt:lpstr>
      <vt:lpstr>Example Question 1</vt:lpstr>
      <vt:lpstr>Example Question 1</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4</vt:lpstr>
      <vt:lpstr>Example Question 4</vt:lpstr>
      <vt:lpstr>Example Question 4</vt:lpstr>
      <vt:lpstr>Example Question 4</vt:lpstr>
      <vt:lpstr>Example Question 4</vt:lpstr>
      <vt:lpstr>Example Question 4</vt:lpstr>
      <vt:lpstr>Example Question 4</vt:lpstr>
      <vt:lpstr>Example Question 5</vt:lpstr>
      <vt:lpstr>Example Question 5</vt:lpstr>
      <vt:lpstr>Example Question 5</vt:lpstr>
      <vt:lpstr>Example Question 5</vt:lpstr>
      <vt:lpstr>Example Question 5</vt:lpstr>
      <vt:lpstr>Example Question 5</vt:lpstr>
      <vt:lpstr>Example Question 5</vt:lpstr>
      <vt:lpstr>Example Question 6</vt:lpstr>
      <vt:lpstr>Example Question 6</vt:lpstr>
      <vt:lpstr>PowerPoint Presentation</vt:lpstr>
      <vt:lpstr>Example Question 6</vt:lpstr>
      <vt:lpstr>PowerPoint Presentation</vt:lpstr>
      <vt:lpstr>Example Question 6</vt:lpstr>
      <vt:lpstr>PowerPoint Presentation</vt:lpstr>
      <vt:lpstr>Part 1 Translate the attack-defense tree described below into code.</vt:lpstr>
      <vt:lpstr>Part 1 Translate the attack-defense tree described below into code.</vt:lpstr>
      <vt:lpstr>Part 2 In the attack-defense tree mentioned previously, each editable node has been assigned an initial success-probability value. Calculate the success probability value for each node marked with a question mark.</vt:lpstr>
      <vt:lpstr>PowerPoint Presentation</vt:lpstr>
      <vt:lpstr>Example Question 8</vt:lpstr>
      <vt:lpstr>Example Question 8</vt:lpstr>
      <vt:lpstr>Example Question 8</vt:lpstr>
      <vt:lpstr>Example Question 8</vt:lpstr>
      <vt:lpstr>Example Question 8</vt:lpstr>
      <vt:lpstr>Example Question 8</vt:lpstr>
      <vt:lpstr>Example Question 9</vt:lpstr>
      <vt:lpstr>Example Question 9</vt:lpstr>
      <vt:lpstr>Example Question 9</vt:lpstr>
      <vt:lpstr>Example Question 9</vt:lpstr>
      <vt:lpstr>Good Luck  in all your final exams!!!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2026-05-18T04:12:27Z</dcterms:created>
  <dcterms:modified xsi:type="dcterms:W3CDTF">2026-06-15T07:37:23Z</dcterms:modified>
</cp:coreProperties>
</file>