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63" r:id="rId1"/>
  </p:sldMasterIdLst>
  <p:notesMasterIdLst>
    <p:notesMasterId r:id="rId49"/>
  </p:notesMasterIdLst>
  <p:sldIdLst>
    <p:sldId id="256" r:id="rId2"/>
    <p:sldId id="349" r:id="rId3"/>
    <p:sldId id="580" r:id="rId4"/>
    <p:sldId id="545" r:id="rId5"/>
    <p:sldId id="581" r:id="rId6"/>
    <p:sldId id="533" r:id="rId7"/>
    <p:sldId id="532" r:id="rId8"/>
    <p:sldId id="586" r:id="rId9"/>
    <p:sldId id="348" r:id="rId10"/>
    <p:sldId id="260" r:id="rId11"/>
    <p:sldId id="312" r:id="rId12"/>
    <p:sldId id="319" r:id="rId13"/>
    <p:sldId id="540" r:id="rId14"/>
    <p:sldId id="347" r:id="rId15"/>
    <p:sldId id="542" r:id="rId16"/>
    <p:sldId id="543" r:id="rId17"/>
    <p:sldId id="321" r:id="rId18"/>
    <p:sldId id="320" r:id="rId19"/>
    <p:sldId id="322" r:id="rId20"/>
    <p:sldId id="273" r:id="rId21"/>
    <p:sldId id="539" r:id="rId22"/>
    <p:sldId id="534" r:id="rId23"/>
    <p:sldId id="584" r:id="rId24"/>
    <p:sldId id="585" r:id="rId25"/>
    <p:sldId id="536" r:id="rId26"/>
    <p:sldId id="345" r:id="rId27"/>
    <p:sldId id="344" r:id="rId28"/>
    <p:sldId id="537" r:id="rId29"/>
    <p:sldId id="587" r:id="rId30"/>
    <p:sldId id="588" r:id="rId31"/>
    <p:sldId id="274" r:id="rId32"/>
    <p:sldId id="272" r:id="rId33"/>
    <p:sldId id="541" r:id="rId34"/>
    <p:sldId id="323" r:id="rId35"/>
    <p:sldId id="335" r:id="rId36"/>
    <p:sldId id="544" r:id="rId37"/>
    <p:sldId id="342" r:id="rId38"/>
    <p:sldId id="593" r:id="rId39"/>
    <p:sldId id="269" r:id="rId40"/>
    <p:sldId id="589" r:id="rId41"/>
    <p:sldId id="591" r:id="rId42"/>
    <p:sldId id="258" r:id="rId43"/>
    <p:sldId id="268" r:id="rId44"/>
    <p:sldId id="270" r:id="rId45"/>
    <p:sldId id="275" r:id="rId46"/>
    <p:sldId id="333" r:id="rId47"/>
    <p:sldId id="592"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088" autoAdjust="0"/>
    <p:restoredTop sz="50870" autoAdjust="0"/>
  </p:normalViewPr>
  <p:slideViewPr>
    <p:cSldViewPr snapToGrid="0" snapToObjects="1">
      <p:cViewPr varScale="1">
        <p:scale>
          <a:sx n="36" d="100"/>
          <a:sy n="36" d="100"/>
        </p:scale>
        <p:origin x="111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E55BE3-1DBD-4805-BA07-F888157FA08C}" type="doc">
      <dgm:prSet loTypeId="urn:microsoft.com/office/officeart/2016/7/layout/LinearBlockProcessNumbered" loCatId="process" qsTypeId="urn:microsoft.com/office/officeart/2005/8/quickstyle/simple4" qsCatId="simple" csTypeId="urn:microsoft.com/office/officeart/2005/8/colors/colorful2" csCatId="colorful" phldr="1"/>
      <dgm:spPr/>
      <dgm:t>
        <a:bodyPr/>
        <a:lstStyle/>
        <a:p>
          <a:endParaRPr lang="en-US"/>
        </a:p>
      </dgm:t>
    </dgm:pt>
    <dgm:pt modelId="{0C2543A4-036D-4F32-AA33-EC2982AE3DAE}">
      <dgm:prSet/>
      <dgm:spPr/>
      <dgm:t>
        <a:bodyPr/>
        <a:lstStyle/>
        <a:p>
          <a:r>
            <a:rPr lang="en-AU" dirty="0"/>
            <a:t>Understand the objectives and structure of this unit</a:t>
          </a:r>
          <a:endParaRPr lang="en-US" dirty="0"/>
        </a:p>
      </dgm:t>
    </dgm:pt>
    <dgm:pt modelId="{C6F814DB-4266-42CD-B6C9-665759BE333B}" type="parTrans" cxnId="{BA502309-51EF-4B4B-BF80-1573A6AE39BD}">
      <dgm:prSet/>
      <dgm:spPr/>
      <dgm:t>
        <a:bodyPr/>
        <a:lstStyle/>
        <a:p>
          <a:endParaRPr lang="en-US"/>
        </a:p>
      </dgm:t>
    </dgm:pt>
    <dgm:pt modelId="{31AD1D09-B8F7-4697-91F8-72B429AA540B}" type="sibTrans" cxnId="{BA502309-51EF-4B4B-BF80-1573A6AE39BD}">
      <dgm:prSet phldrT="01" phldr="0"/>
      <dgm:spPr/>
      <dgm:t>
        <a:bodyPr/>
        <a:lstStyle/>
        <a:p>
          <a:r>
            <a:rPr lang="en-US"/>
            <a:t>01</a:t>
          </a:r>
          <a:endParaRPr lang="en-US" dirty="0"/>
        </a:p>
      </dgm:t>
    </dgm:pt>
    <dgm:pt modelId="{1813DF02-F4AA-417C-90F2-F9A9F3284972}">
      <dgm:prSet/>
      <dgm:spPr/>
      <dgm:t>
        <a:bodyPr/>
        <a:lstStyle/>
        <a:p>
          <a:r>
            <a:rPr lang="en-AU" dirty="0"/>
            <a:t>Understand the technical requirements and role of the practical component</a:t>
          </a:r>
          <a:endParaRPr lang="en-US" dirty="0"/>
        </a:p>
      </dgm:t>
    </dgm:pt>
    <dgm:pt modelId="{C7868A53-7101-40F7-A618-1EA4F50114A5}" type="parTrans" cxnId="{E71FC0A8-5DB2-4504-A450-61775D204F55}">
      <dgm:prSet/>
      <dgm:spPr/>
      <dgm:t>
        <a:bodyPr/>
        <a:lstStyle/>
        <a:p>
          <a:endParaRPr lang="en-US"/>
        </a:p>
      </dgm:t>
    </dgm:pt>
    <dgm:pt modelId="{DFB9D784-0E08-430C-B460-DB32834D5E2D}" type="sibTrans" cxnId="{E71FC0A8-5DB2-4504-A450-61775D204F55}">
      <dgm:prSet phldrT="02" phldr="0"/>
      <dgm:spPr/>
      <dgm:t>
        <a:bodyPr/>
        <a:lstStyle/>
        <a:p>
          <a:r>
            <a:rPr lang="en-US"/>
            <a:t>02</a:t>
          </a:r>
        </a:p>
      </dgm:t>
    </dgm:pt>
    <dgm:pt modelId="{5A2035BA-59ED-41B7-B3D5-F6661DA6294A}">
      <dgm:prSet/>
      <dgm:spPr/>
      <dgm:t>
        <a:bodyPr/>
        <a:lstStyle/>
        <a:p>
          <a:r>
            <a:rPr lang="en-AU" dirty="0"/>
            <a:t>Understand the “rules” or ethics of cybersecurity</a:t>
          </a:r>
          <a:endParaRPr lang="en-US" dirty="0"/>
        </a:p>
      </dgm:t>
    </dgm:pt>
    <dgm:pt modelId="{D9FA2F78-3F92-4DCB-AE53-BF016578390C}" type="parTrans" cxnId="{02983F95-F871-4C38-A0E9-D53446C8865A}">
      <dgm:prSet/>
      <dgm:spPr/>
      <dgm:t>
        <a:bodyPr/>
        <a:lstStyle/>
        <a:p>
          <a:endParaRPr lang="en-US"/>
        </a:p>
      </dgm:t>
    </dgm:pt>
    <dgm:pt modelId="{5F68298B-3382-4F45-97D1-FA94FC8397F1}" type="sibTrans" cxnId="{02983F95-F871-4C38-A0E9-D53446C8865A}">
      <dgm:prSet phldrT="03" phldr="0"/>
      <dgm:spPr/>
      <dgm:t>
        <a:bodyPr/>
        <a:lstStyle/>
        <a:p>
          <a:r>
            <a:rPr lang="en-US"/>
            <a:t>03</a:t>
          </a:r>
        </a:p>
      </dgm:t>
    </dgm:pt>
    <dgm:pt modelId="{05AB82BC-90FF-0D4D-87AC-F19867583248}" type="pres">
      <dgm:prSet presAssocID="{EAE55BE3-1DBD-4805-BA07-F888157FA08C}" presName="Name0" presStyleCnt="0">
        <dgm:presLayoutVars>
          <dgm:animLvl val="lvl"/>
          <dgm:resizeHandles val="exact"/>
        </dgm:presLayoutVars>
      </dgm:prSet>
      <dgm:spPr/>
    </dgm:pt>
    <dgm:pt modelId="{874F1E2E-8953-A849-8CCD-B27A545D14F0}" type="pres">
      <dgm:prSet presAssocID="{0C2543A4-036D-4F32-AA33-EC2982AE3DAE}" presName="compositeNode" presStyleCnt="0">
        <dgm:presLayoutVars>
          <dgm:bulletEnabled val="1"/>
        </dgm:presLayoutVars>
      </dgm:prSet>
      <dgm:spPr/>
    </dgm:pt>
    <dgm:pt modelId="{DA6CB1C2-FEED-7E44-B3B0-483FFE843027}" type="pres">
      <dgm:prSet presAssocID="{0C2543A4-036D-4F32-AA33-EC2982AE3DAE}" presName="bgRect" presStyleLbl="alignNode1" presStyleIdx="0" presStyleCnt="3"/>
      <dgm:spPr/>
    </dgm:pt>
    <dgm:pt modelId="{45450710-1DEA-6A4D-A047-F1DB159DCD43}" type="pres">
      <dgm:prSet presAssocID="{31AD1D09-B8F7-4697-91F8-72B429AA540B}" presName="sibTransNodeRect" presStyleLbl="alignNode1" presStyleIdx="0" presStyleCnt="3">
        <dgm:presLayoutVars>
          <dgm:chMax val="0"/>
          <dgm:bulletEnabled val="1"/>
        </dgm:presLayoutVars>
      </dgm:prSet>
      <dgm:spPr/>
    </dgm:pt>
    <dgm:pt modelId="{DBEC1E7C-61B8-9C45-B519-CA1696A20037}" type="pres">
      <dgm:prSet presAssocID="{0C2543A4-036D-4F32-AA33-EC2982AE3DAE}" presName="nodeRect" presStyleLbl="alignNode1" presStyleIdx="0" presStyleCnt="3">
        <dgm:presLayoutVars>
          <dgm:bulletEnabled val="1"/>
        </dgm:presLayoutVars>
      </dgm:prSet>
      <dgm:spPr/>
    </dgm:pt>
    <dgm:pt modelId="{C4A5A155-9750-D749-82B6-495D61C51423}" type="pres">
      <dgm:prSet presAssocID="{31AD1D09-B8F7-4697-91F8-72B429AA540B}" presName="sibTrans" presStyleCnt="0"/>
      <dgm:spPr/>
    </dgm:pt>
    <dgm:pt modelId="{22D71C53-EE09-0D40-966E-DCF2D145834E}" type="pres">
      <dgm:prSet presAssocID="{1813DF02-F4AA-417C-90F2-F9A9F3284972}" presName="compositeNode" presStyleCnt="0">
        <dgm:presLayoutVars>
          <dgm:bulletEnabled val="1"/>
        </dgm:presLayoutVars>
      </dgm:prSet>
      <dgm:spPr/>
    </dgm:pt>
    <dgm:pt modelId="{40031D7F-9BDA-2944-8078-AD85E9FF92D7}" type="pres">
      <dgm:prSet presAssocID="{1813DF02-F4AA-417C-90F2-F9A9F3284972}" presName="bgRect" presStyleLbl="alignNode1" presStyleIdx="1" presStyleCnt="3"/>
      <dgm:spPr/>
    </dgm:pt>
    <dgm:pt modelId="{0C9B0EE7-B943-D74A-AE60-A9970E75E8FE}" type="pres">
      <dgm:prSet presAssocID="{DFB9D784-0E08-430C-B460-DB32834D5E2D}" presName="sibTransNodeRect" presStyleLbl="alignNode1" presStyleIdx="1" presStyleCnt="3">
        <dgm:presLayoutVars>
          <dgm:chMax val="0"/>
          <dgm:bulletEnabled val="1"/>
        </dgm:presLayoutVars>
      </dgm:prSet>
      <dgm:spPr/>
    </dgm:pt>
    <dgm:pt modelId="{C0C6040A-4A96-0844-A0A2-29C21B8CB8A0}" type="pres">
      <dgm:prSet presAssocID="{1813DF02-F4AA-417C-90F2-F9A9F3284972}" presName="nodeRect" presStyleLbl="alignNode1" presStyleIdx="1" presStyleCnt="3">
        <dgm:presLayoutVars>
          <dgm:bulletEnabled val="1"/>
        </dgm:presLayoutVars>
      </dgm:prSet>
      <dgm:spPr/>
    </dgm:pt>
    <dgm:pt modelId="{C86141E3-1561-D146-B199-B1A579FB58C1}" type="pres">
      <dgm:prSet presAssocID="{DFB9D784-0E08-430C-B460-DB32834D5E2D}" presName="sibTrans" presStyleCnt="0"/>
      <dgm:spPr/>
    </dgm:pt>
    <dgm:pt modelId="{25817A9F-DBB9-1E47-AE43-7719A592624C}" type="pres">
      <dgm:prSet presAssocID="{5A2035BA-59ED-41B7-B3D5-F6661DA6294A}" presName="compositeNode" presStyleCnt="0">
        <dgm:presLayoutVars>
          <dgm:bulletEnabled val="1"/>
        </dgm:presLayoutVars>
      </dgm:prSet>
      <dgm:spPr/>
    </dgm:pt>
    <dgm:pt modelId="{C5631D8A-0FB4-6342-BF5D-EB1703C93789}" type="pres">
      <dgm:prSet presAssocID="{5A2035BA-59ED-41B7-B3D5-F6661DA6294A}" presName="bgRect" presStyleLbl="alignNode1" presStyleIdx="2" presStyleCnt="3"/>
      <dgm:spPr/>
    </dgm:pt>
    <dgm:pt modelId="{4910555F-C4BA-3645-8B1F-CF70B02616F5}" type="pres">
      <dgm:prSet presAssocID="{5F68298B-3382-4F45-97D1-FA94FC8397F1}" presName="sibTransNodeRect" presStyleLbl="alignNode1" presStyleIdx="2" presStyleCnt="3">
        <dgm:presLayoutVars>
          <dgm:chMax val="0"/>
          <dgm:bulletEnabled val="1"/>
        </dgm:presLayoutVars>
      </dgm:prSet>
      <dgm:spPr/>
    </dgm:pt>
    <dgm:pt modelId="{055FD308-5585-A84A-9089-1BF2880A1880}" type="pres">
      <dgm:prSet presAssocID="{5A2035BA-59ED-41B7-B3D5-F6661DA6294A}" presName="nodeRect" presStyleLbl="alignNode1" presStyleIdx="2" presStyleCnt="3">
        <dgm:presLayoutVars>
          <dgm:bulletEnabled val="1"/>
        </dgm:presLayoutVars>
      </dgm:prSet>
      <dgm:spPr/>
    </dgm:pt>
  </dgm:ptLst>
  <dgm:cxnLst>
    <dgm:cxn modelId="{BA502309-51EF-4B4B-BF80-1573A6AE39BD}" srcId="{EAE55BE3-1DBD-4805-BA07-F888157FA08C}" destId="{0C2543A4-036D-4F32-AA33-EC2982AE3DAE}" srcOrd="0" destOrd="0" parTransId="{C6F814DB-4266-42CD-B6C9-665759BE333B}" sibTransId="{31AD1D09-B8F7-4697-91F8-72B429AA540B}"/>
    <dgm:cxn modelId="{B7EC041C-60F9-F34E-9998-E3F7BE44D0E8}" type="presOf" srcId="{0C2543A4-036D-4F32-AA33-EC2982AE3DAE}" destId="{DA6CB1C2-FEED-7E44-B3B0-483FFE843027}" srcOrd="0" destOrd="0" presId="urn:microsoft.com/office/officeart/2016/7/layout/LinearBlockProcessNumbered"/>
    <dgm:cxn modelId="{D4AA1D35-2910-684D-BE2E-F674F1310647}" type="presOf" srcId="{31AD1D09-B8F7-4697-91F8-72B429AA540B}" destId="{45450710-1DEA-6A4D-A047-F1DB159DCD43}" srcOrd="0" destOrd="0" presId="urn:microsoft.com/office/officeart/2016/7/layout/LinearBlockProcessNumbered"/>
    <dgm:cxn modelId="{DC69675E-CB97-AD43-B693-0F230814357A}" type="presOf" srcId="{DFB9D784-0E08-430C-B460-DB32834D5E2D}" destId="{0C9B0EE7-B943-D74A-AE60-A9970E75E8FE}" srcOrd="0" destOrd="0" presId="urn:microsoft.com/office/officeart/2016/7/layout/LinearBlockProcessNumbered"/>
    <dgm:cxn modelId="{8549C56E-DDB2-E249-A132-5A3A1F19142B}" type="presOf" srcId="{5F68298B-3382-4F45-97D1-FA94FC8397F1}" destId="{4910555F-C4BA-3645-8B1F-CF70B02616F5}" srcOrd="0" destOrd="0" presId="urn:microsoft.com/office/officeart/2016/7/layout/LinearBlockProcessNumbered"/>
    <dgm:cxn modelId="{3FC38352-554B-4B46-AF5E-B30006D35602}" type="presOf" srcId="{1813DF02-F4AA-417C-90F2-F9A9F3284972}" destId="{40031D7F-9BDA-2944-8078-AD85E9FF92D7}" srcOrd="0" destOrd="0" presId="urn:microsoft.com/office/officeart/2016/7/layout/LinearBlockProcessNumbered"/>
    <dgm:cxn modelId="{5E01F78A-4C2A-6540-B71F-7D5BC48B4F03}" type="presOf" srcId="{5A2035BA-59ED-41B7-B3D5-F6661DA6294A}" destId="{055FD308-5585-A84A-9089-1BF2880A1880}" srcOrd="1" destOrd="0" presId="urn:microsoft.com/office/officeart/2016/7/layout/LinearBlockProcessNumbered"/>
    <dgm:cxn modelId="{BA0A8A8E-695B-4444-945E-00376938A138}" type="presOf" srcId="{0C2543A4-036D-4F32-AA33-EC2982AE3DAE}" destId="{DBEC1E7C-61B8-9C45-B519-CA1696A20037}" srcOrd="1" destOrd="0" presId="urn:microsoft.com/office/officeart/2016/7/layout/LinearBlockProcessNumbered"/>
    <dgm:cxn modelId="{82E22090-E23F-E54E-A7F7-767FEA0A5E06}" type="presOf" srcId="{1813DF02-F4AA-417C-90F2-F9A9F3284972}" destId="{C0C6040A-4A96-0844-A0A2-29C21B8CB8A0}" srcOrd="1" destOrd="0" presId="urn:microsoft.com/office/officeart/2016/7/layout/LinearBlockProcessNumbered"/>
    <dgm:cxn modelId="{02983F95-F871-4C38-A0E9-D53446C8865A}" srcId="{EAE55BE3-1DBD-4805-BA07-F888157FA08C}" destId="{5A2035BA-59ED-41B7-B3D5-F6661DA6294A}" srcOrd="2" destOrd="0" parTransId="{D9FA2F78-3F92-4DCB-AE53-BF016578390C}" sibTransId="{5F68298B-3382-4F45-97D1-FA94FC8397F1}"/>
    <dgm:cxn modelId="{8F0D3898-B4FE-5F4C-8B68-0D07990113F6}" type="presOf" srcId="{5A2035BA-59ED-41B7-B3D5-F6661DA6294A}" destId="{C5631D8A-0FB4-6342-BF5D-EB1703C93789}" srcOrd="0" destOrd="0" presId="urn:microsoft.com/office/officeart/2016/7/layout/LinearBlockProcessNumbered"/>
    <dgm:cxn modelId="{C212DCA7-C7FC-904F-B011-3E21B83672DA}" type="presOf" srcId="{EAE55BE3-1DBD-4805-BA07-F888157FA08C}" destId="{05AB82BC-90FF-0D4D-87AC-F19867583248}" srcOrd="0" destOrd="0" presId="urn:microsoft.com/office/officeart/2016/7/layout/LinearBlockProcessNumbered"/>
    <dgm:cxn modelId="{E71FC0A8-5DB2-4504-A450-61775D204F55}" srcId="{EAE55BE3-1DBD-4805-BA07-F888157FA08C}" destId="{1813DF02-F4AA-417C-90F2-F9A9F3284972}" srcOrd="1" destOrd="0" parTransId="{C7868A53-7101-40F7-A618-1EA4F50114A5}" sibTransId="{DFB9D784-0E08-430C-B460-DB32834D5E2D}"/>
    <dgm:cxn modelId="{01499712-2E16-8E4F-8CC4-BF6C341FD6B1}" type="presParOf" srcId="{05AB82BC-90FF-0D4D-87AC-F19867583248}" destId="{874F1E2E-8953-A849-8CCD-B27A545D14F0}" srcOrd="0" destOrd="0" presId="urn:microsoft.com/office/officeart/2016/7/layout/LinearBlockProcessNumbered"/>
    <dgm:cxn modelId="{C5AF34AE-0D52-EA4A-9948-C66354F6F62F}" type="presParOf" srcId="{874F1E2E-8953-A849-8CCD-B27A545D14F0}" destId="{DA6CB1C2-FEED-7E44-B3B0-483FFE843027}" srcOrd="0" destOrd="0" presId="urn:microsoft.com/office/officeart/2016/7/layout/LinearBlockProcessNumbered"/>
    <dgm:cxn modelId="{46573B25-D44D-B34A-8C48-90A0FF4FF3AA}" type="presParOf" srcId="{874F1E2E-8953-A849-8CCD-B27A545D14F0}" destId="{45450710-1DEA-6A4D-A047-F1DB159DCD43}" srcOrd="1" destOrd="0" presId="urn:microsoft.com/office/officeart/2016/7/layout/LinearBlockProcessNumbered"/>
    <dgm:cxn modelId="{BA22D4CB-CE5C-DF4B-8B98-7A98CEA87A31}" type="presParOf" srcId="{874F1E2E-8953-A849-8CCD-B27A545D14F0}" destId="{DBEC1E7C-61B8-9C45-B519-CA1696A20037}" srcOrd="2" destOrd="0" presId="urn:microsoft.com/office/officeart/2016/7/layout/LinearBlockProcessNumbered"/>
    <dgm:cxn modelId="{A218C333-ED33-0C43-B4E5-41FDE443A38E}" type="presParOf" srcId="{05AB82BC-90FF-0D4D-87AC-F19867583248}" destId="{C4A5A155-9750-D749-82B6-495D61C51423}" srcOrd="1" destOrd="0" presId="urn:microsoft.com/office/officeart/2016/7/layout/LinearBlockProcessNumbered"/>
    <dgm:cxn modelId="{A19D02B3-16E8-9A48-883F-C323640FF0D3}" type="presParOf" srcId="{05AB82BC-90FF-0D4D-87AC-F19867583248}" destId="{22D71C53-EE09-0D40-966E-DCF2D145834E}" srcOrd="2" destOrd="0" presId="urn:microsoft.com/office/officeart/2016/7/layout/LinearBlockProcessNumbered"/>
    <dgm:cxn modelId="{99B4601E-2B7D-C34C-ADF0-69097E1E3AD4}" type="presParOf" srcId="{22D71C53-EE09-0D40-966E-DCF2D145834E}" destId="{40031D7F-9BDA-2944-8078-AD85E9FF92D7}" srcOrd="0" destOrd="0" presId="urn:microsoft.com/office/officeart/2016/7/layout/LinearBlockProcessNumbered"/>
    <dgm:cxn modelId="{6E027E5E-9458-3247-971F-C58A15B8D659}" type="presParOf" srcId="{22D71C53-EE09-0D40-966E-DCF2D145834E}" destId="{0C9B0EE7-B943-D74A-AE60-A9970E75E8FE}" srcOrd="1" destOrd="0" presId="urn:microsoft.com/office/officeart/2016/7/layout/LinearBlockProcessNumbered"/>
    <dgm:cxn modelId="{92CC35AA-3B18-A84E-9677-7F5C53C3AFD2}" type="presParOf" srcId="{22D71C53-EE09-0D40-966E-DCF2D145834E}" destId="{C0C6040A-4A96-0844-A0A2-29C21B8CB8A0}" srcOrd="2" destOrd="0" presId="urn:microsoft.com/office/officeart/2016/7/layout/LinearBlockProcessNumbered"/>
    <dgm:cxn modelId="{48994B2E-D900-1144-86C9-D1C630BFEE52}" type="presParOf" srcId="{05AB82BC-90FF-0D4D-87AC-F19867583248}" destId="{C86141E3-1561-D146-B199-B1A579FB58C1}" srcOrd="3" destOrd="0" presId="urn:microsoft.com/office/officeart/2016/7/layout/LinearBlockProcessNumbered"/>
    <dgm:cxn modelId="{F8CB255E-8C70-C246-868D-E11827B1A731}" type="presParOf" srcId="{05AB82BC-90FF-0D4D-87AC-F19867583248}" destId="{25817A9F-DBB9-1E47-AE43-7719A592624C}" srcOrd="4" destOrd="0" presId="urn:microsoft.com/office/officeart/2016/7/layout/LinearBlockProcessNumbered"/>
    <dgm:cxn modelId="{1B0B3500-433A-B440-A291-5169B24AD087}" type="presParOf" srcId="{25817A9F-DBB9-1E47-AE43-7719A592624C}" destId="{C5631D8A-0FB4-6342-BF5D-EB1703C93789}" srcOrd="0" destOrd="0" presId="urn:microsoft.com/office/officeart/2016/7/layout/LinearBlockProcessNumbered"/>
    <dgm:cxn modelId="{6E11A356-A6D2-AC4B-8842-7F8FB4B5CFCA}" type="presParOf" srcId="{25817A9F-DBB9-1E47-AE43-7719A592624C}" destId="{4910555F-C4BA-3645-8B1F-CF70B02616F5}" srcOrd="1" destOrd="0" presId="urn:microsoft.com/office/officeart/2016/7/layout/LinearBlockProcessNumbered"/>
    <dgm:cxn modelId="{F441F036-D80B-8648-9FAE-1D7977881A29}" type="presParOf" srcId="{25817A9F-DBB9-1E47-AE43-7719A592624C}" destId="{055FD308-5585-A84A-9089-1BF2880A1880}"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6CB1C2-FEED-7E44-B3B0-483FFE843027}">
      <dsp:nvSpPr>
        <dsp:cNvPr id="0" name=""/>
        <dsp:cNvSpPr/>
      </dsp:nvSpPr>
      <dsp:spPr>
        <a:xfrm>
          <a:off x="808" y="0"/>
          <a:ext cx="3275967" cy="3143416"/>
        </a:xfrm>
        <a:prstGeom prst="rect">
          <a:avLst/>
        </a:prstGeom>
        <a:gradFill rotWithShape="0">
          <a:gsLst>
            <a:gs pos="0">
              <a:schemeClr val="accent2">
                <a:hueOff val="0"/>
                <a:satOff val="0"/>
                <a:lumOff val="0"/>
                <a:alphaOff val="0"/>
                <a:tint val="96000"/>
                <a:lumMod val="104000"/>
              </a:schemeClr>
            </a:gs>
            <a:gs pos="100000">
              <a:schemeClr val="accent2">
                <a:hueOff val="0"/>
                <a:satOff val="0"/>
                <a:lumOff val="0"/>
                <a:alphaOff val="0"/>
                <a:shade val="90000"/>
                <a:lumMod val="90000"/>
              </a:schemeClr>
            </a:gs>
          </a:gsLst>
          <a:lin ang="5400000" scaled="0"/>
        </a:gradFill>
        <a:ln w="9525" cap="rnd" cmpd="sng" algn="ctr">
          <a:solidFill>
            <a:schemeClr val="accent2">
              <a:hueOff val="0"/>
              <a:satOff val="0"/>
              <a:lumOff val="0"/>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objectives and structure of this unit</a:t>
          </a:r>
          <a:endParaRPr lang="en-US" sz="2300" kern="1200" dirty="0"/>
        </a:p>
      </dsp:txBody>
      <dsp:txXfrm>
        <a:off x="808" y="1257366"/>
        <a:ext cx="3275967" cy="1886049"/>
      </dsp:txXfrm>
    </dsp:sp>
    <dsp:sp modelId="{45450710-1DEA-6A4D-A047-F1DB159DCD43}">
      <dsp:nvSpPr>
        <dsp:cNvPr id="0" name=""/>
        <dsp:cNvSpPr/>
      </dsp:nvSpPr>
      <dsp:spPr>
        <a:xfrm>
          <a:off x="808"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808" y="0"/>
        <a:ext cx="3275967" cy="1257366"/>
      </dsp:txXfrm>
    </dsp:sp>
    <dsp:sp modelId="{40031D7F-9BDA-2944-8078-AD85E9FF92D7}">
      <dsp:nvSpPr>
        <dsp:cNvPr id="0" name=""/>
        <dsp:cNvSpPr/>
      </dsp:nvSpPr>
      <dsp:spPr>
        <a:xfrm>
          <a:off x="3538853" y="0"/>
          <a:ext cx="3275967" cy="3143416"/>
        </a:xfrm>
        <a:prstGeom prst="rect">
          <a:avLst/>
        </a:prstGeom>
        <a:gradFill rotWithShape="0">
          <a:gsLst>
            <a:gs pos="0">
              <a:schemeClr val="accent2">
                <a:hueOff val="-751496"/>
                <a:satOff val="5142"/>
                <a:lumOff val="-588"/>
                <a:alphaOff val="0"/>
                <a:tint val="96000"/>
                <a:lumMod val="104000"/>
              </a:schemeClr>
            </a:gs>
            <a:gs pos="100000">
              <a:schemeClr val="accent2">
                <a:hueOff val="-751496"/>
                <a:satOff val="5142"/>
                <a:lumOff val="-588"/>
                <a:alphaOff val="0"/>
                <a:shade val="90000"/>
                <a:lumMod val="90000"/>
              </a:schemeClr>
            </a:gs>
          </a:gsLst>
          <a:lin ang="5400000" scaled="0"/>
        </a:gradFill>
        <a:ln w="9525" cap="rnd" cmpd="sng" algn="ctr">
          <a:solidFill>
            <a:schemeClr val="accent2">
              <a:hueOff val="-751496"/>
              <a:satOff val="5142"/>
              <a:lumOff val="-588"/>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technical requirements and role of the practical component</a:t>
          </a:r>
          <a:endParaRPr lang="en-US" sz="2300" kern="1200" dirty="0"/>
        </a:p>
      </dsp:txBody>
      <dsp:txXfrm>
        <a:off x="3538853" y="1257366"/>
        <a:ext cx="3275967" cy="1886049"/>
      </dsp:txXfrm>
    </dsp:sp>
    <dsp:sp modelId="{0C9B0EE7-B943-D74A-AE60-A9970E75E8FE}">
      <dsp:nvSpPr>
        <dsp:cNvPr id="0" name=""/>
        <dsp:cNvSpPr/>
      </dsp:nvSpPr>
      <dsp:spPr>
        <a:xfrm>
          <a:off x="3538853"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38853" y="0"/>
        <a:ext cx="3275967" cy="1257366"/>
      </dsp:txXfrm>
    </dsp:sp>
    <dsp:sp modelId="{C5631D8A-0FB4-6342-BF5D-EB1703C93789}">
      <dsp:nvSpPr>
        <dsp:cNvPr id="0" name=""/>
        <dsp:cNvSpPr/>
      </dsp:nvSpPr>
      <dsp:spPr>
        <a:xfrm>
          <a:off x="7076898" y="0"/>
          <a:ext cx="3275967" cy="3143416"/>
        </a:xfrm>
        <a:prstGeom prst="rect">
          <a:avLst/>
        </a:prstGeom>
        <a:gradFill rotWithShape="0">
          <a:gsLst>
            <a:gs pos="0">
              <a:schemeClr val="accent2">
                <a:hueOff val="-1502991"/>
                <a:satOff val="10284"/>
                <a:lumOff val="-1176"/>
                <a:alphaOff val="0"/>
                <a:tint val="96000"/>
                <a:lumMod val="104000"/>
              </a:schemeClr>
            </a:gs>
            <a:gs pos="100000">
              <a:schemeClr val="accent2">
                <a:hueOff val="-1502991"/>
                <a:satOff val="10284"/>
                <a:lumOff val="-1176"/>
                <a:alphaOff val="0"/>
                <a:shade val="90000"/>
                <a:lumMod val="90000"/>
              </a:schemeClr>
            </a:gs>
          </a:gsLst>
          <a:lin ang="5400000" scaled="0"/>
        </a:gradFill>
        <a:ln w="9525" cap="rnd" cmpd="sng" algn="ctr">
          <a:solidFill>
            <a:schemeClr val="accent2">
              <a:hueOff val="-1502991"/>
              <a:satOff val="10284"/>
              <a:lumOff val="-1176"/>
              <a:alphaOff val="0"/>
            </a:schemeClr>
          </a:solidFill>
          <a:prstDash val="solid"/>
        </a:ln>
        <a:effectLst>
          <a:outerShdw blurRad="63500" dist="25400" dir="5400000" rotWithShape="0">
            <a:srgbClr val="000000">
              <a:alpha val="60000"/>
            </a:srgbClr>
          </a:outerShdw>
        </a:effectLst>
      </dsp:spPr>
      <dsp:style>
        <a:lnRef idx="1">
          <a:scrgbClr r="0" g="0" b="0"/>
        </a:lnRef>
        <a:fillRef idx="3">
          <a:scrgbClr r="0" g="0" b="0"/>
        </a:fillRef>
        <a:effectRef idx="2">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1022350">
            <a:lnSpc>
              <a:spcPct val="90000"/>
            </a:lnSpc>
            <a:spcBef>
              <a:spcPct val="0"/>
            </a:spcBef>
            <a:spcAft>
              <a:spcPct val="35000"/>
            </a:spcAft>
            <a:buNone/>
          </a:pPr>
          <a:r>
            <a:rPr lang="en-AU" sz="2300" kern="1200" dirty="0"/>
            <a:t>Understand the “rules” or ethics of cybersecurity</a:t>
          </a:r>
          <a:endParaRPr lang="en-US" sz="2300" kern="1200" dirty="0"/>
        </a:p>
      </dsp:txBody>
      <dsp:txXfrm>
        <a:off x="7076898" y="1257366"/>
        <a:ext cx="3275967" cy="1886049"/>
      </dsp:txXfrm>
    </dsp:sp>
    <dsp:sp modelId="{4910555F-C4BA-3645-8B1F-CF70B02616F5}">
      <dsp:nvSpPr>
        <dsp:cNvPr id="0" name=""/>
        <dsp:cNvSpPr/>
      </dsp:nvSpPr>
      <dsp:spPr>
        <a:xfrm>
          <a:off x="7076898" y="0"/>
          <a:ext cx="3275967" cy="1257366"/>
        </a:xfrm>
        <a:prstGeom prst="rect">
          <a:avLst/>
        </a:prstGeom>
        <a:noFill/>
        <a:ln w="9525" cap="rnd" cmpd="sng" algn="ctr">
          <a:noFill/>
          <a:prstDash val="solid"/>
        </a:ln>
        <a:effectLst>
          <a:outerShdw blurRad="63500" dist="25400" dir="5400000" rotWithShape="0">
            <a:srgbClr val="000000">
              <a:alpha val="60000"/>
            </a:srgbClr>
          </a:outerShdw>
        </a:effectLst>
        <a:sp3d/>
      </dsp:spPr>
      <dsp:style>
        <a:lnRef idx="1">
          <a:scrgbClr r="0" g="0" b="0"/>
        </a:lnRef>
        <a:fillRef idx="3">
          <a:scrgbClr r="0" g="0" b="0"/>
        </a:fillRef>
        <a:effectRef idx="2">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076898" y="0"/>
        <a:ext cx="3275967" cy="1257366"/>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6D7260-B7E4-B548-BD1F-84ED14536037}" type="datetimeFigureOut">
              <a:rPr lang="en-AU" smtClean="0"/>
              <a:t>23/02/2026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30C05-EF6C-9847-8923-580D76870F8E}" type="slidenum">
              <a:rPr lang="en-AU" smtClean="0"/>
              <a:t>‹#›</a:t>
            </a:fld>
            <a:endParaRPr lang="en-AU"/>
          </a:p>
        </p:txBody>
      </p:sp>
    </p:spTree>
    <p:extLst>
      <p:ext uri="{BB962C8B-B14F-4D97-AF65-F5344CB8AC3E}">
        <p14:creationId xmlns:p14="http://schemas.microsoft.com/office/powerpoint/2010/main" val="20634092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a:t>
            </a:fld>
            <a:endParaRPr lang="en-AU"/>
          </a:p>
        </p:txBody>
      </p:sp>
    </p:spTree>
    <p:extLst>
      <p:ext uri="{BB962C8B-B14F-4D97-AF65-F5344CB8AC3E}">
        <p14:creationId xmlns:p14="http://schemas.microsoft.com/office/powerpoint/2010/main" val="6616277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2</a:t>
            </a:fld>
            <a:endParaRPr lang="en-AU"/>
          </a:p>
        </p:txBody>
      </p:sp>
    </p:spTree>
    <p:extLst>
      <p:ext uri="{BB962C8B-B14F-4D97-AF65-F5344CB8AC3E}">
        <p14:creationId xmlns:p14="http://schemas.microsoft.com/office/powerpoint/2010/main" val="33446415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幻灯片编号占位符 3"/>
          <p:cNvSpPr>
            <a:spLocks noGrp="1"/>
          </p:cNvSpPr>
          <p:nvPr>
            <p:ph type="sldNum" sz="quarter" idx="10"/>
          </p:nvPr>
        </p:nvSpPr>
        <p:spPr/>
        <p:txBody>
          <a:bodyPr/>
          <a:lstStyle/>
          <a:p>
            <a:fld id="{D906AB83-A9BE-45DA-B7AF-45B94295F4B6}" type="slidenum">
              <a:rPr lang="en-AU" smtClean="0"/>
              <a:t>3</a:t>
            </a:fld>
            <a:endParaRPr lang="en-AU"/>
          </a:p>
        </p:txBody>
      </p:sp>
    </p:spTree>
    <p:extLst>
      <p:ext uri="{BB962C8B-B14F-4D97-AF65-F5344CB8AC3E}">
        <p14:creationId xmlns:p14="http://schemas.microsoft.com/office/powerpoint/2010/main" val="9313483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a:t>
            </a:fld>
            <a:endParaRPr lang="en-AU"/>
          </a:p>
        </p:txBody>
      </p:sp>
    </p:spTree>
    <p:extLst>
      <p:ext uri="{BB962C8B-B14F-4D97-AF65-F5344CB8AC3E}">
        <p14:creationId xmlns:p14="http://schemas.microsoft.com/office/powerpoint/2010/main" val="23681791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5</a:t>
            </a:fld>
            <a:endParaRPr lang="en-AU"/>
          </a:p>
        </p:txBody>
      </p:sp>
    </p:spTree>
    <p:extLst>
      <p:ext uri="{BB962C8B-B14F-4D97-AF65-F5344CB8AC3E}">
        <p14:creationId xmlns:p14="http://schemas.microsoft.com/office/powerpoint/2010/main" val="525548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altLang="zh-CN" dirty="0"/>
          </a:p>
        </p:txBody>
      </p:sp>
      <p:sp>
        <p:nvSpPr>
          <p:cNvPr id="4" name="幻灯片编号占位符 3"/>
          <p:cNvSpPr>
            <a:spLocks noGrp="1"/>
          </p:cNvSpPr>
          <p:nvPr>
            <p:ph type="sldNum" sz="quarter" idx="10"/>
          </p:nvPr>
        </p:nvSpPr>
        <p:spPr/>
        <p:txBody>
          <a:bodyPr/>
          <a:lstStyle/>
          <a:p>
            <a:fld id="{D906AB83-A9BE-45DA-B7AF-45B94295F4B6}" type="slidenum">
              <a:rPr lang="en-AU" smtClean="0"/>
              <a:t>6</a:t>
            </a:fld>
            <a:endParaRPr lang="en-AU"/>
          </a:p>
        </p:txBody>
      </p:sp>
    </p:spTree>
    <p:extLst>
      <p:ext uri="{BB962C8B-B14F-4D97-AF65-F5344CB8AC3E}">
        <p14:creationId xmlns:p14="http://schemas.microsoft.com/office/powerpoint/2010/main" val="3633562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7</a:t>
            </a:fld>
            <a:endParaRPr lang="en-AU"/>
          </a:p>
        </p:txBody>
      </p:sp>
    </p:spTree>
    <p:extLst>
      <p:ext uri="{BB962C8B-B14F-4D97-AF65-F5344CB8AC3E}">
        <p14:creationId xmlns:p14="http://schemas.microsoft.com/office/powerpoint/2010/main" val="3938522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幻灯片编号占位符 3"/>
          <p:cNvSpPr>
            <a:spLocks noGrp="1"/>
          </p:cNvSpPr>
          <p:nvPr>
            <p:ph type="sldNum" sz="quarter" idx="10"/>
          </p:nvPr>
        </p:nvSpPr>
        <p:spPr/>
        <p:txBody>
          <a:bodyPr/>
          <a:lstStyle/>
          <a:p>
            <a:fld id="{D906AB83-A9BE-45DA-B7AF-45B94295F4B6}" type="slidenum">
              <a:rPr lang="en-AU" smtClean="0"/>
              <a:t>8</a:t>
            </a:fld>
            <a:endParaRPr lang="en-AU"/>
          </a:p>
        </p:txBody>
      </p:sp>
    </p:spTree>
    <p:extLst>
      <p:ext uri="{BB962C8B-B14F-4D97-AF65-F5344CB8AC3E}">
        <p14:creationId xmlns:p14="http://schemas.microsoft.com/office/powerpoint/2010/main" val="1870938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9</a:t>
            </a:fld>
            <a:endParaRPr lang="en-AU"/>
          </a:p>
        </p:txBody>
      </p:sp>
    </p:spTree>
    <p:extLst>
      <p:ext uri="{BB962C8B-B14F-4D97-AF65-F5344CB8AC3E}">
        <p14:creationId xmlns:p14="http://schemas.microsoft.com/office/powerpoint/2010/main" val="12791604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10</a:t>
            </a:fld>
            <a:endParaRPr lang="en-AU"/>
          </a:p>
        </p:txBody>
      </p:sp>
    </p:spTree>
    <p:extLst>
      <p:ext uri="{BB962C8B-B14F-4D97-AF65-F5344CB8AC3E}">
        <p14:creationId xmlns:p14="http://schemas.microsoft.com/office/powerpoint/2010/main" val="3462791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11</a:t>
            </a:fld>
            <a:endParaRPr lang="en-AU"/>
          </a:p>
        </p:txBody>
      </p:sp>
    </p:spTree>
    <p:extLst>
      <p:ext uri="{BB962C8B-B14F-4D97-AF65-F5344CB8AC3E}">
        <p14:creationId xmlns:p14="http://schemas.microsoft.com/office/powerpoint/2010/main" val="4042167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12</a:t>
            </a:fld>
            <a:endParaRPr lang="en-AU"/>
          </a:p>
        </p:txBody>
      </p:sp>
    </p:spTree>
    <p:extLst>
      <p:ext uri="{BB962C8B-B14F-4D97-AF65-F5344CB8AC3E}">
        <p14:creationId xmlns:p14="http://schemas.microsoft.com/office/powerpoint/2010/main" val="3180034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13</a:t>
            </a:fld>
            <a:endParaRPr lang="en-AU"/>
          </a:p>
        </p:txBody>
      </p:sp>
    </p:spTree>
    <p:extLst>
      <p:ext uri="{BB962C8B-B14F-4D97-AF65-F5344CB8AC3E}">
        <p14:creationId xmlns:p14="http://schemas.microsoft.com/office/powerpoint/2010/main" val="639955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14</a:t>
            </a:fld>
            <a:endParaRPr lang="en-AU"/>
          </a:p>
        </p:txBody>
      </p:sp>
    </p:spTree>
    <p:extLst>
      <p:ext uri="{BB962C8B-B14F-4D97-AF65-F5344CB8AC3E}">
        <p14:creationId xmlns:p14="http://schemas.microsoft.com/office/powerpoint/2010/main" val="33872016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15</a:t>
            </a:fld>
            <a:endParaRPr lang="en-AU"/>
          </a:p>
        </p:txBody>
      </p:sp>
    </p:spTree>
    <p:extLst>
      <p:ext uri="{BB962C8B-B14F-4D97-AF65-F5344CB8AC3E}">
        <p14:creationId xmlns:p14="http://schemas.microsoft.com/office/powerpoint/2010/main" val="386426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16</a:t>
            </a:fld>
            <a:endParaRPr lang="en-AU"/>
          </a:p>
        </p:txBody>
      </p:sp>
    </p:spTree>
    <p:extLst>
      <p:ext uri="{BB962C8B-B14F-4D97-AF65-F5344CB8AC3E}">
        <p14:creationId xmlns:p14="http://schemas.microsoft.com/office/powerpoint/2010/main" val="556195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17</a:t>
            </a:fld>
            <a:endParaRPr lang="en-AU"/>
          </a:p>
        </p:txBody>
      </p:sp>
    </p:spTree>
    <p:extLst>
      <p:ext uri="{BB962C8B-B14F-4D97-AF65-F5344CB8AC3E}">
        <p14:creationId xmlns:p14="http://schemas.microsoft.com/office/powerpoint/2010/main" val="17292574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18</a:t>
            </a:fld>
            <a:endParaRPr lang="en-AU"/>
          </a:p>
        </p:txBody>
      </p:sp>
    </p:spTree>
    <p:extLst>
      <p:ext uri="{BB962C8B-B14F-4D97-AF65-F5344CB8AC3E}">
        <p14:creationId xmlns:p14="http://schemas.microsoft.com/office/powerpoint/2010/main" val="560960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19</a:t>
            </a:fld>
            <a:endParaRPr lang="en-AU"/>
          </a:p>
        </p:txBody>
      </p:sp>
    </p:spTree>
    <p:extLst>
      <p:ext uri="{BB962C8B-B14F-4D97-AF65-F5344CB8AC3E}">
        <p14:creationId xmlns:p14="http://schemas.microsoft.com/office/powerpoint/2010/main" val="31027414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20</a:t>
            </a:fld>
            <a:endParaRPr lang="en-AU"/>
          </a:p>
        </p:txBody>
      </p:sp>
    </p:spTree>
    <p:extLst>
      <p:ext uri="{BB962C8B-B14F-4D97-AF65-F5344CB8AC3E}">
        <p14:creationId xmlns:p14="http://schemas.microsoft.com/office/powerpoint/2010/main" val="30123565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21</a:t>
            </a:fld>
            <a:endParaRPr lang="en-AU"/>
          </a:p>
        </p:txBody>
      </p:sp>
    </p:spTree>
    <p:extLst>
      <p:ext uri="{BB962C8B-B14F-4D97-AF65-F5344CB8AC3E}">
        <p14:creationId xmlns:p14="http://schemas.microsoft.com/office/powerpoint/2010/main" val="9357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22</a:t>
            </a:fld>
            <a:endParaRPr lang="en-AU"/>
          </a:p>
        </p:txBody>
      </p:sp>
    </p:spTree>
    <p:extLst>
      <p:ext uri="{BB962C8B-B14F-4D97-AF65-F5344CB8AC3E}">
        <p14:creationId xmlns:p14="http://schemas.microsoft.com/office/powerpoint/2010/main" val="31183699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23</a:t>
            </a:fld>
            <a:endParaRPr lang="en-AU"/>
          </a:p>
        </p:txBody>
      </p:sp>
    </p:spTree>
    <p:extLst>
      <p:ext uri="{BB962C8B-B14F-4D97-AF65-F5344CB8AC3E}">
        <p14:creationId xmlns:p14="http://schemas.microsoft.com/office/powerpoint/2010/main" val="22668557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24</a:t>
            </a:fld>
            <a:endParaRPr lang="en-AU"/>
          </a:p>
        </p:txBody>
      </p:sp>
    </p:spTree>
    <p:extLst>
      <p:ext uri="{BB962C8B-B14F-4D97-AF65-F5344CB8AC3E}">
        <p14:creationId xmlns:p14="http://schemas.microsoft.com/office/powerpoint/2010/main" val="21522308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25</a:t>
            </a:fld>
            <a:endParaRPr lang="en-AU"/>
          </a:p>
        </p:txBody>
      </p:sp>
    </p:spTree>
    <p:extLst>
      <p:ext uri="{BB962C8B-B14F-4D97-AF65-F5344CB8AC3E}">
        <p14:creationId xmlns:p14="http://schemas.microsoft.com/office/powerpoint/2010/main" val="4122839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26</a:t>
            </a:fld>
            <a:endParaRPr lang="en-AU"/>
          </a:p>
        </p:txBody>
      </p:sp>
    </p:spTree>
    <p:extLst>
      <p:ext uri="{BB962C8B-B14F-4D97-AF65-F5344CB8AC3E}">
        <p14:creationId xmlns:p14="http://schemas.microsoft.com/office/powerpoint/2010/main" val="9775104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27</a:t>
            </a:fld>
            <a:endParaRPr lang="en-AU"/>
          </a:p>
        </p:txBody>
      </p:sp>
    </p:spTree>
    <p:extLst>
      <p:ext uri="{BB962C8B-B14F-4D97-AF65-F5344CB8AC3E}">
        <p14:creationId xmlns:p14="http://schemas.microsoft.com/office/powerpoint/2010/main" val="35155406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28</a:t>
            </a:fld>
            <a:endParaRPr lang="en-AU"/>
          </a:p>
        </p:txBody>
      </p:sp>
    </p:spTree>
    <p:extLst>
      <p:ext uri="{BB962C8B-B14F-4D97-AF65-F5344CB8AC3E}">
        <p14:creationId xmlns:p14="http://schemas.microsoft.com/office/powerpoint/2010/main" val="3993271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29</a:t>
            </a:fld>
            <a:endParaRPr lang="en-AU"/>
          </a:p>
        </p:txBody>
      </p:sp>
    </p:spTree>
    <p:extLst>
      <p:ext uri="{BB962C8B-B14F-4D97-AF65-F5344CB8AC3E}">
        <p14:creationId xmlns:p14="http://schemas.microsoft.com/office/powerpoint/2010/main" val="21799643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30</a:t>
            </a:fld>
            <a:endParaRPr lang="en-AU"/>
          </a:p>
        </p:txBody>
      </p:sp>
    </p:spTree>
    <p:extLst>
      <p:ext uri="{BB962C8B-B14F-4D97-AF65-F5344CB8AC3E}">
        <p14:creationId xmlns:p14="http://schemas.microsoft.com/office/powerpoint/2010/main" val="3461058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31</a:t>
            </a:fld>
            <a:endParaRPr lang="en-AU"/>
          </a:p>
        </p:txBody>
      </p:sp>
    </p:spTree>
    <p:extLst>
      <p:ext uri="{BB962C8B-B14F-4D97-AF65-F5344CB8AC3E}">
        <p14:creationId xmlns:p14="http://schemas.microsoft.com/office/powerpoint/2010/main" val="52396073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32</a:t>
            </a:fld>
            <a:endParaRPr lang="en-AU"/>
          </a:p>
        </p:txBody>
      </p:sp>
    </p:spTree>
    <p:extLst>
      <p:ext uri="{BB962C8B-B14F-4D97-AF65-F5344CB8AC3E}">
        <p14:creationId xmlns:p14="http://schemas.microsoft.com/office/powerpoint/2010/main" val="7006936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33</a:t>
            </a:fld>
            <a:endParaRPr lang="en-AU"/>
          </a:p>
        </p:txBody>
      </p:sp>
    </p:spTree>
    <p:extLst>
      <p:ext uri="{BB962C8B-B14F-4D97-AF65-F5344CB8AC3E}">
        <p14:creationId xmlns:p14="http://schemas.microsoft.com/office/powerpoint/2010/main" val="29623665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34</a:t>
            </a:fld>
            <a:endParaRPr lang="en-AU"/>
          </a:p>
        </p:txBody>
      </p:sp>
    </p:spTree>
    <p:extLst>
      <p:ext uri="{BB962C8B-B14F-4D97-AF65-F5344CB8AC3E}">
        <p14:creationId xmlns:p14="http://schemas.microsoft.com/office/powerpoint/2010/main" val="130956587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35</a:t>
            </a:fld>
            <a:endParaRPr lang="en-AU"/>
          </a:p>
        </p:txBody>
      </p:sp>
    </p:spTree>
    <p:extLst>
      <p:ext uri="{BB962C8B-B14F-4D97-AF65-F5344CB8AC3E}">
        <p14:creationId xmlns:p14="http://schemas.microsoft.com/office/powerpoint/2010/main" val="27522895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36</a:t>
            </a:fld>
            <a:endParaRPr lang="en-AU"/>
          </a:p>
        </p:txBody>
      </p:sp>
    </p:spTree>
    <p:extLst>
      <p:ext uri="{BB962C8B-B14F-4D97-AF65-F5344CB8AC3E}">
        <p14:creationId xmlns:p14="http://schemas.microsoft.com/office/powerpoint/2010/main" val="207121604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37</a:t>
            </a:fld>
            <a:endParaRPr lang="en-AU"/>
          </a:p>
        </p:txBody>
      </p:sp>
    </p:spTree>
    <p:extLst>
      <p:ext uri="{BB962C8B-B14F-4D97-AF65-F5344CB8AC3E}">
        <p14:creationId xmlns:p14="http://schemas.microsoft.com/office/powerpoint/2010/main" val="185965245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38</a:t>
            </a:fld>
            <a:endParaRPr lang="en-AU"/>
          </a:p>
        </p:txBody>
      </p:sp>
    </p:spTree>
    <p:extLst>
      <p:ext uri="{BB962C8B-B14F-4D97-AF65-F5344CB8AC3E}">
        <p14:creationId xmlns:p14="http://schemas.microsoft.com/office/powerpoint/2010/main" val="22379883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39</a:t>
            </a:fld>
            <a:endParaRPr lang="en-AU"/>
          </a:p>
        </p:txBody>
      </p:sp>
    </p:spTree>
    <p:extLst>
      <p:ext uri="{BB962C8B-B14F-4D97-AF65-F5344CB8AC3E}">
        <p14:creationId xmlns:p14="http://schemas.microsoft.com/office/powerpoint/2010/main" val="42593949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40</a:t>
            </a:fld>
            <a:endParaRPr lang="en-AU"/>
          </a:p>
        </p:txBody>
      </p:sp>
    </p:spTree>
    <p:extLst>
      <p:ext uri="{BB962C8B-B14F-4D97-AF65-F5344CB8AC3E}">
        <p14:creationId xmlns:p14="http://schemas.microsoft.com/office/powerpoint/2010/main" val="41571355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030C05-EF6C-9847-8923-580D76870F8E}" type="slidenum">
              <a:rPr lang="en-AU" smtClean="0"/>
              <a:t>41</a:t>
            </a:fld>
            <a:endParaRPr lang="en-AU"/>
          </a:p>
        </p:txBody>
      </p:sp>
    </p:spTree>
    <p:extLst>
      <p:ext uri="{BB962C8B-B14F-4D97-AF65-F5344CB8AC3E}">
        <p14:creationId xmlns:p14="http://schemas.microsoft.com/office/powerpoint/2010/main" val="387757943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42</a:t>
            </a:fld>
            <a:endParaRPr lang="en-AU"/>
          </a:p>
        </p:txBody>
      </p:sp>
    </p:spTree>
    <p:extLst>
      <p:ext uri="{BB962C8B-B14F-4D97-AF65-F5344CB8AC3E}">
        <p14:creationId xmlns:p14="http://schemas.microsoft.com/office/powerpoint/2010/main" val="36908086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43</a:t>
            </a:fld>
            <a:endParaRPr lang="en-AU"/>
          </a:p>
        </p:txBody>
      </p:sp>
    </p:spTree>
    <p:extLst>
      <p:ext uri="{BB962C8B-B14F-4D97-AF65-F5344CB8AC3E}">
        <p14:creationId xmlns:p14="http://schemas.microsoft.com/office/powerpoint/2010/main" val="17675358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44</a:t>
            </a:fld>
            <a:endParaRPr lang="en-AU"/>
          </a:p>
        </p:txBody>
      </p:sp>
    </p:spTree>
    <p:extLst>
      <p:ext uri="{BB962C8B-B14F-4D97-AF65-F5344CB8AC3E}">
        <p14:creationId xmlns:p14="http://schemas.microsoft.com/office/powerpoint/2010/main" val="276747066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45</a:t>
            </a:fld>
            <a:endParaRPr lang="en-AU"/>
          </a:p>
        </p:txBody>
      </p:sp>
    </p:spTree>
    <p:extLst>
      <p:ext uri="{BB962C8B-B14F-4D97-AF65-F5344CB8AC3E}">
        <p14:creationId xmlns:p14="http://schemas.microsoft.com/office/powerpoint/2010/main" val="13982229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46</a:t>
            </a:fld>
            <a:endParaRPr lang="en-AU"/>
          </a:p>
        </p:txBody>
      </p:sp>
    </p:spTree>
    <p:extLst>
      <p:ext uri="{BB962C8B-B14F-4D97-AF65-F5344CB8AC3E}">
        <p14:creationId xmlns:p14="http://schemas.microsoft.com/office/powerpoint/2010/main" val="2650635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DF030C05-EF6C-9847-8923-580D76870F8E}" type="slidenum">
              <a:rPr lang="en-AU" smtClean="0"/>
              <a:t>47</a:t>
            </a:fld>
            <a:endParaRPr lang="en-AU"/>
          </a:p>
        </p:txBody>
      </p:sp>
    </p:spTree>
    <p:extLst>
      <p:ext uri="{BB962C8B-B14F-4D97-AF65-F5344CB8AC3E}">
        <p14:creationId xmlns:p14="http://schemas.microsoft.com/office/powerpoint/2010/main" val="3306763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535090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6911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5989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22988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9343D99-809A-49C0-96E5-4250D0B498EE}" type="datetime1">
              <a:rPr lang="en-US" smtClean="0"/>
              <a:t>2/23/2026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91553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3296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2/23/2026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8986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434586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2/23/2026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17793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517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2354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37229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2/23/2026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53464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595302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2/23/2026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015711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185967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2/23/2026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69926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2/23/2026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586398981"/>
      </p:ext>
    </p:extLst>
  </p:cSld>
  <p:clrMap bg1="dk1" tx1="lt1" bg2="dk2" tx2="lt2" accent1="accent1" accent2="accent2" accent3="accent3" accent4="accent4" accent5="accent5" accent6="accent6" hlink="hlink" folHlink="folHlink"/>
  <p:sldLayoutIdLst>
    <p:sldLayoutId id="2147483760" r:id="rId1"/>
    <p:sldLayoutId id="2147483761" r:id="rId2"/>
    <p:sldLayoutId id="2147483762" r:id="rId3"/>
    <p:sldLayoutId id="2147483746" r:id="rId4"/>
    <p:sldLayoutId id="2147483747" r:id="rId5"/>
    <p:sldLayoutId id="2147483748" r:id="rId6"/>
    <p:sldLayoutId id="2147483749" r:id="rId7"/>
    <p:sldLayoutId id="2147483750" r:id="rId8"/>
    <p:sldLayoutId id="2147483751" r:id="rId9"/>
    <p:sldLayoutId id="2147483752" r:id="rId10"/>
    <p:sldLayoutId id="2147483759" r:id="rId11"/>
    <p:sldLayoutId id="2147483753" r:id="rId12"/>
    <p:sldLayoutId id="2147483754" r:id="rId13"/>
    <p:sldLayoutId id="2147483755" r:id="rId14"/>
    <p:sldLayoutId id="2147483756" r:id="rId15"/>
    <p:sldLayoutId id="2147483757" r:id="rId16"/>
    <p:sldLayoutId id="2147483758" r:id="rId17"/>
  </p:sldLayoutIdLst>
  <p:hf sldNum="0" hdr="0" ftr="0" dt="0"/>
  <p:txStyles>
    <p:titleStyle>
      <a:lvl1pPr algn="ctr" defTabSz="457200" rtl="0" eaLnBrk="1" latinLnBrk="0" hangingPunct="1">
        <a:lnSpc>
          <a:spcPct val="90000"/>
        </a:lnSpc>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3" Type="http://schemas.openxmlformats.org/officeDocument/2006/relationships/hyperlink" Target="https://scholar.google.com/citations?hl=en&amp;user=pXIJXmwAAAAJ&amp;view_op=list_works&amp;sortby=pubd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s://scholar.google.com/citations?user=pXIJXmwAAAAJ&amp;hl=en"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uwa.edu.au/students/Support-service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hyperlink" Target="https://www.uwa.edu.au/students/Support-services/Disability-and-accessibility"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08E16CA-BF32-4E68-AAAF-189A3408C6C8}"/>
              </a:ext>
            </a:extLst>
          </p:cNvPr>
          <p:cNvPicPr>
            <a:picLocks noChangeAspect="1"/>
          </p:cNvPicPr>
          <p:nvPr/>
        </p:nvPicPr>
        <p:blipFill rotWithShape="1">
          <a:blip r:embed="rId4"/>
          <a:srcRect t="13986" b="1744"/>
          <a:stretch/>
        </p:blipFill>
        <p:spPr>
          <a:xfrm>
            <a:off x="20" y="10"/>
            <a:ext cx="12191980" cy="6857990"/>
          </a:xfrm>
          <a:prstGeom prst="rect">
            <a:avLst/>
          </a:prstGeom>
        </p:spPr>
      </p:pic>
      <p:sp useBgFill="1">
        <p:nvSpPr>
          <p:cNvPr id="14"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271651" y="1762886"/>
            <a:ext cx="7656919" cy="3332229"/>
          </a:xfrm>
          <a:custGeom>
            <a:avLst/>
            <a:gdLst>
              <a:gd name="T0" fmla="*/ 1577 w 1601"/>
              <a:gd name="T1" fmla="*/ 0 h 696"/>
              <a:gd name="T2" fmla="*/ 833 w 1601"/>
              <a:gd name="T3" fmla="*/ 0 h 696"/>
              <a:gd name="T4" fmla="*/ 768 w 1601"/>
              <a:gd name="T5" fmla="*/ 0 h 696"/>
              <a:gd name="T6" fmla="*/ 24 w 1601"/>
              <a:gd name="T7" fmla="*/ 0 h 696"/>
              <a:gd name="T8" fmla="*/ 0 w 1601"/>
              <a:gd name="T9" fmla="*/ 27 h 696"/>
              <a:gd name="T10" fmla="*/ 0 w 1601"/>
              <a:gd name="T11" fmla="*/ 669 h 696"/>
              <a:gd name="T12" fmla="*/ 24 w 1601"/>
              <a:gd name="T13" fmla="*/ 696 h 696"/>
              <a:gd name="T14" fmla="*/ 768 w 1601"/>
              <a:gd name="T15" fmla="*/ 696 h 696"/>
              <a:gd name="T16" fmla="*/ 833 w 1601"/>
              <a:gd name="T17" fmla="*/ 696 h 696"/>
              <a:gd name="T18" fmla="*/ 1577 w 1601"/>
              <a:gd name="T19" fmla="*/ 696 h 696"/>
              <a:gd name="T20" fmla="*/ 1601 w 1601"/>
              <a:gd name="T21" fmla="*/ 669 h 696"/>
              <a:gd name="T22" fmla="*/ 1601 w 1601"/>
              <a:gd name="T23" fmla="*/ 27 h 696"/>
              <a:gd name="T24" fmla="*/ 1577 w 1601"/>
              <a:gd name="T25" fmla="*/ 0 h 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01" h="696">
                <a:moveTo>
                  <a:pt x="1577" y="0"/>
                </a:moveTo>
                <a:cubicBezTo>
                  <a:pt x="833" y="0"/>
                  <a:pt x="833" y="0"/>
                  <a:pt x="833" y="0"/>
                </a:cubicBezTo>
                <a:cubicBezTo>
                  <a:pt x="768" y="0"/>
                  <a:pt x="768" y="0"/>
                  <a:pt x="768" y="0"/>
                </a:cubicBezTo>
                <a:cubicBezTo>
                  <a:pt x="24" y="0"/>
                  <a:pt x="24" y="0"/>
                  <a:pt x="24" y="0"/>
                </a:cubicBezTo>
                <a:cubicBezTo>
                  <a:pt x="11" y="0"/>
                  <a:pt x="0" y="12"/>
                  <a:pt x="0" y="27"/>
                </a:cubicBezTo>
                <a:cubicBezTo>
                  <a:pt x="0" y="669"/>
                  <a:pt x="0" y="669"/>
                  <a:pt x="0" y="669"/>
                </a:cubicBezTo>
                <a:cubicBezTo>
                  <a:pt x="0" y="684"/>
                  <a:pt x="11" y="696"/>
                  <a:pt x="24" y="696"/>
                </a:cubicBezTo>
                <a:cubicBezTo>
                  <a:pt x="768" y="696"/>
                  <a:pt x="768" y="696"/>
                  <a:pt x="768" y="696"/>
                </a:cubicBezTo>
                <a:cubicBezTo>
                  <a:pt x="833" y="696"/>
                  <a:pt x="833" y="696"/>
                  <a:pt x="833" y="696"/>
                </a:cubicBezTo>
                <a:cubicBezTo>
                  <a:pt x="1577" y="696"/>
                  <a:pt x="1577" y="696"/>
                  <a:pt x="1577" y="696"/>
                </a:cubicBezTo>
                <a:cubicBezTo>
                  <a:pt x="1590" y="696"/>
                  <a:pt x="1601" y="684"/>
                  <a:pt x="1601" y="669"/>
                </a:cubicBezTo>
                <a:cubicBezTo>
                  <a:pt x="1601" y="27"/>
                  <a:pt x="1601" y="27"/>
                  <a:pt x="1601" y="27"/>
                </a:cubicBezTo>
                <a:cubicBezTo>
                  <a:pt x="1601" y="12"/>
                  <a:pt x="1590" y="0"/>
                  <a:pt x="1577" y="0"/>
                </a:cubicBezTo>
                <a:close/>
              </a:path>
            </a:pathLst>
          </a:custGeom>
          <a:ln>
            <a:noFill/>
          </a:ln>
          <a:effectLst>
            <a:outerShdw blurRad="50800" dist="38100" dir="5400000" algn="tl" rotWithShape="0">
              <a:srgbClr val="000000">
                <a:alpha val="43000"/>
              </a:srgbClr>
            </a:outerShdw>
          </a:effectLst>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A7F2B5DE-6445-CC49-9F8E-7C9072991AF6}"/>
              </a:ext>
            </a:extLst>
          </p:cNvPr>
          <p:cNvSpPr>
            <a:spLocks noGrp="1"/>
          </p:cNvSpPr>
          <p:nvPr>
            <p:ph type="ctrTitle"/>
          </p:nvPr>
        </p:nvSpPr>
        <p:spPr>
          <a:xfrm>
            <a:off x="2480733" y="2074339"/>
            <a:ext cx="7219954" cy="1828801"/>
          </a:xfrm>
        </p:spPr>
        <p:txBody>
          <a:bodyPr>
            <a:normAutofit fontScale="90000"/>
          </a:bodyPr>
          <a:lstStyle/>
          <a:p>
            <a:r>
              <a:rPr lang="en-US" sz="4800" dirty="0"/>
              <a:t>CITS1003 Introduction to Cybersecurity</a:t>
            </a:r>
            <a:br>
              <a:rPr lang="en-US" sz="4800" dirty="0"/>
            </a:br>
            <a:r>
              <a:rPr lang="en-US" sz="4800" dirty="0"/>
              <a:t>[0] Unit overview</a:t>
            </a:r>
          </a:p>
        </p:txBody>
      </p:sp>
      <p:sp>
        <p:nvSpPr>
          <p:cNvPr id="3" name="Subtitle 2">
            <a:extLst>
              <a:ext uri="{FF2B5EF4-FFF2-40B4-BE49-F238E27FC236}">
                <a16:creationId xmlns:a16="http://schemas.microsoft.com/office/drawing/2014/main" id="{1804B053-88E2-6F47-B5CB-F0B21DD687A8}"/>
              </a:ext>
            </a:extLst>
          </p:cNvPr>
          <p:cNvSpPr>
            <a:spLocks noGrp="1"/>
          </p:cNvSpPr>
          <p:nvPr>
            <p:ph type="subTitle" idx="1"/>
          </p:nvPr>
        </p:nvSpPr>
        <p:spPr>
          <a:xfrm>
            <a:off x="2480733" y="3903138"/>
            <a:ext cx="7219954" cy="1049867"/>
          </a:xfrm>
        </p:spPr>
        <p:txBody>
          <a:bodyPr>
            <a:normAutofit/>
          </a:bodyPr>
          <a:lstStyle/>
          <a:p>
            <a:r>
              <a:rPr lang="en-US" dirty="0">
                <a:solidFill>
                  <a:srgbClr val="20D1FF"/>
                </a:solidFill>
              </a:rPr>
              <a:t>Dr </a:t>
            </a:r>
            <a:r>
              <a:rPr lang="en-US" dirty="0" err="1">
                <a:solidFill>
                  <a:srgbClr val="20D1FF"/>
                </a:solidFill>
              </a:rPr>
              <a:t>Z</a:t>
            </a:r>
            <a:r>
              <a:rPr lang="en-US" altLang="zh-CN" dirty="0" err="1">
                <a:solidFill>
                  <a:srgbClr val="20D1FF"/>
                </a:solidFill>
              </a:rPr>
              <a:t>hi</a:t>
            </a:r>
            <a:r>
              <a:rPr lang="en-US" altLang="zh-CN" dirty="0">
                <a:solidFill>
                  <a:srgbClr val="20D1FF"/>
                </a:solidFill>
              </a:rPr>
              <a:t> Zhang</a:t>
            </a:r>
            <a:endParaRPr lang="en-US" dirty="0">
              <a:solidFill>
                <a:srgbClr val="20D1FF"/>
              </a:solidFill>
            </a:endParaRPr>
          </a:p>
        </p:txBody>
      </p:sp>
    </p:spTree>
    <p:extLst>
      <p:ext uri="{BB962C8B-B14F-4D97-AF65-F5344CB8AC3E}">
        <p14:creationId xmlns:p14="http://schemas.microsoft.com/office/powerpoint/2010/main" val="1077586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410E13-10F2-4B08-8B93-CCB6420D424D}"/>
              </a:ext>
            </a:extLst>
          </p:cNvPr>
          <p:cNvSpPr/>
          <p:nvPr/>
        </p:nvSpPr>
        <p:spPr>
          <a:xfrm>
            <a:off x="0" y="2282776"/>
            <a:ext cx="11788884" cy="3401650"/>
          </a:xfrm>
          <a:prstGeom prst="rect">
            <a:avLst/>
          </a:prstGeom>
        </p:spPr>
        <p:txBody>
          <a:bodyPr wrap="square" lIns="20016" tIns="10008" rIns="20016" bIns="10008">
            <a:spAutoFit/>
          </a:bodyPr>
          <a:lstStyle/>
          <a:p>
            <a:endParaRPr lang="en-US" altLang="zh-CN" sz="2800" b="1" dirty="0">
              <a:ea typeface="+mj-ea"/>
              <a:cs typeface="+mj-cs"/>
            </a:endParaRPr>
          </a:p>
          <a:p>
            <a:pPr marL="644752" lvl="1" indent="-187652">
              <a:lnSpc>
                <a:spcPct val="200000"/>
              </a:lnSpc>
              <a:spcBef>
                <a:spcPts val="219"/>
              </a:spcBef>
              <a:buFont typeface="Wingdings" panose="05000000000000000000" pitchFamily="2" charset="2"/>
              <a:buChar char="Ø"/>
            </a:pPr>
            <a:r>
              <a:rPr lang="en-US" altLang="zh-CN" sz="2000" dirty="0">
                <a:ea typeface="+mj-ea"/>
                <a:cs typeface="+mj-cs"/>
              </a:rPr>
              <a:t> </a:t>
            </a:r>
            <a:r>
              <a:rPr lang="en-US" altLang="zh-CN" sz="2400" dirty="0">
                <a:ea typeface="+mj-ea"/>
                <a:cs typeface="+mj-cs"/>
              </a:rPr>
              <a:t>Senior Lecturer in </a:t>
            </a:r>
            <a:r>
              <a:rPr lang="en-AU" altLang="zh-CN" sz="2400" dirty="0">
                <a:ea typeface="+mj-ea"/>
                <a:cs typeface="+mj-cs"/>
              </a:rPr>
              <a:t>Computer Security, Office: G10@CSSE</a:t>
            </a:r>
          </a:p>
          <a:p>
            <a:pPr marL="644752" lvl="1" indent="-187652">
              <a:lnSpc>
                <a:spcPct val="200000"/>
              </a:lnSpc>
              <a:spcBef>
                <a:spcPts val="219"/>
              </a:spcBef>
              <a:buFont typeface="Wingdings" panose="05000000000000000000" pitchFamily="2" charset="2"/>
              <a:buChar char="Ø"/>
            </a:pPr>
            <a:r>
              <a:rPr lang="en-US" altLang="zh-CN" sz="2400" dirty="0">
                <a:ea typeface="+mj-ea"/>
                <a:cs typeface="+mj-cs"/>
              </a:rPr>
              <a:t> https://zhangzhics.github.io</a:t>
            </a:r>
            <a:r>
              <a:rPr lang="en-AU" sz="2400" dirty="0">
                <a:ea typeface="+mj-ea"/>
                <a:cs typeface="+mj-cs"/>
                <a:hlinkClick r:id="rId3">
                  <a:extLst>
                    <a:ext uri="{A12FA001-AC4F-418D-AE19-62706E023703}">
                      <ahyp:hlinkClr xmlns:ahyp="http://schemas.microsoft.com/office/drawing/2018/hyperlinkcolor" val="tx"/>
                    </a:ext>
                  </a:extLst>
                </a:hlinkClick>
              </a:rPr>
              <a:t>‬</a:t>
            </a:r>
            <a:endParaRPr lang="en-US" altLang="zh-CN" sz="2400" dirty="0">
              <a:ea typeface="+mj-ea"/>
              <a:cs typeface="+mj-cs"/>
            </a:endParaRPr>
          </a:p>
          <a:p>
            <a:pPr marL="644752" lvl="1" indent="-187652">
              <a:lnSpc>
                <a:spcPct val="200000"/>
              </a:lnSpc>
              <a:spcBef>
                <a:spcPts val="219"/>
              </a:spcBef>
              <a:buFont typeface="Wingdings" panose="05000000000000000000" pitchFamily="2" charset="2"/>
              <a:buChar char="Ø"/>
            </a:pPr>
            <a:r>
              <a:rPr lang="en-AU" altLang="zh-CN" sz="2400" dirty="0">
                <a:ea typeface="+mj-ea"/>
                <a:cs typeface="+mj-cs"/>
              </a:rPr>
              <a:t> Email: </a:t>
            </a:r>
            <a:r>
              <a:rPr lang="en-AU" altLang="zh-CN" sz="2400" dirty="0">
                <a:solidFill>
                  <a:schemeClr val="accent6"/>
                </a:solidFill>
                <a:ea typeface="+mj-ea"/>
                <a:cs typeface="+mj-cs"/>
              </a:rPr>
              <a:t>zhi.zhang@uwa.edu.au</a:t>
            </a:r>
            <a:r>
              <a:rPr lang="en-AU" altLang="zh-CN" sz="2400" dirty="0">
                <a:ea typeface="+mj-ea"/>
                <a:cs typeface="+mj-cs"/>
              </a:rPr>
              <a:t> (queries related to CITS1003: </a:t>
            </a:r>
            <a:r>
              <a:rPr lang="en-AU" altLang="zh-CN" sz="2400" dirty="0">
                <a:solidFill>
                  <a:schemeClr val="accent6"/>
                </a:solidFill>
                <a:ea typeface="+mj-ea"/>
                <a:cs typeface="+mj-cs"/>
              </a:rPr>
              <a:t>cits1003-pmc@uwa.edu.au</a:t>
            </a:r>
            <a:r>
              <a:rPr lang="en-AU" altLang="zh-CN" sz="2400" dirty="0">
                <a:ea typeface="+mj-ea"/>
                <a:cs typeface="+mj-cs"/>
              </a:rPr>
              <a:t>)</a:t>
            </a:r>
          </a:p>
          <a:p>
            <a:pPr marL="644752" lvl="1" indent="-187652">
              <a:lnSpc>
                <a:spcPct val="200000"/>
              </a:lnSpc>
              <a:spcBef>
                <a:spcPts val="219"/>
              </a:spcBef>
              <a:buFont typeface="Wingdings" panose="05000000000000000000" pitchFamily="2" charset="2"/>
              <a:buChar char="Ø"/>
            </a:pPr>
            <a:r>
              <a:rPr lang="en-AU" sz="2400" dirty="0">
                <a:ea typeface="+mj-ea"/>
                <a:cs typeface="+mj-cs"/>
              </a:rPr>
              <a:t> Zhi Zhang‬ - </a:t>
            </a:r>
            <a:r>
              <a:rPr lang="en-AU" sz="2400" dirty="0">
                <a:ea typeface="+mj-ea"/>
                <a:cs typeface="+mj-cs"/>
                <a:hlinkClick r:id="rId4"/>
              </a:rPr>
              <a:t>‪Google Scholar</a:t>
            </a:r>
            <a:endParaRPr lang="en-US" altLang="zh-CN" sz="2400" dirty="0">
              <a:ea typeface="+mj-ea"/>
              <a:cs typeface="+mj-cs"/>
            </a:endParaRPr>
          </a:p>
        </p:txBody>
      </p:sp>
      <p:pic>
        <p:nvPicPr>
          <p:cNvPr id="6" name="Picture 5">
            <a:extLst>
              <a:ext uri="{FF2B5EF4-FFF2-40B4-BE49-F238E27FC236}">
                <a16:creationId xmlns:a16="http://schemas.microsoft.com/office/drawing/2014/main" id="{7BCC162A-E8A3-4372-9C2A-9CB1DDD5F1DD}"/>
              </a:ext>
            </a:extLst>
          </p:cNvPr>
          <p:cNvPicPr>
            <a:picLocks noChangeAspect="1"/>
          </p:cNvPicPr>
          <p:nvPr/>
        </p:nvPicPr>
        <p:blipFill>
          <a:blip r:embed="rId5"/>
          <a:stretch>
            <a:fillRect/>
          </a:stretch>
        </p:blipFill>
        <p:spPr>
          <a:xfrm>
            <a:off x="500075" y="594360"/>
            <a:ext cx="2037385" cy="2147087"/>
          </a:xfrm>
          <a:prstGeom prst="rect">
            <a:avLst/>
          </a:prstGeom>
        </p:spPr>
      </p:pic>
    </p:spTree>
    <p:extLst>
      <p:ext uri="{BB962C8B-B14F-4D97-AF65-F5344CB8AC3E}">
        <p14:creationId xmlns:p14="http://schemas.microsoft.com/office/powerpoint/2010/main" val="211446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txBox="1">
            <a:spLocks/>
          </p:cNvSpPr>
          <p:nvPr/>
        </p:nvSpPr>
        <p:spPr>
          <a:xfrm>
            <a:off x="2983006" y="128068"/>
            <a:ext cx="6225987" cy="428455"/>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lgn="ctr">
              <a:buNone/>
            </a:pPr>
            <a:r>
              <a:rPr lang="en-AU" sz="3200" b="1" dirty="0">
                <a:ea typeface="+mj-ea"/>
                <a:cs typeface="+mj-cs"/>
              </a:rPr>
              <a:t>csrankings.org</a:t>
            </a:r>
            <a:endParaRPr lang="en-US" sz="3200" b="1" dirty="0">
              <a:ea typeface="+mj-ea"/>
              <a:cs typeface="+mj-cs"/>
            </a:endParaRPr>
          </a:p>
        </p:txBody>
      </p:sp>
      <p:pic>
        <p:nvPicPr>
          <p:cNvPr id="4" name="Picture 3">
            <a:extLst>
              <a:ext uri="{FF2B5EF4-FFF2-40B4-BE49-F238E27FC236}">
                <a16:creationId xmlns:a16="http://schemas.microsoft.com/office/drawing/2014/main" id="{FE19C013-C08F-4E91-BDD7-BE8033F4864D}"/>
              </a:ext>
            </a:extLst>
          </p:cNvPr>
          <p:cNvPicPr>
            <a:picLocks noChangeAspect="1"/>
          </p:cNvPicPr>
          <p:nvPr/>
        </p:nvPicPr>
        <p:blipFill>
          <a:blip r:embed="rId3"/>
          <a:stretch>
            <a:fillRect/>
          </a:stretch>
        </p:blipFill>
        <p:spPr>
          <a:xfrm>
            <a:off x="888685" y="642548"/>
            <a:ext cx="10414629" cy="5841379"/>
          </a:xfrm>
          <a:prstGeom prst="rect">
            <a:avLst/>
          </a:prstGeom>
        </p:spPr>
      </p:pic>
      <p:sp>
        <p:nvSpPr>
          <p:cNvPr id="5" name="Oval 4">
            <a:extLst>
              <a:ext uri="{FF2B5EF4-FFF2-40B4-BE49-F238E27FC236}">
                <a16:creationId xmlns:a16="http://schemas.microsoft.com/office/drawing/2014/main" id="{08BFE055-BD04-4EEA-96A6-60F1081F90BD}"/>
              </a:ext>
            </a:extLst>
          </p:cNvPr>
          <p:cNvSpPr/>
          <p:nvPr/>
        </p:nvSpPr>
        <p:spPr>
          <a:xfrm>
            <a:off x="9858895" y="4937760"/>
            <a:ext cx="714895" cy="282633"/>
          </a:xfrm>
          <a:prstGeom prst="ellipse">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934526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60CBF2A-A98B-4579-8F45-78465BE63E80}"/>
              </a:ext>
            </a:extLst>
          </p:cNvPr>
          <p:cNvPicPr>
            <a:picLocks noChangeAspect="1"/>
          </p:cNvPicPr>
          <p:nvPr/>
        </p:nvPicPr>
        <p:blipFill>
          <a:blip r:embed="rId3"/>
          <a:stretch>
            <a:fillRect/>
          </a:stretch>
        </p:blipFill>
        <p:spPr>
          <a:xfrm>
            <a:off x="2176378" y="639871"/>
            <a:ext cx="7920060" cy="3849002"/>
          </a:xfrm>
          <a:prstGeom prst="rect">
            <a:avLst/>
          </a:prstGeom>
        </p:spPr>
      </p:pic>
    </p:spTree>
    <p:extLst>
      <p:ext uri="{BB962C8B-B14F-4D97-AF65-F5344CB8AC3E}">
        <p14:creationId xmlns:p14="http://schemas.microsoft.com/office/powerpoint/2010/main" val="33995120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08391E-023D-4A90-A5AC-88701533A80B}"/>
              </a:ext>
            </a:extLst>
          </p:cNvPr>
          <p:cNvSpPr/>
          <p:nvPr/>
        </p:nvSpPr>
        <p:spPr>
          <a:xfrm>
            <a:off x="408561" y="665319"/>
            <a:ext cx="11284085" cy="4850636"/>
          </a:xfrm>
          <a:prstGeom prst="rect">
            <a:avLst/>
          </a:prstGeom>
        </p:spPr>
        <p:txBody>
          <a:bodyPr wrap="square" lIns="20016" tIns="10008" rIns="20016" bIns="10008">
            <a:spAutoFit/>
          </a:bodyPr>
          <a:lstStyle/>
          <a:p>
            <a:pPr marL="250203" indent="-250203">
              <a:buFont typeface="Wingdings" panose="05000000000000000000" pitchFamily="2" charset="2"/>
              <a:buChar char="q"/>
            </a:pPr>
            <a:r>
              <a:rPr lang="en-AU" sz="2800" b="1" dirty="0">
                <a:ea typeface="+mj-ea"/>
                <a:cs typeface="+mj-cs"/>
              </a:rPr>
              <a:t>White Hat Assessment…</a:t>
            </a:r>
            <a:endParaRPr lang="en-US" altLang="zh-CN" sz="2800" b="1" dirty="0">
              <a:ea typeface="+mj-ea"/>
              <a:cs typeface="+mj-cs"/>
            </a:endParaRPr>
          </a:p>
          <a:p>
            <a:pPr marL="644752" lvl="1" indent="-187652">
              <a:lnSpc>
                <a:spcPct val="200000"/>
              </a:lnSpc>
              <a:spcBef>
                <a:spcPts val="219"/>
              </a:spcBef>
              <a:buFont typeface="Wingdings" panose="05000000000000000000" pitchFamily="2" charset="2"/>
              <a:buChar char="Ø"/>
            </a:pPr>
            <a:r>
              <a:rPr lang="en-AU" altLang="zh-CN" sz="2000" dirty="0">
                <a:ea typeface="+mj-ea"/>
                <a:cs typeface="+mj-cs"/>
              </a:rPr>
              <a:t>Open-source and commodity cloud software, e.g., Xen and Docker</a:t>
            </a:r>
          </a:p>
          <a:p>
            <a:pPr marL="1257200" lvl="2" indent="-342900">
              <a:lnSpc>
                <a:spcPct val="200000"/>
              </a:lnSpc>
              <a:spcBef>
                <a:spcPts val="219"/>
              </a:spcBef>
              <a:buFont typeface="Courier New" panose="02070309020205020404" pitchFamily="49" charset="0"/>
              <a:buChar char="o"/>
            </a:pPr>
            <a:r>
              <a:rPr lang="en-AU" sz="2000" dirty="0">
                <a:solidFill>
                  <a:schemeClr val="accent6"/>
                </a:solidFill>
                <a:ea typeface="+mj-ea"/>
                <a:cs typeface="+mj-cs"/>
              </a:rPr>
              <a:t>Reported 2 confirmed </a:t>
            </a:r>
            <a:r>
              <a:rPr lang="en-AU" altLang="zh-CN" sz="2000" dirty="0">
                <a:solidFill>
                  <a:schemeClr val="accent6"/>
                </a:solidFill>
                <a:ea typeface="+mj-ea"/>
                <a:cs typeface="+mj-cs"/>
              </a:rPr>
              <a:t>vulnerabilities. </a:t>
            </a:r>
            <a:endParaRPr lang="en-AU" sz="2000" dirty="0">
              <a:solidFill>
                <a:schemeClr val="accent6"/>
              </a:solidFill>
              <a:ea typeface="+mj-ea"/>
              <a:cs typeface="+mj-cs"/>
            </a:endParaRPr>
          </a:p>
          <a:p>
            <a:pPr marL="1257200" lvl="2" indent="-342900">
              <a:lnSpc>
                <a:spcPct val="200000"/>
              </a:lnSpc>
              <a:spcBef>
                <a:spcPts val="219"/>
              </a:spcBef>
              <a:buFont typeface="Courier New" panose="02070309020205020404" pitchFamily="49" charset="0"/>
              <a:buChar char="o"/>
            </a:pPr>
            <a:r>
              <a:rPr lang="en-AU" altLang="zh-CN" sz="2000" dirty="0">
                <a:solidFill>
                  <a:schemeClr val="accent6"/>
                </a:solidFill>
                <a:ea typeface="+mj-ea"/>
                <a:cs typeface="+mj-cs"/>
              </a:rPr>
              <a:t>Developed 2 patches which have been merged to their mainline.</a:t>
            </a:r>
          </a:p>
          <a:p>
            <a:pPr marL="644752" lvl="1" indent="-187652">
              <a:lnSpc>
                <a:spcPct val="200000"/>
              </a:lnSpc>
              <a:spcBef>
                <a:spcPts val="219"/>
              </a:spcBef>
              <a:buFont typeface="Wingdings" panose="05000000000000000000" pitchFamily="2" charset="2"/>
              <a:buChar char="Ø"/>
            </a:pPr>
            <a:r>
              <a:rPr lang="en-AU" altLang="zh-CN" sz="2000" dirty="0">
                <a:ea typeface="+mj-ea"/>
                <a:cs typeface="+mj-cs"/>
              </a:rPr>
              <a:t> Open-source and commodity cryptographic toolkits, e.g., </a:t>
            </a:r>
            <a:r>
              <a:rPr lang="en-AU" altLang="zh-CN" sz="2000" dirty="0" err="1">
                <a:ea typeface="+mj-ea"/>
                <a:cs typeface="+mj-cs"/>
              </a:rPr>
              <a:t>WolfSSL</a:t>
            </a:r>
            <a:endParaRPr lang="en-US" altLang="zh-CN" sz="2000" dirty="0">
              <a:ea typeface="+mj-ea"/>
              <a:cs typeface="+mj-cs"/>
            </a:endParaRPr>
          </a:p>
          <a:p>
            <a:pPr marL="1257200" lvl="2" indent="-342900">
              <a:lnSpc>
                <a:spcPct val="200000"/>
              </a:lnSpc>
              <a:spcBef>
                <a:spcPts val="219"/>
              </a:spcBef>
              <a:buFont typeface="Courier New" panose="02070309020205020404" pitchFamily="49" charset="0"/>
              <a:buChar char="o"/>
            </a:pPr>
            <a:r>
              <a:rPr lang="en-AU" altLang="zh-CN" sz="2000" dirty="0">
                <a:solidFill>
                  <a:schemeClr val="accent6"/>
                </a:solidFill>
                <a:ea typeface="+mj-ea"/>
                <a:cs typeface="+mj-cs"/>
              </a:rPr>
              <a:t>Reported 5 confirmed vulnerabilities.</a:t>
            </a:r>
            <a:endParaRPr lang="en-AU" altLang="zh-CN" sz="2000" dirty="0">
              <a:ea typeface="+mj-ea"/>
              <a:cs typeface="+mj-cs"/>
            </a:endParaRPr>
          </a:p>
          <a:p>
            <a:pPr marL="644752" lvl="1" indent="-187652">
              <a:lnSpc>
                <a:spcPct val="200000"/>
              </a:lnSpc>
              <a:spcBef>
                <a:spcPts val="219"/>
              </a:spcBef>
              <a:buFont typeface="Wingdings" panose="05000000000000000000" pitchFamily="2" charset="2"/>
              <a:buChar char="Ø"/>
            </a:pPr>
            <a:r>
              <a:rPr lang="en-AU" sz="2000" dirty="0">
                <a:ea typeface="+mj-ea"/>
                <a:cs typeface="+mj-cs"/>
              </a:rPr>
              <a:t>Presented interesting hacking techniques at famous hacking conferences</a:t>
            </a:r>
          </a:p>
          <a:p>
            <a:pPr marL="644752" lvl="1" indent="-187652">
              <a:lnSpc>
                <a:spcPct val="200000"/>
              </a:lnSpc>
              <a:spcBef>
                <a:spcPts val="219"/>
              </a:spcBef>
              <a:buFont typeface="Wingdings" panose="05000000000000000000" pitchFamily="2" charset="2"/>
              <a:buChar char="Ø"/>
            </a:pPr>
            <a:endParaRPr kumimoji="1" lang="en-US" altLang="zh-CN" sz="2000" dirty="0"/>
          </a:p>
        </p:txBody>
      </p:sp>
    </p:spTree>
    <p:extLst>
      <p:ext uri="{BB962C8B-B14F-4D97-AF65-F5344CB8AC3E}">
        <p14:creationId xmlns:p14="http://schemas.microsoft.com/office/powerpoint/2010/main" val="3234294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31A839-9D28-7749-9BD6-E294D81EED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6782" y="213360"/>
            <a:ext cx="8001000" cy="6443472"/>
          </a:xfrm>
          <a:prstGeom prst="rect">
            <a:avLst/>
          </a:prstGeom>
        </p:spPr>
      </p:pic>
    </p:spTree>
    <p:extLst>
      <p:ext uri="{BB962C8B-B14F-4D97-AF65-F5344CB8AC3E}">
        <p14:creationId xmlns:p14="http://schemas.microsoft.com/office/powerpoint/2010/main" val="3392685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FF3C42F-05D8-49ED-AF35-C5FF84EC069D}"/>
              </a:ext>
            </a:extLst>
          </p:cNvPr>
          <p:cNvSpPr/>
          <p:nvPr/>
        </p:nvSpPr>
        <p:spPr>
          <a:xfrm>
            <a:off x="7535332" y="143387"/>
            <a:ext cx="1117601" cy="6587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rgbClr val="C00000"/>
              </a:solidFill>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BBDBF6F-560A-4748-833A-53044B26F557}"/>
              </a:ext>
            </a:extLst>
          </p:cNvPr>
          <p:cNvSpPr/>
          <p:nvPr/>
        </p:nvSpPr>
        <p:spPr>
          <a:xfrm>
            <a:off x="7165494" y="296718"/>
            <a:ext cx="1487439" cy="48346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solidFill>
                  <a:srgbClr val="C00000"/>
                </a:solidFill>
                <a:latin typeface="Arial" panose="020B0604020202020204" pitchFamily="34" charset="0"/>
                <a:cs typeface="Arial" panose="020B0604020202020204" pitchFamily="34" charset="0"/>
              </a:rPr>
              <a:t>2020</a:t>
            </a:r>
            <a:endParaRPr lang="en-US" sz="2800" b="1" dirty="0">
              <a:solidFill>
                <a:srgbClr val="C00000"/>
              </a:solidFill>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889584BC-CAB3-B344-8199-9E281BD92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04110" y="894499"/>
            <a:ext cx="9175865" cy="5680922"/>
          </a:xfrm>
          <a:prstGeom prst="rect">
            <a:avLst/>
          </a:prstGeom>
        </p:spPr>
      </p:pic>
      <p:pic>
        <p:nvPicPr>
          <p:cNvPr id="6" name="Picture 5">
            <a:extLst>
              <a:ext uri="{FF2B5EF4-FFF2-40B4-BE49-F238E27FC236}">
                <a16:creationId xmlns:a16="http://schemas.microsoft.com/office/drawing/2014/main" id="{E8CA1C5F-6F63-4A48-8AE9-8562C19C46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75313" y="143387"/>
            <a:ext cx="3460019" cy="658727"/>
          </a:xfrm>
          <a:prstGeom prst="rect">
            <a:avLst/>
          </a:prstGeom>
        </p:spPr>
      </p:pic>
    </p:spTree>
    <p:extLst>
      <p:ext uri="{BB962C8B-B14F-4D97-AF65-F5344CB8AC3E}">
        <p14:creationId xmlns:p14="http://schemas.microsoft.com/office/powerpoint/2010/main" val="2275499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2F23F6-D8EA-49A9-85AB-EF05796A911C}"/>
              </a:ext>
            </a:extLst>
          </p:cNvPr>
          <p:cNvPicPr>
            <a:picLocks noChangeAspect="1"/>
          </p:cNvPicPr>
          <p:nvPr/>
        </p:nvPicPr>
        <p:blipFill>
          <a:blip r:embed="rId3"/>
          <a:stretch>
            <a:fillRect/>
          </a:stretch>
        </p:blipFill>
        <p:spPr>
          <a:xfrm>
            <a:off x="781518" y="534664"/>
            <a:ext cx="10628964" cy="5234368"/>
          </a:xfrm>
          <a:prstGeom prst="rect">
            <a:avLst/>
          </a:prstGeom>
        </p:spPr>
      </p:pic>
    </p:spTree>
    <p:extLst>
      <p:ext uri="{BB962C8B-B14F-4D97-AF65-F5344CB8AC3E}">
        <p14:creationId xmlns:p14="http://schemas.microsoft.com/office/powerpoint/2010/main" val="1820059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C49C1-730C-F94A-AE4C-BE3A366F79A1}"/>
              </a:ext>
            </a:extLst>
          </p:cNvPr>
          <p:cNvSpPr>
            <a:spLocks noGrp="1"/>
          </p:cNvSpPr>
          <p:nvPr>
            <p:ph type="title"/>
          </p:nvPr>
        </p:nvSpPr>
        <p:spPr>
          <a:xfrm>
            <a:off x="913795" y="609600"/>
            <a:ext cx="10353762" cy="1257300"/>
          </a:xfrm>
        </p:spPr>
        <p:txBody>
          <a:bodyPr>
            <a:normAutofit/>
          </a:bodyPr>
          <a:lstStyle/>
          <a:p>
            <a:r>
              <a:rPr lang="en-AU" dirty="0">
                <a:solidFill>
                  <a:srgbClr val="FFFFFF"/>
                </a:solidFill>
              </a:rPr>
              <a:t>3 Things</a:t>
            </a:r>
          </a:p>
        </p:txBody>
      </p:sp>
      <p:graphicFrame>
        <p:nvGraphicFramePr>
          <p:cNvPr id="5" name="Content Placeholder 2">
            <a:extLst>
              <a:ext uri="{FF2B5EF4-FFF2-40B4-BE49-F238E27FC236}">
                <a16:creationId xmlns:a16="http://schemas.microsoft.com/office/drawing/2014/main" id="{2B81B40E-1876-4B42-AF04-04C3FC3951A0}"/>
              </a:ext>
            </a:extLst>
          </p:cNvPr>
          <p:cNvGraphicFramePr>
            <a:graphicFrameLocks noGrp="1"/>
          </p:cNvGraphicFramePr>
          <p:nvPr>
            <p:ph idx="1"/>
            <p:extLst>
              <p:ext uri="{D42A27DB-BD31-4B8C-83A1-F6EECF244321}">
                <p14:modId xmlns:p14="http://schemas.microsoft.com/office/powerpoint/2010/main" val="405832811"/>
              </p:ext>
            </p:extLst>
          </p:nvPr>
        </p:nvGraphicFramePr>
        <p:xfrm>
          <a:off x="914400" y="2201735"/>
          <a:ext cx="10353675" cy="31434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0406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Pre-Requisites and Target Audience</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2076450"/>
            <a:ext cx="10353762" cy="4396539"/>
          </a:xfrm>
        </p:spPr>
        <p:txBody>
          <a:bodyPr>
            <a:normAutofit/>
          </a:bodyPr>
          <a:lstStyle/>
          <a:p>
            <a:r>
              <a:rPr lang="en-AU" dirty="0">
                <a:latin typeface="Arial" panose="020B0604020202020204" pitchFamily="34" charset="0"/>
                <a:cs typeface="Arial" panose="020B0604020202020204" pitchFamily="34" charset="0"/>
              </a:rPr>
              <a:t>This is an introductory course and should be suitable for anyone wishing to familiarise themselves with the terms, concepts and practical aspects of Cybersecurity</a:t>
            </a:r>
          </a:p>
          <a:p>
            <a:r>
              <a:rPr lang="en-AU" dirty="0">
                <a:latin typeface="Arial" panose="020B0604020202020204" pitchFamily="34" charset="0"/>
                <a:cs typeface="Arial" panose="020B0604020202020204" pitchFamily="34" charset="0"/>
              </a:rPr>
              <a:t>There are hundreds of students enrolled (almost 300 atm) in the unit from diverse backgrounds</a:t>
            </a:r>
          </a:p>
          <a:p>
            <a:r>
              <a:rPr lang="en-AU" dirty="0">
                <a:latin typeface="Arial" panose="020B0604020202020204" pitchFamily="34" charset="0"/>
                <a:cs typeface="Arial" panose="020B0604020202020204" pitchFamily="34" charset="0"/>
              </a:rPr>
              <a:t>There will be minimal coding (unless you want to do more) in this unit and no assumption of prior knowledge in computer science</a:t>
            </a:r>
          </a:p>
          <a:p>
            <a:r>
              <a:rPr lang="en-AU" dirty="0">
                <a:latin typeface="Arial" panose="020B0604020202020204" pitchFamily="34" charset="0"/>
                <a:cs typeface="Arial" panose="020B0604020202020204" pitchFamily="34" charset="0"/>
              </a:rPr>
              <a:t>The course is mainly based on </a:t>
            </a:r>
            <a:r>
              <a:rPr lang="en-AU" dirty="0" err="1">
                <a:latin typeface="Arial" panose="020B0604020202020204" pitchFamily="34" charset="0"/>
                <a:cs typeface="Arial" panose="020B0604020202020204" pitchFamily="34" charset="0"/>
              </a:rPr>
              <a:t>CyBOK</a:t>
            </a:r>
            <a:r>
              <a:rPr lang="en-AU" dirty="0">
                <a:latin typeface="Arial" panose="020B0604020202020204" pitchFamily="34" charset="0"/>
                <a:cs typeface="Arial" panose="020B0604020202020204" pitchFamily="34" charset="0"/>
              </a:rPr>
              <a:t> - the Cybersecurity Book of Knowledge project (</a:t>
            </a:r>
            <a:r>
              <a:rPr lang="en-AU" dirty="0">
                <a:solidFill>
                  <a:srgbClr val="92D050"/>
                </a:solidFill>
                <a:latin typeface="Arial" panose="020B0604020202020204" pitchFamily="34" charset="0"/>
                <a:cs typeface="Arial" panose="020B0604020202020204" pitchFamily="34" charset="0"/>
              </a:rPr>
              <a:t>https://www.cybok.org/</a:t>
            </a:r>
            <a:r>
              <a:rPr lang="en-AU" dirty="0">
                <a:latin typeface="Arial" panose="020B0604020202020204" pitchFamily="34" charset="0"/>
                <a:cs typeface="Arial" panose="020B0604020202020204" pitchFamily="34" charset="0"/>
              </a:rPr>
              <a:t>)</a:t>
            </a:r>
            <a:endParaRPr lang="en-AU" baseline="30000" dirty="0">
              <a:latin typeface="Arial" panose="020B0604020202020204" pitchFamily="34" charset="0"/>
              <a:cs typeface="Arial" panose="020B0604020202020204" pitchFamily="34" charset="0"/>
            </a:endParaRP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3711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0934" y="281796"/>
            <a:ext cx="10353762" cy="1257300"/>
          </a:xfrm>
        </p:spPr>
        <p:txBody>
          <a:bodyPr/>
          <a:lstStyle/>
          <a:p>
            <a:r>
              <a:rPr lang="en-AU" sz="3200" b="1" dirty="0"/>
              <a:t>To Get Started</a:t>
            </a:r>
          </a:p>
        </p:txBody>
      </p:sp>
      <p:sp>
        <p:nvSpPr>
          <p:cNvPr id="3" name="Content Placeholder 2"/>
          <p:cNvSpPr>
            <a:spLocks noGrp="1"/>
          </p:cNvSpPr>
          <p:nvPr>
            <p:ph idx="1"/>
          </p:nvPr>
        </p:nvSpPr>
        <p:spPr>
          <a:xfrm>
            <a:off x="2109711" y="1586953"/>
            <a:ext cx="5785352" cy="2830087"/>
          </a:xfrm>
        </p:spPr>
        <p:txBody>
          <a:bodyPr numCol="2">
            <a:normAutofit/>
          </a:bodyPr>
          <a:lstStyle/>
          <a:p>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Emergency</a:t>
            </a:r>
          </a:p>
          <a:p>
            <a:r>
              <a:rPr lang="en-AU" dirty="0">
                <a:effectLst/>
                <a:latin typeface="Arial" panose="020B0604020202020204" pitchFamily="34" charset="0"/>
                <a:cs typeface="Arial" panose="020B0604020202020204" pitchFamily="34" charset="0"/>
              </a:rPr>
              <a:t>Assessment</a:t>
            </a:r>
          </a:p>
          <a:p>
            <a:r>
              <a:rPr lang="en-AU" dirty="0">
                <a:effectLst/>
                <a:latin typeface="Arial" panose="020B0604020202020204" pitchFamily="34" charset="0"/>
                <a:cs typeface="Arial" panose="020B0604020202020204" pitchFamily="34" charset="0"/>
              </a:rPr>
              <a:t>Topics</a:t>
            </a:r>
          </a:p>
          <a:p>
            <a:r>
              <a:rPr lang="en-AU" dirty="0">
                <a:effectLst/>
                <a:latin typeface="Arial" panose="020B0604020202020204" pitchFamily="34" charset="0"/>
                <a:cs typeface="Arial" panose="020B0604020202020204" pitchFamily="34" charset="0"/>
              </a:rPr>
              <a:t>Ethics</a:t>
            </a:r>
          </a:p>
          <a:p>
            <a:endParaRPr lang="en-AU" dirty="0">
              <a:effectLst/>
              <a:latin typeface="Arial" panose="020B0604020202020204" pitchFamily="34" charset="0"/>
              <a:cs typeface="Arial" panose="020B0604020202020204" pitchFamily="34" charset="0"/>
            </a:endParaRPr>
          </a:p>
          <a:p>
            <a:endParaRPr lang="en-AU" dirty="0">
              <a:effectLst/>
              <a:latin typeface="Arial" panose="020B0604020202020204" pitchFamily="34" charset="0"/>
              <a:cs typeface="Arial" panose="020B0604020202020204" pitchFamily="34" charset="0"/>
            </a:endParaRPr>
          </a:p>
          <a:p>
            <a:endParaRPr lang="en-AU" dirty="0"/>
          </a:p>
        </p:txBody>
      </p:sp>
      <p:sp>
        <p:nvSpPr>
          <p:cNvPr id="4" name="Content Placeholder 2">
            <a:extLst>
              <a:ext uri="{FF2B5EF4-FFF2-40B4-BE49-F238E27FC236}">
                <a16:creationId xmlns:a16="http://schemas.microsoft.com/office/drawing/2014/main" id="{973D2E26-59A3-4BD9-8FC9-629757236E38}"/>
              </a:ext>
            </a:extLst>
          </p:cNvPr>
          <p:cNvSpPr txBox="1">
            <a:spLocks/>
          </p:cNvSpPr>
          <p:nvPr/>
        </p:nvSpPr>
        <p:spPr>
          <a:xfrm>
            <a:off x="5731727" y="1545612"/>
            <a:ext cx="6460274" cy="3714749"/>
          </a:xfrm>
          <a:prstGeom prst="rect">
            <a:avLst/>
          </a:prstGeom>
          <a:effectLst>
            <a:outerShdw blurRad="25400" dir="17880000">
              <a:srgbClr val="000000">
                <a:alpha val="46000"/>
              </a:srgbClr>
            </a:outerShdw>
          </a:effectLst>
        </p:spPr>
        <p:txBody>
          <a:bodyPr vert="horz" lIns="91440" tIns="45720" rIns="91440" bIns="45720" numCol="2"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36900" indent="0">
              <a:buNone/>
            </a:pPr>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Online resources</a:t>
            </a:r>
          </a:p>
          <a:p>
            <a:r>
              <a:rPr lang="en-AU" dirty="0">
                <a:effectLst/>
                <a:latin typeface="Arial" panose="020B0604020202020204" pitchFamily="34" charset="0"/>
                <a:cs typeface="Arial" panose="020B0604020202020204" pitchFamily="34" charset="0"/>
              </a:rPr>
              <a:t>FAQs</a:t>
            </a:r>
          </a:p>
          <a:p>
            <a:r>
              <a:rPr lang="en-US" dirty="0">
                <a:effectLst/>
                <a:latin typeface="Arial" panose="020B0604020202020204" pitchFamily="34" charset="0"/>
                <a:cs typeface="Arial" panose="020B0604020202020204" pitchFamily="34" charset="0"/>
              </a:rPr>
              <a:t>What is Cybersecurity?</a:t>
            </a:r>
          </a:p>
          <a:p>
            <a:r>
              <a:rPr lang="en-US" dirty="0">
                <a:effectLst/>
                <a:latin typeface="Arial" panose="020B0604020202020204" pitchFamily="34" charset="0"/>
                <a:cs typeface="Arial" panose="020B0604020202020204" pitchFamily="34" charset="0"/>
              </a:rPr>
              <a:t>Learning outcomes</a:t>
            </a:r>
          </a:p>
          <a:p>
            <a:endParaRPr lang="en-AU" dirty="0"/>
          </a:p>
        </p:txBody>
      </p:sp>
    </p:spTree>
    <p:extLst>
      <p:ext uri="{BB962C8B-B14F-4D97-AF65-F5344CB8AC3E}">
        <p14:creationId xmlns:p14="http://schemas.microsoft.com/office/powerpoint/2010/main" val="17860050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42901"/>
            <a:ext cx="10353762" cy="1257300"/>
          </a:xfrm>
        </p:spPr>
        <p:txBody>
          <a:bodyPr/>
          <a:lstStyle/>
          <a:p>
            <a:r>
              <a:rPr lang="en-AU" dirty="0"/>
              <a:t>Emergency</a:t>
            </a:r>
          </a:p>
        </p:txBody>
      </p:sp>
      <p:sp>
        <p:nvSpPr>
          <p:cNvPr id="3" name="Content Placeholder 2"/>
          <p:cNvSpPr>
            <a:spLocks noGrp="1"/>
          </p:cNvSpPr>
          <p:nvPr>
            <p:ph idx="1"/>
          </p:nvPr>
        </p:nvSpPr>
        <p:spPr>
          <a:xfrm>
            <a:off x="336243" y="1600201"/>
            <a:ext cx="5759757" cy="4525963"/>
          </a:xfrm>
        </p:spPr>
        <p:txBody>
          <a:bodyPr>
            <a:normAutofit/>
          </a:bodyPr>
          <a:lstStyle/>
          <a:p>
            <a:r>
              <a:rPr lang="en-AU" dirty="0">
                <a:latin typeface="Arial" panose="020B0604020202020204" pitchFamily="34" charset="0"/>
                <a:cs typeface="Arial" panose="020B0604020202020204" pitchFamily="34" charset="0"/>
              </a:rPr>
              <a:t>General emergency: call campus security at 6488 2222</a:t>
            </a:r>
          </a:p>
          <a:p>
            <a:r>
              <a:rPr lang="en-AU" dirty="0">
                <a:latin typeface="Arial" panose="020B0604020202020204" pitchFamily="34" charset="0"/>
                <a:cs typeface="Arial" panose="020B0604020202020204" pitchFamily="34" charset="0"/>
              </a:rPr>
              <a:t>In super emergency: call emergency at 000</a:t>
            </a:r>
          </a:p>
        </p:txBody>
      </p:sp>
      <p:sp>
        <p:nvSpPr>
          <p:cNvPr id="4" name="Content Placeholder 2">
            <a:extLst>
              <a:ext uri="{FF2B5EF4-FFF2-40B4-BE49-F238E27FC236}">
                <a16:creationId xmlns:a16="http://schemas.microsoft.com/office/drawing/2014/main" id="{D6D401DD-ABB4-4DA0-ACA9-85C7AEFAF6AB}"/>
              </a:ext>
            </a:extLst>
          </p:cNvPr>
          <p:cNvSpPr txBox="1">
            <a:spLocks/>
          </p:cNvSpPr>
          <p:nvPr/>
        </p:nvSpPr>
        <p:spPr>
          <a:xfrm>
            <a:off x="6096000" y="1624269"/>
            <a:ext cx="5539179" cy="4525963"/>
          </a:xfrm>
          <a:prstGeom prst="rect">
            <a:avLst/>
          </a:prstGeom>
          <a:effectLst>
            <a:outerShdw blurRad="25400" dir="17880000">
              <a:srgbClr val="000000">
                <a:alpha val="46000"/>
              </a:srgbClr>
            </a:outerShdw>
          </a:effectLst>
        </p:spPr>
        <p:txBody>
          <a:bodyPr vert="horz" lIns="91440" tIns="45720" rIns="91440" bIns="45720" rtlCol="0" anchor="t">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r>
              <a:rPr lang="en-AU" dirty="0">
                <a:latin typeface="Arial" panose="020B0604020202020204" pitchFamily="34" charset="0"/>
                <a:cs typeface="Arial" panose="020B0604020202020204" pitchFamily="34" charset="0"/>
              </a:rPr>
              <a:t>For</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more</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student</a:t>
            </a:r>
            <a:r>
              <a:rPr lang="zh-CN" altLang="en-US" dirty="0">
                <a:latin typeface="Arial" panose="020B0604020202020204" pitchFamily="34" charset="0"/>
                <a:cs typeface="Arial" panose="020B0604020202020204" pitchFamily="34" charset="0"/>
              </a:rPr>
              <a:t> </a:t>
            </a:r>
            <a:r>
              <a:rPr lang="en-AU" altLang="zh-CN" dirty="0">
                <a:latin typeface="Arial" panose="020B0604020202020204" pitchFamily="34" charset="0"/>
                <a:cs typeface="Arial" panose="020B0604020202020204" pitchFamily="34" charset="0"/>
              </a:rPr>
              <a:t>services:</a:t>
            </a:r>
          </a:p>
          <a:p>
            <a:pPr lvl="1"/>
            <a:r>
              <a:rPr lang="en-AU" dirty="0">
                <a:latin typeface="Arial" panose="020B0604020202020204" pitchFamily="34" charset="0"/>
                <a:cs typeface="Arial" panose="020B0604020202020204" pitchFamily="34" charset="0"/>
                <a:hlinkClick r:id="rId3"/>
              </a:rPr>
              <a:t>https://www.uwa.edu.au/students/Support-services</a:t>
            </a:r>
            <a:endParaRPr lang="en-AU" dirty="0">
              <a:latin typeface="Arial" panose="020B0604020202020204" pitchFamily="34" charset="0"/>
              <a:cs typeface="Arial" panose="020B0604020202020204" pitchFamily="34" charset="0"/>
            </a:endParaRPr>
          </a:p>
          <a:p>
            <a:pPr lvl="1"/>
            <a:r>
              <a:rPr lang="en-AU" dirty="0" err="1">
                <a:latin typeface="Arial" panose="020B0604020202020204" pitchFamily="34" charset="0"/>
                <a:cs typeface="Arial" panose="020B0604020202020204" pitchFamily="34" charset="0"/>
              </a:rPr>
              <a:t>UniAccess</a:t>
            </a:r>
            <a:r>
              <a:rPr lang="en-AU" dirty="0">
                <a:latin typeface="Arial" panose="020B0604020202020204" pitchFamily="34" charset="0"/>
                <a:cs typeface="Arial" panose="020B0604020202020204" pitchFamily="34" charset="0"/>
              </a:rPr>
              <a:t>: </a:t>
            </a:r>
            <a:r>
              <a:rPr lang="en-AU" dirty="0">
                <a:latin typeface="Arial" panose="020B0604020202020204" pitchFamily="34" charset="0"/>
                <a:cs typeface="Arial" panose="020B0604020202020204" pitchFamily="34" charset="0"/>
                <a:hlinkClick r:id="rId4"/>
              </a:rPr>
              <a:t>https://www.uwa.edu.au/students/Support-services/Disability-and-accessibility</a:t>
            </a:r>
            <a:r>
              <a:rPr lang="en-AU" dirty="0">
                <a:latin typeface="Arial" panose="020B0604020202020204" pitchFamily="34" charset="0"/>
                <a:cs typeface="Arial" panose="020B0604020202020204" pitchFamily="34" charset="0"/>
              </a:rPr>
              <a:t> (send your </a:t>
            </a:r>
            <a:r>
              <a:rPr lang="en-AU" dirty="0" err="1">
                <a:latin typeface="Arial" panose="020B0604020202020204" pitchFamily="34" charset="0"/>
                <a:cs typeface="Arial" panose="020B0604020202020204" pitchFamily="34" charset="0"/>
              </a:rPr>
              <a:t>Uniaccess</a:t>
            </a:r>
            <a:r>
              <a:rPr lang="en-AU" dirty="0">
                <a:latin typeface="Arial" panose="020B0604020202020204" pitchFamily="34" charset="0"/>
                <a:cs typeface="Arial" panose="020B0604020202020204" pitchFamily="34" charset="0"/>
              </a:rPr>
              <a:t> letters </a:t>
            </a:r>
            <a:r>
              <a:rPr lang="en-AU" sz="2000" dirty="0">
                <a:effectLst/>
                <a:latin typeface="Arial" panose="020B0604020202020204" pitchFamily="34" charset="0"/>
                <a:cs typeface="Arial" panose="020B0604020202020204" pitchFamily="34" charset="0"/>
                <a:sym typeface="Wingdings" panose="05000000000000000000" pitchFamily="2" charset="2"/>
              </a:rPr>
              <a:t>asap</a:t>
            </a:r>
            <a:r>
              <a:rPr lang="en-AU" dirty="0">
                <a:latin typeface="Arial" panose="020B0604020202020204" pitchFamily="34" charset="0"/>
                <a:cs typeface="Arial" panose="020B0604020202020204" pitchFamily="34" charset="0"/>
              </a:rPr>
              <a:t>)</a:t>
            </a:r>
          </a:p>
          <a:p>
            <a:pPr lvl="1"/>
            <a:endParaRPr lang="en-AU" dirty="0">
              <a:latin typeface="Arial" panose="020B0604020202020204" pitchFamily="34" charset="0"/>
              <a:cs typeface="Arial" panose="020B0604020202020204" pitchFamily="34" charset="0"/>
            </a:endParaRPr>
          </a:p>
          <a:p>
            <a:pPr lvl="1"/>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1627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913795" y="0"/>
            <a:ext cx="10353762" cy="1257300"/>
          </a:xfrm>
        </p:spPr>
        <p:txBody>
          <a:bodyPr/>
          <a:lstStyle/>
          <a:p>
            <a:r>
              <a:rPr lang="en-AU" dirty="0"/>
              <a:t>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a:xfrm>
            <a:off x="680331" y="1084228"/>
            <a:ext cx="10353762" cy="3714749"/>
          </a:xfrm>
        </p:spPr>
        <p:txBody>
          <a:bodyPr>
            <a:normAutofit/>
          </a:bodyPr>
          <a:lstStyle/>
          <a:p>
            <a:r>
              <a:rPr lang="en-AU" dirty="0">
                <a:latin typeface="Arial" panose="020B0604020202020204" pitchFamily="34" charset="0"/>
                <a:cs typeface="Arial" panose="020B0604020202020204" pitchFamily="34" charset="0"/>
              </a:rPr>
              <a:t>Lectures</a:t>
            </a:r>
          </a:p>
          <a:p>
            <a:r>
              <a:rPr lang="en-AU" dirty="0">
                <a:latin typeface="Arial" panose="020B0604020202020204" pitchFamily="34" charset="0"/>
                <a:cs typeface="Arial" panose="020B0604020202020204" pitchFamily="34" charset="0"/>
              </a:rPr>
              <a:t>Labs</a:t>
            </a:r>
          </a:p>
          <a:p>
            <a:r>
              <a:rPr lang="en-AU" dirty="0">
                <a:latin typeface="Arial" panose="020B0604020202020204" pitchFamily="34" charset="0"/>
                <a:cs typeface="Arial" panose="020B0604020202020204" pitchFamily="34" charset="0"/>
              </a:rPr>
              <a:t>Project</a:t>
            </a:r>
          </a:p>
          <a:p>
            <a:r>
              <a:rPr lang="en-AU" dirty="0">
                <a:latin typeface="Arial" panose="020B0604020202020204" pitchFamily="34" charset="0"/>
                <a:cs typeface="Arial" panose="020B0604020202020204" pitchFamily="34" charset="0"/>
              </a:rPr>
              <a:t>Final Exam</a:t>
            </a:r>
          </a:p>
        </p:txBody>
      </p:sp>
    </p:spTree>
    <p:extLst>
      <p:ext uri="{BB962C8B-B14F-4D97-AF65-F5344CB8AC3E}">
        <p14:creationId xmlns:p14="http://schemas.microsoft.com/office/powerpoint/2010/main" val="3788011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913795" y="0"/>
            <a:ext cx="10353762" cy="1257300"/>
          </a:xfrm>
        </p:spPr>
        <p:txBody>
          <a:bodyPr/>
          <a:lstStyle/>
          <a:p>
            <a:r>
              <a:rPr lang="en-AU" dirty="0"/>
              <a:t>Lectures</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913794" y="1257300"/>
            <a:ext cx="10801955" cy="4533899"/>
          </a:xfrm>
        </p:spPr>
        <p:txBody>
          <a:bodyPr/>
          <a:lstStyle/>
          <a:p>
            <a:r>
              <a:rPr lang="en-AU" dirty="0">
                <a:solidFill>
                  <a:schemeClr val="tx1"/>
                </a:solidFill>
                <a:latin typeface="Arial" panose="020B0604020202020204" pitchFamily="34" charset="0"/>
                <a:cs typeface="Arial" panose="020B0604020202020204" pitchFamily="34" charset="0"/>
              </a:rPr>
              <a:t>Lectures are presented in a flipped style: watch pre-recorded preparation lecture videos of one topic before coming to live lecture.</a:t>
            </a:r>
          </a:p>
          <a:p>
            <a:r>
              <a:rPr lang="en-AU" dirty="0">
                <a:solidFill>
                  <a:schemeClr val="tx1"/>
                </a:solidFill>
                <a:latin typeface="Arial" panose="020B0604020202020204" pitchFamily="34" charset="0"/>
                <a:cs typeface="Arial" panose="020B0604020202020204" pitchFamily="34" charset="0"/>
              </a:rPr>
              <a:t>For preparation lecture videos, they are accessible through the </a:t>
            </a:r>
            <a:r>
              <a:rPr lang="en-AU" dirty="0" err="1">
                <a:solidFill>
                  <a:schemeClr val="tx1"/>
                </a:solidFill>
                <a:latin typeface="Arial" panose="020B0604020202020204" pitchFamily="34" charset="0"/>
                <a:cs typeface="Arial" panose="020B0604020202020204" pitchFamily="34" charset="0"/>
              </a:rPr>
              <a:t>gitbook</a:t>
            </a:r>
            <a:r>
              <a:rPr lang="en-AU" dirty="0">
                <a:solidFill>
                  <a:schemeClr val="tx1"/>
                </a:solidFill>
                <a:latin typeface="Arial" panose="020B0604020202020204" pitchFamily="34" charset="0"/>
                <a:cs typeface="Arial" panose="020B0604020202020204" pitchFamily="34" charset="0"/>
              </a:rPr>
              <a:t>. </a:t>
            </a:r>
          </a:p>
          <a:p>
            <a:r>
              <a:rPr lang="en-AU" dirty="0">
                <a:solidFill>
                  <a:schemeClr val="tx1"/>
                </a:solidFill>
                <a:latin typeface="Arial" panose="020B0604020202020204" pitchFamily="34" charset="0"/>
                <a:cs typeface="Arial" panose="020B0604020202020204" pitchFamily="34" charset="0"/>
              </a:rPr>
              <a:t>For live lectures, they will be recorded and uploaded into LMS. </a:t>
            </a:r>
          </a:p>
          <a:p>
            <a:pPr lvl="1"/>
            <a:r>
              <a:rPr lang="en-AU" dirty="0">
                <a:solidFill>
                  <a:schemeClr val="tx1"/>
                </a:solidFill>
                <a:latin typeface="Arial" panose="020B0604020202020204" pitchFamily="34" charset="0"/>
                <a:cs typeface="Arial" panose="020B0604020202020204" pitchFamily="34" charset="0"/>
              </a:rPr>
              <a:t>We focus on interactive exercises and discussions with final exam-style questions included.</a:t>
            </a:r>
          </a:p>
          <a:p>
            <a:pPr lvl="1"/>
            <a:r>
              <a:rPr lang="en-AU" dirty="0">
                <a:solidFill>
                  <a:schemeClr val="tx1"/>
                </a:solidFill>
                <a:latin typeface="Arial" panose="020B0604020202020204" pitchFamily="34" charset="0"/>
                <a:cs typeface="Arial" panose="020B0604020202020204" pitchFamily="34" charset="0"/>
              </a:rPr>
              <a:t>Live lectures last around 60-90 mins.</a:t>
            </a:r>
          </a:p>
        </p:txBody>
      </p:sp>
    </p:spTree>
    <p:extLst>
      <p:ext uri="{BB962C8B-B14F-4D97-AF65-F5344CB8AC3E}">
        <p14:creationId xmlns:p14="http://schemas.microsoft.com/office/powerpoint/2010/main" val="11172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1214507" y="5789527"/>
            <a:ext cx="9911395" cy="858416"/>
          </a:xfrm>
        </p:spPr>
        <p:txBody>
          <a:bodyPr>
            <a:normAutofit/>
          </a:bodyPr>
          <a:lstStyle/>
          <a:p>
            <a:pPr algn="l"/>
            <a:r>
              <a:rPr lang="en-AU" sz="2400" dirty="0">
                <a:solidFill>
                  <a:srgbClr val="92D050"/>
                </a:solidFill>
                <a:latin typeface="Arial" panose="020B0604020202020204" pitchFamily="34" charset="0"/>
                <a:cs typeface="Arial" panose="020B0604020202020204" pitchFamily="34" charset="0"/>
              </a:rPr>
              <a:t>https://uwacyber.gitbook.io/cits1003/lectures/lecture-materials</a:t>
            </a:r>
          </a:p>
        </p:txBody>
      </p:sp>
      <p:pic>
        <p:nvPicPr>
          <p:cNvPr id="5" name="Picture 4">
            <a:extLst>
              <a:ext uri="{FF2B5EF4-FFF2-40B4-BE49-F238E27FC236}">
                <a16:creationId xmlns:a16="http://schemas.microsoft.com/office/drawing/2014/main" id="{60231080-1BC8-4695-9AD4-9D5CF37AD1A3}"/>
              </a:ext>
            </a:extLst>
          </p:cNvPr>
          <p:cNvPicPr>
            <a:picLocks noChangeAspect="1"/>
          </p:cNvPicPr>
          <p:nvPr/>
        </p:nvPicPr>
        <p:blipFill>
          <a:blip r:embed="rId3"/>
          <a:stretch>
            <a:fillRect/>
          </a:stretch>
        </p:blipFill>
        <p:spPr>
          <a:xfrm>
            <a:off x="1066098" y="397625"/>
            <a:ext cx="10059804" cy="5391902"/>
          </a:xfrm>
          <a:prstGeom prst="rect">
            <a:avLst/>
          </a:prstGeom>
        </p:spPr>
      </p:pic>
    </p:spTree>
    <p:extLst>
      <p:ext uri="{BB962C8B-B14F-4D97-AF65-F5344CB8AC3E}">
        <p14:creationId xmlns:p14="http://schemas.microsoft.com/office/powerpoint/2010/main" val="256577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10CF5-26BE-4B65-9239-23B6ACA96D5E}"/>
              </a:ext>
            </a:extLst>
          </p:cNvPr>
          <p:cNvSpPr>
            <a:spLocks noGrp="1"/>
          </p:cNvSpPr>
          <p:nvPr>
            <p:ph type="title"/>
          </p:nvPr>
        </p:nvSpPr>
        <p:spPr>
          <a:xfrm>
            <a:off x="913795" y="0"/>
            <a:ext cx="10353762" cy="1257300"/>
          </a:xfrm>
        </p:spPr>
        <p:txBody>
          <a:bodyPr/>
          <a:lstStyle/>
          <a:p>
            <a:r>
              <a:rPr lang="en-AU" dirty="0"/>
              <a:t>Labs </a:t>
            </a:r>
            <a:r>
              <a:rPr lang="en-AU" dirty="0">
                <a:solidFill>
                  <a:srgbClr val="FF0000"/>
                </a:solidFill>
              </a:rPr>
              <a:t>start in Week 1</a:t>
            </a:r>
          </a:p>
        </p:txBody>
      </p:sp>
      <p:sp>
        <p:nvSpPr>
          <p:cNvPr id="3" name="Content Placeholder 2">
            <a:extLst>
              <a:ext uri="{FF2B5EF4-FFF2-40B4-BE49-F238E27FC236}">
                <a16:creationId xmlns:a16="http://schemas.microsoft.com/office/drawing/2014/main" id="{E7B058CF-1E66-48A8-A8EB-3BE7B8CF9E6A}"/>
              </a:ext>
            </a:extLst>
          </p:cNvPr>
          <p:cNvSpPr>
            <a:spLocks noGrp="1"/>
          </p:cNvSpPr>
          <p:nvPr>
            <p:ph idx="1"/>
          </p:nvPr>
        </p:nvSpPr>
        <p:spPr>
          <a:xfrm>
            <a:off x="913795" y="1257300"/>
            <a:ext cx="10353762" cy="4533899"/>
          </a:xfrm>
        </p:spPr>
        <p:txBody>
          <a:bodyPr/>
          <a:lstStyle/>
          <a:p>
            <a:r>
              <a:rPr lang="en-AU" dirty="0">
                <a:solidFill>
                  <a:schemeClr val="tx1"/>
                </a:solidFill>
                <a:latin typeface="Arial" panose="020B0604020202020204" pitchFamily="34" charset="0"/>
                <a:cs typeface="Arial" panose="020B0604020202020204" pitchFamily="34" charset="0"/>
              </a:rPr>
              <a:t>Lab materials</a:t>
            </a:r>
          </a:p>
          <a:p>
            <a:r>
              <a:rPr lang="en-AU" dirty="0">
                <a:solidFill>
                  <a:schemeClr val="tx1"/>
                </a:solidFill>
                <a:latin typeface="Arial" panose="020B0604020202020204" pitchFamily="34" charset="0"/>
                <a:cs typeface="Arial" panose="020B0604020202020204" pitchFamily="34" charset="0"/>
              </a:rPr>
              <a:t>Lab location</a:t>
            </a:r>
          </a:p>
          <a:p>
            <a:r>
              <a:rPr lang="en-AU" dirty="0">
                <a:solidFill>
                  <a:schemeClr val="tx1"/>
                </a:solidFill>
                <a:latin typeface="Arial" panose="020B0604020202020204" pitchFamily="34" charset="0"/>
                <a:cs typeface="Arial" panose="020B0604020202020204" pitchFamily="34" charset="0"/>
              </a:rPr>
              <a:t>Lab computer</a:t>
            </a:r>
          </a:p>
          <a:p>
            <a:r>
              <a:rPr lang="en-AU" dirty="0">
                <a:solidFill>
                  <a:schemeClr val="tx1"/>
                </a:solidFill>
                <a:latin typeface="Arial" panose="020B0604020202020204" pitchFamily="34" charset="0"/>
                <a:cs typeface="Arial" panose="020B0604020202020204" pitchFamily="34" charset="0"/>
              </a:rPr>
              <a:t>Lab assessment </a:t>
            </a:r>
          </a:p>
          <a:p>
            <a:r>
              <a:rPr lang="en-AU" dirty="0">
                <a:solidFill>
                  <a:schemeClr val="tx1"/>
                </a:solidFill>
                <a:latin typeface="Arial" panose="020B0604020202020204" pitchFamily="34" charset="0"/>
                <a:cs typeface="Arial" panose="020B0604020202020204" pitchFamily="34" charset="0"/>
              </a:rPr>
              <a:t>Lab help </a:t>
            </a:r>
          </a:p>
          <a:p>
            <a:r>
              <a:rPr lang="en-AU" dirty="0">
                <a:solidFill>
                  <a:schemeClr val="tx1"/>
                </a:solidFill>
                <a:latin typeface="Arial" panose="020B0604020202020204" pitchFamily="34" charset="0"/>
                <a:cs typeface="Arial" panose="020B0604020202020204" pitchFamily="34" charset="0"/>
              </a:rPr>
              <a:t>Lab due dates</a:t>
            </a:r>
          </a:p>
          <a:p>
            <a:r>
              <a:rPr lang="en-AU" dirty="0">
                <a:solidFill>
                  <a:schemeClr val="tx1"/>
                </a:solidFill>
                <a:latin typeface="Arial" panose="020B0604020202020204" pitchFamily="34" charset="0"/>
                <a:cs typeface="Arial" panose="020B0604020202020204" pitchFamily="34" charset="0"/>
              </a:rPr>
              <a:t>Lab setup</a:t>
            </a:r>
          </a:p>
        </p:txBody>
      </p:sp>
    </p:spTree>
    <p:extLst>
      <p:ext uri="{BB962C8B-B14F-4D97-AF65-F5344CB8AC3E}">
        <p14:creationId xmlns:p14="http://schemas.microsoft.com/office/powerpoint/2010/main" val="2447042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7BE73EB-E544-436B-BC4C-1A8693FA38FD}"/>
              </a:ext>
            </a:extLst>
          </p:cNvPr>
          <p:cNvSpPr>
            <a:spLocks noGrp="1"/>
          </p:cNvSpPr>
          <p:nvPr>
            <p:ph type="title"/>
          </p:nvPr>
        </p:nvSpPr>
        <p:spPr>
          <a:xfrm>
            <a:off x="736359" y="5673014"/>
            <a:ext cx="10145540" cy="858416"/>
          </a:xfrm>
        </p:spPr>
        <p:txBody>
          <a:bodyPr>
            <a:normAutofit/>
          </a:bodyPr>
          <a:lstStyle/>
          <a:p>
            <a:pPr algn="l"/>
            <a:r>
              <a:rPr lang="en-AU" sz="2200" dirty="0">
                <a:solidFill>
                  <a:srgbClr val="92D050"/>
                </a:solidFill>
                <a:latin typeface="Arial" panose="020B0604020202020204" pitchFamily="34" charset="0"/>
                <a:cs typeface="Arial" panose="020B0604020202020204" pitchFamily="34" charset="0"/>
              </a:rPr>
              <a:t>https://uwacyber.gitbook.io/cits1003/labs/introduction-to-labs</a:t>
            </a:r>
          </a:p>
        </p:txBody>
      </p:sp>
      <p:pic>
        <p:nvPicPr>
          <p:cNvPr id="4" name="Picture 3">
            <a:extLst>
              <a:ext uri="{FF2B5EF4-FFF2-40B4-BE49-F238E27FC236}">
                <a16:creationId xmlns:a16="http://schemas.microsoft.com/office/drawing/2014/main" id="{8D7A4447-9093-4DBA-8934-AC16AB3FC4D8}"/>
              </a:ext>
            </a:extLst>
          </p:cNvPr>
          <p:cNvPicPr>
            <a:picLocks noChangeAspect="1"/>
          </p:cNvPicPr>
          <p:nvPr/>
        </p:nvPicPr>
        <p:blipFill>
          <a:blip r:embed="rId3"/>
          <a:stretch>
            <a:fillRect/>
          </a:stretch>
        </p:blipFill>
        <p:spPr>
          <a:xfrm>
            <a:off x="736358" y="385901"/>
            <a:ext cx="10145541" cy="5287113"/>
          </a:xfrm>
          <a:prstGeom prst="rect">
            <a:avLst/>
          </a:prstGeom>
        </p:spPr>
      </p:pic>
    </p:spTree>
    <p:extLst>
      <p:ext uri="{BB962C8B-B14F-4D97-AF65-F5344CB8AC3E}">
        <p14:creationId xmlns:p14="http://schemas.microsoft.com/office/powerpoint/2010/main" val="39217633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396448"/>
            <a:ext cx="10353762" cy="1044149"/>
          </a:xfrm>
        </p:spPr>
        <p:txBody>
          <a:bodyPr/>
          <a:lstStyle/>
          <a:p>
            <a:r>
              <a:rPr lang="en-AU" dirty="0"/>
              <a:t>Lab Location</a:t>
            </a:r>
          </a:p>
        </p:txBody>
      </p:sp>
      <p:sp>
        <p:nvSpPr>
          <p:cNvPr id="3" name="Content Placeholder 2"/>
          <p:cNvSpPr>
            <a:spLocks noGrp="1"/>
          </p:cNvSpPr>
          <p:nvPr>
            <p:ph idx="1"/>
          </p:nvPr>
        </p:nvSpPr>
        <p:spPr>
          <a:xfrm>
            <a:off x="913795" y="1491916"/>
            <a:ext cx="10353762" cy="2412427"/>
          </a:xfrm>
        </p:spPr>
        <p:txBody>
          <a:bodyPr>
            <a:normAutofit/>
          </a:bodyPr>
          <a:lstStyle/>
          <a:p>
            <a:r>
              <a:rPr lang="en-AU" dirty="0">
                <a:latin typeface="Arial" panose="020B0604020202020204" pitchFamily="34" charset="0"/>
                <a:cs typeface="Arial" panose="020B0604020202020204" pitchFamily="34" charset="0"/>
              </a:rPr>
              <a:t>Labs </a:t>
            </a:r>
          </a:p>
          <a:p>
            <a:pPr lvl="1"/>
            <a:r>
              <a:rPr lang="en-AU" dirty="0">
                <a:latin typeface="Arial" panose="020B0604020202020204" pitchFamily="34" charset="0"/>
                <a:cs typeface="Arial" panose="020B0604020202020204" pitchFamily="34" charset="0"/>
              </a:rPr>
              <a:t>Check your timetable for your lab allocation (</a:t>
            </a:r>
            <a:r>
              <a:rPr lang="en-AU" dirty="0">
                <a:solidFill>
                  <a:schemeClr val="accent6"/>
                </a:solidFill>
                <a:latin typeface="Arial" panose="020B0604020202020204" pitchFamily="34" charset="0"/>
                <a:cs typeface="Arial" panose="020B0604020202020204" pitchFamily="34" charset="0"/>
              </a:rPr>
              <a:t>https://studentvip.com.au/uwa/main/maps</a:t>
            </a:r>
            <a:r>
              <a:rPr lang="en-AU" dirty="0">
                <a:latin typeface="Arial" panose="020B0604020202020204" pitchFamily="34" charset="0"/>
                <a:cs typeface="Arial" panose="020B0604020202020204" pitchFamily="34" charset="0"/>
              </a:rPr>
              <a:t>)</a:t>
            </a:r>
          </a:p>
          <a:p>
            <a:pPr lvl="1"/>
            <a:r>
              <a:rPr lang="en-AU" dirty="0">
                <a:latin typeface="Arial" panose="020B0604020202020204" pitchFamily="34" charset="0"/>
                <a:cs typeface="Arial" panose="020B0604020202020204" pitchFamily="34" charset="0"/>
              </a:rPr>
              <a:t>You can go to another scheduled lab IF there is a space (normally there is)</a:t>
            </a:r>
          </a:p>
        </p:txBody>
      </p:sp>
    </p:spTree>
    <p:extLst>
      <p:ext uri="{BB962C8B-B14F-4D97-AF65-F5344CB8AC3E}">
        <p14:creationId xmlns:p14="http://schemas.microsoft.com/office/powerpoint/2010/main" val="27007172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1A259-E50D-4EA2-90A3-5321F575131B}"/>
              </a:ext>
            </a:extLst>
          </p:cNvPr>
          <p:cNvSpPr>
            <a:spLocks noGrp="1"/>
          </p:cNvSpPr>
          <p:nvPr>
            <p:ph type="title"/>
          </p:nvPr>
        </p:nvSpPr>
        <p:spPr>
          <a:xfrm>
            <a:off x="919119" y="157585"/>
            <a:ext cx="10353762" cy="684243"/>
          </a:xfrm>
        </p:spPr>
        <p:txBody>
          <a:bodyPr/>
          <a:lstStyle/>
          <a:p>
            <a:r>
              <a:rPr lang="en-AU" dirty="0"/>
              <a:t>MS Teams</a:t>
            </a:r>
          </a:p>
        </p:txBody>
      </p:sp>
      <p:pic>
        <p:nvPicPr>
          <p:cNvPr id="5" name="Picture 4">
            <a:extLst>
              <a:ext uri="{FF2B5EF4-FFF2-40B4-BE49-F238E27FC236}">
                <a16:creationId xmlns:a16="http://schemas.microsoft.com/office/drawing/2014/main" id="{123EE7ED-31B4-4A12-9C07-A2DD43C86076}"/>
              </a:ext>
            </a:extLst>
          </p:cNvPr>
          <p:cNvPicPr>
            <a:picLocks noChangeAspect="1"/>
          </p:cNvPicPr>
          <p:nvPr/>
        </p:nvPicPr>
        <p:blipFill>
          <a:blip r:embed="rId3"/>
          <a:stretch>
            <a:fillRect/>
          </a:stretch>
        </p:blipFill>
        <p:spPr>
          <a:xfrm>
            <a:off x="1421143" y="1003090"/>
            <a:ext cx="9600726" cy="5290490"/>
          </a:xfrm>
          <a:prstGeom prst="rect">
            <a:avLst/>
          </a:prstGeom>
        </p:spPr>
      </p:pic>
    </p:spTree>
    <p:extLst>
      <p:ext uri="{BB962C8B-B14F-4D97-AF65-F5344CB8AC3E}">
        <p14:creationId xmlns:p14="http://schemas.microsoft.com/office/powerpoint/2010/main" val="462365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normAutofit/>
          </a:bodyPr>
          <a:lstStyle/>
          <a:p>
            <a:r>
              <a:rPr lang="en-AU" dirty="0"/>
              <a:t>Lab Computer</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353762" cy="5260934"/>
          </a:xfrm>
        </p:spPr>
        <p:txBody>
          <a:bodyPr>
            <a:normAutofit/>
          </a:bodyPr>
          <a:lstStyle/>
          <a:p>
            <a:r>
              <a:rPr lang="en-AU" dirty="0">
                <a:latin typeface="Arial" panose="020B0604020202020204" pitchFamily="34" charset="0"/>
                <a:cs typeface="Arial" panose="020B0604020202020204" pitchFamily="34" charset="0"/>
              </a:rPr>
              <a:t>The labs are related to docker, </a:t>
            </a:r>
            <a:r>
              <a:rPr lang="en-US" dirty="0">
                <a:latin typeface="Arial" panose="020B0604020202020204" pitchFamily="34" charset="0"/>
                <a:cs typeface="Arial" panose="020B0604020202020204" pitchFamily="34" charset="0"/>
              </a:rPr>
              <a:t>WSL2/UTM/VirtualBox, </a:t>
            </a:r>
            <a:r>
              <a:rPr lang="en-US" dirty="0" err="1">
                <a:latin typeface="Arial" panose="020B0604020202020204" pitchFamily="34" charset="0"/>
                <a:cs typeface="Arial" panose="020B0604020202020204" pitchFamily="34" charset="0"/>
              </a:rPr>
              <a:t>etc</a:t>
            </a: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As these virtualization software are NOT available on UWA lab machines, they must be run on your laptops</a:t>
            </a:r>
          </a:p>
          <a:p>
            <a:r>
              <a:rPr lang="en-AU" dirty="0">
                <a:latin typeface="Arial" panose="020B0604020202020204" pitchFamily="34" charset="0"/>
                <a:cs typeface="Arial" panose="020B0604020202020204" pitchFamily="34" charset="0"/>
              </a:rPr>
              <a:t>If you do not have a laptop that is capable of running the labs, you can arrange to borrow one: </a:t>
            </a:r>
            <a:r>
              <a:rPr lang="en-AU" sz="2200" dirty="0">
                <a:solidFill>
                  <a:srgbClr val="92D050"/>
                </a:solidFill>
                <a:latin typeface="Arial" panose="020B0604020202020204" pitchFamily="34" charset="0"/>
                <a:ea typeface="+mj-ea"/>
                <a:cs typeface="Arial" panose="020B0604020202020204" pitchFamily="34" charset="0"/>
              </a:rPr>
              <a:t>https://uwacyber.gitbook.io/cits1003/labs/introduction-to-labs</a:t>
            </a:r>
          </a:p>
          <a:p>
            <a:r>
              <a:rPr lang="en-AU" dirty="0">
                <a:latin typeface="Arial" panose="020B0604020202020204" pitchFamily="34" charset="0"/>
                <a:cs typeface="Arial" panose="020B0604020202020204" pitchFamily="34" charset="0"/>
              </a:rPr>
              <a:t>Else – invest in a decent laptop – it will make a big difference to your University life.</a:t>
            </a:r>
          </a:p>
          <a:p>
            <a:r>
              <a:rPr lang="en-AU" dirty="0">
                <a:latin typeface="Arial" panose="020B0604020202020204" pitchFamily="34" charset="0"/>
                <a:cs typeface="Arial" panose="020B0604020202020204" pitchFamily="34" charset="0"/>
              </a:rPr>
              <a:t>If none of these options are available to you, please come and chat with me.</a:t>
            </a:r>
          </a:p>
        </p:txBody>
      </p:sp>
    </p:spTree>
    <p:extLst>
      <p:ext uri="{BB962C8B-B14F-4D97-AF65-F5344CB8AC3E}">
        <p14:creationId xmlns:p14="http://schemas.microsoft.com/office/powerpoint/2010/main" val="14692248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lstStyle/>
          <a:p>
            <a:r>
              <a:rPr lang="en-AU" dirty="0"/>
              <a:t>Lab Assessment</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686534" cy="5308296"/>
          </a:xfrm>
        </p:spPr>
        <p:txBody>
          <a:bodyPr>
            <a:normAutofit/>
          </a:bodyPr>
          <a:lstStyle/>
          <a:p>
            <a:r>
              <a:rPr lang="en-AU" dirty="0">
                <a:latin typeface="Arial" panose="020B0604020202020204" pitchFamily="34" charset="0"/>
                <a:cs typeface="Arial" panose="020B0604020202020204" pitchFamily="34" charset="0"/>
              </a:rPr>
              <a:t>Labs are worth 25% of the final grade.</a:t>
            </a:r>
          </a:p>
          <a:p>
            <a:r>
              <a:rPr lang="en-AU" dirty="0">
                <a:latin typeface="Arial" panose="020B0604020202020204" pitchFamily="34" charset="0"/>
                <a:cs typeface="Arial" panose="020B0604020202020204" pitchFamily="34" charset="0"/>
              </a:rPr>
              <a:t>Each lab is worth 25 points</a:t>
            </a:r>
          </a:p>
          <a:p>
            <a:r>
              <a:rPr lang="en-AU" dirty="0">
                <a:latin typeface="Arial" panose="020B0604020202020204" pitchFamily="34" charset="0"/>
                <a:cs typeface="Arial" panose="020B0604020202020204" pitchFamily="34" charset="0"/>
              </a:rPr>
              <a:t>10 labs in total are worth 250 points.</a:t>
            </a:r>
          </a:p>
          <a:p>
            <a:r>
              <a:rPr lang="en-AU" dirty="0">
                <a:latin typeface="Arial" panose="020B0604020202020204" pitchFamily="34" charset="0"/>
                <a:cs typeface="Arial" panose="020B0604020202020204" pitchFamily="34" charset="0"/>
              </a:rPr>
              <a:t>Submission site: </a:t>
            </a:r>
            <a:r>
              <a:rPr lang="en-AU" dirty="0">
                <a:solidFill>
                  <a:srgbClr val="92D050"/>
                </a:solidFill>
                <a:latin typeface="Arial" panose="020B0604020202020204" pitchFamily="34" charset="0"/>
                <a:cs typeface="Arial" panose="020B0604020202020204" pitchFamily="34" charset="0"/>
              </a:rPr>
              <a:t>https://labs.cits1003.jinhong.org/ </a:t>
            </a:r>
          </a:p>
          <a:p>
            <a:pPr lvl="1">
              <a:buFont typeface="Courier New" panose="02070309020205020404" pitchFamily="49" charset="0"/>
              <a:buChar char="o"/>
            </a:pPr>
            <a:r>
              <a:rPr lang="en-AU" sz="2100" dirty="0">
                <a:latin typeface="Arial" panose="020B0604020202020204" pitchFamily="34" charset="0"/>
                <a:cs typeface="Arial" panose="020B0604020202020204" pitchFamily="34" charset="0"/>
              </a:rPr>
              <a:t>Registering the site: </a:t>
            </a:r>
            <a:r>
              <a:rPr lang="en-AU" sz="2100" dirty="0">
                <a:solidFill>
                  <a:srgbClr val="92D050"/>
                </a:solidFill>
                <a:latin typeface="Arial" panose="020B0604020202020204" pitchFamily="34" charset="0"/>
                <a:cs typeface="Arial" panose="020B0604020202020204" pitchFamily="34" charset="0"/>
              </a:rPr>
              <a:t>https://uwacyber.gitbook.io/cits1003/labs/introduction-to-labs</a:t>
            </a:r>
          </a:p>
        </p:txBody>
      </p:sp>
    </p:spTree>
    <p:extLst>
      <p:ext uri="{BB962C8B-B14F-4D97-AF65-F5344CB8AC3E}">
        <p14:creationId xmlns:p14="http://schemas.microsoft.com/office/powerpoint/2010/main" val="2037980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4" name="Picture 3">
            <a:extLst>
              <a:ext uri="{FF2B5EF4-FFF2-40B4-BE49-F238E27FC236}">
                <a16:creationId xmlns:a16="http://schemas.microsoft.com/office/drawing/2014/main" id="{F8629A5C-3EC5-4778-A532-9CCDE40FB699}"/>
              </a:ext>
            </a:extLst>
          </p:cNvPr>
          <p:cNvPicPr>
            <a:picLocks noChangeAspect="1"/>
          </p:cNvPicPr>
          <p:nvPr/>
        </p:nvPicPr>
        <p:blipFill>
          <a:blip r:embed="rId3"/>
          <a:stretch>
            <a:fillRect/>
          </a:stretch>
        </p:blipFill>
        <p:spPr>
          <a:xfrm>
            <a:off x="1159288" y="1187470"/>
            <a:ext cx="9873423" cy="4898751"/>
          </a:xfrm>
          <a:prstGeom prst="rect">
            <a:avLst/>
          </a:prstGeom>
        </p:spPr>
      </p:pic>
    </p:spTree>
    <p:extLst>
      <p:ext uri="{BB962C8B-B14F-4D97-AF65-F5344CB8AC3E}">
        <p14:creationId xmlns:p14="http://schemas.microsoft.com/office/powerpoint/2010/main" val="24332801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4" name="Picture 3">
            <a:extLst>
              <a:ext uri="{FF2B5EF4-FFF2-40B4-BE49-F238E27FC236}">
                <a16:creationId xmlns:a16="http://schemas.microsoft.com/office/drawing/2014/main" id="{01A27B97-8407-4983-9F8D-12A9BD45E6D3}"/>
              </a:ext>
            </a:extLst>
          </p:cNvPr>
          <p:cNvPicPr>
            <a:picLocks noChangeAspect="1"/>
          </p:cNvPicPr>
          <p:nvPr/>
        </p:nvPicPr>
        <p:blipFill>
          <a:blip r:embed="rId3"/>
          <a:stretch>
            <a:fillRect/>
          </a:stretch>
        </p:blipFill>
        <p:spPr>
          <a:xfrm>
            <a:off x="1158239" y="1276049"/>
            <a:ext cx="10062925" cy="4921551"/>
          </a:xfrm>
          <a:prstGeom prst="rect">
            <a:avLst/>
          </a:prstGeom>
        </p:spPr>
      </p:pic>
    </p:spTree>
    <p:extLst>
      <p:ext uri="{BB962C8B-B14F-4D97-AF65-F5344CB8AC3E}">
        <p14:creationId xmlns:p14="http://schemas.microsoft.com/office/powerpoint/2010/main" val="1651009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119" y="228600"/>
            <a:ext cx="10353762" cy="719667"/>
          </a:xfrm>
        </p:spPr>
        <p:txBody>
          <a:bodyPr>
            <a:normAutofit/>
          </a:bodyPr>
          <a:lstStyle/>
          <a:p>
            <a:r>
              <a:rPr lang="en-US" dirty="0"/>
              <a:t>Submission Site</a:t>
            </a:r>
            <a:endParaRPr lang="en-AU" dirty="0"/>
          </a:p>
        </p:txBody>
      </p:sp>
      <p:pic>
        <p:nvPicPr>
          <p:cNvPr id="10" name="Picture 9">
            <a:extLst>
              <a:ext uri="{FF2B5EF4-FFF2-40B4-BE49-F238E27FC236}">
                <a16:creationId xmlns:a16="http://schemas.microsoft.com/office/drawing/2014/main" id="{1103EB4C-DA80-467A-AFF4-4FC6CB4C73EF}"/>
              </a:ext>
            </a:extLst>
          </p:cNvPr>
          <p:cNvPicPr>
            <a:picLocks noChangeAspect="1"/>
          </p:cNvPicPr>
          <p:nvPr/>
        </p:nvPicPr>
        <p:blipFill>
          <a:blip r:embed="rId3"/>
          <a:stretch>
            <a:fillRect/>
          </a:stretch>
        </p:blipFill>
        <p:spPr>
          <a:xfrm>
            <a:off x="6619614" y="1041779"/>
            <a:ext cx="4463420" cy="4867954"/>
          </a:xfrm>
          <a:prstGeom prst="rect">
            <a:avLst/>
          </a:prstGeom>
        </p:spPr>
      </p:pic>
      <p:pic>
        <p:nvPicPr>
          <p:cNvPr id="4" name="Picture 3">
            <a:extLst>
              <a:ext uri="{FF2B5EF4-FFF2-40B4-BE49-F238E27FC236}">
                <a16:creationId xmlns:a16="http://schemas.microsoft.com/office/drawing/2014/main" id="{4BC5BE70-8C22-44BF-8258-818B97634484}"/>
              </a:ext>
            </a:extLst>
          </p:cNvPr>
          <p:cNvPicPr>
            <a:picLocks noChangeAspect="1"/>
          </p:cNvPicPr>
          <p:nvPr/>
        </p:nvPicPr>
        <p:blipFill>
          <a:blip r:embed="rId4"/>
          <a:stretch>
            <a:fillRect/>
          </a:stretch>
        </p:blipFill>
        <p:spPr>
          <a:xfrm>
            <a:off x="1632580" y="1074435"/>
            <a:ext cx="4463420" cy="4835297"/>
          </a:xfrm>
          <a:prstGeom prst="rect">
            <a:avLst/>
          </a:prstGeom>
        </p:spPr>
      </p:pic>
    </p:spTree>
    <p:extLst>
      <p:ext uri="{BB962C8B-B14F-4D97-AF65-F5344CB8AC3E}">
        <p14:creationId xmlns:p14="http://schemas.microsoft.com/office/powerpoint/2010/main" val="698500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62328"/>
            <a:ext cx="10353762" cy="1257300"/>
          </a:xfrm>
        </p:spPr>
        <p:txBody>
          <a:bodyPr/>
          <a:lstStyle/>
          <a:p>
            <a:r>
              <a:rPr lang="en-US" dirty="0"/>
              <a:t>Lab Help</a:t>
            </a:r>
            <a:endParaRPr lang="en-AU" dirty="0"/>
          </a:p>
        </p:txBody>
      </p:sp>
      <p:sp>
        <p:nvSpPr>
          <p:cNvPr id="3" name="Content Placeholder 2"/>
          <p:cNvSpPr>
            <a:spLocks noGrp="1"/>
          </p:cNvSpPr>
          <p:nvPr>
            <p:ph idx="1"/>
          </p:nvPr>
        </p:nvSpPr>
        <p:spPr>
          <a:xfrm>
            <a:off x="710299" y="1519628"/>
            <a:ext cx="10760754" cy="4519222"/>
          </a:xfrm>
        </p:spPr>
        <p:txBody>
          <a:bodyPr>
            <a:normAutofit/>
          </a:bodyPr>
          <a:lstStyle/>
          <a:p>
            <a:r>
              <a:rPr lang="en-US" dirty="0">
                <a:latin typeface="Arial" panose="020B0604020202020204" pitchFamily="34" charset="0"/>
                <a:cs typeface="Arial" panose="020B0604020202020204" pitchFamily="34" charset="0"/>
              </a:rPr>
              <a:t>For labs, we will be using a help server, which allows students to queue for help</a:t>
            </a:r>
          </a:p>
          <a:p>
            <a:pPr lvl="1"/>
            <a:r>
              <a:rPr lang="en-US" sz="2000" dirty="0">
                <a:latin typeface="Arial" panose="020B0604020202020204" pitchFamily="34" charset="0"/>
                <a:cs typeface="Arial" panose="020B0604020202020204" pitchFamily="34" charset="0"/>
              </a:rPr>
              <a:t>This means no fighting over who put their hands up first</a:t>
            </a:r>
          </a:p>
          <a:p>
            <a:pPr lvl="1"/>
            <a:r>
              <a:rPr lang="en-US" sz="2000" dirty="0">
                <a:latin typeface="Arial" panose="020B0604020202020204" pitchFamily="34" charset="0"/>
                <a:cs typeface="Arial" panose="020B0604020202020204" pitchFamily="34" charset="0"/>
              </a:rPr>
              <a:t>Online students can get noticed</a:t>
            </a:r>
          </a:p>
          <a:p>
            <a:pPr lvl="1"/>
            <a:r>
              <a:rPr lang="en-AU" sz="2000" dirty="0">
                <a:latin typeface="Arial" panose="020B0604020202020204" pitchFamily="34" charset="0"/>
                <a:cs typeface="Arial" panose="020B0604020202020204" pitchFamily="34" charset="0"/>
              </a:rPr>
              <a:t>No lab help </a:t>
            </a:r>
            <a:r>
              <a:rPr lang="en-AU" sz="2000" b="1" dirty="0">
                <a:solidFill>
                  <a:srgbClr val="FF0000"/>
                </a:solidFill>
                <a:latin typeface="Arial" panose="020B0604020202020204" pitchFamily="34" charset="0"/>
                <a:cs typeface="Arial" panose="020B0604020202020204" pitchFamily="34" charset="0"/>
              </a:rPr>
              <a:t>outside</a:t>
            </a:r>
            <a:r>
              <a:rPr lang="en-AU" sz="2000" dirty="0">
                <a:latin typeface="Arial" panose="020B0604020202020204" pitchFamily="34" charset="0"/>
                <a:cs typeface="Arial" panose="020B0604020202020204" pitchFamily="34" charset="0"/>
              </a:rPr>
              <a:t> the scheduled lab time</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36900" indent="0">
              <a:buNone/>
            </a:pP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57591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2" cy="1257300"/>
          </a:xfrm>
        </p:spPr>
        <p:txBody>
          <a:bodyPr/>
          <a:lstStyle/>
          <a:p>
            <a:r>
              <a:rPr lang="en-US" dirty="0"/>
              <a:t>A Help Server</a:t>
            </a:r>
            <a:endParaRPr lang="en-AU" dirty="0"/>
          </a:p>
        </p:txBody>
      </p:sp>
      <p:sp>
        <p:nvSpPr>
          <p:cNvPr id="3" name="Content Placeholder 2"/>
          <p:cNvSpPr>
            <a:spLocks noGrp="1"/>
          </p:cNvSpPr>
          <p:nvPr>
            <p:ph idx="1"/>
          </p:nvPr>
        </p:nvSpPr>
        <p:spPr>
          <a:xfrm>
            <a:off x="913795" y="1169389"/>
            <a:ext cx="10353762" cy="4519222"/>
          </a:xfrm>
        </p:spPr>
        <p:txBody>
          <a:bodyPr>
            <a:normAutofit/>
          </a:bodyPr>
          <a:lstStyle/>
          <a:p>
            <a:pPr marL="36900" indent="0">
              <a:buNone/>
            </a:pPr>
            <a:endParaRPr lang="en-US" dirty="0">
              <a:latin typeface="Arial" panose="020B0604020202020204" pitchFamily="34" charset="0"/>
              <a:cs typeface="Arial" panose="020B0604020202020204" pitchFamily="34" charset="0"/>
            </a:endParaRP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Access the help server at: </a:t>
            </a:r>
            <a:r>
              <a:rPr lang="en-US" sz="2000" dirty="0">
                <a:solidFill>
                  <a:srgbClr val="92D050"/>
                </a:solidFill>
                <a:latin typeface="Arial" panose="020B0604020202020204" pitchFamily="34" charset="0"/>
                <a:cs typeface="Arial" panose="020B0604020202020204" pitchFamily="34" charset="0"/>
              </a:rPr>
              <a:t>https://help.jinhong.org/  </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By default, you use your student ID with temporary password “</a:t>
            </a:r>
            <a:r>
              <a:rPr lang="en-US" sz="2000" dirty="0" err="1">
                <a:latin typeface="Arial" panose="020B0604020202020204" pitchFamily="34" charset="0"/>
                <a:cs typeface="Arial" panose="020B0604020202020204" pitchFamily="34" charset="0"/>
              </a:rPr>
              <a:t>helloworld</a:t>
            </a:r>
            <a:r>
              <a:rPr lang="en-US" sz="2000" dirty="0">
                <a:latin typeface="Arial" panose="020B0604020202020204" pitchFamily="34" charset="0"/>
                <a:cs typeface="Arial" panose="020B0604020202020204" pitchFamily="34" charset="0"/>
              </a:rPr>
              <a:t>”</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Any issues logging in, contact any of the facilitators during the lab sessions.</a:t>
            </a: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Fill out a form and wait until a facilitator comes to you </a:t>
            </a:r>
          </a:p>
          <a:p>
            <a:pPr marL="800100" lvl="1"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If you are doing labs via online, then facilitators will contact you via Teams. </a:t>
            </a:r>
          </a:p>
          <a:p>
            <a:pPr marL="1106100" lvl="2" indent="-342900">
              <a:buFont typeface="Wingdings" panose="05000000000000000000" pitchFamily="2" charset="2"/>
              <a:buChar char="v"/>
            </a:pPr>
            <a:r>
              <a:rPr lang="en-US" sz="2000" dirty="0">
                <a:latin typeface="Arial" panose="020B0604020202020204" pitchFamily="34" charset="0"/>
                <a:cs typeface="Arial" panose="020B0604020202020204" pitchFamily="34" charset="0"/>
              </a:rPr>
              <a:t>Online is discouraged, as troubleshooting is much harder compared to F2F</a:t>
            </a:r>
            <a:endParaRPr lang="en-AU"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63793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C7956DC-30BC-499A-9486-59AA92AFEB94}"/>
              </a:ext>
            </a:extLst>
          </p:cNvPr>
          <p:cNvSpPr>
            <a:spLocks noGrp="1"/>
          </p:cNvSpPr>
          <p:nvPr>
            <p:ph type="title"/>
          </p:nvPr>
        </p:nvSpPr>
        <p:spPr>
          <a:xfrm>
            <a:off x="601581" y="5803208"/>
            <a:ext cx="10184339" cy="858416"/>
          </a:xfrm>
        </p:spPr>
        <p:txBody>
          <a:bodyPr>
            <a:normAutofit/>
          </a:bodyPr>
          <a:lstStyle/>
          <a:p>
            <a:pPr algn="l"/>
            <a:r>
              <a:rPr lang="en-AU" sz="2800" dirty="0">
                <a:solidFill>
                  <a:srgbClr val="92D050"/>
                </a:solidFill>
              </a:rPr>
              <a:t>https://</a:t>
            </a:r>
            <a:r>
              <a:rPr lang="en-US" sz="2800" dirty="0">
                <a:solidFill>
                  <a:srgbClr val="92D050"/>
                </a:solidFill>
              </a:rPr>
              <a:t>help.jinhong.org</a:t>
            </a:r>
            <a:endParaRPr lang="en-AU" sz="2800" dirty="0">
              <a:solidFill>
                <a:srgbClr val="92D050"/>
              </a:solidFill>
            </a:endParaRPr>
          </a:p>
        </p:txBody>
      </p:sp>
      <p:pic>
        <p:nvPicPr>
          <p:cNvPr id="5" name="Picture 4">
            <a:extLst>
              <a:ext uri="{FF2B5EF4-FFF2-40B4-BE49-F238E27FC236}">
                <a16:creationId xmlns:a16="http://schemas.microsoft.com/office/drawing/2014/main" id="{8E414A02-27DB-453C-BA9B-F9A001B36E4E}"/>
              </a:ext>
            </a:extLst>
          </p:cNvPr>
          <p:cNvPicPr>
            <a:picLocks noChangeAspect="1"/>
          </p:cNvPicPr>
          <p:nvPr/>
        </p:nvPicPr>
        <p:blipFill>
          <a:blip r:embed="rId3"/>
          <a:stretch>
            <a:fillRect/>
          </a:stretch>
        </p:blipFill>
        <p:spPr>
          <a:xfrm>
            <a:off x="625642" y="332943"/>
            <a:ext cx="10934651" cy="5446202"/>
          </a:xfrm>
          <a:prstGeom prst="rect">
            <a:avLst/>
          </a:prstGeom>
        </p:spPr>
      </p:pic>
    </p:spTree>
    <p:extLst>
      <p:ext uri="{BB962C8B-B14F-4D97-AF65-F5344CB8AC3E}">
        <p14:creationId xmlns:p14="http://schemas.microsoft.com/office/powerpoint/2010/main" val="3241098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2F404-5848-8D4C-8FB6-3349BDEB8F75}"/>
              </a:ext>
            </a:extLst>
          </p:cNvPr>
          <p:cNvSpPr>
            <a:spLocks noGrp="1"/>
          </p:cNvSpPr>
          <p:nvPr>
            <p:ph type="title"/>
          </p:nvPr>
        </p:nvSpPr>
        <p:spPr>
          <a:xfrm>
            <a:off x="913795" y="27709"/>
            <a:ext cx="10353762" cy="1257300"/>
          </a:xfrm>
        </p:spPr>
        <p:txBody>
          <a:bodyPr/>
          <a:lstStyle/>
          <a:p>
            <a:r>
              <a:rPr lang="en-AU" dirty="0"/>
              <a:t>Lab Due Dates</a:t>
            </a:r>
          </a:p>
        </p:txBody>
      </p:sp>
      <p:sp>
        <p:nvSpPr>
          <p:cNvPr id="3" name="Content Placeholder 2">
            <a:extLst>
              <a:ext uri="{FF2B5EF4-FFF2-40B4-BE49-F238E27FC236}">
                <a16:creationId xmlns:a16="http://schemas.microsoft.com/office/drawing/2014/main" id="{56279952-E4DB-7445-83D2-1C8ADC55F074}"/>
              </a:ext>
            </a:extLst>
          </p:cNvPr>
          <p:cNvSpPr>
            <a:spLocks noGrp="1"/>
          </p:cNvSpPr>
          <p:nvPr>
            <p:ph idx="1"/>
          </p:nvPr>
        </p:nvSpPr>
        <p:spPr>
          <a:xfrm>
            <a:off x="913795" y="1285009"/>
            <a:ext cx="10353762" cy="4224837"/>
          </a:xfrm>
        </p:spPr>
        <p:txBody>
          <a:bodyPr>
            <a:normAutofit/>
          </a:bodyPr>
          <a:lstStyle/>
          <a:p>
            <a:pPr rtl="0"/>
            <a:r>
              <a:rPr lang="en-US" dirty="0">
                <a:latin typeface="Arial" panose="020B0604020202020204" pitchFamily="34" charset="0"/>
                <a:cs typeface="Arial" panose="020B0604020202020204" pitchFamily="34" charset="0"/>
              </a:rPr>
              <a:t>For labs 1-5, due date:  </a:t>
            </a:r>
            <a:r>
              <a:rPr lang="en-US" dirty="0">
                <a:solidFill>
                  <a:srgbClr val="FF0000"/>
                </a:solidFill>
                <a:latin typeface="Arial" panose="020B0604020202020204" pitchFamily="34" charset="0"/>
                <a:cs typeface="Arial" panose="020B0604020202020204" pitchFamily="34" charset="0"/>
              </a:rPr>
              <a:t>11:59pm 13 April</a:t>
            </a:r>
          </a:p>
          <a:p>
            <a:pPr marL="347472" rtl="0"/>
            <a:r>
              <a:rPr lang="en-US" dirty="0">
                <a:latin typeface="Arial" panose="020B0604020202020204" pitchFamily="34" charset="0"/>
                <a:cs typeface="Arial" panose="020B0604020202020204" pitchFamily="34" charset="0"/>
              </a:rPr>
              <a:t>For labs 6-10, due date:  </a:t>
            </a:r>
            <a:r>
              <a:rPr lang="en-US" dirty="0">
                <a:solidFill>
                  <a:srgbClr val="FF0000"/>
                </a:solidFill>
                <a:latin typeface="Arial" panose="020B0604020202020204" pitchFamily="34" charset="0"/>
                <a:cs typeface="Arial" panose="020B0604020202020204" pitchFamily="34" charset="0"/>
              </a:rPr>
              <a:t>11:59pm 15 May</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80247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FB7D4559-1F81-4E32-B278-2432618FE5DA}"/>
              </a:ext>
            </a:extLst>
          </p:cNvPr>
          <p:cNvSpPr txBox="1">
            <a:spLocks/>
          </p:cNvSpPr>
          <p:nvPr/>
        </p:nvSpPr>
        <p:spPr>
          <a:xfrm>
            <a:off x="933446" y="1339277"/>
            <a:ext cx="10353761" cy="3845566"/>
          </a:xfrm>
          <a:prstGeom prst="rect">
            <a:avLst/>
          </a:prstGeom>
        </p:spPr>
        <p:txBody>
          <a:bodyPr>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285750" indent="-285750">
              <a:buFont typeface="Arial" panose="020B0604020202020204" pitchFamily="34" charset="0"/>
              <a:buChar char="•"/>
            </a:pPr>
            <a:r>
              <a:rPr lang="en-US" sz="2000" dirty="0">
                <a:solidFill>
                  <a:schemeClr val="tx1"/>
                </a:solidFill>
                <a:latin typeface="Arial" panose="020B0604020202020204" pitchFamily="34" charset="0"/>
                <a:cs typeface="Arial" panose="020B0604020202020204" pitchFamily="34" charset="0"/>
              </a:rPr>
              <a:t>Set Up a Linux-based Virtual-Machine Environment </a:t>
            </a:r>
          </a:p>
          <a:p>
            <a:pPr marL="285750" indent="-285750">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Do labs within a VM environment to avoid any mistakes propagating to a host OS</a:t>
            </a:r>
          </a:p>
          <a:p>
            <a:pPr marL="285750" indent="-285750">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VM provides an additional layer of security.</a:t>
            </a:r>
          </a:p>
        </p:txBody>
      </p:sp>
      <p:sp>
        <p:nvSpPr>
          <p:cNvPr id="9" name="Title 1">
            <a:extLst>
              <a:ext uri="{FF2B5EF4-FFF2-40B4-BE49-F238E27FC236}">
                <a16:creationId xmlns:a16="http://schemas.microsoft.com/office/drawing/2014/main" id="{F126836E-93ED-48F6-831A-5D544A362FFE}"/>
              </a:ext>
            </a:extLst>
          </p:cNvPr>
          <p:cNvSpPr>
            <a:spLocks noGrp="1"/>
          </p:cNvSpPr>
          <p:nvPr>
            <p:ph type="title"/>
          </p:nvPr>
        </p:nvSpPr>
        <p:spPr>
          <a:xfrm>
            <a:off x="913795" y="148237"/>
            <a:ext cx="10353762" cy="909854"/>
          </a:xfrm>
        </p:spPr>
        <p:txBody>
          <a:bodyPr/>
          <a:lstStyle/>
          <a:p>
            <a:r>
              <a:rPr lang="en-US" sz="4000" dirty="0"/>
              <a:t>Lab Setup</a:t>
            </a:r>
            <a:endParaRPr lang="en-AU" sz="4000" dirty="0"/>
          </a:p>
        </p:txBody>
      </p:sp>
    </p:spTree>
    <p:extLst>
      <p:ext uri="{BB962C8B-B14F-4D97-AF65-F5344CB8AC3E}">
        <p14:creationId xmlns:p14="http://schemas.microsoft.com/office/powerpoint/2010/main" val="20272798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FB7D4559-1F81-4E32-B278-2432618FE5DA}"/>
              </a:ext>
            </a:extLst>
          </p:cNvPr>
          <p:cNvSpPr txBox="1">
            <a:spLocks/>
          </p:cNvSpPr>
          <p:nvPr/>
        </p:nvSpPr>
        <p:spPr>
          <a:xfrm>
            <a:off x="933447" y="1339277"/>
            <a:ext cx="9458782" cy="3845566"/>
          </a:xfrm>
          <a:prstGeom prst="rect">
            <a:avLst/>
          </a:prstGeom>
        </p:spPr>
        <p:txBody>
          <a:bodyPr>
            <a:normAutofit/>
          </a:bodyPr>
          <a:lst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9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5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a:lstStyle>
          <a:p>
            <a:pPr marL="285750" indent="-285750">
              <a:buFont typeface="Arial" panose="020B0604020202020204" pitchFamily="34" charset="0"/>
              <a:buChar char="•"/>
            </a:pPr>
            <a:r>
              <a:rPr lang="en-AU" sz="2000" dirty="0">
                <a:solidFill>
                  <a:schemeClr val="tx1"/>
                </a:solidFill>
                <a:latin typeface="Arial" panose="020B0604020202020204" pitchFamily="34" charset="0"/>
                <a:cs typeface="Arial" panose="020B0604020202020204" pitchFamily="34" charset="0"/>
              </a:rPr>
              <a:t>Virtual Machine Manager: WSL2, UTM or VirtualBox</a:t>
            </a:r>
          </a:p>
        </p:txBody>
      </p:sp>
      <p:sp>
        <p:nvSpPr>
          <p:cNvPr id="9" name="Title 1">
            <a:extLst>
              <a:ext uri="{FF2B5EF4-FFF2-40B4-BE49-F238E27FC236}">
                <a16:creationId xmlns:a16="http://schemas.microsoft.com/office/drawing/2014/main" id="{F126836E-93ED-48F6-831A-5D544A362FFE}"/>
              </a:ext>
            </a:extLst>
          </p:cNvPr>
          <p:cNvSpPr>
            <a:spLocks noGrp="1"/>
          </p:cNvSpPr>
          <p:nvPr>
            <p:ph type="title"/>
          </p:nvPr>
        </p:nvSpPr>
        <p:spPr>
          <a:xfrm>
            <a:off x="913795" y="148237"/>
            <a:ext cx="10353762" cy="909854"/>
          </a:xfrm>
        </p:spPr>
        <p:txBody>
          <a:bodyPr/>
          <a:lstStyle/>
          <a:p>
            <a:r>
              <a:rPr lang="en-US" sz="4000" dirty="0"/>
              <a:t>Lab Setup</a:t>
            </a:r>
            <a:endParaRPr lang="en-AU" sz="4000" dirty="0"/>
          </a:p>
        </p:txBody>
      </p:sp>
      <p:pic>
        <p:nvPicPr>
          <p:cNvPr id="10" name="Picture 9">
            <a:extLst>
              <a:ext uri="{FF2B5EF4-FFF2-40B4-BE49-F238E27FC236}">
                <a16:creationId xmlns:a16="http://schemas.microsoft.com/office/drawing/2014/main" id="{5C44D2FD-CB03-46EF-ADAD-FBC6E35CA264}"/>
              </a:ext>
            </a:extLst>
          </p:cNvPr>
          <p:cNvPicPr>
            <a:picLocks noChangeAspect="1"/>
          </p:cNvPicPr>
          <p:nvPr/>
        </p:nvPicPr>
        <p:blipFill>
          <a:blip r:embed="rId3"/>
          <a:stretch>
            <a:fillRect/>
          </a:stretch>
        </p:blipFill>
        <p:spPr>
          <a:xfrm>
            <a:off x="1057433" y="2105393"/>
            <a:ext cx="9640149" cy="1848001"/>
          </a:xfrm>
          <a:prstGeom prst="rect">
            <a:avLst/>
          </a:prstGeom>
        </p:spPr>
      </p:pic>
      <p:sp>
        <p:nvSpPr>
          <p:cNvPr id="6" name="TextBox 5">
            <a:extLst>
              <a:ext uri="{FF2B5EF4-FFF2-40B4-BE49-F238E27FC236}">
                <a16:creationId xmlns:a16="http://schemas.microsoft.com/office/drawing/2014/main" id="{743A873F-618F-4967-B358-91987F143B07}"/>
              </a:ext>
            </a:extLst>
          </p:cNvPr>
          <p:cNvSpPr txBox="1"/>
          <p:nvPr/>
        </p:nvSpPr>
        <p:spPr>
          <a:xfrm>
            <a:off x="1057432" y="4297969"/>
            <a:ext cx="8414371" cy="415498"/>
          </a:xfrm>
          <a:prstGeom prst="rect">
            <a:avLst/>
          </a:prstGeom>
          <a:noFill/>
        </p:spPr>
        <p:txBody>
          <a:bodyPr wrap="square">
            <a:spAutoFit/>
          </a:bodyPr>
          <a:lstStyle/>
          <a:p>
            <a:r>
              <a:rPr lang="en-AU" sz="2100" dirty="0">
                <a:ln>
                  <a:solidFill>
                    <a:schemeClr val="bg1">
                      <a:lumMod val="75000"/>
                      <a:lumOff val="25000"/>
                      <a:alpha val="10000"/>
                    </a:schemeClr>
                  </a:solidFill>
                </a:ln>
                <a:solidFill>
                  <a:srgbClr val="92D050"/>
                </a:solidFill>
                <a:effectLst>
                  <a:outerShdw blurRad="9525" dist="25400" dir="14640000" algn="tl" rotWithShape="0">
                    <a:schemeClr val="bg1">
                      <a:alpha val="30000"/>
                    </a:schemeClr>
                  </a:outerShdw>
                </a:effectLst>
                <a:latin typeface="Arial" panose="020B0604020202020204" pitchFamily="34" charset="0"/>
                <a:cs typeface="Arial" panose="020B0604020202020204" pitchFamily="34" charset="0"/>
              </a:rPr>
              <a:t>https://uwacyber.gitbook.io/cits1003/labs/lab-1-setting-up-your-laptop</a:t>
            </a:r>
          </a:p>
        </p:txBody>
      </p:sp>
    </p:spTree>
    <p:extLst>
      <p:ext uri="{BB962C8B-B14F-4D97-AF65-F5344CB8AC3E}">
        <p14:creationId xmlns:p14="http://schemas.microsoft.com/office/powerpoint/2010/main" val="27928362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4E7FC-13D5-D64F-970D-EE15EF0A474C}"/>
              </a:ext>
            </a:extLst>
          </p:cNvPr>
          <p:cNvSpPr>
            <a:spLocks noGrp="1"/>
          </p:cNvSpPr>
          <p:nvPr>
            <p:ph type="title"/>
          </p:nvPr>
        </p:nvSpPr>
        <p:spPr>
          <a:xfrm>
            <a:off x="913795" y="609600"/>
            <a:ext cx="10353762" cy="1103086"/>
          </a:xfrm>
        </p:spPr>
        <p:txBody>
          <a:bodyPr/>
          <a:lstStyle/>
          <a:p>
            <a:r>
              <a:rPr lang="en-AU" dirty="0"/>
              <a:t>Other Assessments</a:t>
            </a:r>
          </a:p>
        </p:txBody>
      </p:sp>
      <p:sp>
        <p:nvSpPr>
          <p:cNvPr id="3" name="Content Placeholder 2">
            <a:extLst>
              <a:ext uri="{FF2B5EF4-FFF2-40B4-BE49-F238E27FC236}">
                <a16:creationId xmlns:a16="http://schemas.microsoft.com/office/drawing/2014/main" id="{D414E03A-E6FC-764F-9D80-282B98177B8B}"/>
              </a:ext>
            </a:extLst>
          </p:cNvPr>
          <p:cNvSpPr>
            <a:spLocks noGrp="1"/>
          </p:cNvSpPr>
          <p:nvPr>
            <p:ph idx="1"/>
          </p:nvPr>
        </p:nvSpPr>
        <p:spPr/>
        <p:txBody>
          <a:bodyPr>
            <a:normAutofit/>
          </a:bodyPr>
          <a:lstStyle/>
          <a:p>
            <a:r>
              <a:rPr lang="en-AU" sz="2000" dirty="0">
                <a:latin typeface="Arial" panose="020B0604020202020204" pitchFamily="34" charset="0"/>
                <a:cs typeface="Arial" panose="020B0604020202020204" pitchFamily="34" charset="0"/>
              </a:rPr>
              <a:t>Project will be released in Week 6 (tentative) and end in Week 12 (tentative). This will be similar in format to the labs but with </a:t>
            </a:r>
            <a:r>
              <a:rPr lang="en-AU" sz="2000">
                <a:latin typeface="Arial" panose="020B0604020202020204" pitchFamily="34" charset="0"/>
                <a:cs typeface="Arial" panose="020B0604020202020204" pitchFamily="34" charset="0"/>
              </a:rPr>
              <a:t>less guidance</a:t>
            </a:r>
            <a:endParaRPr lang="en-AU" sz="2000" dirty="0">
              <a:latin typeface="Arial" panose="020B0604020202020204" pitchFamily="34" charset="0"/>
              <a:cs typeface="Arial" panose="020B0604020202020204" pitchFamily="34" charset="0"/>
            </a:endParaRPr>
          </a:p>
          <a:p>
            <a:pPr lvl="1"/>
            <a:r>
              <a:rPr lang="en-AU" sz="2000" dirty="0">
                <a:latin typeface="Arial" panose="020B0604020202020204" pitchFamily="34" charset="0"/>
                <a:cs typeface="Arial" panose="020B0604020202020204" pitchFamily="34" charset="0"/>
              </a:rPr>
              <a:t>Project is worth 25% of final grade</a:t>
            </a:r>
          </a:p>
          <a:p>
            <a:r>
              <a:rPr lang="en-AU" sz="2000" dirty="0">
                <a:latin typeface="Arial" panose="020B0604020202020204" pitchFamily="34" charset="0"/>
                <a:cs typeface="Arial" panose="020B0604020202020204" pitchFamily="34" charset="0"/>
              </a:rPr>
              <a:t>Final Exam: 50% of final grade</a:t>
            </a:r>
          </a:p>
          <a:p>
            <a:pPr lvl="1"/>
            <a:r>
              <a:rPr lang="en-AU" sz="2000" dirty="0">
                <a:latin typeface="Arial" panose="020B0604020202020204" pitchFamily="34" charset="0"/>
                <a:cs typeface="Arial" panose="020B0604020202020204" pitchFamily="34" charset="0"/>
              </a:rPr>
              <a:t>Exam overview will be done in week 12.</a:t>
            </a:r>
          </a:p>
          <a:p>
            <a:pPr lvl="1"/>
            <a:r>
              <a:rPr lang="en-AU" sz="2000" dirty="0">
                <a:latin typeface="Arial" panose="020B0604020202020204" pitchFamily="34" charset="0"/>
                <a:cs typeface="Arial" panose="020B0604020202020204" pitchFamily="34" charset="0"/>
              </a:rPr>
              <a:t>Exam can be assisted by </a:t>
            </a:r>
            <a:r>
              <a:rPr lang="en-AU" sz="2000" b="1" dirty="0">
                <a:latin typeface="Arial" panose="020B0604020202020204" pitchFamily="34" charset="0"/>
                <a:cs typeface="Arial" panose="020B0604020202020204" pitchFamily="34" charset="0"/>
              </a:rPr>
              <a:t>open-book notes </a:t>
            </a:r>
            <a:r>
              <a:rPr lang="en-AU" sz="2000" dirty="0">
                <a:latin typeface="Arial" panose="020B0604020202020204" pitchFamily="34" charset="0"/>
                <a:cs typeface="Arial" panose="020B0604020202020204" pitchFamily="34" charset="0"/>
              </a:rPr>
              <a:t>without electronic materials</a:t>
            </a:r>
          </a:p>
        </p:txBody>
      </p:sp>
    </p:spTree>
    <p:extLst>
      <p:ext uri="{BB962C8B-B14F-4D97-AF65-F5344CB8AC3E}">
        <p14:creationId xmlns:p14="http://schemas.microsoft.com/office/powerpoint/2010/main" val="18926118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B218-E6B7-E949-9413-DBDFA9A361B9}"/>
              </a:ext>
            </a:extLst>
          </p:cNvPr>
          <p:cNvSpPr>
            <a:spLocks noGrp="1"/>
          </p:cNvSpPr>
          <p:nvPr>
            <p:ph type="title"/>
          </p:nvPr>
        </p:nvSpPr>
        <p:spPr>
          <a:xfrm>
            <a:off x="913795" y="216568"/>
            <a:ext cx="10353762" cy="1257300"/>
          </a:xfrm>
        </p:spPr>
        <p:txBody>
          <a:bodyPr/>
          <a:lstStyle/>
          <a:p>
            <a:r>
              <a:rPr lang="en-AU" dirty="0"/>
              <a:t>Weekly Topics</a:t>
            </a:r>
          </a:p>
        </p:txBody>
      </p:sp>
      <p:sp>
        <p:nvSpPr>
          <p:cNvPr id="3" name="Content Placeholder 2">
            <a:extLst>
              <a:ext uri="{FF2B5EF4-FFF2-40B4-BE49-F238E27FC236}">
                <a16:creationId xmlns:a16="http://schemas.microsoft.com/office/drawing/2014/main" id="{13DB3674-2D4B-8645-8753-8E30E629B377}"/>
              </a:ext>
            </a:extLst>
          </p:cNvPr>
          <p:cNvSpPr>
            <a:spLocks noGrp="1"/>
          </p:cNvSpPr>
          <p:nvPr>
            <p:ph idx="1"/>
          </p:nvPr>
        </p:nvSpPr>
        <p:spPr>
          <a:xfrm>
            <a:off x="913795" y="1473868"/>
            <a:ext cx="10353762" cy="4564982"/>
          </a:xfrm>
        </p:spPr>
        <p:txBody>
          <a:bodyPr>
            <a:normAutofit fontScale="92500" lnSpcReduction="20000"/>
          </a:bodyPr>
          <a:lstStyle/>
          <a:p>
            <a:pPr marL="494100" indent="-457200">
              <a:buFont typeface="+mj-lt"/>
              <a:buAutoNum type="arabicPeriod"/>
            </a:pPr>
            <a:r>
              <a:rPr lang="en-AU" dirty="0">
                <a:latin typeface="Arial" panose="020B0604020202020204" pitchFamily="34" charset="0"/>
                <a:cs typeface="Arial" panose="020B0604020202020204" pitchFamily="34" charset="0"/>
              </a:rPr>
              <a:t>Introduction to </a:t>
            </a:r>
            <a:r>
              <a:rPr lang="en-US" altLang="zh-CN" dirty="0">
                <a:latin typeface="Arial" panose="020B0604020202020204" pitchFamily="34" charset="0"/>
                <a:cs typeface="Arial" panose="020B0604020202020204" pitchFamily="34" charset="0"/>
              </a:rPr>
              <a:t>basic </a:t>
            </a:r>
            <a:r>
              <a:rPr lang="en-AU" dirty="0">
                <a:latin typeface="Arial" panose="020B0604020202020204" pitchFamily="34" charset="0"/>
                <a:cs typeface="Arial" panose="020B0604020202020204" pitchFamily="34" charset="0"/>
              </a:rPr>
              <a:t>concepts of cyber security</a:t>
            </a:r>
          </a:p>
          <a:p>
            <a:pPr marL="494100" indent="-457200">
              <a:buFont typeface="+mj-lt"/>
              <a:buAutoNum type="arabicPeriod"/>
            </a:pPr>
            <a:r>
              <a:rPr lang="en-AU" dirty="0">
                <a:latin typeface="Arial" panose="020B0604020202020204" pitchFamily="34" charset="0"/>
                <a:cs typeface="Arial" panose="020B0604020202020204" pitchFamily="34" charset="0"/>
              </a:rPr>
              <a:t>Cryptography: codes and ciphers</a:t>
            </a:r>
          </a:p>
          <a:p>
            <a:pPr marL="494100" indent="-457200">
              <a:buFont typeface="+mj-lt"/>
              <a:buAutoNum type="arabicPeriod"/>
            </a:pPr>
            <a:r>
              <a:rPr lang="en-AU" dirty="0">
                <a:latin typeface="Arial" panose="020B0604020202020204" pitchFamily="34" charset="0"/>
                <a:cs typeface="Arial" panose="020B0604020202020204" pitchFamily="34" charset="0"/>
              </a:rPr>
              <a:t>Computers and Networks</a:t>
            </a:r>
          </a:p>
          <a:p>
            <a:pPr marL="494100" indent="-457200">
              <a:buFont typeface="+mj-lt"/>
              <a:buAutoNum type="arabicPeriod"/>
            </a:pPr>
            <a:r>
              <a:rPr lang="en-AU" dirty="0">
                <a:latin typeface="Arial" panose="020B0604020202020204" pitchFamily="34" charset="0"/>
                <a:cs typeface="Arial" panose="020B0604020202020204" pitchFamily="34" charset="0"/>
              </a:rPr>
              <a:t>Threats</a:t>
            </a:r>
          </a:p>
          <a:p>
            <a:pPr marL="494100" indent="-457200">
              <a:buFont typeface="+mj-lt"/>
              <a:buAutoNum type="arabicPeriod"/>
            </a:pPr>
            <a:r>
              <a:rPr lang="en-AU" dirty="0">
                <a:latin typeface="Arial" panose="020B0604020202020204" pitchFamily="34" charset="0"/>
                <a:cs typeface="Arial" panose="020B0604020202020204" pitchFamily="34" charset="0"/>
              </a:rPr>
              <a:t>Vulnerabilities</a:t>
            </a:r>
          </a:p>
          <a:p>
            <a:pPr marL="494100" indent="-457200">
              <a:buFont typeface="+mj-lt"/>
              <a:buAutoNum type="arabicPeriod"/>
            </a:pPr>
            <a:r>
              <a:rPr lang="en-AU" dirty="0">
                <a:latin typeface="Arial" panose="020B0604020202020204" pitchFamily="34" charset="0"/>
                <a:cs typeface="Arial" panose="020B0604020202020204" pitchFamily="34" charset="0"/>
              </a:rPr>
              <a:t>Security management</a:t>
            </a:r>
          </a:p>
          <a:p>
            <a:pPr marL="494100" indent="-457200">
              <a:buFont typeface="+mj-lt"/>
              <a:buAutoNum type="arabicPeriod"/>
            </a:pPr>
            <a:r>
              <a:rPr lang="en-AU" dirty="0">
                <a:latin typeface="Arial" panose="020B0604020202020204" pitchFamily="34" charset="0"/>
                <a:cs typeface="Arial" panose="020B0604020202020204" pitchFamily="34" charset="0"/>
              </a:rPr>
              <a:t>Incidents</a:t>
            </a:r>
          </a:p>
          <a:p>
            <a:pPr marL="494100" indent="-457200">
              <a:buFont typeface="+mj-lt"/>
              <a:buAutoNum type="arabicPeriod"/>
            </a:pPr>
            <a:r>
              <a:rPr lang="en-AU" dirty="0">
                <a:latin typeface="Arial" panose="020B0604020202020204" pitchFamily="34" charset="0"/>
                <a:cs typeface="Arial" panose="020B0604020202020204" pitchFamily="34" charset="0"/>
              </a:rPr>
              <a:t>Forensics</a:t>
            </a:r>
          </a:p>
          <a:p>
            <a:pPr marL="494100" indent="-457200">
              <a:buFont typeface="+mj-lt"/>
              <a:buAutoNum type="arabicPeriod"/>
            </a:pPr>
            <a:r>
              <a:rPr lang="en-AU" dirty="0">
                <a:latin typeface="Arial" panose="020B0604020202020204" pitchFamily="34" charset="0"/>
                <a:cs typeface="Arial" panose="020B0604020202020204" pitchFamily="34" charset="0"/>
              </a:rPr>
              <a:t>Critical Infrastructure and Cyber Physical Systems</a:t>
            </a:r>
          </a:p>
          <a:p>
            <a:pPr marL="494100" indent="-457200">
              <a:buFont typeface="+mj-lt"/>
              <a:buAutoNum type="arabicPeriod"/>
            </a:pPr>
            <a:r>
              <a:rPr lang="en-AU" dirty="0">
                <a:latin typeface="Arial" panose="020B0604020202020204" pitchFamily="34" charset="0"/>
                <a:cs typeface="Arial" panose="020B0604020202020204" pitchFamily="34" charset="0"/>
              </a:rPr>
              <a:t>Cyber Law</a:t>
            </a:r>
          </a:p>
          <a:p>
            <a:pPr marL="494100" indent="-457200">
              <a:buFont typeface="+mj-lt"/>
              <a:buAutoNum type="arabicPeriod"/>
            </a:pPr>
            <a:r>
              <a:rPr lang="en-AU" dirty="0">
                <a:latin typeface="Arial" panose="020B0604020202020204" pitchFamily="34" charset="0"/>
                <a:cs typeface="Arial" panose="020B0604020202020204" pitchFamily="34" charset="0"/>
              </a:rPr>
              <a:t>AI and Cybersecurity</a:t>
            </a:r>
          </a:p>
        </p:txBody>
      </p:sp>
    </p:spTree>
    <p:extLst>
      <p:ext uri="{BB962C8B-B14F-4D97-AF65-F5344CB8AC3E}">
        <p14:creationId xmlns:p14="http://schemas.microsoft.com/office/powerpoint/2010/main" val="1826833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8995" y="286395"/>
            <a:ext cx="10353762" cy="1044149"/>
          </a:xfrm>
        </p:spPr>
        <p:txBody>
          <a:bodyPr/>
          <a:lstStyle/>
          <a:p>
            <a:r>
              <a:rPr lang="en-AU" dirty="0"/>
              <a:t>Enquiries</a:t>
            </a:r>
          </a:p>
        </p:txBody>
      </p:sp>
      <p:sp>
        <p:nvSpPr>
          <p:cNvPr id="3" name="Content Placeholder 2"/>
          <p:cNvSpPr>
            <a:spLocks noGrp="1"/>
          </p:cNvSpPr>
          <p:nvPr>
            <p:ph idx="1"/>
          </p:nvPr>
        </p:nvSpPr>
        <p:spPr>
          <a:xfrm>
            <a:off x="608995" y="848226"/>
            <a:ext cx="10353762" cy="5161547"/>
          </a:xfrm>
        </p:spPr>
        <p:txBody>
          <a:bodyPr>
            <a:normAutofit/>
          </a:bodyPr>
          <a:lstStyle/>
          <a:p>
            <a:pPr lvl="1"/>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Office hours</a:t>
            </a:r>
          </a:p>
          <a:p>
            <a:pPr lvl="1"/>
            <a:r>
              <a:rPr lang="en-AU" dirty="0">
                <a:latin typeface="Arial" panose="020B0604020202020204" pitchFamily="34" charset="0"/>
                <a:cs typeface="Arial" panose="020B0604020202020204" pitchFamily="34" charset="0"/>
              </a:rPr>
              <a:t>Maybe Friday 12 – 2pm (F2F and virtual ) -&gt; this is just an arbitrary slot</a:t>
            </a:r>
          </a:p>
          <a:p>
            <a:pPr lvl="1"/>
            <a:r>
              <a:rPr lang="en-AU" dirty="0">
                <a:latin typeface="Arial" panose="020B0604020202020204" pitchFamily="34" charset="0"/>
                <a:cs typeface="Arial" panose="020B0604020202020204" pitchFamily="34" charset="0"/>
              </a:rPr>
              <a:t>Other times can be arranged too (email us through </a:t>
            </a:r>
            <a:r>
              <a:rPr lang="en-AU" dirty="0">
                <a:solidFill>
                  <a:schemeClr val="accent6"/>
                </a:solidFill>
                <a:latin typeface="Arial" panose="020B0604020202020204" pitchFamily="34" charset="0"/>
                <a:cs typeface="Arial" panose="020B0604020202020204" pitchFamily="34" charset="0"/>
              </a:rPr>
              <a:t>cits1003-pmc@uwa.edu.au</a:t>
            </a:r>
            <a:r>
              <a:rPr lang="en-AU" dirty="0">
                <a:latin typeface="Arial" panose="020B0604020202020204" pitchFamily="34" charset="0"/>
                <a:cs typeface="Arial" panose="020B0604020202020204" pitchFamily="34" charset="0"/>
              </a:rPr>
              <a:t>)</a:t>
            </a:r>
          </a:p>
          <a:p>
            <a:pPr lvl="1"/>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Lab Enquiries</a:t>
            </a:r>
          </a:p>
          <a:p>
            <a:pPr lvl="2"/>
            <a:r>
              <a:rPr lang="en-US" sz="1900" dirty="0">
                <a:latin typeface="Arial" panose="020B0604020202020204" pitchFamily="34" charset="0"/>
                <a:cs typeface="Arial" panose="020B0604020202020204" pitchFamily="34" charset="0"/>
              </a:rPr>
              <a:t>Ask on Teams (but remember not to share answers)</a:t>
            </a:r>
            <a:endParaRPr lang="en-AU" sz="1900" dirty="0">
              <a:latin typeface="Arial" panose="020B0604020202020204" pitchFamily="34" charset="0"/>
              <a:cs typeface="Arial" panose="020B0604020202020204" pitchFamily="34" charset="0"/>
            </a:endParaRPr>
          </a:p>
          <a:p>
            <a:pPr lvl="2"/>
            <a:r>
              <a:rPr lang="en-AU" sz="1900" dirty="0">
                <a:latin typeface="Arial" panose="020B0604020202020204" pitchFamily="34" charset="0"/>
                <a:cs typeface="Arial" panose="020B0604020202020204" pitchFamily="34" charset="0"/>
              </a:rPr>
              <a:t>Ask from the help server during the lab session</a:t>
            </a:r>
          </a:p>
          <a:p>
            <a:pPr lvl="2"/>
            <a:r>
              <a:rPr lang="en-AU" sz="1900" dirty="0">
                <a:latin typeface="Arial" panose="020B0604020202020204" pitchFamily="34" charset="0"/>
                <a:cs typeface="Arial" panose="020B0604020202020204" pitchFamily="34" charset="0"/>
              </a:rPr>
              <a:t>If all fails, email us</a:t>
            </a:r>
          </a:p>
          <a:p>
            <a:pPr lvl="2"/>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53779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58F1-055E-425C-AA83-5B63B4C48326}"/>
              </a:ext>
            </a:extLst>
          </p:cNvPr>
          <p:cNvSpPr>
            <a:spLocks noGrp="1"/>
          </p:cNvSpPr>
          <p:nvPr>
            <p:ph type="title"/>
          </p:nvPr>
        </p:nvSpPr>
        <p:spPr>
          <a:xfrm>
            <a:off x="913795" y="290286"/>
            <a:ext cx="10353762" cy="1257300"/>
          </a:xfrm>
        </p:spPr>
        <p:txBody>
          <a:bodyPr/>
          <a:lstStyle/>
          <a:p>
            <a:r>
              <a:rPr lang="en-AU" dirty="0"/>
              <a:t>Online Resources</a:t>
            </a:r>
          </a:p>
        </p:txBody>
      </p:sp>
      <p:sp>
        <p:nvSpPr>
          <p:cNvPr id="3" name="Content Placeholder 2">
            <a:extLst>
              <a:ext uri="{FF2B5EF4-FFF2-40B4-BE49-F238E27FC236}">
                <a16:creationId xmlns:a16="http://schemas.microsoft.com/office/drawing/2014/main" id="{7B315C7D-E5E2-4025-98AD-B4A66ECC32C4}"/>
              </a:ext>
            </a:extLst>
          </p:cNvPr>
          <p:cNvSpPr>
            <a:spLocks noGrp="1"/>
          </p:cNvSpPr>
          <p:nvPr>
            <p:ph idx="1"/>
          </p:nvPr>
        </p:nvSpPr>
        <p:spPr>
          <a:xfrm>
            <a:off x="913795" y="1606550"/>
            <a:ext cx="10937546" cy="3714749"/>
          </a:xfrm>
        </p:spPr>
        <p:txBody>
          <a:bodyPr/>
          <a:lstStyle/>
          <a:p>
            <a:r>
              <a:rPr lang="en-AU" dirty="0">
                <a:latin typeface="Arial" panose="020B0604020202020204" pitchFamily="34" charset="0"/>
                <a:cs typeface="Arial" panose="020B0604020202020204" pitchFamily="34" charset="0"/>
              </a:rPr>
              <a:t>You may find David's book on Ethical Hacking with Hack The Box useful</a:t>
            </a:r>
          </a:p>
          <a:p>
            <a:pPr lvl="1"/>
            <a:r>
              <a:rPr lang="en-AU" b="0" i="0" u="none" strike="noStrike" dirty="0">
                <a:solidFill>
                  <a:srgbClr val="92D050"/>
                </a:solidFill>
                <a:effectLst/>
                <a:latin typeface="Roboto" panose="02000000000000000000" pitchFamily="2" charset="0"/>
              </a:rPr>
              <a:t>https://2772132586-files.gitbook.io/~/files/v0/b/gitbook-legacy-files/o/assets%2F-M8JUFT2qjA1kHV7SeEI%2F-MbKnPR4PgdotRQvCM-D%2F-MbKqReUfLRQ5bE-3gR3%2FEthicalHackingHTBDGv1.pdf?alt=media&amp;token=6a805194-ead2-44d1-aaa3-98fa03084b91</a:t>
            </a:r>
            <a:endParaRPr lang="en-AU" dirty="0">
              <a:solidFill>
                <a:srgbClr val="92D050"/>
              </a:solidFill>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Other useful online resources will be provided throughout the weeks as necessary.</a:t>
            </a:r>
          </a:p>
        </p:txBody>
      </p:sp>
    </p:spTree>
    <p:extLst>
      <p:ext uri="{BB962C8B-B14F-4D97-AF65-F5344CB8AC3E}">
        <p14:creationId xmlns:p14="http://schemas.microsoft.com/office/powerpoint/2010/main" val="4119705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9788" y="14037"/>
            <a:ext cx="5125453" cy="996616"/>
          </a:xfrm>
        </p:spPr>
        <p:txBody>
          <a:bodyPr/>
          <a:lstStyle/>
          <a:p>
            <a:r>
              <a:rPr lang="en-AU" dirty="0"/>
              <a:t>FAQs </a:t>
            </a:r>
          </a:p>
        </p:txBody>
      </p:sp>
      <p:sp>
        <p:nvSpPr>
          <p:cNvPr id="3" name="Content Placeholder 2"/>
          <p:cNvSpPr>
            <a:spLocks noGrp="1"/>
          </p:cNvSpPr>
          <p:nvPr>
            <p:ph idx="1"/>
          </p:nvPr>
        </p:nvSpPr>
        <p:spPr>
          <a:xfrm>
            <a:off x="549442" y="1010653"/>
            <a:ext cx="11093115" cy="5246712"/>
          </a:xfrm>
        </p:spPr>
        <p:txBody>
          <a:bodyPr>
            <a:normAutofit/>
          </a:bodyPr>
          <a:lstStyle/>
          <a:p>
            <a:pPr marL="0" indent="0">
              <a:buNone/>
            </a:pPr>
            <a:r>
              <a:rPr lang="en-US" dirty="0">
                <a:latin typeface="Arial" panose="020B0604020202020204" pitchFamily="34" charset="0"/>
                <a:cs typeface="Arial" panose="020B0604020202020204" pitchFamily="34" charset="0"/>
              </a:rPr>
              <a:t>Q: Why do labs take too long to finish?</a:t>
            </a:r>
          </a:p>
          <a:p>
            <a:pPr marL="0" indent="0">
              <a:buNone/>
            </a:pPr>
            <a:r>
              <a:rPr lang="en-US" dirty="0">
                <a:latin typeface="Arial" panose="020B0604020202020204" pitchFamily="34" charset="0"/>
                <a:cs typeface="Arial" panose="020B0604020202020204" pitchFamily="34" charset="0"/>
              </a:rPr>
              <a:t>A: </a:t>
            </a:r>
          </a:p>
          <a:p>
            <a:r>
              <a:rPr lang="en-US" dirty="0">
                <a:latin typeface="Arial" panose="020B0604020202020204" pitchFamily="34" charset="0"/>
                <a:cs typeface="Arial" panose="020B0604020202020204" pitchFamily="34" charset="0"/>
              </a:rPr>
              <a:t>Labs are to get you familiar with various cybersecurity concepts, and it could take longer than the allocated 2 hours for the lab to finish it. </a:t>
            </a:r>
          </a:p>
          <a:p>
            <a:r>
              <a:rPr lang="en-US" dirty="0">
                <a:latin typeface="Arial" panose="020B0604020202020204" pitchFamily="34" charset="0"/>
                <a:cs typeface="Arial" panose="020B0604020202020204" pitchFamily="34" charset="0"/>
              </a:rPr>
              <a:t>You are welcome to attend other scheduled labs to complete the labs with the help of lab facilitators. </a:t>
            </a:r>
          </a:p>
          <a:p>
            <a:pPr marL="0" indent="0">
              <a:buNone/>
            </a:pPr>
            <a:endParaRPr lang="en-US" dirty="0"/>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1554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29788" y="14037"/>
            <a:ext cx="5125453" cy="996616"/>
          </a:xfrm>
        </p:spPr>
        <p:txBody>
          <a:bodyPr/>
          <a:lstStyle/>
          <a:p>
            <a:r>
              <a:rPr lang="en-AU"/>
              <a:t>FAQs </a:t>
            </a:r>
            <a:endParaRPr lang="en-AU" dirty="0"/>
          </a:p>
        </p:txBody>
      </p:sp>
      <p:sp>
        <p:nvSpPr>
          <p:cNvPr id="3" name="Content Placeholder 2"/>
          <p:cNvSpPr>
            <a:spLocks noGrp="1"/>
          </p:cNvSpPr>
          <p:nvPr>
            <p:ph idx="1"/>
          </p:nvPr>
        </p:nvSpPr>
        <p:spPr>
          <a:xfrm>
            <a:off x="549442" y="1010653"/>
            <a:ext cx="11093115" cy="5246712"/>
          </a:xfrm>
        </p:spPr>
        <p:txBody>
          <a:bodyPr>
            <a:normAutofit/>
          </a:bodyPr>
          <a:lstStyle/>
          <a:p>
            <a:pPr marL="0" indent="0">
              <a:buNone/>
            </a:pPr>
            <a:endParaRPr lang="en-US" dirty="0"/>
          </a:p>
          <a:p>
            <a:pPr marL="0" indent="0">
              <a:buNone/>
            </a:pPr>
            <a:r>
              <a:rPr lang="en-US" dirty="0">
                <a:latin typeface="Arial" panose="020B0604020202020204" pitchFamily="34" charset="0"/>
                <a:cs typeface="Arial" panose="020B0604020202020204" pitchFamily="34" charset="0"/>
              </a:rPr>
              <a:t>Q: Why don’t we get sample answers for labs and project?</a:t>
            </a:r>
          </a:p>
          <a:p>
            <a:pPr marL="0" indent="0">
              <a:buNone/>
            </a:pPr>
            <a:r>
              <a:rPr lang="en-US" dirty="0">
                <a:latin typeface="Arial" panose="020B0604020202020204" pitchFamily="34" charset="0"/>
                <a:cs typeface="Arial" panose="020B0604020202020204" pitchFamily="34" charset="0"/>
              </a:rPr>
              <a:t>A: </a:t>
            </a:r>
          </a:p>
          <a:p>
            <a:r>
              <a:rPr lang="en-US" dirty="0">
                <a:latin typeface="Arial" panose="020B0604020202020204" pitchFamily="34" charset="0"/>
                <a:cs typeface="Arial" panose="020B0604020202020204" pitchFamily="34" charset="0"/>
              </a:rPr>
              <a:t>The solutions for this unit can be different significantly from one to another, even with reasonably simple questions.</a:t>
            </a:r>
          </a:p>
          <a:p>
            <a:r>
              <a:rPr lang="en-US" dirty="0">
                <a:latin typeface="Arial" panose="020B0604020202020204" pitchFamily="34" charset="0"/>
                <a:cs typeface="Arial" panose="020B0604020202020204" pitchFamily="34" charset="0"/>
              </a:rPr>
              <a:t>We simply don’t want you to learn sample answers, but rather learn to explore various ways of solving (i.e., improve problem solving skills).</a:t>
            </a:r>
          </a:p>
          <a:p>
            <a:r>
              <a:rPr lang="en-US" dirty="0">
                <a:latin typeface="Arial" panose="020B0604020202020204" pitchFamily="34" charset="0"/>
                <a:cs typeface="Arial" panose="020B0604020202020204" pitchFamily="34" charset="0"/>
              </a:rPr>
              <a:t>We (facilitators and lecturers) are happy to discuss your solution, work out what might be going wrong and try to fix it with you.</a:t>
            </a:r>
            <a:endParaRPr lang="en-AU" dirty="0">
              <a:latin typeface="Arial" panose="020B0604020202020204" pitchFamily="34" charset="0"/>
              <a:cs typeface="Arial" panose="020B0604020202020204" pitchFamily="34" charset="0"/>
            </a:endParaRP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1654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70975"/>
            <a:ext cx="10353762" cy="1257300"/>
          </a:xfrm>
        </p:spPr>
        <p:txBody>
          <a:bodyPr/>
          <a:lstStyle/>
          <a:p>
            <a:r>
              <a:rPr lang="en-US" dirty="0"/>
              <a:t>Cheating</a:t>
            </a:r>
            <a:endParaRPr lang="en-AU" dirty="0"/>
          </a:p>
        </p:txBody>
      </p:sp>
      <p:sp>
        <p:nvSpPr>
          <p:cNvPr id="3" name="Content Placeholder 2"/>
          <p:cNvSpPr>
            <a:spLocks noGrp="1"/>
          </p:cNvSpPr>
          <p:nvPr>
            <p:ph idx="1"/>
          </p:nvPr>
        </p:nvSpPr>
        <p:spPr>
          <a:xfrm>
            <a:off x="913795" y="1699079"/>
            <a:ext cx="10353762" cy="4227588"/>
          </a:xfrm>
        </p:spPr>
        <p:txBody>
          <a:bodyPr>
            <a:normAutofit/>
          </a:bodyPr>
          <a:lstStyle/>
          <a:p>
            <a:r>
              <a:rPr lang="en-US" sz="2000" dirty="0">
                <a:latin typeface="Arial" panose="020B0604020202020204" pitchFamily="34" charset="0"/>
                <a:cs typeface="Arial" panose="020B0604020202020204" pitchFamily="34" charset="0"/>
              </a:rPr>
              <a:t>Please don’t cheat on any of the assessment items.</a:t>
            </a:r>
          </a:p>
          <a:p>
            <a:r>
              <a:rPr lang="en-US" sz="2000" dirty="0">
                <a:latin typeface="Arial" panose="020B0604020202020204" pitchFamily="34" charset="0"/>
                <a:cs typeface="Arial" panose="020B0604020202020204" pitchFamily="34" charset="0"/>
              </a:rPr>
              <a:t>Do not seek to get the solutions/flags/answers from anyone else.</a:t>
            </a:r>
          </a:p>
          <a:p>
            <a:r>
              <a:rPr lang="en-US" sz="2000" dirty="0">
                <a:latin typeface="Arial" panose="020B0604020202020204" pitchFamily="34" charset="0"/>
                <a:cs typeface="Arial" panose="020B0604020202020204" pitchFamily="34" charset="0"/>
              </a:rPr>
              <a:t>Do not seek to get the solutions/flags/answers from online.</a:t>
            </a:r>
          </a:p>
          <a:p>
            <a:r>
              <a:rPr lang="en-US" sz="2000" dirty="0">
                <a:latin typeface="Arial" panose="020B0604020202020204" pitchFamily="34" charset="0"/>
                <a:cs typeface="Arial" panose="020B0604020202020204" pitchFamily="34" charset="0"/>
              </a:rPr>
              <a:t>Do not share the solutions/flags/answers you have found.</a:t>
            </a:r>
          </a:p>
          <a:p>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Consequences are dire!</a:t>
            </a:r>
            <a:endParaRPr lang="en-AU" sz="2000" dirty="0">
              <a:latin typeface="Arial" panose="020B0604020202020204" pitchFamily="34" charset="0"/>
              <a:cs typeface="Arial" panose="020B0604020202020204" pitchFamily="34" charset="0"/>
            </a:endParaRPr>
          </a:p>
        </p:txBody>
      </p:sp>
      <p:pic>
        <p:nvPicPr>
          <p:cNvPr id="2050" name="Picture 2" descr="Image result for but why"/>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01941" y="2045576"/>
            <a:ext cx="2376264" cy="276684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val="27276065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458F1-055E-425C-AA83-5B63B4C48326}"/>
              </a:ext>
            </a:extLst>
          </p:cNvPr>
          <p:cNvSpPr>
            <a:spLocks noGrp="1"/>
          </p:cNvSpPr>
          <p:nvPr>
            <p:ph type="title"/>
          </p:nvPr>
        </p:nvSpPr>
        <p:spPr>
          <a:xfrm>
            <a:off x="913795" y="290286"/>
            <a:ext cx="10353762" cy="1257300"/>
          </a:xfrm>
        </p:spPr>
        <p:txBody>
          <a:bodyPr>
            <a:normAutofit/>
          </a:bodyPr>
          <a:lstStyle/>
          <a:p>
            <a:r>
              <a:rPr lang="en-AU" dirty="0"/>
              <a:t>AI Tools</a:t>
            </a:r>
          </a:p>
        </p:txBody>
      </p:sp>
      <p:sp>
        <p:nvSpPr>
          <p:cNvPr id="3" name="Content Placeholder 2">
            <a:extLst>
              <a:ext uri="{FF2B5EF4-FFF2-40B4-BE49-F238E27FC236}">
                <a16:creationId xmlns:a16="http://schemas.microsoft.com/office/drawing/2014/main" id="{7B315C7D-E5E2-4025-98AD-B4A66ECC32C4}"/>
              </a:ext>
            </a:extLst>
          </p:cNvPr>
          <p:cNvSpPr>
            <a:spLocks noGrp="1"/>
          </p:cNvSpPr>
          <p:nvPr>
            <p:ph idx="1"/>
          </p:nvPr>
        </p:nvSpPr>
        <p:spPr>
          <a:xfrm>
            <a:off x="913795" y="1606550"/>
            <a:ext cx="10937546" cy="3714749"/>
          </a:xfrm>
        </p:spPr>
        <p:txBody>
          <a:bodyPr>
            <a:normAutofit/>
          </a:bodyPr>
          <a:lstStyle/>
          <a:p>
            <a:r>
              <a:rPr lang="en-US" dirty="0">
                <a:latin typeface="Arial" panose="020B0604020202020204" pitchFamily="34" charset="0"/>
                <a:cs typeface="Arial" panose="020B0604020202020204" pitchFamily="34" charset="0"/>
              </a:rPr>
              <a:t>AI tools are allowed in a limited way (UWA Tier 2: AI assistance) </a:t>
            </a:r>
          </a:p>
          <a:p>
            <a:pPr lvl="1"/>
            <a:r>
              <a:rPr lang="en-AU" b="0" i="0" u="none" strike="noStrike" dirty="0">
                <a:solidFill>
                  <a:srgbClr val="92D050"/>
                </a:solidFill>
                <a:effectLst/>
                <a:latin typeface="Roboto" panose="02000000000000000000" pitchFamily="2" charset="0"/>
              </a:rPr>
              <a:t>https://www.uwa.edu.au/students/-/media/project/uwa/uwa/students/academic-support/using-ai-tools-at-uwa---a-guide-for-students-(2025).pdf</a:t>
            </a:r>
            <a:endParaRPr lang="en-AU" dirty="0">
              <a:solidFill>
                <a:srgbClr val="92D050"/>
              </a:solidFill>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Solutions/flags/answers must be your own work.</a:t>
            </a:r>
          </a:p>
          <a:p>
            <a:r>
              <a:rPr lang="en-US" dirty="0">
                <a:latin typeface="Arial" panose="020B0604020202020204" pitchFamily="34" charset="0"/>
                <a:cs typeface="Arial" panose="020B0604020202020204" pitchFamily="34" charset="0"/>
              </a:rPr>
              <a:t>Do not enter your personal data into AI tools. </a:t>
            </a:r>
          </a:p>
          <a:p>
            <a:r>
              <a:rPr lang="en-US" dirty="0">
                <a:latin typeface="Arial" panose="020B0604020202020204" pitchFamily="34" charset="0"/>
                <a:cs typeface="Arial" panose="020B0604020202020204" pitchFamily="34" charset="0"/>
              </a:rPr>
              <a:t>Do not upload copyrighted materials (e.g., lecture slides) into AI tools.</a:t>
            </a:r>
          </a:p>
          <a:p>
            <a:r>
              <a:rPr lang="en-US" dirty="0">
                <a:latin typeface="Arial" panose="020B0604020202020204" pitchFamily="34" charset="0"/>
                <a:cs typeface="Arial" panose="020B0604020202020204" pitchFamily="34" charset="0"/>
              </a:rPr>
              <a:t>Do not use </a:t>
            </a:r>
            <a:r>
              <a:rPr lang="en-US" dirty="0" err="1">
                <a:latin typeface="Arial" panose="020B0604020202020204" pitchFamily="34" charset="0"/>
                <a:cs typeface="Arial" panose="020B0604020202020204" pitchFamily="34" charset="0"/>
              </a:rPr>
              <a:t>DeepSeek</a:t>
            </a:r>
            <a:r>
              <a:rPr lang="en-US" dirty="0">
                <a:latin typeface="Arial" panose="020B0604020202020204" pitchFamily="34" charset="0"/>
                <a:cs typeface="Arial" panose="020B0604020202020204" pitchFamily="34" charset="0"/>
              </a:rPr>
              <a:t>, which has been banned by The Department of Home Affairs.</a:t>
            </a:r>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94482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Information Security</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p:txBody>
          <a:bodyPr>
            <a:normAutofit/>
          </a:bodyPr>
          <a:lstStyle/>
          <a:p>
            <a:r>
              <a:rPr lang="en-AU" dirty="0">
                <a:latin typeface="Arial" panose="020B0604020202020204" pitchFamily="34" charset="0"/>
                <a:cs typeface="Arial" panose="020B0604020202020204" pitchFamily="34" charset="0"/>
              </a:rPr>
              <a:t>All human endeavour relies on information </a:t>
            </a:r>
          </a:p>
          <a:p>
            <a:pPr lvl="1"/>
            <a:r>
              <a:rPr lang="en-AU" dirty="0">
                <a:latin typeface="Arial" panose="020B0604020202020204" pitchFamily="34" charset="0"/>
                <a:cs typeface="Arial" panose="020B0604020202020204" pitchFamily="34" charset="0"/>
              </a:rPr>
              <a:t>Business, Government, Education, Research, Personal life</a:t>
            </a:r>
          </a:p>
          <a:p>
            <a:r>
              <a:rPr lang="en-AU" dirty="0">
                <a:latin typeface="Arial" panose="020B0604020202020204" pitchFamily="34" charset="0"/>
                <a:cs typeface="Arial" panose="020B0604020202020204" pitchFamily="34" charset="0"/>
              </a:rPr>
              <a:t>Information security is about protecting this information from “unauthorised access, harm or misuse”</a:t>
            </a:r>
            <a:r>
              <a:rPr lang="en-AU" baseline="30000" dirty="0">
                <a:latin typeface="Arial" panose="020B0604020202020204" pitchFamily="34" charset="0"/>
                <a:cs typeface="Arial" panose="020B0604020202020204" pitchFamily="34" charset="0"/>
              </a:rPr>
              <a:t>1</a:t>
            </a:r>
            <a:endParaRPr lang="en-AU" dirty="0">
              <a:latin typeface="Arial" panose="020B0604020202020204" pitchFamily="34" charset="0"/>
              <a:cs typeface="Arial" panose="020B0604020202020204" pitchFamily="34" charset="0"/>
            </a:endParaRPr>
          </a:p>
          <a:p>
            <a:r>
              <a:rPr lang="en-AU" dirty="0">
                <a:latin typeface="Arial" panose="020B0604020202020204" pitchFamily="34" charset="0"/>
                <a:cs typeface="Arial" panose="020B0604020202020204" pitchFamily="34" charset="0"/>
              </a:rPr>
              <a:t>This is done by preserving </a:t>
            </a:r>
            <a:r>
              <a:rPr lang="en-AU" u="sng" dirty="0">
                <a:solidFill>
                  <a:srgbClr val="00B0F0"/>
                </a:solidFill>
                <a:latin typeface="Arial" panose="020B0604020202020204" pitchFamily="34" charset="0"/>
                <a:cs typeface="Arial" panose="020B0604020202020204" pitchFamily="34" charset="0"/>
              </a:rPr>
              <a:t>C</a:t>
            </a:r>
            <a:r>
              <a:rPr lang="en-AU" dirty="0">
                <a:latin typeface="Arial" panose="020B0604020202020204" pitchFamily="34" charset="0"/>
                <a:cs typeface="Arial" panose="020B0604020202020204" pitchFamily="34" charset="0"/>
              </a:rPr>
              <a:t>onfidentiality, </a:t>
            </a:r>
            <a:r>
              <a:rPr lang="en-AU" u="sng" dirty="0">
                <a:solidFill>
                  <a:srgbClr val="00B0F0"/>
                </a:solidFill>
                <a:latin typeface="Arial" panose="020B0604020202020204" pitchFamily="34" charset="0"/>
                <a:cs typeface="Arial" panose="020B0604020202020204" pitchFamily="34" charset="0"/>
              </a:rPr>
              <a:t>I</a:t>
            </a:r>
            <a:r>
              <a:rPr lang="en-AU" dirty="0">
                <a:latin typeface="Arial" panose="020B0604020202020204" pitchFamily="34" charset="0"/>
                <a:cs typeface="Arial" panose="020B0604020202020204" pitchFamily="34" charset="0"/>
              </a:rPr>
              <a:t>ntegrity and </a:t>
            </a:r>
            <a:r>
              <a:rPr lang="en-AU" u="sng" dirty="0">
                <a:solidFill>
                  <a:srgbClr val="00B0F0"/>
                </a:solidFill>
                <a:latin typeface="Arial" panose="020B0604020202020204" pitchFamily="34" charset="0"/>
                <a:cs typeface="Arial" panose="020B0604020202020204" pitchFamily="34" charset="0"/>
              </a:rPr>
              <a:t>A</a:t>
            </a:r>
            <a:r>
              <a:rPr lang="en-AU" dirty="0">
                <a:latin typeface="Arial" panose="020B0604020202020204" pitchFamily="34" charset="0"/>
                <a:cs typeface="Arial" panose="020B0604020202020204" pitchFamily="34" charset="0"/>
              </a:rPr>
              <a:t>vailability of information</a:t>
            </a:r>
          </a:p>
        </p:txBody>
      </p:sp>
      <p:sp>
        <p:nvSpPr>
          <p:cNvPr id="4" name="Footer Placeholder 3">
            <a:extLst>
              <a:ext uri="{FF2B5EF4-FFF2-40B4-BE49-F238E27FC236}">
                <a16:creationId xmlns:a16="http://schemas.microsoft.com/office/drawing/2014/main" id="{5293465A-4C2A-754E-8F5A-63A08A730A0E}"/>
              </a:ext>
            </a:extLst>
          </p:cNvPr>
          <p:cNvSpPr>
            <a:spLocks noGrp="1"/>
          </p:cNvSpPr>
          <p:nvPr>
            <p:ph type="ftr" sz="quarter" idx="11"/>
          </p:nvPr>
        </p:nvSpPr>
        <p:spPr/>
        <p:txBody>
          <a:bodyPr/>
          <a:lstStyle/>
          <a:p>
            <a:r>
              <a:rPr lang="en-US" dirty="0"/>
              <a:t>1 </a:t>
            </a:r>
            <a:r>
              <a:rPr lang="en-US" dirty="0" err="1"/>
              <a:t>Cybok</a:t>
            </a:r>
            <a:r>
              <a:rPr lang="en-US" dirty="0"/>
              <a:t> 1.0 2019 https://</a:t>
            </a:r>
            <a:r>
              <a:rPr lang="en-US" dirty="0" err="1"/>
              <a:t>www.cybok.org</a:t>
            </a:r>
            <a:r>
              <a:rPr lang="en-US" dirty="0"/>
              <a:t>/media/downloads/CyBOK_version_1.0_YMKBy7a.pdf</a:t>
            </a:r>
          </a:p>
        </p:txBody>
      </p:sp>
    </p:spTree>
    <p:extLst>
      <p:ext uri="{BB962C8B-B14F-4D97-AF65-F5344CB8AC3E}">
        <p14:creationId xmlns:p14="http://schemas.microsoft.com/office/powerpoint/2010/main" val="14769633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p:txBody>
          <a:bodyPr/>
          <a:lstStyle/>
          <a:p>
            <a:r>
              <a:rPr lang="en-AU" dirty="0"/>
              <a:t>CIA Triad</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4" y="2076450"/>
            <a:ext cx="10900253" cy="3714749"/>
          </a:xfrm>
        </p:spPr>
        <p:txBody>
          <a:bodyPr>
            <a:normAutofit/>
          </a:bodyPr>
          <a:lstStyle/>
          <a:p>
            <a:r>
              <a:rPr lang="en-AU" u="sng" dirty="0">
                <a:solidFill>
                  <a:srgbClr val="00B0F0"/>
                </a:solidFill>
                <a:latin typeface="Arial" panose="020B0604020202020204" pitchFamily="34" charset="0"/>
                <a:cs typeface="Arial" panose="020B0604020202020204" pitchFamily="34" charset="0"/>
              </a:rPr>
              <a:t>C</a:t>
            </a:r>
            <a:r>
              <a:rPr lang="en-AU" dirty="0">
                <a:latin typeface="Arial" panose="020B0604020202020204" pitchFamily="34" charset="0"/>
                <a:cs typeface="Arial" panose="020B0604020202020204" pitchFamily="34" charset="0"/>
              </a:rPr>
              <a:t>onfidentiality: </a:t>
            </a:r>
            <a:r>
              <a:rPr lang="en-US" dirty="0">
                <a:latin typeface="Arial" panose="020B0604020202020204" pitchFamily="34" charset="0"/>
                <a:cs typeface="Arial" panose="020B0604020202020204" pitchFamily="34" charset="0"/>
              </a:rPr>
              <a:t>Ensuring information is accessible only to authorized </a:t>
            </a:r>
            <a:r>
              <a:rPr lang="en-US" altLang="zh-CN" dirty="0">
                <a:latin typeface="Arial" panose="020B0604020202020204" pitchFamily="34" charset="0"/>
                <a:cs typeface="Arial" panose="020B0604020202020204" pitchFamily="34" charset="0"/>
              </a:rPr>
              <a:t>users</a:t>
            </a:r>
            <a:r>
              <a:rPr lang="en-US" dirty="0">
                <a:latin typeface="Arial" panose="020B0604020202020204" pitchFamily="34" charset="0"/>
                <a:cs typeface="Arial" panose="020B0604020202020204" pitchFamily="34" charset="0"/>
              </a:rPr>
              <a:t>, preventing unauthorized disclosure.</a:t>
            </a:r>
            <a:endParaRPr lang="en-AU" dirty="0">
              <a:latin typeface="Arial" panose="020B0604020202020204" pitchFamily="34" charset="0"/>
              <a:cs typeface="Arial" panose="020B0604020202020204" pitchFamily="34" charset="0"/>
            </a:endParaRPr>
          </a:p>
          <a:p>
            <a:r>
              <a:rPr lang="en-AU" u="sng" dirty="0">
                <a:solidFill>
                  <a:srgbClr val="00B0F0"/>
                </a:solidFill>
                <a:latin typeface="Arial" panose="020B0604020202020204" pitchFamily="34" charset="0"/>
                <a:cs typeface="Arial" panose="020B0604020202020204" pitchFamily="34" charset="0"/>
              </a:rPr>
              <a:t>I</a:t>
            </a:r>
            <a:r>
              <a:rPr lang="en-AU" dirty="0">
                <a:latin typeface="Arial" panose="020B0604020202020204" pitchFamily="34" charset="0"/>
                <a:cs typeface="Arial" panose="020B0604020202020204" pitchFamily="34" charset="0"/>
              </a:rPr>
              <a:t>ntegrity: </a:t>
            </a:r>
            <a:r>
              <a:rPr lang="en-US" dirty="0">
                <a:latin typeface="Arial" panose="020B0604020202020204" pitchFamily="34" charset="0"/>
                <a:cs typeface="Arial" panose="020B0604020202020204" pitchFamily="34" charset="0"/>
              </a:rPr>
              <a:t>Ensuring information remains unaltered except by authorized changes, preventing unauthorized modification.</a:t>
            </a:r>
            <a:endParaRPr lang="en-AU" dirty="0">
              <a:latin typeface="Arial" panose="020B0604020202020204" pitchFamily="34" charset="0"/>
              <a:cs typeface="Arial" panose="020B0604020202020204" pitchFamily="34" charset="0"/>
            </a:endParaRPr>
          </a:p>
          <a:p>
            <a:r>
              <a:rPr lang="en-AU" u="sng" dirty="0">
                <a:solidFill>
                  <a:srgbClr val="00B0F0"/>
                </a:solidFill>
                <a:latin typeface="Arial" panose="020B0604020202020204" pitchFamily="34" charset="0"/>
                <a:cs typeface="Arial" panose="020B0604020202020204" pitchFamily="34" charset="0"/>
              </a:rPr>
              <a:t>A</a:t>
            </a:r>
            <a:r>
              <a:rPr lang="en-AU" dirty="0">
                <a:latin typeface="Arial" panose="020B0604020202020204" pitchFamily="34" charset="0"/>
                <a:cs typeface="Arial" panose="020B0604020202020204" pitchFamily="34" charset="0"/>
              </a:rPr>
              <a:t>vailability: </a:t>
            </a:r>
            <a:r>
              <a:rPr lang="en-US" dirty="0">
                <a:latin typeface="Arial" panose="020B0604020202020204" pitchFamily="34" charset="0"/>
                <a:cs typeface="Arial" panose="020B0604020202020204" pitchFamily="34" charset="0"/>
              </a:rPr>
              <a:t>Ensuring authorized users can access information such as services and data when needed, preventing disruption or denial of access.</a:t>
            </a:r>
            <a:r>
              <a:rPr lang="en-AU"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9370573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438151"/>
            <a:ext cx="10353762" cy="1257300"/>
          </a:xfrm>
        </p:spPr>
        <p:txBody>
          <a:bodyPr/>
          <a:lstStyle/>
          <a:p>
            <a:r>
              <a:rPr lang="en-AU" dirty="0"/>
              <a:t>CIA Triad Extension</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367304" y="2076450"/>
            <a:ext cx="11538946" cy="3714749"/>
          </a:xfrm>
        </p:spPr>
        <p:txBody>
          <a:bodyPr>
            <a:normAutofit/>
          </a:bodyPr>
          <a:lstStyle/>
          <a:p>
            <a:r>
              <a:rPr lang="en-AU" dirty="0">
                <a:effectLst/>
                <a:latin typeface="Arial" panose="020B0604020202020204" pitchFamily="34" charset="0"/>
                <a:cs typeface="Arial" panose="020B0604020202020204" pitchFamily="34" charset="0"/>
              </a:rPr>
              <a:t>CIA can be extended to include such as Authentication, Authorization, and Non-Repudiation</a:t>
            </a:r>
            <a:r>
              <a:rPr lang="en-US" dirty="0">
                <a:effectLst/>
                <a:latin typeface="Arial" panose="020B0604020202020204" pitchFamily="34" charset="0"/>
                <a:cs typeface="Arial" panose="020B0604020202020204" pitchFamily="34" charset="0"/>
              </a:rPr>
              <a:t>.</a:t>
            </a:r>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Authentication</a:t>
            </a:r>
            <a:r>
              <a:rPr lang="en-AU" dirty="0">
                <a:latin typeface="Arial" panose="020B0604020202020204" pitchFamily="34" charset="0"/>
                <a:cs typeface="Arial" panose="020B0604020202020204" pitchFamily="34" charset="0"/>
              </a:rPr>
              <a:t>: </a:t>
            </a:r>
            <a:r>
              <a:rPr lang="en-US" dirty="0">
                <a:effectLst/>
                <a:latin typeface="Arial" panose="020B0604020202020204" pitchFamily="34" charset="0"/>
                <a:cs typeface="Arial" panose="020B0604020202020204" pitchFamily="34" charset="0"/>
              </a:rPr>
              <a:t>Verifying the identity of a user, or entity trying to access a system.</a:t>
            </a:r>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Authorization: </a:t>
            </a:r>
            <a:r>
              <a:rPr lang="en-US" dirty="0">
                <a:effectLst/>
                <a:latin typeface="Arial" panose="020B0604020202020204" pitchFamily="34" charset="0"/>
                <a:cs typeface="Arial" panose="020B0604020202020204" pitchFamily="34" charset="0"/>
              </a:rPr>
              <a:t>Determining what actions or resources an authenticated user or entity is allowed to access or perform.</a:t>
            </a:r>
            <a:endParaRPr lang="en-AU" dirty="0">
              <a:effectLst/>
              <a:latin typeface="Arial" panose="020B0604020202020204" pitchFamily="34" charset="0"/>
              <a:cs typeface="Arial" panose="020B0604020202020204" pitchFamily="34" charset="0"/>
            </a:endParaRPr>
          </a:p>
          <a:p>
            <a:r>
              <a:rPr lang="en-AU" dirty="0">
                <a:effectLst/>
                <a:latin typeface="Arial" panose="020B0604020202020204" pitchFamily="34" charset="0"/>
                <a:cs typeface="Arial" panose="020B0604020202020204" pitchFamily="34" charset="0"/>
              </a:rPr>
              <a:t>Non-Repudiation: </a:t>
            </a:r>
            <a:r>
              <a:rPr lang="en-US" dirty="0">
                <a:effectLst/>
                <a:latin typeface="Arial" panose="020B0604020202020204" pitchFamily="34" charset="0"/>
                <a:cs typeface="Arial" panose="020B0604020202020204" pitchFamily="34" charset="0"/>
              </a:rPr>
              <a:t>preventing users or entities from denying their involvement in a particular transaction.</a:t>
            </a:r>
            <a:endParaRPr lang="en-AU" dirty="0">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50463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203200"/>
            <a:ext cx="10353762" cy="1257300"/>
          </a:xfrm>
        </p:spPr>
        <p:txBody>
          <a:bodyPr/>
          <a:lstStyle/>
          <a:p>
            <a:r>
              <a:rPr lang="en-AU" dirty="0"/>
              <a:t>What is Cybersecurity?</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1713593"/>
            <a:ext cx="10353762" cy="3714749"/>
          </a:xfrm>
        </p:spPr>
        <p:txBody>
          <a:bodyPr>
            <a:normAutofit/>
          </a:bodyPr>
          <a:lstStyle/>
          <a:p>
            <a:r>
              <a:rPr lang="en-AU" dirty="0">
                <a:latin typeface="Arial" panose="020B0604020202020204" pitchFamily="34" charset="0"/>
                <a:cs typeface="Arial" panose="020B0604020202020204" pitchFamily="34" charset="0"/>
              </a:rPr>
              <a:t>Cybersecurity is a subset of Information Security that concerns the digital realm:</a:t>
            </a:r>
          </a:p>
          <a:p>
            <a:pPr lvl="1"/>
            <a:r>
              <a:rPr lang="en-AU" dirty="0">
                <a:effectLst/>
                <a:latin typeface="Arial" panose="020B0604020202020204" pitchFamily="34" charset="0"/>
                <a:cs typeface="Arial" panose="020B0604020202020204" pitchFamily="34" charset="0"/>
              </a:rPr>
              <a:t>It refers to the protection of information systems (hardware, software and associated infrastructure), the data on them, and the services they provide, from unauthorised access, harm or misuse.</a:t>
            </a:r>
          </a:p>
          <a:p>
            <a:pPr lvl="1"/>
            <a:r>
              <a:rPr lang="en-AU" dirty="0">
                <a:effectLst/>
                <a:latin typeface="Arial" panose="020B0604020202020204" pitchFamily="34" charset="0"/>
                <a:cs typeface="Arial" panose="020B0604020202020204" pitchFamily="34" charset="0"/>
              </a:rPr>
              <a:t>The unauthorised actions can be caused intentionally by the operator of the system, or accidentally, as a result of failing to follow security regulations. </a:t>
            </a:r>
          </a:p>
        </p:txBody>
      </p:sp>
    </p:spTree>
    <p:extLst>
      <p:ext uri="{BB962C8B-B14F-4D97-AF65-F5344CB8AC3E}">
        <p14:creationId xmlns:p14="http://schemas.microsoft.com/office/powerpoint/2010/main" val="28506908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F01C5-5333-2248-B03B-703C97F7CC69}"/>
              </a:ext>
            </a:extLst>
          </p:cNvPr>
          <p:cNvSpPr>
            <a:spLocks noGrp="1"/>
          </p:cNvSpPr>
          <p:nvPr>
            <p:ph type="title"/>
          </p:nvPr>
        </p:nvSpPr>
        <p:spPr>
          <a:xfrm>
            <a:off x="913795" y="228601"/>
            <a:ext cx="10353762" cy="888999"/>
          </a:xfrm>
        </p:spPr>
        <p:txBody>
          <a:bodyPr/>
          <a:lstStyle/>
          <a:p>
            <a:r>
              <a:rPr lang="en-AU" dirty="0"/>
              <a:t>Learning Outcomes</a:t>
            </a:r>
          </a:p>
        </p:txBody>
      </p:sp>
      <p:sp>
        <p:nvSpPr>
          <p:cNvPr id="3" name="Content Placeholder 2">
            <a:extLst>
              <a:ext uri="{FF2B5EF4-FFF2-40B4-BE49-F238E27FC236}">
                <a16:creationId xmlns:a16="http://schemas.microsoft.com/office/drawing/2014/main" id="{F7DD7DCB-C7E2-1B4F-BD83-3B7AF005DD76}"/>
              </a:ext>
            </a:extLst>
          </p:cNvPr>
          <p:cNvSpPr>
            <a:spLocks noGrp="1"/>
          </p:cNvSpPr>
          <p:nvPr>
            <p:ph idx="1"/>
          </p:nvPr>
        </p:nvSpPr>
        <p:spPr>
          <a:xfrm>
            <a:off x="913795" y="1573894"/>
            <a:ext cx="10353762" cy="3924299"/>
          </a:xfrm>
        </p:spPr>
        <p:txBody>
          <a:bodyPr>
            <a:normAutofit lnSpcReduction="10000"/>
          </a:bodyPr>
          <a:lstStyle/>
          <a:p>
            <a:r>
              <a:rPr lang="en-GB" dirty="0">
                <a:effectLst/>
                <a:latin typeface="Arial" panose="020B0604020202020204" pitchFamily="34" charset="0"/>
                <a:cs typeface="Arial" panose="020B0604020202020204" pitchFamily="34" charset="0"/>
              </a:rPr>
              <a:t>To understand and be able to articulate</a:t>
            </a:r>
          </a:p>
          <a:p>
            <a:pPr lvl="1"/>
            <a:r>
              <a:rPr lang="en-GB" dirty="0">
                <a:effectLst/>
                <a:latin typeface="Arial" panose="020B0604020202020204" pitchFamily="34" charset="0"/>
                <a:cs typeface="Arial" panose="020B0604020202020204" pitchFamily="34" charset="0"/>
              </a:rPr>
              <a:t>The language of Cybersecurity</a:t>
            </a:r>
          </a:p>
          <a:p>
            <a:pPr lvl="1"/>
            <a:r>
              <a:rPr lang="en-GB" dirty="0">
                <a:effectLst/>
                <a:latin typeface="Arial" panose="020B0604020202020204" pitchFamily="34" charset="0"/>
                <a:cs typeface="Arial" panose="020B0604020202020204" pitchFamily="34" charset="0"/>
              </a:rPr>
              <a:t>The principles of preserving Confidentiality, Integrity and Availability</a:t>
            </a:r>
          </a:p>
          <a:p>
            <a:pPr lvl="1"/>
            <a:r>
              <a:rPr lang="en-GB" dirty="0">
                <a:effectLst/>
                <a:latin typeface="Arial" panose="020B0604020202020204" pitchFamily="34" charset="0"/>
                <a:cs typeface="Arial" panose="020B0604020202020204" pitchFamily="34" charset="0"/>
              </a:rPr>
              <a:t>Principles of Risk Management</a:t>
            </a:r>
          </a:p>
          <a:p>
            <a:pPr lvl="1"/>
            <a:r>
              <a:rPr lang="en-GB" dirty="0">
                <a:effectLst/>
                <a:latin typeface="Arial" panose="020B0604020202020204" pitchFamily="34" charset="0"/>
                <a:cs typeface="Arial" panose="020B0604020202020204" pitchFamily="34" charset="0"/>
              </a:rPr>
              <a:t>Cybersecurity in the domains of </a:t>
            </a:r>
          </a:p>
          <a:p>
            <a:pPr lvl="2"/>
            <a:r>
              <a:rPr lang="en-GB" dirty="0">
                <a:effectLst/>
                <a:latin typeface="Arial" panose="020B0604020202020204" pitchFamily="34" charset="0"/>
                <a:cs typeface="Arial" panose="020B0604020202020204" pitchFamily="34" charset="0"/>
              </a:rPr>
              <a:t>* Human organisational and regulatory aspects, * Attacks and Defences, * System Security, * Software and Platform Security, * Infrastructure Security</a:t>
            </a:r>
          </a:p>
          <a:p>
            <a:r>
              <a:rPr lang="en-GB" dirty="0">
                <a:effectLst/>
                <a:latin typeface="Arial" panose="020B0604020202020204" pitchFamily="34" charset="0"/>
                <a:cs typeface="Arial" panose="020B0604020202020204" pitchFamily="34" charset="0"/>
              </a:rPr>
              <a:t>Case studies will be used to illustrate and concretise language, terms and concepts throughout the live lectures</a:t>
            </a:r>
          </a:p>
          <a:p>
            <a:r>
              <a:rPr lang="en-GB" dirty="0">
                <a:effectLst/>
                <a:latin typeface="Arial" panose="020B0604020202020204" pitchFamily="34" charset="0"/>
                <a:cs typeface="Arial" panose="020B0604020202020204" pitchFamily="34" charset="0"/>
              </a:rPr>
              <a:t>Practical laboratory work will assist in practical aspects of Cybersecurity</a:t>
            </a:r>
          </a:p>
        </p:txBody>
      </p:sp>
    </p:spTree>
    <p:extLst>
      <p:ext uri="{BB962C8B-B14F-4D97-AF65-F5344CB8AC3E}">
        <p14:creationId xmlns:p14="http://schemas.microsoft.com/office/powerpoint/2010/main" val="10687469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D983-BF7D-9343-B99F-81DCAC39D19B}"/>
              </a:ext>
            </a:extLst>
          </p:cNvPr>
          <p:cNvSpPr>
            <a:spLocks noGrp="1"/>
          </p:cNvSpPr>
          <p:nvPr>
            <p:ph type="title"/>
          </p:nvPr>
        </p:nvSpPr>
        <p:spPr>
          <a:xfrm>
            <a:off x="913795" y="246742"/>
            <a:ext cx="10353762" cy="1257300"/>
          </a:xfrm>
        </p:spPr>
        <p:txBody>
          <a:bodyPr/>
          <a:lstStyle/>
          <a:p>
            <a:r>
              <a:rPr lang="en-AU" dirty="0"/>
              <a:t>Ethics</a:t>
            </a:r>
            <a:br>
              <a:rPr lang="en-AU" dirty="0"/>
            </a:br>
            <a:r>
              <a:rPr lang="en-AU" dirty="0"/>
              <a:t>(or what you *absolutely* should not do)</a:t>
            </a:r>
          </a:p>
        </p:txBody>
      </p:sp>
      <p:sp>
        <p:nvSpPr>
          <p:cNvPr id="3" name="Content Placeholder 2">
            <a:extLst>
              <a:ext uri="{FF2B5EF4-FFF2-40B4-BE49-F238E27FC236}">
                <a16:creationId xmlns:a16="http://schemas.microsoft.com/office/drawing/2014/main" id="{BBEA6D1A-7BEE-D443-9695-FB4C23725F4D}"/>
              </a:ext>
            </a:extLst>
          </p:cNvPr>
          <p:cNvSpPr>
            <a:spLocks noGrp="1"/>
          </p:cNvSpPr>
          <p:nvPr>
            <p:ph idx="1"/>
          </p:nvPr>
        </p:nvSpPr>
        <p:spPr>
          <a:xfrm>
            <a:off x="913795" y="1815192"/>
            <a:ext cx="10353762" cy="4384508"/>
          </a:xfrm>
        </p:spPr>
        <p:txBody>
          <a:bodyPr>
            <a:normAutofit/>
          </a:bodyPr>
          <a:lstStyle/>
          <a:p>
            <a:r>
              <a:rPr lang="en-AU" dirty="0">
                <a:latin typeface="Arial" panose="020B0604020202020204" pitchFamily="34" charset="0"/>
                <a:cs typeface="Arial" panose="020B0604020202020204" pitchFamily="34" charset="0"/>
              </a:rPr>
              <a:t>Codes of Ethics are needed by all endeavours that are professions. In cybersecurity, there are several organisations that have them</a:t>
            </a:r>
          </a:p>
          <a:p>
            <a:r>
              <a:rPr lang="en-AU" dirty="0">
                <a:latin typeface="Arial" panose="020B0604020202020204" pitchFamily="34" charset="0"/>
                <a:cs typeface="Arial" panose="020B0604020202020204" pitchFamily="34" charset="0"/>
              </a:rPr>
              <a:t>ISC</a:t>
            </a:r>
            <a:r>
              <a:rPr lang="en-AU" baseline="30000" dirty="0">
                <a:latin typeface="Arial" panose="020B0604020202020204" pitchFamily="34" charset="0"/>
                <a:cs typeface="Arial" panose="020B0604020202020204" pitchFamily="34" charset="0"/>
              </a:rPr>
              <a:t>2 </a:t>
            </a:r>
            <a:r>
              <a:rPr lang="en-US" dirty="0">
                <a:latin typeface="Arial" panose="020B0604020202020204" pitchFamily="34" charset="0"/>
                <a:cs typeface="Arial" panose="020B0604020202020204" pitchFamily="34" charset="0"/>
              </a:rPr>
              <a:t>:Information System Security Certification Consortium</a:t>
            </a:r>
            <a:endParaRPr lang="en-AU" dirty="0">
              <a:latin typeface="Arial" panose="020B0604020202020204" pitchFamily="34" charset="0"/>
              <a:cs typeface="Arial" panose="020B0604020202020204" pitchFamily="34" charset="0"/>
            </a:endParaRPr>
          </a:p>
          <a:p>
            <a:pPr lvl="1"/>
            <a:r>
              <a:rPr lang="en-AU" dirty="0">
                <a:latin typeface="Arial" panose="020B0604020202020204" pitchFamily="34" charset="0"/>
                <a:cs typeface="Arial" panose="020B0604020202020204" pitchFamily="34" charset="0"/>
              </a:rPr>
              <a:t>Protect society, the common good, necessary public trust and confidence, and the infrastructure. </a:t>
            </a:r>
          </a:p>
          <a:p>
            <a:pPr lvl="1"/>
            <a:r>
              <a:rPr lang="en-AU" dirty="0">
                <a:latin typeface="Arial" panose="020B0604020202020204" pitchFamily="34" charset="0"/>
                <a:cs typeface="Arial" panose="020B0604020202020204" pitchFamily="34" charset="0"/>
              </a:rPr>
              <a:t>Act honourably, honestly, justly, responsibly, and legally. </a:t>
            </a:r>
          </a:p>
          <a:p>
            <a:pPr lvl="1"/>
            <a:r>
              <a:rPr lang="en-AU" dirty="0">
                <a:latin typeface="Arial" panose="020B0604020202020204" pitchFamily="34" charset="0"/>
                <a:cs typeface="Arial" panose="020B0604020202020204" pitchFamily="34" charset="0"/>
              </a:rPr>
              <a:t>Provide diligent and competent service to principals. </a:t>
            </a:r>
          </a:p>
          <a:p>
            <a:pPr lvl="1"/>
            <a:r>
              <a:rPr lang="en-AU" dirty="0">
                <a:latin typeface="Arial" panose="020B0604020202020204" pitchFamily="34" charset="0"/>
                <a:cs typeface="Arial" panose="020B0604020202020204" pitchFamily="34" charset="0"/>
              </a:rPr>
              <a:t>Advance and protect the profession.</a:t>
            </a:r>
          </a:p>
          <a:p>
            <a:endParaRPr lang="en-AU"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58078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7A6F-E7F5-304A-A25F-61E764525B5B}"/>
              </a:ext>
            </a:extLst>
          </p:cNvPr>
          <p:cNvSpPr>
            <a:spLocks noGrp="1"/>
          </p:cNvSpPr>
          <p:nvPr>
            <p:ph type="title"/>
          </p:nvPr>
        </p:nvSpPr>
        <p:spPr>
          <a:xfrm>
            <a:off x="913795" y="232229"/>
            <a:ext cx="10353762" cy="1257300"/>
          </a:xfrm>
        </p:spPr>
        <p:txBody>
          <a:bodyPr/>
          <a:lstStyle/>
          <a:p>
            <a:r>
              <a:rPr lang="en-AU" dirty="0"/>
              <a:t>Ethics continued…</a:t>
            </a:r>
          </a:p>
        </p:txBody>
      </p:sp>
      <p:sp>
        <p:nvSpPr>
          <p:cNvPr id="3" name="Content Placeholder 2">
            <a:extLst>
              <a:ext uri="{FF2B5EF4-FFF2-40B4-BE49-F238E27FC236}">
                <a16:creationId xmlns:a16="http://schemas.microsoft.com/office/drawing/2014/main" id="{88851BF1-8C4A-B14B-8144-02D268D45C5C}"/>
              </a:ext>
            </a:extLst>
          </p:cNvPr>
          <p:cNvSpPr>
            <a:spLocks noGrp="1"/>
          </p:cNvSpPr>
          <p:nvPr>
            <p:ph idx="1"/>
          </p:nvPr>
        </p:nvSpPr>
        <p:spPr>
          <a:xfrm>
            <a:off x="913795" y="1757136"/>
            <a:ext cx="10353762" cy="4023561"/>
          </a:xfrm>
        </p:spPr>
        <p:txBody>
          <a:bodyPr/>
          <a:lstStyle/>
          <a:p>
            <a:r>
              <a:rPr lang="en-AU" dirty="0">
                <a:latin typeface="Arial" panose="020B0604020202020204" pitchFamily="34" charset="0"/>
                <a:cs typeface="Arial" panose="020B0604020202020204" pitchFamily="34" charset="0"/>
              </a:rPr>
              <a:t>Don’t do anything that you don’t have explicit authorisation to do</a:t>
            </a:r>
          </a:p>
          <a:p>
            <a:r>
              <a:rPr lang="en-AU" dirty="0">
                <a:latin typeface="Arial" panose="020B0604020202020204" pitchFamily="34" charset="0"/>
                <a:cs typeface="Arial" panose="020B0604020202020204" pitchFamily="34" charset="0"/>
              </a:rPr>
              <a:t>Hacking without authorization is a crime in almost every country</a:t>
            </a:r>
          </a:p>
          <a:p>
            <a:r>
              <a:rPr lang="en-AU" dirty="0">
                <a:latin typeface="Arial" panose="020B0604020202020204" pitchFamily="34" charset="0"/>
                <a:cs typeface="Arial" panose="020B0604020202020204" pitchFamily="34" charset="0"/>
              </a:rPr>
              <a:t>You can cause damage to yourself and others by being negligent</a:t>
            </a:r>
          </a:p>
          <a:p>
            <a:r>
              <a:rPr lang="en-AU" dirty="0">
                <a:latin typeface="Arial" panose="020B0604020202020204" pitchFamily="34" charset="0"/>
                <a:cs typeface="Arial" panose="020B0604020202020204" pitchFamily="34" charset="0"/>
              </a:rPr>
              <a:t>A safe environment enables you to explore, investigate and learn</a:t>
            </a:r>
          </a:p>
        </p:txBody>
      </p:sp>
    </p:spTree>
    <p:extLst>
      <p:ext uri="{BB962C8B-B14F-4D97-AF65-F5344CB8AC3E}">
        <p14:creationId xmlns:p14="http://schemas.microsoft.com/office/powerpoint/2010/main" val="5486839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913795" y="246743"/>
            <a:ext cx="10353762" cy="1257300"/>
          </a:xfrm>
        </p:spPr>
        <p:txBody>
          <a:bodyPr/>
          <a:lstStyle/>
          <a:p>
            <a:r>
              <a:rPr lang="en-AU" dirty="0"/>
              <a:t>Copyright notice</a:t>
            </a:r>
          </a:p>
        </p:txBody>
      </p:sp>
      <p:sp>
        <p:nvSpPr>
          <p:cNvPr id="2" name="Content Placeholder 1">
            <a:extLst>
              <a:ext uri="{FF2B5EF4-FFF2-40B4-BE49-F238E27FC236}">
                <a16:creationId xmlns:a16="http://schemas.microsoft.com/office/drawing/2014/main" id="{75A042B4-6EB2-4F38-8355-D92C4E4A5EF9}"/>
              </a:ext>
            </a:extLst>
          </p:cNvPr>
          <p:cNvSpPr>
            <a:spLocks noGrp="1"/>
          </p:cNvSpPr>
          <p:nvPr>
            <p:ph idx="1"/>
          </p:nvPr>
        </p:nvSpPr>
        <p:spPr>
          <a:xfrm>
            <a:off x="913795" y="1504043"/>
            <a:ext cx="10353762" cy="4354330"/>
          </a:xfrm>
        </p:spPr>
        <p:txBody>
          <a:bodyPr>
            <a:normAutofit fontScale="70000" lnSpcReduction="20000"/>
          </a:bodyPr>
          <a:lstStyle/>
          <a:p>
            <a:pPr marL="36900" indent="0" algn="ctr">
              <a:buNone/>
            </a:pPr>
            <a:r>
              <a:rPr lang="en-AU" sz="4000" b="1" dirty="0">
                <a:latin typeface="Arial" panose="020B0604020202020204" pitchFamily="34" charset="0"/>
                <a:cs typeface="Arial" panose="020B0604020202020204" pitchFamily="34" charset="0"/>
              </a:rPr>
              <a:t>Commonwealth of Australia</a:t>
            </a:r>
          </a:p>
          <a:p>
            <a:pPr marL="36900" indent="0" algn="ctr">
              <a:buNone/>
            </a:pPr>
            <a:endParaRPr lang="en-AU" dirty="0">
              <a:latin typeface="Arial" panose="020B0604020202020204" pitchFamily="34" charset="0"/>
              <a:cs typeface="Arial" panose="020B0604020202020204" pitchFamily="34" charset="0"/>
            </a:endParaRPr>
          </a:p>
          <a:p>
            <a:pPr marL="36900" indent="0" algn="ctr">
              <a:buNone/>
            </a:pPr>
            <a:r>
              <a:rPr lang="en-AU" dirty="0">
                <a:latin typeface="Arial" panose="020B0604020202020204" pitchFamily="34" charset="0"/>
                <a:cs typeface="Arial" panose="020B0604020202020204" pitchFamily="34" charset="0"/>
              </a:rPr>
              <a:t>Copyright Regulations 1969</a:t>
            </a:r>
          </a:p>
          <a:p>
            <a:pPr marL="36900" indent="0" algn="ctr">
              <a:buNone/>
            </a:pPr>
            <a:endParaRPr lang="en-AU" dirty="0">
              <a:latin typeface="Arial" panose="020B0604020202020204" pitchFamily="34" charset="0"/>
              <a:cs typeface="Arial" panose="020B0604020202020204" pitchFamily="34" charset="0"/>
            </a:endParaRPr>
          </a:p>
          <a:p>
            <a:pPr marL="36900" indent="0" algn="ctr">
              <a:buNone/>
            </a:pPr>
            <a:r>
              <a:rPr lang="en-AU" dirty="0">
                <a:latin typeface="Arial" panose="020B0604020202020204" pitchFamily="34" charset="0"/>
                <a:cs typeface="Arial" panose="020B0604020202020204" pitchFamily="34" charset="0"/>
              </a:rPr>
              <a:t>WARNING</a:t>
            </a:r>
          </a:p>
          <a:p>
            <a:pPr marL="36900" indent="0" algn="ctr">
              <a:buNone/>
            </a:pPr>
            <a:endParaRPr lang="en-AU" sz="2400" dirty="0">
              <a:latin typeface="Arial" panose="020B0604020202020204" pitchFamily="34" charset="0"/>
              <a:cs typeface="Arial" panose="020B0604020202020204" pitchFamily="34" charset="0"/>
            </a:endParaRPr>
          </a:p>
          <a:p>
            <a:pPr marL="36900" indent="0">
              <a:buNone/>
            </a:pPr>
            <a:r>
              <a:rPr lang="en-AU" sz="2400" dirty="0">
                <a:latin typeface="Arial" panose="020B0604020202020204" pitchFamily="34" charset="0"/>
                <a:cs typeface="Arial" panose="020B0604020202020204" pitchFamily="34" charset="0"/>
              </a:rPr>
              <a:t>Materials in this unit (CITS1003 – Introduction to Cybersecurity) have been reproduced and communicated to you by or on behalf of The University of Western Australia pursuant to Part VB of the </a:t>
            </a:r>
            <a:r>
              <a:rPr lang="en-AU" sz="2400" i="1" dirty="0">
                <a:latin typeface="Arial" panose="020B0604020202020204" pitchFamily="34" charset="0"/>
                <a:cs typeface="Arial" panose="020B0604020202020204" pitchFamily="34" charset="0"/>
              </a:rPr>
              <a:t>Copyright Act</a:t>
            </a:r>
            <a:r>
              <a:rPr lang="en-AU" sz="2400" dirty="0">
                <a:latin typeface="Arial" panose="020B0604020202020204" pitchFamily="34" charset="0"/>
                <a:cs typeface="Arial" panose="020B0604020202020204" pitchFamily="34" charset="0"/>
              </a:rPr>
              <a:t>1968 (</a:t>
            </a:r>
            <a:r>
              <a:rPr lang="en-AU" sz="2400" b="1" dirty="0">
                <a:latin typeface="Arial" panose="020B0604020202020204" pitchFamily="34" charset="0"/>
                <a:cs typeface="Arial" panose="020B0604020202020204" pitchFamily="34" charset="0"/>
              </a:rPr>
              <a:t>the Act</a:t>
            </a:r>
            <a:r>
              <a:rPr lang="en-AU" sz="2400" dirty="0">
                <a:latin typeface="Arial" panose="020B0604020202020204" pitchFamily="34" charset="0"/>
                <a:cs typeface="Arial" panose="020B0604020202020204" pitchFamily="34" charset="0"/>
              </a:rPr>
              <a:t>).</a:t>
            </a:r>
          </a:p>
          <a:p>
            <a:pPr marL="36900" indent="0">
              <a:buNone/>
            </a:pPr>
            <a:endParaRPr lang="en-AU" sz="2400" dirty="0">
              <a:latin typeface="Arial" panose="020B0604020202020204" pitchFamily="34" charset="0"/>
              <a:cs typeface="Arial" panose="020B0604020202020204" pitchFamily="34" charset="0"/>
            </a:endParaRPr>
          </a:p>
          <a:p>
            <a:pPr marL="36900" indent="0">
              <a:buNone/>
            </a:pPr>
            <a:r>
              <a:rPr lang="en-AU" sz="2400" dirty="0">
                <a:latin typeface="Arial" panose="020B0604020202020204" pitchFamily="34" charset="0"/>
                <a:cs typeface="Arial" panose="020B0604020202020204" pitchFamily="34" charset="0"/>
              </a:rPr>
              <a:t>The material in this communication may be subject to copyright under the Act. Any further reproduction or communication of this material by you may be the subject of copyright protection under the Act.</a:t>
            </a:r>
          </a:p>
          <a:p>
            <a:pPr marL="36900" indent="0">
              <a:buNone/>
            </a:pPr>
            <a:endParaRPr lang="en-AU" dirty="0"/>
          </a:p>
        </p:txBody>
      </p:sp>
    </p:spTree>
    <p:extLst>
      <p:ext uri="{BB962C8B-B14F-4D97-AF65-F5344CB8AC3E}">
        <p14:creationId xmlns:p14="http://schemas.microsoft.com/office/powerpoint/2010/main" val="23075882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97A6F-E7F5-304A-A25F-61E764525B5B}"/>
              </a:ext>
            </a:extLst>
          </p:cNvPr>
          <p:cNvSpPr>
            <a:spLocks noGrp="1"/>
          </p:cNvSpPr>
          <p:nvPr>
            <p:ph type="title"/>
          </p:nvPr>
        </p:nvSpPr>
        <p:spPr>
          <a:xfrm>
            <a:off x="913795" y="232229"/>
            <a:ext cx="10353762" cy="1257300"/>
          </a:xfrm>
        </p:spPr>
        <p:txBody>
          <a:bodyPr/>
          <a:lstStyle/>
          <a:p>
            <a:r>
              <a:rPr lang="en-AU" dirty="0"/>
              <a:t>A to-do list</a:t>
            </a:r>
          </a:p>
        </p:txBody>
      </p:sp>
      <p:sp>
        <p:nvSpPr>
          <p:cNvPr id="3" name="Content Placeholder 2">
            <a:extLst>
              <a:ext uri="{FF2B5EF4-FFF2-40B4-BE49-F238E27FC236}">
                <a16:creationId xmlns:a16="http://schemas.microsoft.com/office/drawing/2014/main" id="{88851BF1-8C4A-B14B-8144-02D268D45C5C}"/>
              </a:ext>
            </a:extLst>
          </p:cNvPr>
          <p:cNvSpPr>
            <a:spLocks noGrp="1"/>
          </p:cNvSpPr>
          <p:nvPr>
            <p:ph idx="1"/>
          </p:nvPr>
        </p:nvSpPr>
        <p:spPr>
          <a:xfrm>
            <a:off x="913795" y="1757136"/>
            <a:ext cx="11007272" cy="4023561"/>
          </a:xfrm>
        </p:spPr>
        <p:txBody>
          <a:bodyPr/>
          <a:lstStyle/>
          <a:p>
            <a:r>
              <a:rPr lang="en-AU" dirty="0">
                <a:latin typeface="Arial" panose="020B0604020202020204" pitchFamily="34" charset="0"/>
                <a:cs typeface="Arial" panose="020B0604020202020204" pitchFamily="34" charset="0"/>
              </a:rPr>
              <a:t>Review today’s recording with its slides.</a:t>
            </a:r>
          </a:p>
          <a:p>
            <a:r>
              <a:rPr lang="en-AU" dirty="0">
                <a:latin typeface="Arial" panose="020B0604020202020204" pitchFamily="34" charset="0"/>
                <a:cs typeface="Arial" panose="020B0604020202020204" pitchFamily="34" charset="0"/>
              </a:rPr>
              <a:t>Go through the unit’s </a:t>
            </a:r>
            <a:r>
              <a:rPr lang="en-AU" dirty="0" err="1">
                <a:latin typeface="Arial" panose="020B0604020202020204" pitchFamily="34" charset="0"/>
                <a:cs typeface="Arial" panose="020B0604020202020204" pitchFamily="34" charset="0"/>
              </a:rPr>
              <a:t>gitbook</a:t>
            </a:r>
            <a:r>
              <a:rPr lang="en-AU" dirty="0">
                <a:latin typeface="Arial" panose="020B0604020202020204" pitchFamily="34" charset="0"/>
                <a:cs typeface="Arial" panose="020B0604020202020204" pitchFamily="34" charset="0"/>
              </a:rPr>
              <a:t> until Lab 1</a:t>
            </a:r>
          </a:p>
          <a:p>
            <a:pPr lvl="1"/>
            <a:r>
              <a:rPr lang="en-AU" sz="2100" dirty="0">
                <a:solidFill>
                  <a:srgbClr val="92D050"/>
                </a:solidFill>
                <a:latin typeface="Arial" panose="020B0604020202020204" pitchFamily="34" charset="0"/>
                <a:cs typeface="Arial" panose="020B0604020202020204" pitchFamily="34" charset="0"/>
              </a:rPr>
              <a:t>https://uwacyber.gitbook.io/cits1003</a:t>
            </a:r>
          </a:p>
          <a:p>
            <a:r>
              <a:rPr lang="en-AU" dirty="0">
                <a:latin typeface="Arial" panose="020B0604020202020204" pitchFamily="34" charset="0"/>
                <a:cs typeface="Arial" panose="020B0604020202020204" pitchFamily="34" charset="0"/>
              </a:rPr>
              <a:t>Watch the Preparation Lecture Videos of Cryptography before next Monday’s lecture</a:t>
            </a:r>
          </a:p>
          <a:p>
            <a:pPr lvl="1"/>
            <a:r>
              <a:rPr lang="en-AU" sz="2100" dirty="0">
                <a:solidFill>
                  <a:srgbClr val="92D050"/>
                </a:solidFill>
                <a:latin typeface="Arial" panose="020B0604020202020204" pitchFamily="34" charset="0"/>
                <a:cs typeface="Arial" panose="020B0604020202020204" pitchFamily="34" charset="0"/>
              </a:rPr>
              <a:t>https://uwacyber.gitbook.io/cits1003/lectures/lecture-materials</a:t>
            </a:r>
          </a:p>
        </p:txBody>
      </p:sp>
    </p:spTree>
    <p:extLst>
      <p:ext uri="{BB962C8B-B14F-4D97-AF65-F5344CB8AC3E}">
        <p14:creationId xmlns:p14="http://schemas.microsoft.com/office/powerpoint/2010/main" val="280466423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AnalogousFromDarkSeedLeftStep">
      <a:dk1>
        <a:srgbClr val="000000"/>
      </a:dk1>
      <a:lt1>
        <a:srgbClr val="FFFFFF"/>
      </a:lt1>
      <a:dk2>
        <a:srgbClr val="243541"/>
      </a:dk2>
      <a:lt2>
        <a:srgbClr val="E4E8E2"/>
      </a:lt2>
      <a:accent1>
        <a:srgbClr val="A629E7"/>
      </a:accent1>
      <a:accent2>
        <a:srgbClr val="6640DC"/>
      </a:accent2>
      <a:accent3>
        <a:srgbClr val="2F4FE7"/>
      </a:accent3>
      <a:accent4>
        <a:srgbClr val="1787D5"/>
      </a:accent4>
      <a:accent5>
        <a:srgbClr val="20B6B5"/>
      </a:accent5>
      <a:accent6>
        <a:srgbClr val="14B973"/>
      </a:accent6>
      <a:hlink>
        <a:srgbClr val="358E9F"/>
      </a:hlink>
      <a:folHlink>
        <a:srgbClr val="7F7F7F"/>
      </a:folHlink>
    </a:clrScheme>
    <a:fontScheme name="Slate">
      <a:majorFont>
        <a:latin typeface="Georgia Pro Cond Ligh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Speak Pro"/>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2097</Words>
  <Application>Microsoft Office PowerPoint</Application>
  <PresentationFormat>Widescreen</PresentationFormat>
  <Paragraphs>273</Paragraphs>
  <Slides>47</Slides>
  <Notes>47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Arial</vt:lpstr>
      <vt:lpstr>Calibri</vt:lpstr>
      <vt:lpstr>Courier New</vt:lpstr>
      <vt:lpstr>Georgia Pro Cond Light</vt:lpstr>
      <vt:lpstr>Roboto</vt:lpstr>
      <vt:lpstr>Speak Pro</vt:lpstr>
      <vt:lpstr>Wingdings</vt:lpstr>
      <vt:lpstr>Wingdings 2</vt:lpstr>
      <vt:lpstr>SlateVTI</vt:lpstr>
      <vt:lpstr>CITS1003 Introduction to Cybersecurity [0] Unit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Things</vt:lpstr>
      <vt:lpstr>Pre-Requisites and Target Audience</vt:lpstr>
      <vt:lpstr>To Get Started</vt:lpstr>
      <vt:lpstr>Emergency</vt:lpstr>
      <vt:lpstr>Assessments</vt:lpstr>
      <vt:lpstr>Lectures</vt:lpstr>
      <vt:lpstr>https://uwacyber.gitbook.io/cits1003/lectures/lecture-materials</vt:lpstr>
      <vt:lpstr>Labs start in Week 1</vt:lpstr>
      <vt:lpstr>https://uwacyber.gitbook.io/cits1003/labs/introduction-to-labs</vt:lpstr>
      <vt:lpstr>Lab Location</vt:lpstr>
      <vt:lpstr>MS Teams</vt:lpstr>
      <vt:lpstr>Lab Computer</vt:lpstr>
      <vt:lpstr>Lab Assessment</vt:lpstr>
      <vt:lpstr>Submission Site</vt:lpstr>
      <vt:lpstr>Submission Site</vt:lpstr>
      <vt:lpstr>Submission Site</vt:lpstr>
      <vt:lpstr>Lab Help</vt:lpstr>
      <vt:lpstr>A Help Server</vt:lpstr>
      <vt:lpstr>https://help.jinhong.org</vt:lpstr>
      <vt:lpstr>Lab Due Dates</vt:lpstr>
      <vt:lpstr>Lab Setup</vt:lpstr>
      <vt:lpstr>Lab Setup</vt:lpstr>
      <vt:lpstr>Other Assessments</vt:lpstr>
      <vt:lpstr>Weekly Topics</vt:lpstr>
      <vt:lpstr>Enquiries</vt:lpstr>
      <vt:lpstr>Online Resources</vt:lpstr>
      <vt:lpstr>FAQs </vt:lpstr>
      <vt:lpstr>FAQs </vt:lpstr>
      <vt:lpstr>Cheating</vt:lpstr>
      <vt:lpstr>AI Tools</vt:lpstr>
      <vt:lpstr>Information Security</vt:lpstr>
      <vt:lpstr>CIA Triad</vt:lpstr>
      <vt:lpstr>CIA Triad Extension</vt:lpstr>
      <vt:lpstr>What is Cybersecurity?</vt:lpstr>
      <vt:lpstr>Learning Outcomes</vt:lpstr>
      <vt:lpstr>Ethics (or what you *absolutely* should not do)</vt:lpstr>
      <vt:lpstr>Ethics continued…</vt:lpstr>
      <vt:lpstr>Copyright notice</vt:lpstr>
      <vt:lpstr>A to-do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2026-02-23T04:12:30Z</dcterms:created>
  <dcterms:modified xsi:type="dcterms:W3CDTF">2026-02-23T04:12:55Z</dcterms:modified>
</cp:coreProperties>
</file>