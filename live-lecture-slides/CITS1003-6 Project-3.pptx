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.jpg" ContentType="image/jpg"/>
  <Override PartName="/ppt/media/image3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16.jpg" ContentType="image/jpg"/>
  <Override PartName="/ppt/notesSlides/notesSlide8.xml" ContentType="application/vnd.openxmlformats-officedocument.presentationml.notesSlide+xml"/>
  <Override PartName="/ppt/media/image21.jpg" ContentType="image/jp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29.jpg" ContentType="image/jpg"/>
  <Override PartName="/ppt/media/image30.jpg" ContentType="image/jpg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media/image33.jpg" ContentType="image/jpg"/>
  <Override PartName="/ppt/media/image34.jpg" ContentType="image/jpg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88" r:id="rId3"/>
    <p:sldId id="258" r:id="rId4"/>
    <p:sldId id="259" r:id="rId5"/>
    <p:sldId id="260" r:id="rId6"/>
    <p:sldId id="261" r:id="rId7"/>
    <p:sldId id="289" r:id="rId8"/>
    <p:sldId id="263" r:id="rId9"/>
    <p:sldId id="264" r:id="rId10"/>
    <p:sldId id="291" r:id="rId11"/>
    <p:sldId id="266" r:id="rId12"/>
    <p:sldId id="292" r:id="rId13"/>
    <p:sldId id="267" r:id="rId14"/>
    <p:sldId id="290" r:id="rId15"/>
    <p:sldId id="269" r:id="rId16"/>
    <p:sldId id="270" r:id="rId17"/>
    <p:sldId id="271" r:id="rId18"/>
    <p:sldId id="293" r:id="rId19"/>
    <p:sldId id="272" r:id="rId20"/>
    <p:sldId id="273" r:id="rId21"/>
    <p:sldId id="294" r:id="rId22"/>
    <p:sldId id="295" r:id="rId23"/>
    <p:sldId id="296" r:id="rId24"/>
    <p:sldId id="277" r:id="rId25"/>
    <p:sldId id="278" r:id="rId26"/>
    <p:sldId id="297" r:id="rId27"/>
    <p:sldId id="298" r:id="rId28"/>
    <p:sldId id="299" r:id="rId29"/>
    <p:sldId id="300" r:id="rId30"/>
    <p:sldId id="301" r:id="rId31"/>
    <p:sldId id="302" r:id="rId32"/>
    <p:sldId id="283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287" r:id="rId4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2" autoAdjust="0"/>
    <p:restoredTop sz="88701" autoAdjust="0"/>
  </p:normalViewPr>
  <p:slideViewPr>
    <p:cSldViewPr snapToGrid="0" snapToObjects="1">
      <p:cViewPr varScale="1">
        <p:scale>
          <a:sx n="83" d="100"/>
          <a:sy n="83" d="100"/>
        </p:scale>
        <p:origin x="81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03A44-E5D9-554B-8C13-3567FA14A6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9FF6E-8DAC-D24C-B7FD-762311D28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59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9FF6E-8DAC-D24C-B7FD-762311D28D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81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9FF6E-8DAC-D24C-B7FD-762311D28DB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9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_BG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0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jp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jpg"/><Relationship Id="rId9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_Image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cat workshop.md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9D353"/>
                </a:solidFill>
                <a:latin typeface="Consolas"/>
              </a:defRPr>
            </a:pPr>
            <a:r>
              <a:rPr dirty="0"/>
              <a:t>CITS1003 Project</a:t>
            </a:r>
          </a:p>
          <a:p>
            <a:pPr>
              <a:defRPr sz="4400" b="1">
                <a:solidFill>
                  <a:srgbClr val="39D353"/>
                </a:solidFill>
                <a:latin typeface="Consolas"/>
              </a:defRPr>
            </a:pPr>
            <a:r>
              <a:rPr dirty="0"/>
              <a:t>in Sem 1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2743200" cy="9144"/>
          </a:xfrm>
          <a:prstGeom prst="rect">
            <a:avLst/>
          </a:prstGeom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84F58"/>
                </a:solidFill>
                <a:latin typeface="Consolas"/>
              </a:defRPr>
            </a:pPr>
            <a:r>
              <a:rPr dirty="0"/>
              <a:t>Background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79C0FF"/>
                </a:solidFill>
                <a:latin typeface="Consolas"/>
              </a:rPr>
              <a:t>topics</a:t>
            </a:r>
            <a:r>
              <a:rPr sz="1200" dirty="0">
                <a:solidFill>
                  <a:srgbClr val="8B949E"/>
                </a:solidFill>
                <a:latin typeface="Consolas"/>
              </a:rPr>
              <a:t>: Cryptography, Forensics</a:t>
            </a: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90DF80A7-F37B-67CF-8A2A-4DFDC4DC5584}"/>
              </a:ext>
            </a:extLst>
          </p:cNvPr>
          <p:cNvSpPr/>
          <p:nvPr/>
        </p:nvSpPr>
        <p:spPr>
          <a:xfrm flipH="1">
            <a:off x="4853355" y="2148840"/>
            <a:ext cx="90434" cy="396784"/>
          </a:xfrm>
          <a:prstGeom prst="rect">
            <a:avLst/>
          </a:prstGeom>
          <a:solidFill>
            <a:srgbClr val="39D35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8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terminal-code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2899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pic>
        <p:nvPicPr>
          <p:cNvPr id="7" name="Image 1" descr="assets/jack-qin-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77" y="1552033"/>
            <a:ext cx="1828800" cy="1828800"/>
          </a:xfrm>
          <a:prstGeom prst="ellipse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1357" y="1506313"/>
            <a:ext cx="1920240" cy="1920240"/>
          </a:xfrm>
          <a:prstGeom prst="ellipse">
            <a:avLst/>
          </a:prstGeom>
          <a:solidFill>
            <a:srgbClr val="000000">
              <a:alpha val="0"/>
            </a:srgbClr>
          </a:solidFill>
          <a:ln w="254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926080" y="75401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Fudong Qin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2926080" y="121121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Engineer@ DUSTAC | Lab Facilitator@ UWA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926080" y="1622690"/>
            <a:ext cx="36576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880360" y="1725726"/>
            <a:ext cx="5715000" cy="447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</a:t>
            </a:r>
            <a:r>
              <a:rPr lang="en-US" sz="16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zh-CN" altLang="en-US" sz="16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IT</a:t>
            </a:r>
            <a:r>
              <a:rPr lang="zh-CN" alt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University of Western Australia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882444" y="2875955"/>
            <a:ext cx="5760720" cy="645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awards</a:t>
            </a:r>
            <a:r>
              <a:rPr lang="en-US" sz="16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altLang="zh-CN" sz="1600" dirty="0">
                <a:solidFill>
                  <a:srgbClr val="8B949E"/>
                </a:solidFill>
                <a:latin typeface="Calibri" pitchFamily="34" charset="0"/>
                <a:ea typeface="Consolas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Commendation Letters for outstanding performance as a Facilitator at CSSE</a:t>
            </a:r>
          </a:p>
          <a:p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882444" y="2159554"/>
            <a:ext cx="5760720" cy="60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facilitated</a:t>
            </a:r>
            <a:r>
              <a:rPr lang="en-US" sz="16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altLang="zh-CN" sz="16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CITS1003, CITS1401, 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CITS5503, CITS5504, CITS5505, CITS5506, CITS5206</a:t>
            </a:r>
          </a:p>
        </p:txBody>
      </p:sp>
      <p:sp>
        <p:nvSpPr>
          <p:cNvPr id="17" name="Text 13"/>
          <p:cNvSpPr/>
          <p:nvPr/>
        </p:nvSpPr>
        <p:spPr>
          <a:xfrm>
            <a:off x="2882444" y="346207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website</a:t>
            </a:r>
            <a:r>
              <a:rPr lang="en-US" sz="16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fudong.dev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2833141" y="4031805"/>
            <a:ext cx="1190219" cy="292608"/>
          </a:xfrm>
          <a:prstGeom prst="rect">
            <a:avLst/>
          </a:prstGeom>
          <a:solidFill>
            <a:srgbClr val="1A3A1F"/>
          </a:solidFill>
          <a:ln w="63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879610" y="4031805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Development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160520" y="4031805"/>
            <a:ext cx="1097280" cy="292608"/>
          </a:xfrm>
          <a:prstGeom prst="rect">
            <a:avLst/>
          </a:prstGeom>
          <a:solidFill>
            <a:srgbClr val="1A3A1F"/>
          </a:solidFill>
          <a:ln w="63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7"/>
          <p:cNvSpPr/>
          <p:nvPr/>
        </p:nvSpPr>
        <p:spPr>
          <a:xfrm>
            <a:off x="4160520" y="4031805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394960" y="4031805"/>
            <a:ext cx="1097280" cy="292608"/>
          </a:xfrm>
          <a:prstGeom prst="rect">
            <a:avLst/>
          </a:prstGeom>
          <a:solidFill>
            <a:srgbClr val="1A3A1F"/>
          </a:solidFill>
          <a:ln w="63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394960" y="4031805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Computing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629400" y="4031805"/>
            <a:ext cx="1097280" cy="292608"/>
          </a:xfrm>
          <a:prstGeom prst="rect">
            <a:avLst/>
          </a:prstGeom>
          <a:solidFill>
            <a:srgbClr val="1A3A1F"/>
          </a:solidFill>
          <a:ln w="63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1"/>
          <p:cNvSpPr/>
          <p:nvPr/>
        </p:nvSpPr>
        <p:spPr>
          <a:xfrm>
            <a:off x="6629400" y="4031805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863840" y="4031805"/>
            <a:ext cx="1097280" cy="292608"/>
          </a:xfrm>
          <a:prstGeom prst="rect">
            <a:avLst/>
          </a:prstGeom>
          <a:solidFill>
            <a:srgbClr val="1A3A1F"/>
          </a:solidFill>
          <a:ln w="63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7863840" y="4031805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Stack</a:t>
            </a:r>
            <a:endParaRPr lang="en-US" sz="10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A0B803B4-23B6-E197-0351-459453302CF7}"/>
              </a:ext>
            </a:extLst>
          </p:cNvPr>
          <p:cNvSpPr/>
          <p:nvPr/>
        </p:nvSpPr>
        <p:spPr>
          <a:xfrm>
            <a:off x="995311" y="365760"/>
            <a:ext cx="49461" cy="155448"/>
          </a:xfrm>
          <a:prstGeom prst="rect">
            <a:avLst/>
          </a:prstGeom>
          <a:solidFill>
            <a:srgbClr val="39D35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8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731520"/>
            <a:ext cx="9144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latin typeface="Consola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9D353"/>
                </a:solidFill>
                <a:latin typeface="Consolas"/>
              </a:defRPr>
            </a:pPr>
            <a:r>
              <a:t>Cryptography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B949E"/>
                </a:solidFill>
                <a:latin typeface="Calibri"/>
              </a:defRPr>
            </a:pPr>
            <a:r>
              <a:t>Encoding, encryption, compression, and randomness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cat crypto/objectives.md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t>Learning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Recognise and decode common encoding schemes (Base64, Hex, URL)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Use CyberChef to chain multiple decode/decompress operations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Understand how AES block cipher works, especially ECB mode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Explain why PRNGs are predictable given the seed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Decode and inspect Flask session cookies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cat crypto/encoding-intro.md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t>What Is Encoding?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1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7955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C9D1D9"/>
                </a:solidFill>
                <a:latin typeface="Calibri"/>
              </a:defRPr>
            </a:pPr>
            <a:r>
              <a:t>Think of encoding like translating English to Morse code — anyone who knows Morse can read it. No secret needed.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DF394142-7D66-9D05-5CD0-92A2ED227978}"/>
              </a:ext>
            </a:extLst>
          </p:cNvPr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transforms data into a different format for transport or storage. It is NOT security:</a:t>
            </a:r>
            <a:endParaRPr lang="en-US" sz="12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4171500-D5E5-B986-92D6-59B1C1A24710}"/>
              </a:ext>
            </a:extLst>
          </p:cNvPr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 needed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anyone can encode and decode. The algorithm is public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security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encoding is a format, not protection. Never use Base64 to "hide" passwords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encode spaces as </a:t>
            </a:r>
            <a:r>
              <a:rPr lang="en-US" sz="11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%20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because URLs cannot contain literal spaces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uses Base64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because email (SMTP) is text-only, so binary attachments must be converted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analogy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Morse code is encoding: dots and dashes represent letters</a:t>
            </a:r>
            <a:endParaRPr lang="en-US" sz="11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CCEF670A-6DDA-6E98-FD31-4424BE8DA6FE}"/>
              </a:ext>
            </a:extLst>
          </p:cNvPr>
          <p:cNvSpPr/>
          <p:nvPr/>
        </p:nvSpPr>
        <p:spPr>
          <a:xfrm>
            <a:off x="484632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--&gt;  encode  --&gt;  </a:t>
            </a: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SGVsbG8=</a:t>
            </a:r>
            <a:endParaRPr lang="en-US" sz="11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D0219225-5EAF-DBE4-727B-CF031518A99F}"/>
              </a:ext>
            </a:extLst>
          </p:cNvPr>
          <p:cNvSpPr/>
          <p:nvPr/>
        </p:nvSpPr>
        <p:spPr>
          <a:xfrm>
            <a:off x="484632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SGVsbG8=</a:t>
            </a: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--&gt;  decode  --&gt;  </a:t>
            </a:r>
            <a:r>
              <a:rPr lang="en-US" sz="11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1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D4DB1A62-2838-0B58-453E-BC349B27A543}"/>
              </a:ext>
            </a:extLst>
          </p:cNvPr>
          <p:cNvSpPr/>
          <p:nvPr/>
        </p:nvSpPr>
        <p:spPr>
          <a:xfrm>
            <a:off x="4846320" y="2697480"/>
            <a:ext cx="54864" cy="5029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79681068-167E-2C6B-D9A1-3781F837C265}"/>
              </a:ext>
            </a:extLst>
          </p:cNvPr>
          <p:cNvSpPr/>
          <p:nvPr/>
        </p:nvSpPr>
        <p:spPr>
          <a:xfrm>
            <a:off x="4846320" y="2697480"/>
            <a:ext cx="3840480" cy="502920"/>
          </a:xfrm>
          <a:prstGeom prst="rect">
            <a:avLst/>
          </a:prstGeom>
          <a:solidFill>
            <a:srgbClr val="1A3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B374FAF-DC29-3A2C-6472-116B1B815B81}"/>
              </a:ext>
            </a:extLst>
          </p:cNvPr>
          <p:cNvSpPr/>
          <p:nvPr/>
        </p:nvSpPr>
        <p:spPr>
          <a:xfrm>
            <a:off x="502920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Like converting Celsius to Fahrenheit -- different scale, same temperature. Anyone can convert back.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 ascii</a:t>
            </a:r>
            <a:endParaRPr lang="en-US" sz="9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t>ASCII — The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Calibri"/>
              </a:defRPr>
            </a:pPr>
            <a:r>
              <a:t>ASCII maps each character to a number (0–127). The basis of how computers represent text.</a:t>
            </a:r>
          </a:p>
        </p:txBody>
      </p:sp>
      <p:pic>
        <p:nvPicPr>
          <p:cNvPr id="10" name="Picture 9" descr="ascii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384048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0" y="35661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84F58"/>
                </a:solidFill>
                <a:latin typeface="Consolas"/>
              </a:defRPr>
            </a:pPr>
            <a:r>
              <a:t>Full ASCII Table (DEC / HEX / Symbol)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dirty="0">
                <a:solidFill>
                  <a:srgbClr val="39D353"/>
                </a:solidFill>
                <a:latin typeface="Consolas"/>
              </a:rPr>
              <a:t>&gt;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Hex (hexadecimal) = base-16 number system using 0-9 and A-F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39D353"/>
                </a:solidFill>
                <a:latin typeface="Consolas"/>
              </a:rPr>
              <a:t>&gt;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Every text file = a sequence of ASCII byte values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39D353"/>
                </a:solidFill>
                <a:latin typeface="Consolas"/>
              </a:rPr>
              <a:t>&gt;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Hex editors show bytes — ASCII table helps you read them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D727DAD-4A59-526F-B873-5FCA1A8D8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002822"/>
              </p:ext>
            </p:extLst>
          </p:nvPr>
        </p:nvGraphicFramePr>
        <p:xfrm>
          <a:off x="540327" y="1600200"/>
          <a:ext cx="3840480" cy="1483068"/>
        </p:xfrm>
        <a:graphic>
          <a:graphicData uri="http://schemas.openxmlformats.org/drawingml/2006/table">
            <a:tbl>
              <a:tblPr/>
              <a:tblGrid>
                <a:gridCol w="672084">
                  <a:extLst>
                    <a:ext uri="{9D8B030D-6E8A-4147-A177-3AD203B41FA5}">
                      <a16:colId xmlns:a16="http://schemas.microsoft.com/office/drawing/2014/main" val="1113736703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72399335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3338851795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374580551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1752855197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359884041"/>
                    </a:ext>
                  </a:extLst>
                </a:gridCol>
              </a:tblGrid>
              <a:tr h="3707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150907"/>
                  </a:ext>
                </a:extLst>
              </a:tr>
              <a:tr h="3707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02568"/>
                  </a:ext>
                </a:extLst>
              </a:tr>
              <a:tr h="3707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676854"/>
                  </a:ext>
                </a:extLst>
              </a:tr>
              <a:tr h="3707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(space)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5130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crypto/encoding-formats.md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Recognising Encoding Formats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188720"/>
          <a:ext cx="8229600" cy="1295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Format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Example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How to Recognise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ASCII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72 101 108 108 111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numbers 0-127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Base64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SGVsbG8gV29ybGQ=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ends with = or ==, uses A-Z a-z 0-9 +/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65 6c 6c 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0-9 and a-f (case-insensitive)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URL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hello%20world%21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 %XX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tell these apart: Check the character set. If only 0-9 and a-f, it is hex. Mixed case with = padding = Base64. % followed by two hex digits = URL encoding.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474720"/>
            <a:ext cx="54864" cy="5029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1A3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hex dump (e.g. 00000000: 4865 6c6c) is a way to VIEW binary data, not an encoding format itself.</a:t>
            </a:r>
            <a:endParaRPr lang="en-US" sz="1100" dirty="0"/>
          </a:p>
        </p:txBody>
      </p:sp>
      <p:sp>
        <p:nvSpPr>
          <p:cNvPr id="5" name="Shape 7"/>
          <p:cNvSpPr/>
          <p:nvPr/>
        </p:nvSpPr>
        <p:spPr>
          <a:xfrm>
            <a:off x="457200" y="4114800"/>
            <a:ext cx="54864" cy="5029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strategy: Look at the character set -&gt; identify encoding -&gt; decode. If output still looks encoded, repeat!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cat crypto/encoding-formats.md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t>Common Encoding Formats — 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840480" cy="2103120"/>
          </a:xfrm>
          <a:prstGeom prst="rect">
            <a:avLst/>
          </a:prstGeom>
          <a:solidFill>
            <a:srgbClr val="1C2128"/>
          </a:solidFill>
          <a:ln w="9525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484F58"/>
                </a:solidFill>
                <a:latin typeface="Consolas"/>
              </a:defRPr>
            </a:pPr>
            <a:r>
              <a:t># Base64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Input:  Hello World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Output: SGVsbG8gV29ybGQ=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484F58"/>
                </a:solidFill>
                <a:latin typeface="Consolas"/>
              </a:defRPr>
            </a:pPr>
            <a:r>
              <a:t># Hexadecimal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Input:  Hello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Output: 48656c6c6f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188720"/>
            <a:ext cx="3840480" cy="2103120"/>
          </a:xfrm>
          <a:prstGeom prst="rect">
            <a:avLst/>
          </a:prstGeom>
          <a:solidFill>
            <a:srgbClr val="1C2128"/>
          </a:solidFill>
          <a:ln w="9525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484F58"/>
                </a:solidFill>
                <a:latin typeface="Consolas"/>
              </a:defRPr>
            </a:pPr>
            <a:r>
              <a:t># URL Encoding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Input:  hello world!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Output: hello%20world%21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484F58"/>
                </a:solidFill>
                <a:latin typeface="Consolas"/>
              </a:defRPr>
            </a:pPr>
            <a:r>
              <a:t># Hex Dump (xxd output)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00000000  48 65 6c 6c 6f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|Hello|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cat crypto/encryption-intro.md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t>What Is Encryption?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Calibri"/>
              </a:defRPr>
            </a:pPr>
            <a:r>
              <a:t>Encryption scrambles data so only someone with the key can read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locked safe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without the key, the data is just noise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encryption: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same key encrypts and decrypts (</a:t>
            </a: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Asymmetric: two keys (</a:t>
            </a: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most common -- divides data into </a:t>
            </a:r>
            <a:r>
              <a:rPr lang="en-US" sz="14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16-byte blocks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lengths: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AES-</a:t>
            </a:r>
            <a:r>
              <a:rPr lang="en-US" sz="14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(16 bytes), AES-</a:t>
            </a:r>
            <a:r>
              <a:rPr lang="en-US" sz="14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(32 bytes). Longer = harder to brute-force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Modes: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determine how blocks relate to each other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mode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combines a nonce with an incrementing counter. Each block is XORed with a unique value</a:t>
            </a:r>
            <a:endParaRPr lang="en-US" sz="1400" dirty="0"/>
          </a:p>
        </p:txBody>
      </p:sp>
      <p:pic>
        <p:nvPicPr>
          <p:cNvPr id="10" name="Picture 9" descr="symmetric_encry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488" y="1188720"/>
            <a:ext cx="3321312" cy="3238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484F58"/>
                </a:solidFill>
                <a:latin typeface="Consolas"/>
              </a:defRPr>
            </a:pPr>
            <a:r>
              <a:t>Symmetric Key Encryption (Wikipedia)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" y="4109996"/>
            <a:ext cx="54864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" y="4109996"/>
            <a:ext cx="4572000" cy="502920"/>
          </a:xfrm>
          <a:prstGeom prst="rect">
            <a:avLst/>
          </a:prstGeom>
          <a:solidFill>
            <a:srgbClr val="1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" y="4144286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C9D1D9"/>
                </a:solidFill>
                <a:latin typeface="Calibri"/>
              </a:defRPr>
            </a:pPr>
            <a:r>
              <a:rPr dirty="0"/>
              <a:t>Unlike encoding, encryption CANNOT be reversed without the secret key.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encoding encryption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 vs. Encryption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457200" y="1188720"/>
          <a:ext cx="8229600" cy="1813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Encoding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Encryption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Purpose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data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 needed?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Reversible?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-- by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-- with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Security?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Examples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ASCII, Base64, Hex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AES, RSA, ChaCha20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Analogy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Translating a 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Locking in a 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54864" cy="5029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A3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"It looks like random characters, so it must be encrypted." Not always! Base64 looks random but anyone can decode it.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cat crypto/compression.md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t>What Is Compression?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Calibri"/>
              </a:defRPr>
            </a:pPr>
            <a:r>
              <a:t>Compression reduces data size by removing redundancy — like zipping a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Compression makes data smaller, but doesn't hide it (not encryption)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Common formats: gzip, zlib, zip — you've used zip files before!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Data is often compressed THEN encoded for transmission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To reverse: decode first, then decompress (reverse order)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54864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1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7955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C9D1D9"/>
                </a:solidFill>
                <a:latin typeface="Calibri"/>
              </a:defRPr>
            </a:pPr>
            <a:r>
              <a:t>In CTFs, data can be layered: Original → compress → encode → encode again. You peel layers off in reverse.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crypto/compression.md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Compression &amp; Layered Encoding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makes data smaller by removing redundancy. Common formats: gzip, zip, bzip2. Layers stack up -- unwrap in reverse: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 (wrapping layers)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2801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373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1737360"/>
            <a:ext cx="12801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5740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gzip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375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1737360"/>
            <a:ext cx="12801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encode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1737360"/>
            <a:ext cx="12801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Base64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379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737360"/>
            <a:ext cx="12801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output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Decoding (unwrapping in reverse)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12801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output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3736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57400" y="2560320"/>
            <a:ext cx="12801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5740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Base64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3756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2560320"/>
            <a:ext cx="12801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decode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57800" y="2560320"/>
            <a:ext cx="12801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5780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gunzip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3796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2560320"/>
            <a:ext cx="12801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5800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endParaRPr lang="en-US" sz="800" dirty="0"/>
          </a:p>
        </p:txBody>
      </p:sp>
      <p:pic>
        <p:nvPicPr>
          <p:cNvPr id="36" name="Image 0" descr="assets/targzip-diagram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286000" y="3108960"/>
            <a:ext cx="4572000" cy="7315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2286000" y="3886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tar.gz: archive (tar) + compress (gzip) in one step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457200" y="4206240"/>
            <a:ext cx="54864" cy="5029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CyberChef: Build a recipe by dragging operations in reverse order. Try "Detect File Type" or "Magic" to guess the next step.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cat crypto/cyberchef.md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t>CyberChef — Chaining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Calibri"/>
              </a:defRPr>
            </a:pPr>
            <a:r>
              <a:t>CyberChef is an online tool that lets you chain decode/decompress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1280160" cy="3657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9C0FF"/>
                </a:solidFill>
                <a:latin typeface="Consolas"/>
              </a:defRPr>
            </a:pPr>
            <a:r>
              <a:t>Original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508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84F5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1508760"/>
            <a:ext cx="1280160" cy="3657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9C0FF"/>
                </a:solidFill>
                <a:latin typeface="Consolas"/>
              </a:defRPr>
            </a:pPr>
            <a:r>
              <a:t>gzip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508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84F5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1508760"/>
            <a:ext cx="1280160" cy="3657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9C0FF"/>
                </a:solidFill>
                <a:latin typeface="Consolas"/>
              </a:defRPr>
            </a:pPr>
            <a:r>
              <a:t>URL encode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508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84F5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1508760"/>
            <a:ext cx="1280160" cy="3657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9C0FF"/>
                </a:solidFill>
                <a:latin typeface="Consolas"/>
              </a:defRPr>
            </a:pPr>
            <a:r>
              <a:t>Hex encode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508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84F5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508760"/>
            <a:ext cx="1280160" cy="3657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9C0FF"/>
                </a:solidFill>
                <a:latin typeface="Consolas"/>
              </a:defRPr>
            </a:pPr>
            <a:r>
              <a:t>Base64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402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8B949E"/>
                </a:solidFill>
                <a:latin typeface="Consolas"/>
              </a:defRPr>
            </a:pPr>
            <a:r>
              <a:t>CyberChef — "Swiss Army knife" for data transforms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060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300">
                <a:solidFill>
                  <a:srgbClr val="8B949E"/>
                </a:solidFill>
                <a:latin typeface="Calibri"/>
              </a:rPr>
              <a:t>Input → paste your data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300">
                <a:solidFill>
                  <a:srgbClr val="8B949E"/>
                </a:solidFill>
                <a:latin typeface="Calibri"/>
              </a:rPr>
              <a:t>Recipe → drag operations from the left panel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300">
                <a:solidFill>
                  <a:srgbClr val="8B949E"/>
                </a:solidFill>
                <a:latin typeface="Calibri"/>
              </a:rPr>
              <a:t>Output → see the transformed result</a:t>
            </a:r>
          </a:p>
        </p:txBody>
      </p:sp>
      <p:pic>
        <p:nvPicPr>
          <p:cNvPr id="20" name="Picture 19" descr="slide7_img25_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77440"/>
            <a:ext cx="3840480" cy="2286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4114800" cy="502920"/>
          </a:xfrm>
          <a:prstGeom prst="rect">
            <a:avLst/>
          </a:prstGeom>
          <a:solidFill>
            <a:srgbClr val="1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93192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C9D1D9"/>
                </a:solidFill>
                <a:latin typeface="Calibri"/>
              </a:defRPr>
            </a:pPr>
            <a:r>
              <a:t>Tip: If output looks like gibberish, use "Detect File Type".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cyberchef.io  # common recipes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CyberChef -- Common Recipes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recipes you will use most often in CTF challenges: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371600"/>
          <a:ext cx="8229600" cy="15544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Recipe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When to Use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 Base64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with A-Z, a-z, 0-9, +, /, ending in = or ==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 Hex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with only 0-9 and A-F characters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URL Decode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with %XX patterns (e.g. %20 for space)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Gunzip / Raw Inflate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decoding if output looks like random 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Magic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you have no idea what the encoding is -- let CyberChef guess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3337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Try this double-encoded challenge: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U0dWc2JHOGdWMjl5YkdRaA==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From Base64 -&gt; SGVsbG8gV29ybGQh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From Base64 again -&gt; Hello World!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A3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You can chain multiple operations in a single recipe. CyberChef runs them top-to-bottom, so order matters!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python3 crypto/aes_ecb_demo.py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t>AES Encryption — ECB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Calibri"/>
              </a:defRPr>
            </a:pPr>
            <a:r>
              <a:t>ECB = each 16-byte block encrypted independently. Identical blocks → identical ciphertext.</a:t>
            </a:r>
          </a:p>
        </p:txBody>
      </p:sp>
      <p:pic>
        <p:nvPicPr>
          <p:cNvPr id="9" name="Picture 8" descr="slide9_img6_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146304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4290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B949E"/>
                </a:solidFill>
                <a:latin typeface="Consolas"/>
              </a:defRPr>
            </a:pPr>
            <a:r>
              <a:t>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331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84F58"/>
                </a:solidFill>
                <a:latin typeface="Consolas"/>
              </a:defRPr>
            </a:pPr>
            <a:r>
              <a:t>→</a:t>
            </a:r>
          </a:p>
        </p:txBody>
      </p:sp>
      <p:pic>
        <p:nvPicPr>
          <p:cNvPr id="12" name="Picture 11" descr="slide9_img9_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554480"/>
            <a:ext cx="146304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34290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85149"/>
                </a:solidFill>
                <a:latin typeface="Consolas"/>
              </a:defRPr>
            </a:pPr>
            <a:r>
              <a:t>ECB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31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84F58"/>
                </a:solidFill>
                <a:latin typeface="Consolas"/>
              </a:defRPr>
            </a:pPr>
            <a:r>
              <a:t>→</a:t>
            </a:r>
          </a:p>
        </p:txBody>
      </p:sp>
      <p:pic>
        <p:nvPicPr>
          <p:cNvPr id="15" name="Picture 14" descr="slide9_img13_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1554480"/>
            <a:ext cx="146304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31920" y="34290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9D353"/>
                </a:solidFill>
                <a:latin typeface="Consolas"/>
              </a:defRPr>
            </a:pPr>
            <a:r>
              <a:t>CTR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9706" y="15544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100">
                <a:solidFill>
                  <a:srgbClr val="8B949E"/>
                </a:solidFill>
                <a:latin typeface="Calibri"/>
              </a:rPr>
              <a:t>ECB leaks patterns — still see the penguin!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100">
                <a:solidFill>
                  <a:srgbClr val="8B949E"/>
                </a:solidFill>
                <a:latin typeface="Calibri"/>
              </a:rPr>
              <a:t>Can encrypt blocks separately &amp; concatenate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100">
                <a:solidFill>
                  <a:srgbClr val="8B949E"/>
                </a:solidFill>
                <a:latin typeface="Calibri"/>
              </a:rPr>
              <a:t>Can rearrange ciphertext blocks</a:t>
            </a:r>
          </a:p>
        </p:txBody>
      </p:sp>
      <p:pic>
        <p:nvPicPr>
          <p:cNvPr id="18" name="Picture 17" descr="ecb_encryp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9706" y="2743200"/>
            <a:ext cx="3291840" cy="13286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09706" y="411480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84F58"/>
                </a:solidFill>
                <a:latin typeface="Consolas"/>
              </a:defRPr>
            </a:pPr>
            <a:r>
              <a:t>ECB mode: same key applied independently to each block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54864" cy="41148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solidFill>
            <a:srgbClr val="1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389120"/>
            <a:ext cx="7955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C9D1D9"/>
                </a:solidFill>
                <a:latin typeface="Calibri"/>
              </a:defRPr>
            </a:pPr>
            <a:r>
              <a:t>Key insight: ECB encrypts blocks independently — a weakness you can exploit.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cat crypto/aes-ecb-blocks.md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rPr dirty="0"/>
              <a:t>AES — ECB Mode (Electronic Codebook)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Calibri"/>
              </a:defRPr>
            </a:pPr>
            <a:r>
              <a:t>ECB splits plaintext into 16-byte blocks, then encrypts each block independently with the same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200">
                <a:solidFill>
                  <a:srgbClr val="8B949E"/>
                </a:solidFill>
                <a:latin typeface="Calibri"/>
              </a:rPr>
              <a:t>AES is a block cipher — it can only encrypt exactly 16 bytes (128 bits) at a time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200">
                <a:solidFill>
                  <a:srgbClr val="8B949E"/>
                </a:solidFill>
                <a:latin typeface="Calibri"/>
              </a:rPr>
              <a:t>Longer data is split into 16-byte blocks — each block is encrypted separately with the same key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200">
                <a:solidFill>
                  <a:srgbClr val="8B949E"/>
                </a:solidFill>
                <a:latin typeface="Calibri"/>
              </a:rPr>
              <a:t>Identical plaintext blocks → identical ciphertext blocks — patterns are preserved!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71165" y="414163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84F58"/>
                </a:solidFill>
                <a:latin typeface="Consolas"/>
              </a:defRPr>
            </a:pPr>
            <a:r>
              <a:rPr dirty="0"/>
              <a:t>ECB mode encryption (Wikipedia)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4393097"/>
            <a:ext cx="54864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393097"/>
            <a:ext cx="8229600" cy="502920"/>
          </a:xfrm>
          <a:prstGeom prst="rect">
            <a:avLst/>
          </a:prstGeom>
          <a:solidFill>
            <a:srgbClr val="1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393097"/>
            <a:ext cx="7955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C9D1D9"/>
                </a:solidFill>
                <a:latin typeface="Calibri"/>
              </a:defRPr>
            </a:pPr>
            <a:r>
              <a:rPr dirty="0"/>
              <a:t>Why ECB is weak: same plaintext block always produces the same ciphertext block, so repeating patterns in data are visible in the encrypted output.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6116EA-06C0-1B17-1026-5FFA6E621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225" y="2220242"/>
            <a:ext cx="4571028" cy="18299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cat crypto/ecb_demo.py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t>AES ECB —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1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7955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C9D1D9"/>
                </a:solidFill>
                <a:latin typeface="Calibri"/>
              </a:defRPr>
            </a:pPr>
            <a:r>
              <a:t>Try it: Encrypt blocks separately, concatenate, then decrypt — you get both blocks back.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69E406-B6E1-2F3F-E2F7-2762A7BE2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8422"/>
            <a:ext cx="8237812" cy="22662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binary-data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crypto/prng-concept.md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Numbers &amp; Seeds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random functions use PRNGs -- deterministic, not truly random. Same seed = same sequence: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PRNG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like a recipe: same ingredients (seed) always produce the same dish (sequence)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the starting value that determines the entire output sequence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</a:t>
            </a:r>
            <a:r>
              <a:rPr lang="en-US" sz="11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same sequence, always, on every machine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random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physical sources (radioactive decay, mouse movements) -- Python's os.urandom()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seeds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if you know WHEN the program ran, you can reproduce the output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Seed: 42</a:t>
            </a: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PRNG  -&gt;  </a:t>
            </a: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0,0,1,0,0...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4632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Seed: 42</a:t>
            </a: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PRNG  -&gt;  </a:t>
            </a: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0,0,1,0,0...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463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Seed: 99</a:t>
            </a: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PRNG  -&gt;  </a:t>
            </a: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1,1,0,1,1...</a:t>
            </a:r>
            <a:endParaRPr lang="en-US" sz="1000" dirty="0"/>
          </a:p>
        </p:txBody>
      </p:sp>
      <p:pic>
        <p:nvPicPr>
          <p:cNvPr id="12" name="Image 1" descr="assets/prng-linear-congruential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303520" y="2743200"/>
            <a:ext cx="2926080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37033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congruential generator pattern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1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python3 crypto/prng_demo.py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t>PRNGs &amp; Seeds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Calibri"/>
              </a:defRPr>
            </a:pPr>
            <a:r>
              <a:t>Computers use Pseudorandom Number Generators — deterministic, not truly random.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1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7955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C9D1D9"/>
                </a:solidFill>
                <a:latin typeface="Calibri"/>
              </a:defRPr>
            </a:pPr>
            <a:r>
              <a:t>Key insight: Same seed → same sequence every time. Know the seed, predict every 'random' output.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B11F77-448B-9119-3ECE-E19079224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57960"/>
            <a:ext cx="8325958" cy="18719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cat crypto/web-basics.md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t>Web Basics — Frontend &amp;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Calibri"/>
              </a:defRPr>
            </a:pPr>
            <a:r>
              <a:t>Before Flask cookies, let's understand how web apps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Frontend (Client): HTML, CSS, JS — runs in your browser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Backend (Server): processes requests, talks to databases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HTTP: Browser sends request → Server responds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400">
                <a:solidFill>
                  <a:srgbClr val="8B949E"/>
                </a:solidFill>
                <a:latin typeface="Calibri"/>
              </a:rPr>
              <a:t>Flask = a Python framework for building backends</a:t>
            </a:r>
          </a:p>
        </p:txBody>
      </p:sp>
      <p:pic>
        <p:nvPicPr>
          <p:cNvPr id="10" name="Picture 9" descr="client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280160"/>
            <a:ext cx="365760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3520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84F58"/>
                </a:solidFill>
                <a:latin typeface="Consolas"/>
              </a:defRPr>
            </a:pPr>
            <a:r>
              <a:t>Client-Server Model (Wikipedia)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1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7955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C9D1D9"/>
                </a:solidFill>
                <a:latin typeface="Calibri"/>
              </a:defRPr>
            </a:pPr>
            <a:r>
              <a:t>Web apps are stateless — they use cookies and sessions to 'remember' who you are between requests.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web-code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7145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crypto/cookies.md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Cookies &amp; Sessions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solve the "stateless" problem, we use cookies -- small pieces of text stored in your browser: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small text stored in your browser. Sent automatically with every request to that site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server-side data linked to you via a session cookie (like a coat-check ticket)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attributes: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Expires, Path, </a:t>
            </a:r>
            <a:r>
              <a:rPr lang="en-US" sz="14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(JS cannot read it), </a:t>
            </a:r>
            <a:r>
              <a:rPr lang="en-US" sz="14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(HTTPS only)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 cookies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from the site you visit. </a:t>
            </a: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cookies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from other domains (tracking/ads)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2336" y="3840480"/>
            <a:ext cx="54864" cy="5029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3840480"/>
            <a:ext cx="4114800" cy="502920"/>
          </a:xfrm>
          <a:prstGeom prst="rect">
            <a:avLst/>
          </a:prstGeom>
          <a:solidFill>
            <a:srgbClr val="1A3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browser: Press F12 -&gt; Application tab -&gt; Cookies to see all cookies for the current site.</a:t>
            </a:r>
            <a:endParaRPr lang="en-US" sz="1100" dirty="0"/>
          </a:p>
        </p:txBody>
      </p:sp>
      <p:pic>
        <p:nvPicPr>
          <p:cNvPr id="12" name="Image 1" descr="assets/http-cookie-exchange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846320" y="1371600"/>
            <a:ext cx="3840480" cy="2743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cookies travel between browser and server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web-code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Flask?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is a lightweight Python web framework -- build web apps with just a few lines: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5087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68046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popular for small apps, APIs, and prototyping (used in many CTF challenges)</a:t>
            </a:r>
            <a:endParaRPr lang="en-US" sz="1600" dirty="0"/>
          </a:p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Flask provides a built-in session object to store user data between requests</a:t>
            </a:r>
            <a:endParaRPr lang="en-US" sz="1600" dirty="0"/>
          </a:p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secret_key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used to sign (not encrypt!) the session cookie to prevent tampering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D8BA2B-AC72-6C71-3FDC-7BD808FF0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802" y="1417320"/>
            <a:ext cx="2558310" cy="161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E59FE4-CBE4-577D-882A-C806BA87E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17320"/>
            <a:ext cx="3474720" cy="200864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web-code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0287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crypto/flask_cookie.py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Session Cookies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Flask's default session stores data in a client-side cookie, not on the server: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588770"/>
            <a:ext cx="82296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cookie is </a:t>
            </a: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encoded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you can decode and read the contents!</a:t>
            </a:r>
            <a:endParaRPr lang="en-US" sz="1600" dirty="0"/>
          </a:p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HMAC (tamper-detection) but </a:t>
            </a:r>
            <a:r>
              <a:rPr lang="en-US" sz="1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encrypted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the data is visible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&gt;"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see what is in the session (user role, preferences) by simply Base64-decoding the cookie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D6C3E-FF52-D723-6997-BBF555C13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80360"/>
            <a:ext cx="52451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731520"/>
            <a:ext cx="9144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latin typeface="Consola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9D353"/>
                </a:solidFill>
                <a:latin typeface="Consolas"/>
              </a:defRPr>
            </a:pPr>
            <a:r>
              <a:t>Forensics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B949E"/>
                </a:solidFill>
                <a:latin typeface="Calibri"/>
              </a:defRPr>
            </a:pPr>
            <a:r>
              <a:t>Metadata, hex analysis, and hidden data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5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cat forensics/objectives.md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t>Learning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dirty="0">
                <a:solidFill>
                  <a:srgbClr val="39D353"/>
                </a:solidFill>
                <a:latin typeface="Consolas"/>
              </a:rPr>
              <a:t>&gt;  </a:t>
            </a:r>
            <a:r>
              <a:rPr sz="1400" dirty="0">
                <a:solidFill>
                  <a:srgbClr val="8B949E"/>
                </a:solidFill>
                <a:latin typeface="Calibri"/>
              </a:rPr>
              <a:t>Extract and </a:t>
            </a:r>
            <a:r>
              <a:rPr sz="1400" dirty="0" err="1">
                <a:solidFill>
                  <a:srgbClr val="8B949E"/>
                </a:solidFill>
                <a:latin typeface="Calibri"/>
              </a:rPr>
              <a:t>analyse</a:t>
            </a:r>
            <a:r>
              <a:rPr sz="1400" dirty="0">
                <a:solidFill>
                  <a:srgbClr val="8B949E"/>
                </a:solidFill>
                <a:latin typeface="Calibri"/>
              </a:rPr>
              <a:t> metadata from image files using </a:t>
            </a:r>
            <a:r>
              <a:rPr sz="1400" dirty="0" err="1">
                <a:solidFill>
                  <a:srgbClr val="8B949E"/>
                </a:solidFill>
                <a:latin typeface="Calibri"/>
              </a:rPr>
              <a:t>exiftool</a:t>
            </a:r>
            <a:endParaRPr sz="1400" dirty="0">
              <a:solidFill>
                <a:srgbClr val="8B949E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39D353"/>
                </a:solidFill>
                <a:latin typeface="Consolas"/>
              </a:rPr>
              <a:t>&gt;  </a:t>
            </a:r>
            <a:r>
              <a:rPr sz="1400" dirty="0">
                <a:solidFill>
                  <a:srgbClr val="8B949E"/>
                </a:solidFill>
                <a:latin typeface="Calibri"/>
              </a:rPr>
              <a:t>Use GPS coordinates from image metadata to perform geolocation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39D353"/>
                </a:solidFill>
                <a:latin typeface="Consolas"/>
              </a:rPr>
              <a:t>&gt;  </a:t>
            </a:r>
            <a:r>
              <a:rPr sz="1400" dirty="0">
                <a:solidFill>
                  <a:srgbClr val="8B949E"/>
                </a:solidFill>
                <a:latin typeface="Calibri"/>
              </a:rPr>
              <a:t>Understand file format structures and magic bytes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39D353"/>
                </a:solidFill>
                <a:latin typeface="Consolas"/>
              </a:rPr>
              <a:t>&gt;  </a:t>
            </a:r>
            <a:r>
              <a:rPr sz="1400" dirty="0">
                <a:solidFill>
                  <a:srgbClr val="8B949E"/>
                </a:solidFill>
                <a:latin typeface="Calibri"/>
              </a:rPr>
              <a:t>Use a hex editor (VS Code / </a:t>
            </a:r>
            <a:r>
              <a:rPr sz="1400" dirty="0" err="1">
                <a:solidFill>
                  <a:srgbClr val="8B949E"/>
                </a:solidFill>
                <a:latin typeface="Calibri"/>
              </a:rPr>
              <a:t>ghex</a:t>
            </a:r>
            <a:r>
              <a:rPr sz="1400" dirty="0">
                <a:solidFill>
                  <a:srgbClr val="8B949E"/>
                </a:solidFill>
                <a:latin typeface="Calibri"/>
              </a:rPr>
              <a:t>) to inspect and repair binary files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39D353"/>
                </a:solidFill>
                <a:latin typeface="Consolas"/>
              </a:rPr>
              <a:t>&gt;  </a:t>
            </a:r>
            <a:r>
              <a:rPr sz="1400" dirty="0">
                <a:solidFill>
                  <a:srgbClr val="8B949E"/>
                </a:solidFill>
                <a:latin typeface="Calibri"/>
              </a:rPr>
              <a:t>Use </a:t>
            </a:r>
            <a:r>
              <a:rPr sz="1400" dirty="0" err="1">
                <a:solidFill>
                  <a:srgbClr val="8B949E"/>
                </a:solidFill>
                <a:latin typeface="Calibri"/>
              </a:rPr>
              <a:t>steghide</a:t>
            </a:r>
            <a:r>
              <a:rPr sz="1400" dirty="0">
                <a:solidFill>
                  <a:srgbClr val="8B949E"/>
                </a:solidFill>
                <a:latin typeface="Calibri"/>
              </a:rPr>
              <a:t> to extract hidden data from images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forensics-magnify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forensics/intro.md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Digital Forensics?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investigating cybercrime, recovering deleted evidence from phones and laptops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after a company is hacked, forensics determines how the attacker got in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recovery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restoring accidentally deleted files or corrupted drives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file integrity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detect tampering, corruption, or forgery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origins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when/where/by whom was a file created?</a:t>
            </a:r>
            <a:endParaRPr lang="en-US" sz="1100" dirty="0"/>
          </a:p>
        </p:txBody>
      </p:sp>
      <p:pic>
        <p:nvPicPr>
          <p:cNvPr id="8" name="Image 1" descr="assets/matrix-digital-ra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188720"/>
            <a:ext cx="3840480" cy="2743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46320" y="1188720"/>
            <a:ext cx="384048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846320" y="3977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Looking beyond the surface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fingerprint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forensics/metadata-intro.md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Metadata?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is data about data. Like the label on a parcel -- it tells you about the contents without opening it: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199" y="1371600"/>
            <a:ext cx="4496637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stores camera model, date, GPS location, aperture, shutter speed, software used to edit</a:t>
            </a:r>
            <a:endParaRPr lang="en-US" sz="1600" dirty="0"/>
          </a:p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doc / PDF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stores author name, edit history, creation date, software version</a:t>
            </a:r>
            <a:endParaRPr lang="en-US" sz="1600" dirty="0"/>
          </a:p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music file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stores artist, album, track number, genre, cover art</a:t>
            </a:r>
            <a:endParaRPr lang="en-US" sz="1600" dirty="0"/>
          </a:p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headers reveal sender's IP address, mail server path, timestamps at each hop</a:t>
            </a:r>
            <a:endParaRPr lang="en-US" sz="1600" dirty="0"/>
          </a:p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page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HTTP response headers reveal server software (e.g. "Server: nginx/1.18")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2867" y="4252461"/>
            <a:ext cx="54864" cy="5029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7731" y="4252461"/>
            <a:ext cx="4114800" cy="502920"/>
          </a:xfrm>
          <a:prstGeom prst="rect">
            <a:avLst/>
          </a:prstGeom>
          <a:solidFill>
            <a:srgbClr val="1A3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50611" y="4298181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People often forget metadata exists. A "clean" photo may still reveal exactly where and when it was taken.</a:t>
            </a:r>
            <a:endParaRPr lang="en-US" sz="1100" dirty="0"/>
          </a:p>
        </p:txBody>
      </p:sp>
      <p:pic>
        <p:nvPicPr>
          <p:cNvPr id="12" name="Image 1" descr="assets/exiftool-gps-metadata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0" y="1371600"/>
            <a:ext cx="3840480" cy="16082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53836" y="3036989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revealed by exiftool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fingerprint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exiftool photo.jpg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 Data &amp; exiftool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(Exchangeable Image File Format) is the standard for photo metadata. Cameras embed dozens of fields: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508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exiftool suspicious_photo.jpg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Model    : iPhone 14 Pro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Date/Time       : 2025:03:15 14:32:07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 Latitude    : 31 deg 57' 50.51" 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 Longitude   : 115 deg 51' 27.77" 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Size      : 4032x3024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        : Adobe Photoshop</a:t>
            </a:r>
            <a:endParaRPr lang="en-US" sz="1100" dirty="0"/>
          </a:p>
        </p:txBody>
      </p:sp>
      <p:pic>
        <p:nvPicPr>
          <p:cNvPr id="10" name="Image 1" descr="assets/exiftool-gps-metadata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0" y="3451860"/>
            <a:ext cx="3200400" cy="1097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3172968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tells you exactly where the photo was taken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field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reveals if the image was edited (Photoshop, GIMP, etc.)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DateTimeOriginal (when taken) vs. ModifyDate (when last saved)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flags: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exiftool </a:t>
            </a: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(all tags), </a:t>
            </a: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(tag groups), </a:t>
            </a: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(tag names)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forensics/gps.md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 Coordinates &amp; Geolocation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stores GPS in DMS (Degrees, Minutes, Seconds). Maps need Decimal Degrees: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457200" y="1371600"/>
          <a:ext cx="8229600" cy="777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Format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Example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DMS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deg 57' 50.51" S, 115 deg 51' 27.77"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Decimal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-31.9640, 115.8577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89356" y="2320667"/>
            <a:ext cx="5159829" cy="258318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9888" y="23545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Formula: Decimal = Degrees + Minutes/60 + Seconds/3600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Latitude: 31 deg 57' 50.51" 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31 + (57 / 60) + (50.51 / 3600)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31 + 0.9500 + 0.0140 = 31.9640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Direction is S (South), so negate -&gt; -31.9640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Longitude: 115 deg 51' 27.77" 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115 + (51 / 60) + (27.77 / 3600)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115 + 0.8500 + 0.0077 = 115.8577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Direction is E (East), so positive -&gt; 115.8577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binary-data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mystery_file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Computers Identify Files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extensions (.pdf, .jpg) are just part of the filename -- they can be easily changed and are not reliable: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8229600" cy="196596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5087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Rename a PNG to .txt -- it is still a PNG inside!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 photo.png photo.txt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file photo.txt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photo.txt: PNG image data, 800 x 600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ZIP file disguised as a .jpg: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file vacation.jpg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vacation.jpg: Zip archive data, at least v2.0 to extract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56616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command reads the first few bytes -- the </a:t>
            </a: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bytes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(file signature) -- to determine the real type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files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files that are valid as multiple types simultaneously (e.g. both a valid PDF and a valid ZIP)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4206240"/>
            <a:ext cx="54864" cy="5029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forensics: Never trust file extensions. Always run file and check the magic bytes to know what a file really is.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binary-data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xxd -l 16 mystery_file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Magic Bytes</a:t>
            </a:r>
            <a:endParaRPr lang="en-US" sz="2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022157"/>
              </p:ext>
            </p:extLst>
          </p:nvPr>
        </p:nvGraphicFramePr>
        <p:xfrm>
          <a:off x="457200" y="1120140"/>
          <a:ext cx="8229600" cy="2331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 Type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Magic Bytes (Hex)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ASCII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PDF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25 50 44 46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50 4E 47 0D 0A 1A 0A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.PNG....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JPEG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 D8 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47 49 46 38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ZIP / DOCX / XLSX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4B 03 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GZIP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 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ELF (Linux binary)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7F 45 4C 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BMP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4D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5433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magic bytes are wrong? If someone corrupts or removes them, the file command will not recognise the file. You may need to inspect bytes in a hex editor manually.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1A3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Connection: Magic bytes use hex notation -- each pair is one byte. For example, 25 50 44 46 is the ASCII string %PDF in hex.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4526280"/>
            <a:ext cx="54864" cy="5029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 fact: .docx and .xlsx files are actually ZIP archives! That is why they start with PK (Phil Katz, inventor of ZIP).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5_img0_Ima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9D353"/>
                </a:solidFill>
                <a:latin typeface="Consolas"/>
              </a:rPr>
              <a:t>$ </a:t>
            </a:r>
            <a:r>
              <a:rPr sz="900">
                <a:solidFill>
                  <a:srgbClr val="484F58"/>
                </a:solidFill>
                <a:latin typeface="Consolas"/>
              </a:rPr>
              <a:t>code --install-extension ms-vscode.hexeditor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9D353"/>
                </a:solidFill>
                <a:latin typeface="Consolas"/>
              </a:defRPr>
            </a:pPr>
            <a:r>
              <a:rPr dirty="0"/>
              <a:t>Hex Editor — VS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Calibri"/>
              </a:defRPr>
            </a:pPr>
            <a:r>
              <a:t>View and edit raw binary content of any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C2128"/>
          </a:solidFill>
          <a:ln w="9525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484F58"/>
                </a:solidFill>
                <a:latin typeface="Consolas"/>
              </a:defRPr>
            </a:pPr>
            <a:r>
              <a:t># Two columns: Hex values | ASCII representation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Offset   Hex                                      ASCII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00000000 25 50 44 46 2D 31 2E 34 0A 31 20 30 ... |%PDF-1.4.1 0 obj|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300">
                <a:solidFill>
                  <a:srgbClr val="8B949E"/>
                </a:solidFill>
                <a:latin typeface="Calibri"/>
              </a:rPr>
              <a:t>VS Code: Install "Hex Editor" extension → Right-click → Open With → Hex Editor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300">
                <a:solidFill>
                  <a:srgbClr val="8B949E"/>
                </a:solidFill>
                <a:latin typeface="Calibri"/>
              </a:rPr>
              <a:t>Works on Windows, Mac, and Linux — best choice for most students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9D353"/>
                </a:solidFill>
                <a:latin typeface="Consolas"/>
              </a:rPr>
              <a:t>&gt;  </a:t>
            </a:r>
            <a:r>
              <a:rPr sz="1300">
                <a:solidFill>
                  <a:srgbClr val="8B949E"/>
                </a:solidFill>
                <a:latin typeface="Calibri"/>
              </a:rPr>
              <a:t>Linux alternative: ghex (sudo apt install ghex), available in your 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0440"/>
            <a:ext cx="8229600" cy="9144"/>
          </a:xfrm>
          <a:prstGeom prst="rect">
            <a:avLst/>
          </a:prstGeom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79C0FF"/>
                </a:solidFill>
                <a:latin typeface="Consolas"/>
              </a:defRPr>
            </a:pPr>
            <a:r>
              <a:t>How to repair a corrupted file: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dirty="0">
                <a:solidFill>
                  <a:srgbClr val="39D353"/>
                </a:solidFill>
                <a:latin typeface="Consolas"/>
              </a:rPr>
              <a:t>&gt;  </a:t>
            </a:r>
            <a:r>
              <a:rPr sz="1200" dirty="0">
                <a:solidFill>
                  <a:srgbClr val="8B949E"/>
                </a:solidFill>
                <a:latin typeface="Calibri"/>
              </a:rPr>
              <a:t>Open file → check first bytes → compare with magic bytes → edit to correct → Save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terminal-code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xxd mystery_file | head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Editors -- Seeing Raw Bytes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hex editor shows file contents as hex values + ASCII side by side: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508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    Hex values                              ASCII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00000000: 2550 4446 2d31 2e34 0a31 2030 206f 626a  %PDF-1.4.1 0 obj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00000010: 0a3c 3c20 2f54 7970 6520 2f43 6174       .&lt;&lt; /Type /Cat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468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do in a hex editor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strings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find hidden text, URLs, passwords, or flag formats buried in binary data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files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spot differences between an original and a modified version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identify file boundaries (e.g. find a JPEG inside a PNG by looking for FF D8 FF)</a:t>
            </a:r>
            <a:endParaRPr lang="en-US" sz="1100" dirty="0"/>
          </a:p>
          <a:p>
            <a:pPr marL="342900" indent="-342900">
              <a:buSzPct val="100000"/>
              <a:buChar char="&gt;"/>
            </a:pPr>
            <a:r>
              <a:rPr lang="en-US" sz="11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bytes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fix corrupted magic bytes, patch binaries, or modify file headers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206240"/>
            <a:ext cx="54864" cy="5029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1A3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VS Code + Hex Editor extension (easiest), GHex (Linux GUI), xxd (command-line, built into most systems).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forensics-magnify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forensics/stego-intro.md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Steganography?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makes data unreadable. Steganography makes data invisible. The goal is to hide the existence of a message: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/>
        </p:nvGraphicFramePr>
        <p:xfrm>
          <a:off x="457200" y="1371600"/>
          <a:ext cx="4114800" cy="12039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Encryption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Steganography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Hides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Visible?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(as noise)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(looks normal)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Suspicious?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288036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examples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invisible ink (lemon juice), microdots, messages hidden in wax tablets</a:t>
            </a:r>
            <a:endParaRPr lang="en-US" sz="1200" dirty="0"/>
          </a:p>
          <a:p>
            <a:pPr marL="342900" indent="-342900">
              <a:buSzPct val="100000"/>
              <a:buChar char="&gt;"/>
            </a:pPr>
            <a:r>
              <a:rPr lang="en-US" sz="12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stego (LSB)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changes the Least Significant Bit of each pixel. 200 vs 201 is invisible to the eye</a:t>
            </a:r>
            <a:endParaRPr lang="en-US" sz="1200" dirty="0"/>
          </a:p>
          <a:p>
            <a:pPr marL="342900" indent="-342900">
              <a:buSzPct val="100000"/>
              <a:buChar char="&gt;"/>
            </a:pPr>
            <a:r>
              <a:rPr lang="en-US" sz="12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stego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zero-width characters, extra whitespace between words</a:t>
            </a:r>
            <a:endParaRPr lang="en-US" sz="1200" dirty="0"/>
          </a:p>
        </p:txBody>
      </p:sp>
      <p:pic>
        <p:nvPicPr>
          <p:cNvPr id="10" name="Image 1" descr="assets/stego-tree-c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1280160" cy="12801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029200" y="1371600"/>
            <a:ext cx="1280160" cy="128016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5029200" y="2679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 (has hidden cat!)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6309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400" dirty="0"/>
          </a:p>
        </p:txBody>
      </p:sp>
      <p:pic>
        <p:nvPicPr>
          <p:cNvPr id="14" name="Image 2" descr="assets/steganography-recove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371600"/>
            <a:ext cx="1280160" cy="128016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583680" y="1371600"/>
            <a:ext cx="1280160" cy="128016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6583680" y="2679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cat extracted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5029200" y="28803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 example from Wikipedia</a:t>
            </a:r>
            <a:endParaRPr lang="en-US" sz="7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1A4B88-00E2-14B9-F4EB-E6B7D34AFC0B}"/>
              </a:ext>
            </a:extLst>
          </p:cNvPr>
          <p:cNvSpPr/>
          <p:nvPr/>
        </p:nvSpPr>
        <p:spPr>
          <a:xfrm>
            <a:off x="457200" y="4165092"/>
            <a:ext cx="8229600" cy="502920"/>
          </a:xfrm>
          <a:prstGeom prst="rect">
            <a:avLst/>
          </a:prstGeom>
          <a:solidFill>
            <a:srgbClr val="1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59494A-6453-672B-C73B-9E705C8678B8}"/>
              </a:ext>
            </a:extLst>
          </p:cNvPr>
          <p:cNvSpPr txBox="1"/>
          <p:nvPr/>
        </p:nvSpPr>
        <p:spPr>
          <a:xfrm>
            <a:off x="594360" y="4165092"/>
            <a:ext cx="7955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C9D1D9"/>
                </a:solidFill>
                <a:latin typeface="Calibri"/>
              </a:defRPr>
            </a:pPr>
            <a:r>
              <a:rPr dirty="0"/>
              <a:t>Encryption makes data unreadable. Steganography makes data invisible. They can be combined!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steghide --help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steghide -- Stego Tool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steghide is the most common tool for hiding/extracting data in JPEG and BMP images: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Check if a file contains hidden data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steghide info -sf image.jpg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Try extracting with empty password first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steghide extract -sf image.jpg -p ""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If that fails, try with a guessed password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steghide extract -sf image.jpg -p "secret" -xf output.txt</a:t>
            </a:r>
            <a:endParaRPr lang="en-US" sz="1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457200" y="3566160"/>
          <a:ext cx="8229600" cy="1295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Meaning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info -sf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info about embedded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D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extract -sf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hidden data from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Passphrase (password)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C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-xf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extracted data to this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cyber-shield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91"/>
            <a:ext cx="9144001" cy="5143501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career/au-it-market.md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Australian IT Job Market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Hottest directions (Hays &amp; ACS 2026)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32588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biggest skills shortage in AU. Architects, pentesters, engineers in high demand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Machine Learning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fastest-growing job category. 80% of employers prefer AI-comfortable candidates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Engineering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Azure &amp; AWS migration continues. Cloud + Security is a strong combo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largest volume of jobs. Salesforce, Oracle, ServiceNow specialists in demand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building the data infrastructure that powers AI initiatives</a:t>
            </a:r>
            <a:endParaRPr lang="en-US" sz="1400" dirty="0"/>
          </a:p>
        </p:txBody>
      </p:sp>
      <p:pic>
        <p:nvPicPr>
          <p:cNvPr id="9" name="Image 1" descr="assets/perth-skyline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188720"/>
            <a:ext cx="3840480" cy="1645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846320" y="2880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Perth, WA -- fewer roles, but less competition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846320" y="3200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reality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84632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</a:t>
            </a: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junior/grad tier gets hundreds of applications per role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4632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</a:t>
            </a: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English &gt; experience &gt; tech &gt;&gt; GPA</a:t>
            </a:r>
            <a:endParaRPr lang="en-US" sz="1000" dirty="0"/>
          </a:p>
        </p:txBody>
      </p:sp>
      <p:pic>
        <p:nvPicPr>
          <p:cNvPr id="15" name="Image 2" descr="assets/dotnet-logo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846320" y="4362452"/>
            <a:ext cx="549396" cy="392428"/>
          </a:xfrm>
          <a:prstGeom prst="rect">
            <a:avLst/>
          </a:prstGeom>
        </p:spPr>
      </p:pic>
      <p:pic>
        <p:nvPicPr>
          <p:cNvPr id="16" name="Image 3" descr="assets/azure-logo.sv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546951" y="4352925"/>
            <a:ext cx="853849" cy="323847"/>
          </a:xfrm>
          <a:prstGeom prst="rect">
            <a:avLst/>
          </a:prstGeom>
        </p:spPr>
      </p:pic>
      <p:pic>
        <p:nvPicPr>
          <p:cNvPr id="17" name="Image 4" descr="assets/react-icon.sv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492240" y="4362452"/>
            <a:ext cx="452666" cy="392427"/>
          </a:xfrm>
          <a:prstGeom prst="rect">
            <a:avLst/>
          </a:prstGeom>
        </p:spPr>
      </p:pic>
      <p:pic>
        <p:nvPicPr>
          <p:cNvPr id="18" name="Image 5" descr="assets/python-logo.sv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127786" y="4352925"/>
            <a:ext cx="405818" cy="39242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cyber-shield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career/advice-for-students.md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Advice from a Recent Graduate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 actually made a difference when job hunting: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&amp; Projects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real, deployed project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not a todo app. A complete product with a real URL, full lifecycle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local tech stack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in AU, backend is .NET/Azure; frontend React. CI/CD via GitHub Actions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skills are a differentiator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understanding encryption, auth, and common vulns makes you stand out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Hunting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46320" y="16459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every application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match resume keywords to the job description. HR filters by keyword match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&gt; mass applying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many AU roles filled through referrals. Attend meetups, connect on LinkedIn</a:t>
            </a:r>
            <a:endParaRPr lang="en-US" sz="1400" dirty="0"/>
          </a:p>
          <a:p>
            <a:pPr marL="342900" indent="-342900">
              <a:buSzPct val="100000"/>
              <a:buChar char="&gt;"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behavioural interviews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AU companies care about team fit. Prepare 5 stories about collaboration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114800"/>
            <a:ext cx="54864" cy="5029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A3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truth: Finding your first IT job in AU is hard. But every day you invest in real skills and connections compounds. You only need one yes.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cyber-shield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career/ai-impact.md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Is Changing Everything -- What It Means for You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6230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is now the fastest-growing job category in Australia (ACS 2026). The impact goes far beyond AI-specific roles: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2631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uses AI now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in many companies, every developer is a "prompt engineer." What value do YOU add on top of AI?</a:t>
            </a:r>
            <a:endParaRPr lang="en-US" sz="1600" dirty="0"/>
          </a:p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hiring bar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-- 80% of employers prefer candidates comfortable with AI tools over experienced workers who aren't</a:t>
            </a:r>
            <a:endParaRPr lang="en-US" sz="1600" dirty="0"/>
          </a:p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AI makes mistakes constantly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it generates plausible-looking code that silently fails, gives confident but wrong security advice</a:t>
            </a:r>
            <a:endParaRPr lang="en-US" sz="1600" dirty="0"/>
          </a:p>
          <a:p>
            <a:pPr marL="342900" indent="-342900">
              <a:buSzPct val="100000"/>
              <a:buChar char="&gt;"/>
            </a:pPr>
            <a:r>
              <a:rPr lang="en-US" sz="16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in industry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junior devs who blindly copy AI output ship bugs. Those who understand fundamentals use AI as a force multiplier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ic1-assets/binary-data.jp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career/fundamentals.md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0507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Is a Tool, Not a Replacement for Understanding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38350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fundamentals more important, not less: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908147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fundamentals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182467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gives you AES code -&gt; you don't know it's using ECB mode -&gt; data leaks patterns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593947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says "this file is safe" -&gt; you can't check magic bytes -&gt; you miss a disguised executable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005427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Flask app -&gt; you don't understand session signing -&gt; cookies are forgeable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416907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ask the right questions, can't verify answers, can't debug when things break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190814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fundamentals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2182467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AI to write faster, then verify it's correct because you understand how encryption works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2593947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spot AI's mistakes -- wrong encoding, insecure defaults, broken logic -- before they ship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3005427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AI precise, targeted questions because you know the domain well enough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3416907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become the person the team relies on when AI-generated code fails in production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114800"/>
            <a:ext cx="54864" cy="5029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today's workshop is about. The concepts you're learning are the foundation that makes you irreplaceable -- with or without AI.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_Image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7432" rtlCol="0" anchor="ctr"/>
          <a:lstStyle/>
          <a:p>
            <a:pPr algn="ctr"/>
            <a:r>
              <a:rPr sz="700">
                <a:solidFill>
                  <a:srgbClr val="39D353"/>
                </a:solidFill>
                <a:latin typeface="Consolas"/>
              </a:rPr>
              <a:t>● </a:t>
            </a:r>
            <a:r>
              <a:rPr sz="700">
                <a:solidFill>
                  <a:srgbClr val="484F58"/>
                </a:solidFill>
                <a:latin typeface="Consolas"/>
              </a:rPr>
              <a:t>CITS1003  |  workshop.slides  |  UTF-8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554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9D353"/>
                </a:solidFill>
                <a:latin typeface="Consolas"/>
              </a:defRPr>
            </a:pPr>
            <a:r>
              <a:rPr dirty="0"/>
              <a:t>Enjoy the Project!</a:t>
            </a:r>
          </a:p>
        </p:txBody>
      </p:sp>
      <p:sp>
        <p:nvSpPr>
          <p:cNvPr id="7" name="Rectangle 6"/>
          <p:cNvSpPr/>
          <p:nvPr/>
        </p:nvSpPr>
        <p:spPr>
          <a:xfrm>
            <a:off x="7427044" y="1690525"/>
            <a:ext cx="138388" cy="422853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B949E"/>
                </a:solidFill>
                <a:latin typeface="Calibri"/>
              </a:defRPr>
            </a:pPr>
            <a:r>
              <a:t>Have fun exploring — curiosity is your best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4241</Words>
  <Application>Microsoft Office PowerPoint</Application>
  <PresentationFormat>On-screen Show (16:9)</PresentationFormat>
  <Paragraphs>524</Paragraphs>
  <Slides>40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zhi zhang</dc:creator>
  <cp:keywords/>
  <dc:description>generated using python-pptx</dc:description>
  <cp:lastModifiedBy>Zhi Zhang</cp:lastModifiedBy>
  <cp:revision>8</cp:revision>
  <dcterms:created xsi:type="dcterms:W3CDTF">2013-01-27T09:14:16Z</dcterms:created>
  <dcterms:modified xsi:type="dcterms:W3CDTF">2026-03-30T03:11:31Z</dcterms:modified>
  <cp:category/>
</cp:coreProperties>
</file>