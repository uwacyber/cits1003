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352" r:id="rId3"/>
    <p:sldId id="333" r:id="rId4"/>
    <p:sldId id="334" r:id="rId5"/>
    <p:sldId id="353" r:id="rId6"/>
    <p:sldId id="354" r:id="rId7"/>
    <p:sldId id="335" r:id="rId8"/>
    <p:sldId id="336" r:id="rId9"/>
    <p:sldId id="344" r:id="rId10"/>
    <p:sldId id="337" r:id="rId11"/>
    <p:sldId id="338" r:id="rId12"/>
    <p:sldId id="339" r:id="rId13"/>
    <p:sldId id="356" r:id="rId14"/>
    <p:sldId id="340" r:id="rId15"/>
    <p:sldId id="341" r:id="rId16"/>
    <p:sldId id="342" r:id="rId17"/>
    <p:sldId id="357" r:id="rId18"/>
    <p:sldId id="343" r:id="rId19"/>
    <p:sldId id="345" r:id="rId20"/>
    <p:sldId id="346" r:id="rId21"/>
    <p:sldId id="347" r:id="rId22"/>
    <p:sldId id="358" r:id="rId23"/>
    <p:sldId id="351" r:id="rId24"/>
    <p:sldId id="348" r:id="rId25"/>
    <p:sldId id="349" r:id="rId26"/>
    <p:sldId id="1496" r:id="rId27"/>
    <p:sldId id="350" r:id="rId28"/>
    <p:sldId id="355" r:id="rId29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B600"/>
    <a:srgbClr val="273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4162" autoAdjust="0"/>
  </p:normalViewPr>
  <p:slideViewPr>
    <p:cSldViewPr snapToGrid="0">
      <p:cViewPr varScale="1">
        <p:scale>
          <a:sx n="71" d="100"/>
          <a:sy n="71" d="100"/>
        </p:scale>
        <p:origin x="1350" y="66"/>
      </p:cViewPr>
      <p:guideLst>
        <p:guide orient="horz" pos="2880"/>
        <p:guide pos="2160"/>
      </p:guideLst>
    </p:cSldViewPr>
  </p:slideViewPr>
  <p:notesTextViewPr>
    <p:cViewPr>
      <p:scale>
        <a:sx n="300" d="100"/>
        <a:sy n="300" d="100"/>
      </p:scale>
      <p:origin x="0" y="-15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01EA6C-3B84-4E77-BF57-24C3612E0A9E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ADBE4F-CC4A-4CB5-AC60-259D115F6B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264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4994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2353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66519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06996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35500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68214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96769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55504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713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23686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77192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16948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1324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67810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57467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34578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30061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GB" sz="1200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10520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01893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16816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80404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1778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47727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61224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7465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0097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BE4F-CC4A-4CB5-AC60-259D115F6B2A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3332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1D2768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209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27348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1D2768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209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27348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1D2768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209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27348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1D2768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209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1D2768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209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6581" y="358056"/>
            <a:ext cx="8050837" cy="40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7348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625600"/>
            <a:ext cx="8298180" cy="4792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15804" y="6357897"/>
            <a:ext cx="304165" cy="28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1D2768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209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education.github.com/git-cheat-sheet-education.pdf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418576" y="6033515"/>
            <a:ext cx="725424" cy="8244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75487" y="5512308"/>
            <a:ext cx="1800225" cy="0"/>
          </a:xfrm>
          <a:custGeom>
            <a:avLst/>
            <a:gdLst/>
            <a:ahLst/>
            <a:cxnLst/>
            <a:rect l="l" t="t" r="r" b="b"/>
            <a:pathLst>
              <a:path w="1800225">
                <a:moveTo>
                  <a:pt x="0" y="0"/>
                </a:moveTo>
                <a:lnTo>
                  <a:pt x="1800199" y="0"/>
                </a:lnTo>
              </a:path>
            </a:pathLst>
          </a:custGeom>
          <a:ln w="12192">
            <a:solidFill>
              <a:srgbClr val="DDB0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31507" y="5512308"/>
            <a:ext cx="1800225" cy="0"/>
          </a:xfrm>
          <a:custGeom>
            <a:avLst/>
            <a:gdLst/>
            <a:ahLst/>
            <a:cxnLst/>
            <a:rect l="l" t="t" r="r" b="b"/>
            <a:pathLst>
              <a:path w="1800225">
                <a:moveTo>
                  <a:pt x="0" y="0"/>
                </a:moveTo>
                <a:lnTo>
                  <a:pt x="1800199" y="0"/>
                </a:lnTo>
              </a:path>
            </a:pathLst>
          </a:custGeom>
          <a:ln w="12192">
            <a:solidFill>
              <a:srgbClr val="DDB0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46676" y="5512308"/>
            <a:ext cx="1800225" cy="0"/>
          </a:xfrm>
          <a:custGeom>
            <a:avLst/>
            <a:gdLst/>
            <a:ahLst/>
            <a:cxnLst/>
            <a:rect l="l" t="t" r="r" b="b"/>
            <a:pathLst>
              <a:path w="1800225">
                <a:moveTo>
                  <a:pt x="0" y="0"/>
                </a:moveTo>
                <a:lnTo>
                  <a:pt x="1800199" y="0"/>
                </a:lnTo>
              </a:path>
            </a:pathLst>
          </a:custGeom>
          <a:ln w="12192">
            <a:solidFill>
              <a:srgbClr val="DDB0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60320" y="5512308"/>
            <a:ext cx="1800225" cy="0"/>
          </a:xfrm>
          <a:custGeom>
            <a:avLst/>
            <a:gdLst/>
            <a:ahLst/>
            <a:cxnLst/>
            <a:rect l="l" t="t" r="r" b="b"/>
            <a:pathLst>
              <a:path w="1800225">
                <a:moveTo>
                  <a:pt x="0" y="0"/>
                </a:moveTo>
                <a:lnTo>
                  <a:pt x="1800199" y="0"/>
                </a:lnTo>
              </a:path>
            </a:pathLst>
          </a:custGeom>
          <a:ln w="12192">
            <a:solidFill>
              <a:srgbClr val="DDB0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49118" y="1761980"/>
            <a:ext cx="8045763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AU" sz="4800" b="0" dirty="0">
                <a:solidFill>
                  <a:srgbClr val="FFFFFF"/>
                </a:solidFill>
                <a:latin typeface="Arial"/>
                <a:cs typeface="Arial"/>
              </a:rPr>
              <a:t>Introduction to Cybersecurity</a:t>
            </a:r>
            <a:endParaRPr sz="48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4227" y="3483735"/>
            <a:ext cx="4766310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AU" sz="1200" b="1" spc="10">
                <a:solidFill>
                  <a:srgbClr val="DDB009"/>
                </a:solidFill>
                <a:latin typeface="Arial"/>
                <a:cs typeface="Arial"/>
              </a:rPr>
              <a:t>Topic 2: </a:t>
            </a:r>
            <a:r>
              <a:rPr lang="en-AU" sz="1200" b="1" spc="10" dirty="0">
                <a:solidFill>
                  <a:srgbClr val="DDB009"/>
                </a:solidFill>
                <a:latin typeface="Arial"/>
                <a:cs typeface="Arial"/>
              </a:rPr>
              <a:t>Linux and Networking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41684" y="5604847"/>
            <a:ext cx="1115916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1100" b="1" dirty="0">
                <a:solidFill>
                  <a:srgbClr val="FFFFFF"/>
                </a:solidFill>
                <a:latin typeface="Arial"/>
                <a:cs typeface="Arial"/>
              </a:rPr>
              <a:t>Jichunyang Li</a:t>
            </a:r>
            <a:endParaRPr lang="en-AU" sz="11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27838" y="5604847"/>
            <a:ext cx="1538605" cy="361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b="1" spc="-5">
                <a:solidFill>
                  <a:srgbClr val="FFFFFF"/>
                </a:solidFill>
                <a:latin typeface="Arial"/>
                <a:cs typeface="Arial"/>
              </a:rPr>
              <a:t>Computer Science</a:t>
            </a:r>
            <a:r>
              <a:rPr sz="1100" b="1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5">
                <a:solidFill>
                  <a:srgbClr val="FFFFFF"/>
                </a:solidFill>
                <a:latin typeface="Arial"/>
                <a:cs typeface="Arial"/>
              </a:rPr>
              <a:t>and  </a:t>
            </a:r>
            <a:r>
              <a:rPr sz="1100" b="1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sz="1100" b="1" spc="-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5">
                <a:solidFill>
                  <a:srgbClr val="FFFFFF"/>
                </a:solidFill>
                <a:latin typeface="Arial"/>
                <a:cs typeface="Arial"/>
              </a:rPr>
              <a:t>Engineering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13994" y="5604847"/>
            <a:ext cx="1946516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sz="1100" b="1" spc="-5">
                <a:solidFill>
                  <a:srgbClr val="FFFFFF"/>
                </a:solidFill>
                <a:latin typeface="Arial"/>
                <a:cs typeface="Arial"/>
              </a:rPr>
              <a:t>School of Physics, Mathematics and Computing</a:t>
            </a:r>
            <a:endParaRPr lang="en-AU"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5529" y="5572038"/>
            <a:ext cx="653415" cy="1972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lang="en-AU" sz="1100" b="1" spc="-10" dirty="0">
                <a:solidFill>
                  <a:srgbClr val="FFFFFF"/>
                </a:solidFill>
                <a:latin typeface="Arial"/>
                <a:cs typeface="Arial"/>
              </a:rPr>
              <a:t>CITS1003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33065" y="6376241"/>
            <a:ext cx="6227445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AU" sz="1100" b="1" spc="-5">
                <a:solidFill>
                  <a:srgbClr val="DDB009"/>
                </a:solidFill>
                <a:latin typeface="Arial"/>
                <a:cs typeface="Arial"/>
              </a:rPr>
              <a:t>Acknowledgement: The lecture slides </a:t>
            </a:r>
            <a:r>
              <a:rPr lang="en-AU" sz="1100" b="1">
                <a:solidFill>
                  <a:srgbClr val="DDB009"/>
                </a:solidFill>
                <a:latin typeface="Arial"/>
                <a:cs typeface="Arial"/>
              </a:rPr>
              <a:t>are prepared b</a:t>
            </a:r>
            <a:r>
              <a:rPr lang="en-AU" sz="1100" b="1" spc="-5">
                <a:solidFill>
                  <a:srgbClr val="DDB009"/>
                </a:solidFill>
                <a:latin typeface="Arial"/>
                <a:cs typeface="Arial"/>
              </a:rPr>
              <a:t>ased </a:t>
            </a:r>
            <a:r>
              <a:rPr lang="en-AU" sz="1100" b="1">
                <a:solidFill>
                  <a:srgbClr val="DDB009"/>
                </a:solidFill>
                <a:latin typeface="Arial"/>
                <a:cs typeface="Arial"/>
              </a:rPr>
              <a:t>on online resources</a:t>
            </a:r>
            <a:r>
              <a:rPr lang="en-AU" sz="1100" b="1" spc="-5">
                <a:solidFill>
                  <a:srgbClr val="DDB009"/>
                </a:solidFill>
                <a:latin typeface="Arial"/>
                <a:cs typeface="Arial"/>
              </a:rPr>
              <a:t>.</a:t>
            </a:r>
            <a:endParaRPr lang="en-AU"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7906C-06CF-B6BF-5E2E-324882FA4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81" y="358056"/>
            <a:ext cx="8050837" cy="384721"/>
          </a:xfrm>
        </p:spPr>
        <p:txBody>
          <a:bodyPr/>
          <a:lstStyle/>
          <a:p>
            <a:r>
              <a:rPr lang="en-US" altLang="zh-CN" dirty="0"/>
              <a:t>About me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DD3D9-3CB0-4AE9-9465-3378C7E6D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940" y="1625600"/>
            <a:ext cx="8298180" cy="3281026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Unit Coordinator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CITS3401/5504 – Data Warehousing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Associate Lecturer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CITS1402 – RDBMS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Research Areas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Data Warehouse/Database/Graph Databases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Prompting Engineering</a:t>
            </a:r>
          </a:p>
        </p:txBody>
      </p:sp>
    </p:spTree>
    <p:extLst>
      <p:ext uri="{BB962C8B-B14F-4D97-AF65-F5344CB8AC3E}">
        <p14:creationId xmlns:p14="http://schemas.microsoft.com/office/powerpoint/2010/main" val="107926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581" y="358056"/>
            <a:ext cx="8050837" cy="384721"/>
          </a:xfrm>
        </p:spPr>
        <p:txBody>
          <a:bodyPr/>
          <a:lstStyle/>
          <a:p>
            <a:r>
              <a:rPr lang="en-AU" dirty="0"/>
              <a:t>Learning Objectives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40" y="1625600"/>
            <a:ext cx="8298180" cy="2173031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dirty="0">
                <a:latin typeface="Arial" panose="020B0604020202020204" pitchFamily="34" charset="0"/>
                <a:cs typeface="Arial" panose="020B0604020202020204" pitchFamily="34" charset="0"/>
              </a:rPr>
              <a:t>By the end of this session, you will be able to: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Discover: Scan remote servers for open ports using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nmap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Communicate: Send and receive raw TCP messages with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netcat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nc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Version Control: Clone Git repositories via HTTP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Access &amp; Transfer: Connect via ssh and move files securely with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scp</a:t>
            </a: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4838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81BE8-8104-F715-5059-F1889FB3B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81" y="358056"/>
            <a:ext cx="8050837" cy="384721"/>
          </a:xfrm>
        </p:spPr>
        <p:txBody>
          <a:bodyPr/>
          <a:lstStyle/>
          <a:p>
            <a:r>
              <a:rPr lang="en-AU" dirty="0"/>
              <a:t>How Computers Communicate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D3EA2-A34A-89D4-3246-C856A2002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940" y="1625600"/>
            <a:ext cx="8298180" cy="3255507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dirty="0"/>
              <a:t>Every device on a network is identified by an IP address (e.g. 192.168.1.10)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dirty="0"/>
              <a:t>Data doesn't travel as one big chunk. It's broken into packets, each routed independently and reassembled at the destination.</a:t>
            </a:r>
          </a:p>
          <a:p>
            <a:pPr>
              <a:lnSpc>
                <a:spcPct val="150000"/>
              </a:lnSpc>
            </a:pPr>
            <a:endParaRPr lang="en-AU" b="0" dirty="0"/>
          </a:p>
        </p:txBody>
      </p:sp>
    </p:spTree>
    <p:extLst>
      <p:ext uri="{BB962C8B-B14F-4D97-AF65-F5344CB8AC3E}">
        <p14:creationId xmlns:p14="http://schemas.microsoft.com/office/powerpoint/2010/main" val="4221174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F7BBF-5BE0-1F7D-DEA9-98F566EA2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81" y="358056"/>
            <a:ext cx="8050837" cy="384721"/>
          </a:xfrm>
        </p:spPr>
        <p:txBody>
          <a:bodyPr/>
          <a:lstStyle/>
          <a:p>
            <a:r>
              <a:rPr lang="en-AU"/>
              <a:t>TCP/IP Network Model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DFEF9-E667-3C81-C664-A2DBEF74A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940" y="1625600"/>
            <a:ext cx="8298180" cy="73866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/>
              <a:t>The TCP/IP model describes how data travels across a network, organised into 5 layers:</a:t>
            </a:r>
            <a:endParaRPr lang="en-AU" b="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31841E7-5E6A-61D9-161E-8485CC4384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350218"/>
              </p:ext>
            </p:extLst>
          </p:nvPr>
        </p:nvGraphicFramePr>
        <p:xfrm>
          <a:off x="771645" y="2982281"/>
          <a:ext cx="8016177" cy="356616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311642">
                  <a:extLst>
                    <a:ext uri="{9D8B030D-6E8A-4147-A177-3AD203B41FA5}">
                      <a16:colId xmlns:a16="http://schemas.microsoft.com/office/drawing/2014/main" val="2057544188"/>
                    </a:ext>
                  </a:extLst>
                </a:gridCol>
                <a:gridCol w="4702715">
                  <a:extLst>
                    <a:ext uri="{9D8B030D-6E8A-4147-A177-3AD203B41FA5}">
                      <a16:colId xmlns:a16="http://schemas.microsoft.com/office/drawing/2014/main" val="2372540246"/>
                    </a:ext>
                  </a:extLst>
                </a:gridCol>
                <a:gridCol w="2001820">
                  <a:extLst>
                    <a:ext uri="{9D8B030D-6E8A-4147-A177-3AD203B41FA5}">
                      <a16:colId xmlns:a16="http://schemas.microsoft.com/office/drawing/2014/main" val="31281330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it does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57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Defines how apps communicate with each other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HTTP, HTTPS, SSH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0652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Manages end-to-end delivery between processes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TCP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0160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Routes packets across networks via IP addresses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IP, ICMP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6437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Link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Transfers data between directly connected devices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Ethernet, Wi-Fi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6854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Physical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Transmits raw bits over a physical 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Cables, fibre, radio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9666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286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D97F5-B3DC-FEB4-85E6-FE059EA21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81" y="358056"/>
            <a:ext cx="8050837" cy="384721"/>
          </a:xfrm>
        </p:spPr>
        <p:txBody>
          <a:bodyPr/>
          <a:lstStyle/>
          <a:p>
            <a:r>
              <a:rPr lang="en-GB" dirty="0"/>
              <a:t>Where Do Our Tools Fit?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1E493-1822-DEDD-BDFE-8EE1CFBD3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6581" y="1347808"/>
            <a:ext cx="8298180" cy="73866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Using the TCP/IP model, we can place the protocols covered in this topic:</a:t>
            </a:r>
            <a:endParaRPr lang="en-AU" b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A11186-06B3-A6D3-8253-D743A960D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633440"/>
              </p:ext>
            </p:extLst>
          </p:nvPr>
        </p:nvGraphicFramePr>
        <p:xfrm>
          <a:off x="571049" y="2259976"/>
          <a:ext cx="8249244" cy="3234274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321796">
                  <a:extLst>
                    <a:ext uri="{9D8B030D-6E8A-4147-A177-3AD203B41FA5}">
                      <a16:colId xmlns:a16="http://schemas.microsoft.com/office/drawing/2014/main" val="2873486051"/>
                    </a:ext>
                  </a:extLst>
                </a:gridCol>
                <a:gridCol w="1868927">
                  <a:extLst>
                    <a:ext uri="{9D8B030D-6E8A-4147-A177-3AD203B41FA5}">
                      <a16:colId xmlns:a16="http://schemas.microsoft.com/office/drawing/2014/main" val="1507054802"/>
                    </a:ext>
                  </a:extLst>
                </a:gridCol>
                <a:gridCol w="5058521">
                  <a:extLst>
                    <a:ext uri="{9D8B030D-6E8A-4147-A177-3AD203B41FA5}">
                      <a16:colId xmlns:a16="http://schemas.microsoft.com/office/drawing/2014/main" val="3593161320"/>
                    </a:ext>
                  </a:extLst>
                </a:gridCol>
              </a:tblGrid>
              <a:tr h="267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Layer</a:t>
                      </a:r>
                    </a:p>
                  </a:txBody>
                  <a:tcPr marL="81232" marR="81232" marT="40616" marB="406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Protocol / Tool</a:t>
                      </a:r>
                    </a:p>
                  </a:txBody>
                  <a:tcPr marL="81232" marR="81232" marT="40616" marB="406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Notes</a:t>
                      </a:r>
                    </a:p>
                  </a:txBody>
                  <a:tcPr marL="81232" marR="81232" marT="40616" marB="40616" anchor="ctr"/>
                </a:tc>
                <a:extLst>
                  <a:ext uri="{0D108BD9-81ED-4DB2-BD59-A6C34878D82A}">
                    <a16:rowId xmlns:a16="http://schemas.microsoft.com/office/drawing/2014/main" val="2491189398"/>
                  </a:ext>
                </a:extLst>
              </a:tr>
              <a:tr h="468058">
                <a:tc row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Application</a:t>
                      </a:r>
                    </a:p>
                  </a:txBody>
                  <a:tcPr marL="81232" marR="81232" marT="40616" marB="406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SSH</a:t>
                      </a:r>
                    </a:p>
                  </a:txBody>
                  <a:tcPr marL="81232" marR="81232" marT="40616" marB="406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Encrypted remote shell — runs over TCP port 22</a:t>
                      </a:r>
                    </a:p>
                  </a:txBody>
                  <a:tcPr marL="81232" marR="81232" marT="40616" marB="40616" anchor="ctr"/>
                </a:tc>
                <a:extLst>
                  <a:ext uri="{0D108BD9-81ED-4DB2-BD59-A6C34878D82A}">
                    <a16:rowId xmlns:a16="http://schemas.microsoft.com/office/drawing/2014/main" val="459402607"/>
                  </a:ext>
                </a:extLst>
              </a:tr>
              <a:tr h="46805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81232" marR="81232" marT="40616" marB="406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</a:t>
                      </a:r>
                    </a:p>
                  </a:txBody>
                  <a:tcPr marL="81232" marR="81232" marT="40616" marB="406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Web traffic — runs over TCP port 80</a:t>
                      </a:r>
                    </a:p>
                  </a:txBody>
                  <a:tcPr marL="81232" marR="81232" marT="40616" marB="40616" anchor="ctr"/>
                </a:tc>
                <a:extLst>
                  <a:ext uri="{0D108BD9-81ED-4DB2-BD59-A6C34878D82A}">
                    <a16:rowId xmlns:a16="http://schemas.microsoft.com/office/drawing/2014/main" val="1713457787"/>
                  </a:ext>
                </a:extLst>
              </a:tr>
              <a:tr h="46805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81232" marR="81232" marT="40616" marB="406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HTTPS</a:t>
                      </a:r>
                    </a:p>
                  </a:txBody>
                  <a:tcPr marL="81232" marR="81232" marT="40616" marB="406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Encrypted web traffic — runs over TCP port 443</a:t>
                      </a:r>
                    </a:p>
                  </a:txBody>
                  <a:tcPr marL="81232" marR="81232" marT="40616" marB="40616" anchor="ctr"/>
                </a:tc>
                <a:extLst>
                  <a:ext uri="{0D108BD9-81ED-4DB2-BD59-A6C34878D82A}">
                    <a16:rowId xmlns:a16="http://schemas.microsoft.com/office/drawing/2014/main" val="2348021066"/>
                  </a:ext>
                </a:extLst>
              </a:tr>
              <a:tr h="46805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1232" marR="81232" marT="40616" marB="406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Git (HTTP/HTTPS)</a:t>
                      </a:r>
                    </a:p>
                  </a:txBody>
                  <a:tcPr marL="81232" marR="81232" marT="40616" marB="406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Version control transfers use HTTP/HTTPS</a:t>
                      </a:r>
                    </a:p>
                  </a:txBody>
                  <a:tcPr marL="81232" marR="81232" marT="40616" marB="40616" anchor="ctr"/>
                </a:tc>
                <a:extLst>
                  <a:ext uri="{0D108BD9-81ED-4DB2-BD59-A6C34878D82A}">
                    <a16:rowId xmlns:a16="http://schemas.microsoft.com/office/drawing/2014/main" val="2480571746"/>
                  </a:ext>
                </a:extLst>
              </a:tr>
              <a:tr h="4680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Transport</a:t>
                      </a:r>
                    </a:p>
                  </a:txBody>
                  <a:tcPr marL="81232" marR="81232" marT="40616" marB="406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TCP</a:t>
                      </a:r>
                    </a:p>
                  </a:txBody>
                  <a:tcPr marL="81232" marR="81232" marT="40616" marB="406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underlying transport for all of the above</a:t>
                      </a:r>
                    </a:p>
                  </a:txBody>
                  <a:tcPr marL="81232" marR="81232" marT="40616" marB="40616" anchor="ctr"/>
                </a:tc>
                <a:extLst>
                  <a:ext uri="{0D108BD9-81ED-4DB2-BD59-A6C34878D82A}">
                    <a16:rowId xmlns:a16="http://schemas.microsoft.com/office/drawing/2014/main" val="706971043"/>
                  </a:ext>
                </a:extLst>
              </a:tr>
              <a:tr h="4680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Internet</a:t>
                      </a:r>
                    </a:p>
                  </a:txBody>
                  <a:tcPr marL="81232" marR="81232" marT="40616" marB="406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IP</a:t>
                      </a:r>
                    </a:p>
                  </a:txBody>
                  <a:tcPr marL="81232" marR="81232" marT="40616" marB="406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Routes packets between machines using IP addresses</a:t>
                      </a:r>
                    </a:p>
                  </a:txBody>
                  <a:tcPr marL="81232" marR="81232" marT="40616" marB="40616" anchor="ctr"/>
                </a:tc>
                <a:extLst>
                  <a:ext uri="{0D108BD9-81ED-4DB2-BD59-A6C34878D82A}">
                    <a16:rowId xmlns:a16="http://schemas.microsoft.com/office/drawing/2014/main" val="254335325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0147EFD-5C6B-FCED-C53A-9939186C3EA0}"/>
              </a:ext>
            </a:extLst>
          </p:cNvPr>
          <p:cNvSpPr txBox="1"/>
          <p:nvPr/>
        </p:nvSpPr>
        <p:spPr>
          <a:xfrm>
            <a:off x="486137" y="5576614"/>
            <a:ext cx="81112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Key takeaway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: TCP lives at the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Transport layer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— it provides the reliable connection that SSH, HTTP, and HTTPS all depend on at the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Application layer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above it.</a:t>
            </a: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614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F52C6-9405-014D-3F33-63E748815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81" y="358056"/>
            <a:ext cx="8050837" cy="384721"/>
          </a:xfrm>
        </p:spPr>
        <p:txBody>
          <a:bodyPr/>
          <a:lstStyle/>
          <a:p>
            <a:r>
              <a:rPr lang="en-GB" dirty="0"/>
              <a:t>Ports: The Doors to a Server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91629-6F2D-8861-5F07-4CD9AFE64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940" y="1625600"/>
            <a:ext cx="8298180" cy="3671005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dirty="0">
                <a:latin typeface="Arial" panose="020B0604020202020204" pitchFamily="34" charset="0"/>
                <a:cs typeface="Arial" panose="020B0604020202020204" pitchFamily="34" charset="0"/>
              </a:rPr>
              <a:t>Every networked machine has 65,535 TCP.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b="0" dirty="0">
                <a:latin typeface="Arial" panose="020B0604020202020204" pitchFamily="34" charset="0"/>
                <a:cs typeface="Arial" panose="020B0604020202020204" pitchFamily="34" charset="0"/>
              </a:rPr>
              <a:t>Port ranges: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0–1023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— Well-known ports. Reserved for standard services (SSH=22, HTTP=80, HTTPS=443)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1024–49151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— Registered ports. Used by applications and databases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49152–65535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— Dynamic/ephemeral ports. Assigned temporarily to clients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AU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209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701F-F870-1EB7-3009-BDE58E2CE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81" y="358056"/>
            <a:ext cx="8050837" cy="406400"/>
          </a:xfrm>
        </p:spPr>
        <p:txBody>
          <a:bodyPr wrap="square">
            <a:normAutofit/>
          </a:bodyPr>
          <a:lstStyle/>
          <a:p>
            <a:r>
              <a:rPr lang="en-AU" dirty="0"/>
              <a:t>TCP 3-Way Handshake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DD608-35B8-8BB8-8F3D-EA6A3805DB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</p:spPr>
        <p:txBody>
          <a:bodyPr wrap="square">
            <a:norm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dirty="0">
                <a:latin typeface="Arial" panose="020B0604020202020204" pitchFamily="34" charset="0"/>
                <a:cs typeface="Arial" panose="020B0604020202020204" pitchFamily="34" charset="0"/>
              </a:rPr>
              <a:t>Before any data is exchanged, TCP establishes a connection in three steps: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SYN-ACK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337333-AA4B-F367-4785-C4751C575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274284"/>
            <a:ext cx="3977640" cy="31323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93546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40235-BA60-069A-0FFA-812B2D699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81" y="358056"/>
            <a:ext cx="8050837" cy="384721"/>
          </a:xfrm>
        </p:spPr>
        <p:txBody>
          <a:bodyPr/>
          <a:lstStyle/>
          <a:p>
            <a:r>
              <a:rPr lang="en-AU" dirty="0" err="1">
                <a:latin typeface="Courier New" panose="02070309020205020404" pitchFamily="49" charset="0"/>
                <a:cs typeface="Courier New" panose="02070309020205020404" pitchFamily="49" charset="0"/>
              </a:rPr>
              <a:t>nmap</a:t>
            </a:r>
            <a:endParaRPr lang="en-A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AC649-A871-73AE-70B5-D9316AE8E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909" y="3059668"/>
            <a:ext cx="8298180" cy="738664"/>
          </a:xfrm>
        </p:spPr>
        <p:txBody>
          <a:bodyPr/>
          <a:lstStyle/>
          <a:p>
            <a:pPr algn="ctr"/>
            <a:r>
              <a:rPr lang="en-GB" dirty="0"/>
              <a:t>Tool 1 — Port Scanning Discover which ports are open on a remote server.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96663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717CC-5D55-1ECC-8762-CD80C3B55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81" y="358056"/>
            <a:ext cx="8050837" cy="384721"/>
          </a:xfrm>
        </p:spPr>
        <p:txBody>
          <a:bodyPr/>
          <a:lstStyle/>
          <a:p>
            <a:r>
              <a:rPr lang="en-AU" dirty="0"/>
              <a:t>What is Port Scanning?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B92D59-74F2-8712-E272-073836941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909" y="1284147"/>
            <a:ext cx="8298180" cy="2701509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dirty="0"/>
              <a:t>Port scanning is the process of systematically probing a machine to find which ports are open and what services are running.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dirty="0"/>
              <a:t>⚠️ Ethics &amp; Legality: Always scan systems you own or have explicit written permission to test.</a:t>
            </a:r>
            <a:endParaRPr lang="en-AU" b="0" dirty="0"/>
          </a:p>
        </p:txBody>
      </p:sp>
    </p:spTree>
    <p:extLst>
      <p:ext uri="{BB962C8B-B14F-4D97-AF65-F5344CB8AC3E}">
        <p14:creationId xmlns:p14="http://schemas.microsoft.com/office/powerpoint/2010/main" val="40837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C5F57-73C9-9FE2-9B42-44230A94B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81" y="358056"/>
            <a:ext cx="8050837" cy="384721"/>
          </a:xfrm>
        </p:spPr>
        <p:txBody>
          <a:bodyPr/>
          <a:lstStyle/>
          <a:p>
            <a:r>
              <a:rPr lang="en-AU" dirty="0" err="1">
                <a:latin typeface="Courier New" panose="02070309020205020404" pitchFamily="49" charset="0"/>
                <a:cs typeface="Courier New" panose="02070309020205020404" pitchFamily="49" charset="0"/>
              </a:rPr>
              <a:t>nmap</a:t>
            </a:r>
            <a:r>
              <a:rPr lang="en-AU" dirty="0"/>
              <a:t>: How It Works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868D6-BBCB-C534-4EA1-DA40A0DB7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909" y="1411468"/>
            <a:ext cx="8298180" cy="2034531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nmap</a:t>
            </a:r>
            <a:r>
              <a:rPr lang="en-GB" b="0" dirty="0"/>
              <a:t> probes ports and interprets responses to determine their state.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b="0" dirty="0"/>
              <a:t>Main scan strategies: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TCP Connect Scan</a:t>
            </a:r>
          </a:p>
        </p:txBody>
      </p:sp>
    </p:spTree>
    <p:extLst>
      <p:ext uri="{BB962C8B-B14F-4D97-AF65-F5344CB8AC3E}">
        <p14:creationId xmlns:p14="http://schemas.microsoft.com/office/powerpoint/2010/main" val="2685597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9D1DE-AFFF-6BA4-13E4-B4F4F8DE9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81" y="358056"/>
            <a:ext cx="8050837" cy="384721"/>
          </a:xfrm>
        </p:spPr>
        <p:txBody>
          <a:bodyPr/>
          <a:lstStyle/>
          <a:p>
            <a:r>
              <a:rPr lang="en-AU" dirty="0" err="1">
                <a:latin typeface="Courier New" panose="02070309020205020404" pitchFamily="49" charset="0"/>
                <a:cs typeface="Courier New" panose="02070309020205020404" pitchFamily="49" charset="0"/>
              </a:rPr>
              <a:t>nmap</a:t>
            </a:r>
            <a:r>
              <a:rPr lang="en-AU" dirty="0"/>
              <a:t>: Reading the 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AA999-CE07-D3B0-3E94-51BE171A6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940" y="1625600"/>
            <a:ext cx="8298180" cy="36933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Port states you'll see in scan output:</a:t>
            </a:r>
            <a:endParaRPr lang="en-AU" b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795486D-B048-36B6-B711-25AEB645A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946619"/>
              </p:ext>
            </p:extLst>
          </p:nvPr>
        </p:nvGraphicFramePr>
        <p:xfrm>
          <a:off x="1246208" y="2501900"/>
          <a:ext cx="6096000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784">
                  <a:extLst>
                    <a:ext uri="{9D8B030D-6E8A-4147-A177-3AD203B41FA5}">
                      <a16:colId xmlns:a16="http://schemas.microsoft.com/office/drawing/2014/main" val="2624848218"/>
                    </a:ext>
                  </a:extLst>
                </a:gridCol>
                <a:gridCol w="4321216">
                  <a:extLst>
                    <a:ext uri="{9D8B030D-6E8A-4147-A177-3AD203B41FA5}">
                      <a16:colId xmlns:a16="http://schemas.microsoft.com/office/drawing/2014/main" val="2496026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State</a:t>
                      </a:r>
                      <a:endParaRPr lang="en-A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252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service is actively listening. You can connect to it.</a:t>
                      </a:r>
                      <a:endParaRPr lang="en-A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272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Port reachable, but no service is listening.</a:t>
                      </a:r>
                      <a:endParaRPr lang="en-A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7969862"/>
                  </a:ext>
                </a:extLst>
              </a:tr>
              <a:tr h="560761">
                <a:tc>
                  <a:txBody>
                    <a:bodyPr/>
                    <a:lstStyle/>
                    <a:p>
                      <a:r>
                        <a:rPr lang="en-A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filtered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Firewall likely dropping packets. State unknown.</a:t>
                      </a:r>
                      <a:endParaRPr lang="en-A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733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2547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9AB7D-3CCC-C92F-6031-EFA0063D2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8E04E-3D1A-3D72-F94D-FCA4FACAD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81" y="358056"/>
            <a:ext cx="8050837" cy="384721"/>
          </a:xfrm>
        </p:spPr>
        <p:txBody>
          <a:bodyPr/>
          <a:lstStyle/>
          <a:p>
            <a:r>
              <a:rPr lang="en-AU" dirty="0"/>
              <a:t>Demo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8FCA76-F859-A25F-2688-881B89597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320" y="1127888"/>
            <a:ext cx="8781680" cy="1333698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nmap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Scan ports on a remote host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Identify port states: open, closed, filtered</a:t>
            </a:r>
          </a:p>
        </p:txBody>
      </p:sp>
    </p:spTree>
    <p:extLst>
      <p:ext uri="{BB962C8B-B14F-4D97-AF65-F5344CB8AC3E}">
        <p14:creationId xmlns:p14="http://schemas.microsoft.com/office/powerpoint/2010/main" val="1876836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8DC49-C179-CACF-FEEB-F42B1886A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81" y="358056"/>
            <a:ext cx="8050837" cy="384721"/>
          </a:xfrm>
        </p:spPr>
        <p:txBody>
          <a:bodyPr/>
          <a:lstStyle/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netcat</a:t>
            </a:r>
            <a:endParaRPr lang="en-A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795C99-7CD1-5F9A-73D5-C7233FBB0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909" y="3059668"/>
            <a:ext cx="8298180" cy="738664"/>
          </a:xfrm>
        </p:spPr>
        <p:txBody>
          <a:bodyPr/>
          <a:lstStyle/>
          <a:p>
            <a:pPr algn="ctr"/>
            <a:r>
              <a:rPr lang="en-GB" dirty="0"/>
              <a:t>Tool 2 — Raw TCP Communication Send and receive data directly over TCP</a:t>
            </a:r>
            <a:r>
              <a:rPr lang="en-A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0672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11DE9-11B5-E1A5-8E49-E82D1FB32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81" y="358056"/>
            <a:ext cx="8050837" cy="384721"/>
          </a:xfrm>
        </p:spPr>
        <p:txBody>
          <a:bodyPr/>
          <a:lstStyle/>
          <a:p>
            <a:r>
              <a:rPr lang="en-AU" dirty="0"/>
              <a:t>What is </a:t>
            </a:r>
            <a:r>
              <a:rPr lang="en-AU" dirty="0" err="1"/>
              <a:t>netcat</a:t>
            </a:r>
            <a:r>
              <a:rPr lang="en-AU" dirty="0"/>
              <a:t> (</a:t>
            </a:r>
            <a:r>
              <a:rPr lang="en-AU" dirty="0" err="1"/>
              <a:t>nc</a:t>
            </a:r>
            <a:r>
              <a:rPr lang="en-AU" dirty="0"/>
              <a:t>)?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7DDD51-0B19-8BA7-EF92-45775B8FB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0430" y="1284790"/>
            <a:ext cx="8738885" cy="2626360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netcat</a:t>
            </a:r>
            <a:r>
              <a:rPr lang="en-GB" sz="2000" b="0" dirty="0"/>
              <a:t> reads and writes data across network connections using TCP</a:t>
            </a:r>
            <a:r>
              <a:rPr lang="en-AU" sz="2000" b="0" dirty="0"/>
              <a:t>.</a:t>
            </a:r>
            <a:endParaRPr lang="en-GB" sz="2000" b="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0" dirty="0"/>
              <a:t>Unlike a browser, it sends exactly the bytes you type and shows exactly what the server sends back.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000" b="0" dirty="0"/>
              <a:t>Capabilities: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Simple file transfer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Port testing</a:t>
            </a:r>
          </a:p>
        </p:txBody>
      </p:sp>
    </p:spTree>
    <p:extLst>
      <p:ext uri="{BB962C8B-B14F-4D97-AF65-F5344CB8AC3E}">
        <p14:creationId xmlns:p14="http://schemas.microsoft.com/office/powerpoint/2010/main" val="2923549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EF8F1-096D-A39D-0EC0-F92B5BCC0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81" y="358056"/>
            <a:ext cx="8050837" cy="384721"/>
          </a:xfrm>
        </p:spPr>
        <p:txBody>
          <a:bodyPr/>
          <a:lstStyle/>
          <a:p>
            <a:r>
              <a:rPr lang="en-AU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netcat</a:t>
            </a:r>
            <a:r>
              <a:rPr lang="en-AU" dirty="0"/>
              <a:t>: Client–Server Model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1E76614-4F61-B498-2B4E-B07898C63385}"/>
              </a:ext>
            </a:extLst>
          </p:cNvPr>
          <p:cNvSpPr/>
          <p:nvPr/>
        </p:nvSpPr>
        <p:spPr>
          <a:xfrm>
            <a:off x="3245795" y="1647217"/>
            <a:ext cx="2652408" cy="7587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Server</a:t>
            </a:r>
          </a:p>
          <a:p>
            <a:pPr algn="ctr"/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Waits, always ready</a:t>
            </a:r>
            <a:endParaRPr lang="en-AU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5869D4-95A5-637A-8410-8AFDA61DFC6E}"/>
              </a:ext>
            </a:extLst>
          </p:cNvPr>
          <p:cNvSpPr/>
          <p:nvPr/>
        </p:nvSpPr>
        <p:spPr>
          <a:xfrm>
            <a:off x="888460" y="3429000"/>
            <a:ext cx="2049293" cy="79280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Client 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F3816E-44EE-810A-DC2A-5EE28D1A0E6E}"/>
              </a:ext>
            </a:extLst>
          </p:cNvPr>
          <p:cNvSpPr/>
          <p:nvPr/>
        </p:nvSpPr>
        <p:spPr>
          <a:xfrm>
            <a:off x="6206244" y="3429000"/>
            <a:ext cx="2049293" cy="79280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Client 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2B07B7-5FA1-7145-1F29-85BBBB086319}"/>
              </a:ext>
            </a:extLst>
          </p:cNvPr>
          <p:cNvSpPr/>
          <p:nvPr/>
        </p:nvSpPr>
        <p:spPr>
          <a:xfrm>
            <a:off x="3547352" y="3429000"/>
            <a:ext cx="2049293" cy="79280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Client B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B03A8C9-56BA-74BB-C4B3-92A9E3CABA1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1913107" y="2405974"/>
            <a:ext cx="1997412" cy="10230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D4D9BEA-741F-BFA6-677D-5FB25F405FE1}"/>
              </a:ext>
            </a:extLst>
          </p:cNvPr>
          <p:cNvCxnSpPr>
            <a:cxnSpLocks/>
            <a:stCxn id="7" idx="0"/>
            <a:endCxn id="4" idx="2"/>
          </p:cNvCxnSpPr>
          <p:nvPr/>
        </p:nvCxnSpPr>
        <p:spPr>
          <a:xfrm flipV="1">
            <a:off x="4571999" y="2405974"/>
            <a:ext cx="0" cy="10230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4692897-57C7-08F2-C825-2B5FF9E4D067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5097294" y="2405974"/>
            <a:ext cx="2133597" cy="10230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2C34107-4A4C-1872-34B6-71FFDC1A4A54}"/>
              </a:ext>
            </a:extLst>
          </p:cNvPr>
          <p:cNvSpPr txBox="1"/>
          <p:nvPr/>
        </p:nvSpPr>
        <p:spPr>
          <a:xfrm>
            <a:off x="888460" y="4740613"/>
            <a:ext cx="7503268" cy="1305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Clear role 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– One waits, one connects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One-to-many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 – One server, many clients</a:t>
            </a:r>
          </a:p>
        </p:txBody>
      </p:sp>
    </p:spTree>
    <p:extLst>
      <p:ext uri="{BB962C8B-B14F-4D97-AF65-F5344CB8AC3E}">
        <p14:creationId xmlns:p14="http://schemas.microsoft.com/office/powerpoint/2010/main" val="1414339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6CC40-DA66-F2B8-591D-494FBDB51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7FBC3-4CD1-6B5E-32F0-6E9817802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81" y="358056"/>
            <a:ext cx="8050837" cy="384721"/>
          </a:xfrm>
        </p:spPr>
        <p:txBody>
          <a:bodyPr/>
          <a:lstStyle/>
          <a:p>
            <a:r>
              <a:rPr lang="en-AU" dirty="0"/>
              <a:t>Demo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EAFF2-EDB8-13DF-841F-3C7F45F83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320" y="1127888"/>
            <a:ext cx="8781680" cy="1333698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netcat</a:t>
            </a:r>
            <a:endParaRPr lang="en-A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Send and receive raw TCP messages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Set up a simple client–server connection</a:t>
            </a:r>
          </a:p>
        </p:txBody>
      </p:sp>
    </p:spTree>
    <p:extLst>
      <p:ext uri="{BB962C8B-B14F-4D97-AF65-F5344CB8AC3E}">
        <p14:creationId xmlns:p14="http://schemas.microsoft.com/office/powerpoint/2010/main" val="1207228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AF5E8-EAF9-8256-EDA4-DE18B5F88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81" y="358056"/>
            <a:ext cx="8050837" cy="384721"/>
          </a:xfrm>
        </p:spPr>
        <p:txBody>
          <a:bodyPr/>
          <a:lstStyle/>
          <a:p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EDAF8C-0599-6686-3103-6CF911534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909" y="3059668"/>
            <a:ext cx="8298180" cy="738664"/>
          </a:xfrm>
        </p:spPr>
        <p:txBody>
          <a:bodyPr/>
          <a:lstStyle/>
          <a:p>
            <a:pPr algn="ctr"/>
            <a:r>
              <a:rPr lang="en-GB" dirty="0"/>
              <a:t>Tool 3 — Version Control Track changes and retrieve code over HTTP.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35446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FC11E-1A21-23C7-F356-A002C1CF5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81" y="358056"/>
            <a:ext cx="8050837" cy="384721"/>
          </a:xfrm>
        </p:spPr>
        <p:txBody>
          <a:bodyPr/>
          <a:lstStyle/>
          <a:p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en-AU" dirty="0"/>
              <a:t>: Core Concepts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ABCFE-B6D9-D621-36D3-A17318F73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113" y="1359382"/>
            <a:ext cx="8353771" cy="2441694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0" dirty="0"/>
              <a:t>Repository (repo)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0" dirty="0"/>
              <a:t>Commit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0" dirty="0"/>
              <a:t>Branch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0" dirty="0"/>
              <a:t>Remote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0" dirty="0"/>
              <a:t>Clone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0" dirty="0"/>
              <a:t>Pull / Fetch</a:t>
            </a:r>
          </a:p>
        </p:txBody>
      </p:sp>
    </p:spTree>
    <p:extLst>
      <p:ext uri="{BB962C8B-B14F-4D97-AF65-F5344CB8AC3E}">
        <p14:creationId xmlns:p14="http://schemas.microsoft.com/office/powerpoint/2010/main" val="28609316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5CB69-CD44-B304-B771-1DEB722A4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81" y="358056"/>
            <a:ext cx="8050837" cy="384721"/>
          </a:xfrm>
        </p:spPr>
        <p:txBody>
          <a:bodyPr/>
          <a:lstStyle/>
          <a:p>
            <a:r>
              <a:rPr lang="en-AU" dirty="0"/>
              <a:t>Cloning a Repository via HTTP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F7235-2E22-BE97-293B-7342BB51D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909" y="1247249"/>
            <a:ext cx="8298180" cy="2173031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dirty="0"/>
              <a:t>When you run </a:t>
            </a:r>
            <a:r>
              <a:rPr lang="en-GB" b="0" dirty="0">
                <a:latin typeface="Courier New" panose="02070309020205020404" pitchFamily="49" charset="0"/>
                <a:cs typeface="Courier New" panose="02070309020205020404" pitchFamily="49" charset="0"/>
              </a:rPr>
              <a:t>git clone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dirty="0">
                <a:latin typeface="Arial" panose="020B0604020202020204" pitchFamily="34" charset="0"/>
                <a:cs typeface="Arial" panose="020B0604020202020204" pitchFamily="34" charset="0"/>
              </a:rPr>
              <a:t>Resolve the URL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dirty="0">
                <a:latin typeface="Arial" panose="020B0604020202020204" pitchFamily="34" charset="0"/>
                <a:cs typeface="Arial" panose="020B0604020202020204" pitchFamily="34" charset="0"/>
              </a:rPr>
              <a:t>Negotiate with server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dirty="0">
                <a:latin typeface="Arial" panose="020B0604020202020204" pitchFamily="34" charset="0"/>
                <a:cs typeface="Arial" panose="020B0604020202020204" pitchFamily="34" charset="0"/>
              </a:rPr>
              <a:t>Download objects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dirty="0">
                <a:latin typeface="Arial" panose="020B0604020202020204" pitchFamily="34" charset="0"/>
                <a:cs typeface="Arial" panose="020B0604020202020204" pitchFamily="34" charset="0"/>
              </a:rPr>
              <a:t>Reconstruct locally</a:t>
            </a:r>
          </a:p>
        </p:txBody>
      </p:sp>
    </p:spTree>
    <p:extLst>
      <p:ext uri="{BB962C8B-B14F-4D97-AF65-F5344CB8AC3E}">
        <p14:creationId xmlns:p14="http://schemas.microsoft.com/office/powerpoint/2010/main" val="41703720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8946F-A397-E64C-ECD5-EE01582F3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81" y="358056"/>
            <a:ext cx="8050837" cy="384721"/>
          </a:xfrm>
        </p:spPr>
        <p:txBody>
          <a:bodyPr/>
          <a:lstStyle/>
          <a:p>
            <a:r>
              <a:rPr lang="en-AU" dirty="0"/>
              <a:t>Cloning a Repository via HTTP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B83F6-678C-F9B9-F38B-9725BD25D6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4132" y="1625600"/>
            <a:ext cx="8860420" cy="3980898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dirty="0">
                <a:latin typeface="Courier New" panose="02070309020205020404" pitchFamily="49" charset="0"/>
                <a:cs typeface="Courier New" panose="02070309020205020404" pitchFamily="49" charset="0"/>
              </a:rPr>
              <a:t>https://github.com/username/repository.git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https://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- Protocol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github.com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– Server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/username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– Owner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/repository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– Repo name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.git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– Git suffix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dirty="0"/>
              <a:t>Why HTTP/HTTPS instead of SSH?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It works through firewalls and proxies that block other protocols like SSH on port 22.</a:t>
            </a:r>
            <a:endParaRPr lang="en-AU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6285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E4466-C7EF-4347-C690-3A62525E7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C2768-656F-E0C6-2FC0-CBF281B17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81" y="358056"/>
            <a:ext cx="8050837" cy="384721"/>
          </a:xfrm>
        </p:spPr>
        <p:txBody>
          <a:bodyPr/>
          <a:lstStyle/>
          <a:p>
            <a:r>
              <a:rPr lang="en-AU" dirty="0"/>
              <a:t>Demo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F19DC9-4757-08E2-B3DB-6B7514D93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320" y="1127888"/>
            <a:ext cx="8781680" cy="1749197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Clone a remote repository via HTTP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Retrieve project files and version history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Cheat sheet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11977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7A727-1B10-93F1-A74C-64DB901F7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81" y="358056"/>
            <a:ext cx="8050837" cy="384721"/>
          </a:xfrm>
        </p:spPr>
        <p:txBody>
          <a:bodyPr/>
          <a:lstStyle/>
          <a:p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SSH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77D764-B40B-F65B-39CC-EE88593B9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909" y="3059668"/>
            <a:ext cx="8298180" cy="738664"/>
          </a:xfrm>
        </p:spPr>
        <p:txBody>
          <a:bodyPr/>
          <a:lstStyle/>
          <a:p>
            <a:pPr algn="ctr"/>
            <a:r>
              <a:rPr lang="en-GB" dirty="0"/>
              <a:t>Tool 4 — Secure Remote Access Encrypted login and secure file transfer.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62187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F2108-E5BB-EB50-9678-8C3D8A7F4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81" y="358056"/>
            <a:ext cx="8050837" cy="384721"/>
          </a:xfrm>
        </p:spPr>
        <p:txBody>
          <a:bodyPr/>
          <a:lstStyle/>
          <a:p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SSH</a:t>
            </a:r>
            <a:r>
              <a:rPr lang="en-AU" dirty="0"/>
              <a:t>: Secure Shell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502B7-8A26-0B68-23E7-24E103BA6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6581" y="1429324"/>
            <a:ext cx="8514353" cy="3930371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000" b="0" dirty="0">
                <a:latin typeface="Arial" panose="020B0604020202020204" pitchFamily="34" charset="0"/>
                <a:cs typeface="Arial" panose="020B0604020202020204" pitchFamily="34" charset="0"/>
              </a:rPr>
              <a:t>The Problem Before SSH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Tools like Telnet and rlogin sent everything — including passwords — as plain text over the network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Anyone intercepting packets could read your credentials and data</a:t>
            </a:r>
            <a:endParaRPr lang="en-AU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000" b="0" dirty="0">
                <a:latin typeface="Arial" panose="020B0604020202020204" pitchFamily="34" charset="0"/>
                <a:cs typeface="Arial" panose="020B0604020202020204" pitchFamily="34" charset="0"/>
              </a:rPr>
              <a:t>How SSH Works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SSH establishes an encrypted tunnel between client and server using public-key cryptography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A key exchange (e.g. Diffie-Hellman) lets both sides agree on a shared secret without ever sending it over the network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All subsequent traffic is encrypted — intercepted packets look like random noise</a:t>
            </a:r>
            <a:endParaRPr lang="en-AU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000" b="0" dirty="0">
                <a:latin typeface="Arial" panose="020B0604020202020204" pitchFamily="34" charset="0"/>
                <a:cs typeface="Arial" panose="020B0604020202020204" pitchFamily="34" charset="0"/>
              </a:rPr>
              <a:t>Key-based Authentication Metho</a:t>
            </a:r>
            <a:r>
              <a:rPr lang="en-US" altLang="zh-CN" sz="2000" b="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private/public key pair; the server verifies you hold the private key without you ever sending it</a:t>
            </a:r>
          </a:p>
        </p:txBody>
      </p:sp>
    </p:spTree>
    <p:extLst>
      <p:ext uri="{BB962C8B-B14F-4D97-AF65-F5344CB8AC3E}">
        <p14:creationId xmlns:p14="http://schemas.microsoft.com/office/powerpoint/2010/main" val="32308716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A297-4D00-CC35-BB17-8B4578A9A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81" y="358056"/>
            <a:ext cx="8050837" cy="406400"/>
          </a:xfrm>
        </p:spPr>
        <p:txBody>
          <a:bodyPr wrap="square">
            <a:normAutofit/>
          </a:bodyPr>
          <a:lstStyle/>
          <a:p>
            <a:r>
              <a:rPr lang="en-GB" dirty="0"/>
              <a:t>SSH Key Pairs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3242AC-2171-6C72-2115-9A2C5FFF6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8885" y="1538429"/>
            <a:ext cx="3977640" cy="4526280"/>
          </a:xfrm>
        </p:spPr>
        <p:txBody>
          <a:bodyPr wrap="square">
            <a:normAutofit/>
          </a:bodyPr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b="0" dirty="0"/>
              <a:t>Private key — Stays on your machine, never shared. Proof of identity. Often protected by a passphrase.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b="0" dirty="0"/>
              <a:t>Public key — Copied to the server (~/.ssh/</a:t>
            </a:r>
            <a:r>
              <a:rPr lang="en-GB" sz="1600" b="0" dirty="0" err="1"/>
              <a:t>authorized_keys</a:t>
            </a:r>
            <a:r>
              <a:rPr lang="en-GB" sz="1600" b="0" dirty="0"/>
              <a:t>). Safe to share — cannot impersonate you.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b="0" dirty="0"/>
              <a:t>How it works — Server sends a challenge encrypted with your public key. Only your private key can decrypt it, proving identity without sending a password.</a:t>
            </a:r>
            <a:endParaRPr lang="en-AU" sz="1600" b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290EFA-E486-0ED2-43CC-2F27086E0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356" y="1880681"/>
            <a:ext cx="5059759" cy="357977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748584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0A8B3-D3CC-F100-984B-765E62716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81" y="358056"/>
            <a:ext cx="8050837" cy="430887"/>
          </a:xfrm>
        </p:spPr>
        <p:txBody>
          <a:bodyPr/>
          <a:lstStyle/>
          <a:p>
            <a:r>
              <a:rPr lang="en-US" altLang="en-US" sz="2800" dirty="0"/>
              <a:t>Add the public key to GitHub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3A4F9-FEC7-BA2B-2D79-7D7E7F76E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4691974" cy="4225003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Check for existing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OpenSSH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key pairs: </a:t>
            </a:r>
          </a:p>
          <a:p>
            <a:pPr marL="342900" lvl="1" indent="0">
              <a:lnSpc>
                <a:spcPct val="150000"/>
              </a:lnSpc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ls ~/.ssh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Generate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OpenSSH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keys if no key pairs exist:</a:t>
            </a:r>
          </a:p>
          <a:p>
            <a:pPr marL="342900" lvl="1" indent="0">
              <a:lnSpc>
                <a:spcPct val="150000"/>
              </a:lnSpc>
              <a:buNone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	ssh-keygen -t rsa -b 4096 -C email@example.com</a:t>
            </a:r>
          </a:p>
          <a:p>
            <a:pPr marL="342900" lvl="1" indent="0">
              <a:lnSpc>
                <a:spcPct val="150000"/>
              </a:lnSpc>
              <a:buNone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	private key: id_rsa</a:t>
            </a:r>
          </a:p>
          <a:p>
            <a:pPr marL="342900" lvl="1" indent="0">
              <a:lnSpc>
                <a:spcPct val="150000"/>
              </a:lnSpc>
              <a:buNone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	public key: id_rsa.pub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Add the Public Key to GitHub:</a:t>
            </a:r>
          </a:p>
          <a:p>
            <a:pPr>
              <a:lnSpc>
                <a:spcPct val="150000"/>
              </a:lnSpc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65AEF7-42DF-206B-87CF-4BBB2515AB56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3"/>
          <a:stretch>
            <a:fillRect/>
          </a:stretch>
        </p:blipFill>
        <p:spPr>
          <a:xfrm>
            <a:off x="5316746" y="2994271"/>
            <a:ext cx="3635735" cy="370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6201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FBB8B-1CBA-0DDC-CD23-7004B0FE0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81" y="358056"/>
            <a:ext cx="8050837" cy="384721"/>
          </a:xfrm>
        </p:spPr>
        <p:txBody>
          <a:bodyPr/>
          <a:lstStyle/>
          <a:p>
            <a:r>
              <a:rPr lang="en-AU" dirty="0"/>
              <a:t>Secure Copy Protocol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43DB3-9ACC-FEDE-B920-1C74E13CC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909" y="1533002"/>
            <a:ext cx="8298180" cy="3427861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dirty="0"/>
              <a:t>SCP uses SSH as its transport, so everything is automatically encrypted. It works like the </a:t>
            </a:r>
            <a:r>
              <a:rPr lang="en-GB" b="0" dirty="0">
                <a:latin typeface="Courier New" panose="02070309020205020404" pitchFamily="49" charset="0"/>
                <a:cs typeface="Courier New" panose="02070309020205020404" pitchFamily="49" charset="0"/>
              </a:rPr>
              <a:t>cp</a:t>
            </a:r>
            <a:r>
              <a:rPr lang="en-GB" b="0" dirty="0"/>
              <a:t> command, but source or destination can be </a:t>
            </a:r>
            <a:r>
              <a:rPr lang="en-GB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user@host:path</a:t>
            </a:r>
            <a:r>
              <a:rPr lang="en-GB" b="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b="0" dirty="0"/>
              <a:t>Three patterns: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Upload</a:t>
            </a:r>
            <a:r>
              <a:rPr lang="en-GB" dirty="0"/>
              <a:t>: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scp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&lt;local-file&gt; user@&lt;server&gt;:&lt;remote-path&gt;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Download</a:t>
            </a:r>
            <a:r>
              <a:rPr lang="en-GB" dirty="0"/>
              <a:t>: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scp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user@&lt;server&gt;:&lt;remote-file&gt; &lt;local-path&gt;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/>
              <a:t>Directory</a:t>
            </a:r>
            <a:r>
              <a:rPr lang="pt-BR" dirty="0"/>
              <a:t>: 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scp -r &lt;local-dir&gt; user@&lt;server&gt;:&lt;path&gt;</a:t>
            </a:r>
            <a:endParaRPr lang="en-A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8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B20D0-3E90-2F60-4702-2312F368F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81" y="358056"/>
            <a:ext cx="8050837" cy="384721"/>
          </a:xfrm>
        </p:spPr>
        <p:txBody>
          <a:bodyPr/>
          <a:lstStyle/>
          <a:p>
            <a:r>
              <a:rPr lang="en-AU" dirty="0"/>
              <a:t>Demo 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4FABC-AA59-83B7-99A8-D1D8B89D7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320" y="1127888"/>
            <a:ext cx="8781680" cy="1333698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>
                <a:latin typeface="Courier New" panose="02070309020205020404" pitchFamily="49" charset="0"/>
                <a:cs typeface="Courier New" panose="02070309020205020404" pitchFamily="49" charset="0"/>
              </a:rPr>
              <a:t>ssh &amp; </a:t>
            </a:r>
            <a:r>
              <a:rPr lang="en-AU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scp</a:t>
            </a:r>
            <a:endParaRPr lang="en-A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Log in to a remote machine securely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Transfer files over an encrypted connection</a:t>
            </a: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3304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4353</TotalTime>
  <Words>1217</Words>
  <Application>Microsoft Office PowerPoint</Application>
  <PresentationFormat>On-screen Show (4:3)</PresentationFormat>
  <Paragraphs>209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Courier New</vt:lpstr>
      <vt:lpstr>Office Theme</vt:lpstr>
      <vt:lpstr>Introduction to Cybersecurity</vt:lpstr>
      <vt:lpstr>About me</vt:lpstr>
      <vt:lpstr>Learning Objectives</vt:lpstr>
      <vt:lpstr>How Computers Communicate</vt:lpstr>
      <vt:lpstr>TCP/IP Network Model</vt:lpstr>
      <vt:lpstr>Where Do Our Tools Fit?</vt:lpstr>
      <vt:lpstr>Ports: The Doors to a Server</vt:lpstr>
      <vt:lpstr>TCP 3-Way Handshake</vt:lpstr>
      <vt:lpstr>nmap</vt:lpstr>
      <vt:lpstr>What is Port Scanning?</vt:lpstr>
      <vt:lpstr>nmap: How It Works</vt:lpstr>
      <vt:lpstr>nmap: Reading the Results</vt:lpstr>
      <vt:lpstr>Demo 1</vt:lpstr>
      <vt:lpstr>netcat</vt:lpstr>
      <vt:lpstr>What is netcat (nc)?</vt:lpstr>
      <vt:lpstr>netcat: Client–Server Model</vt:lpstr>
      <vt:lpstr>Demo 2</vt:lpstr>
      <vt:lpstr>Git</vt:lpstr>
      <vt:lpstr>Git: Core Concepts</vt:lpstr>
      <vt:lpstr>Cloning a Repository via HTTP</vt:lpstr>
      <vt:lpstr>Cloning a Repository via HTTP</vt:lpstr>
      <vt:lpstr>Demo 3</vt:lpstr>
      <vt:lpstr>SSH</vt:lpstr>
      <vt:lpstr>SSH: Secure Shell</vt:lpstr>
      <vt:lpstr>SSH Key Pairs</vt:lpstr>
      <vt:lpstr>Add the public key to GitHub</vt:lpstr>
      <vt:lpstr>Secure Copy Protocol</vt:lpstr>
      <vt:lpstr>Demo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Warehousing</dc:title>
  <dc:creator>Wei Liu</dc:creator>
  <cp:lastModifiedBy>Zhi Zhang</cp:lastModifiedBy>
  <cp:revision>73</cp:revision>
  <dcterms:created xsi:type="dcterms:W3CDTF">2022-03-09T01:39:52Z</dcterms:created>
  <dcterms:modified xsi:type="dcterms:W3CDTF">2026-03-30T03:34:47Z</dcterms:modified>
</cp:coreProperties>
</file>