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63" r:id="rId1"/>
  </p:sldMasterIdLst>
  <p:notesMasterIdLst>
    <p:notesMasterId r:id="rId49"/>
  </p:notesMasterIdLst>
  <p:sldIdLst>
    <p:sldId id="256" r:id="rId2"/>
    <p:sldId id="257" r:id="rId3"/>
    <p:sldId id="471" r:id="rId4"/>
    <p:sldId id="521" r:id="rId5"/>
    <p:sldId id="519" r:id="rId6"/>
    <p:sldId id="259" r:id="rId7"/>
    <p:sldId id="520" r:id="rId8"/>
    <p:sldId id="260" r:id="rId9"/>
    <p:sldId id="530" r:id="rId10"/>
    <p:sldId id="550" r:id="rId11"/>
    <p:sldId id="553" r:id="rId12"/>
    <p:sldId id="554" r:id="rId13"/>
    <p:sldId id="556" r:id="rId14"/>
    <p:sldId id="533" r:id="rId15"/>
    <p:sldId id="535" r:id="rId16"/>
    <p:sldId id="534" r:id="rId17"/>
    <p:sldId id="536" r:id="rId18"/>
    <p:sldId id="537" r:id="rId19"/>
    <p:sldId id="538" r:id="rId20"/>
    <p:sldId id="472" r:id="rId21"/>
    <p:sldId id="555" r:id="rId22"/>
    <p:sldId id="551" r:id="rId23"/>
    <p:sldId id="525" r:id="rId24"/>
    <p:sldId id="482" r:id="rId25"/>
    <p:sldId id="481" r:id="rId26"/>
    <p:sldId id="487" r:id="rId27"/>
    <p:sldId id="485" r:id="rId28"/>
    <p:sldId id="483" r:id="rId29"/>
    <p:sldId id="497" r:id="rId30"/>
    <p:sldId id="492" r:id="rId31"/>
    <p:sldId id="546" r:id="rId32"/>
    <p:sldId id="493" r:id="rId33"/>
    <p:sldId id="494" r:id="rId34"/>
    <p:sldId id="498" r:id="rId35"/>
    <p:sldId id="486" r:id="rId36"/>
    <p:sldId id="501" r:id="rId37"/>
    <p:sldId id="500" r:id="rId38"/>
    <p:sldId id="502" r:id="rId39"/>
    <p:sldId id="548" r:id="rId40"/>
    <p:sldId id="503" r:id="rId41"/>
    <p:sldId id="505" r:id="rId42"/>
    <p:sldId id="506" r:id="rId43"/>
    <p:sldId id="507" r:id="rId44"/>
    <p:sldId id="509" r:id="rId45"/>
    <p:sldId id="510" r:id="rId46"/>
    <p:sldId id="511" r:id="rId47"/>
    <p:sldId id="34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53" autoAdjust="0"/>
    <p:restoredTop sz="63025" autoAdjust="0"/>
  </p:normalViewPr>
  <p:slideViewPr>
    <p:cSldViewPr snapToGrid="0" snapToObjects="1">
      <p:cViewPr varScale="1">
        <p:scale>
          <a:sx n="45" d="100"/>
          <a:sy n="45" d="100"/>
        </p:scale>
        <p:origin x="109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28/04/2026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092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8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351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649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444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780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3870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868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6191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274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7880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222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2D1F-0197-357D-5C9A-D1B9CED9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74FF6-6C41-443B-81F2-50DEE84C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B3173-3441-5D20-753C-6E70B8BC4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918BD-C862-08A1-CF67-99A552A6D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86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940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332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683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23357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186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2837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349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844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738DDE4-E40D-432A-BF17-4D46EF89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4828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738DDE4-E40D-432A-BF17-4D46EF89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7210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1860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14AF099-EB78-484B-A88A-C69D4135F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1568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2206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60999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44632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69437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93475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1639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5535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2892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6482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5814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9289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1476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742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5332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4401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3857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4717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7724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5909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Symbol" panose="05050102010706020507" pitchFamily="18" charset="2"/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9881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131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[9] Incidents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</a:t>
            </a:r>
            <a:r>
              <a:rPr lang="en-US" dirty="0" err="1">
                <a:solidFill>
                  <a:srgbClr val="20D1FF"/>
                </a:solidFill>
              </a:rPr>
              <a:t>Zhi</a:t>
            </a:r>
            <a:r>
              <a:rPr lang="en-US" dirty="0">
                <a:solidFill>
                  <a:srgbClr val="20D1FF"/>
                </a:solidFill>
              </a:rPr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C775-F90B-4139-9795-E71E0EF5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42416"/>
            <a:ext cx="10353762" cy="4748783"/>
          </a:xfrm>
        </p:spPr>
        <p:txBody>
          <a:bodyPr/>
          <a:lstStyle/>
          <a:p>
            <a:r>
              <a:rPr lang="en-AU" sz="2800" dirty="0"/>
              <a:t>Incident Modelling and Analysis</a:t>
            </a:r>
            <a:endParaRPr lang="en-AU" sz="2600" dirty="0"/>
          </a:p>
          <a:p>
            <a:pPr lvl="1"/>
            <a:r>
              <a:rPr lang="en-AU" sz="2600" dirty="0"/>
              <a:t>MS modelling tool</a:t>
            </a:r>
          </a:p>
          <a:p>
            <a:pPr lvl="1"/>
            <a:r>
              <a:rPr lang="en-AU" sz="2600" dirty="0"/>
              <a:t>CALDERA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840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DA36-BDF1-4087-8A16-4CC6CB02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Modelling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AA40AF-42A6-4463-90D6-9967B54A5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94" y="1062269"/>
            <a:ext cx="11710776" cy="5334828"/>
          </a:xfrm>
        </p:spPr>
        <p:txBody>
          <a:bodyPr>
            <a:normAutofit/>
          </a:bodyPr>
          <a:lstStyle/>
          <a:p>
            <a:r>
              <a:rPr lang="en-US" sz="2800" dirty="0"/>
              <a:t>What is incident modelling:</a:t>
            </a:r>
          </a:p>
          <a:p>
            <a:pPr lvl="1"/>
            <a:r>
              <a:rPr lang="en-US" sz="2800" dirty="0"/>
              <a:t>It is a structured approach to create a security model of a given system</a:t>
            </a:r>
          </a:p>
          <a:p>
            <a:pPr lvl="1"/>
            <a:r>
              <a:rPr lang="en-US" sz="2800" dirty="0"/>
              <a:t>It is used to assess various incidents and identify potential threats to an organization’s information systems</a:t>
            </a:r>
          </a:p>
        </p:txBody>
      </p:sp>
    </p:spTree>
    <p:extLst>
      <p:ext uri="{BB962C8B-B14F-4D97-AF65-F5344CB8AC3E}">
        <p14:creationId xmlns:p14="http://schemas.microsoft.com/office/powerpoint/2010/main" val="2700010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DA36-BDF1-4087-8A16-4CC6CB02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Modelling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AA40AF-42A6-4463-90D6-9967B54A5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94" y="1062269"/>
            <a:ext cx="11710776" cy="5334828"/>
          </a:xfrm>
        </p:spPr>
        <p:txBody>
          <a:bodyPr>
            <a:normAutofit/>
          </a:bodyPr>
          <a:lstStyle/>
          <a:p>
            <a:r>
              <a:rPr lang="en-US" sz="2800" dirty="0"/>
              <a:t>What is incident modelling:</a:t>
            </a:r>
          </a:p>
          <a:p>
            <a:pPr lvl="1"/>
            <a:r>
              <a:rPr lang="en-US" sz="2800" dirty="0"/>
              <a:t>It is a structured approach to create a security model of a given system</a:t>
            </a:r>
          </a:p>
          <a:p>
            <a:pPr marL="450000" lvl="1" indent="0">
              <a:buNone/>
            </a:pPr>
            <a:endParaRPr lang="en-US" sz="2800" dirty="0"/>
          </a:p>
          <a:p>
            <a:r>
              <a:rPr lang="en-US" sz="2800" dirty="0"/>
              <a:t>A representative approach: </a:t>
            </a:r>
            <a:r>
              <a:rPr lang="en-US" sz="2800" dirty="0">
                <a:solidFill>
                  <a:srgbClr val="FF0000"/>
                </a:solidFill>
              </a:rPr>
              <a:t>STRIDE</a:t>
            </a:r>
          </a:p>
          <a:p>
            <a:pPr marL="450000" lvl="1" indent="0">
              <a:buNone/>
            </a:pPr>
            <a:endParaRPr lang="en-US" sz="2800" dirty="0"/>
          </a:p>
          <a:p>
            <a:r>
              <a:rPr lang="en-AU" sz="2800" dirty="0"/>
              <a:t>Demo: MS Modelling Tool (based on STRIDE)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526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8395-9ABB-4056-81AE-13406C98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3131"/>
            <a:ext cx="10353762" cy="583033"/>
          </a:xfrm>
        </p:spPr>
        <p:txBody>
          <a:bodyPr>
            <a:normAutofit fontScale="90000"/>
          </a:bodyPr>
          <a:lstStyle/>
          <a:p>
            <a:r>
              <a:rPr lang="en-AU" dirty="0"/>
              <a:t>STRIDE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6534C2-D8D5-4114-B7B1-2ED1630DD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62269"/>
            <a:ext cx="10627966" cy="4993091"/>
          </a:xfrm>
        </p:spPr>
        <p:txBody>
          <a:bodyPr>
            <a:normAutofit/>
          </a:bodyPr>
          <a:lstStyle/>
          <a:p>
            <a:r>
              <a:rPr lang="en-US" sz="2800" dirty="0"/>
              <a:t>What is STRIDE?</a:t>
            </a:r>
          </a:p>
          <a:p>
            <a:pPr lvl="1"/>
            <a:r>
              <a:rPr lang="en-US" sz="2800" dirty="0"/>
              <a:t>It is a modelling approach used to categorize </a:t>
            </a:r>
            <a:r>
              <a:rPr lang="en-US" sz="2800" dirty="0">
                <a:solidFill>
                  <a:srgbClr val="FF0000"/>
                </a:solidFill>
              </a:rPr>
              <a:t>various incidents </a:t>
            </a:r>
            <a:r>
              <a:rPr lang="en-US" sz="2800" dirty="0"/>
              <a:t>and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identify </a:t>
            </a:r>
            <a:r>
              <a:rPr lang="en-US" sz="2800" dirty="0">
                <a:solidFill>
                  <a:srgbClr val="FF0000"/>
                </a:solidFill>
              </a:rPr>
              <a:t>all potential threats </a:t>
            </a:r>
            <a:r>
              <a:rPr lang="en-US" sz="2800" dirty="0"/>
              <a:t>to an information system. </a:t>
            </a:r>
          </a:p>
          <a:p>
            <a:pPr marL="450000" lvl="1" indent="0">
              <a:buNone/>
            </a:pPr>
            <a:endParaRPr lang="en-US" sz="2800" dirty="0"/>
          </a:p>
          <a:p>
            <a:pPr lvl="1"/>
            <a:r>
              <a:rPr lang="en-US" sz="2800" dirty="0"/>
              <a:t>STRIDE stands for Spoofing, Tampering, Repudiation, Information disclosure, Denial of service, and Elevation of privilege.</a:t>
            </a:r>
          </a:p>
        </p:txBody>
      </p:sp>
    </p:spTree>
    <p:extLst>
      <p:ext uri="{BB962C8B-B14F-4D97-AF65-F5344CB8AC3E}">
        <p14:creationId xmlns:p14="http://schemas.microsoft.com/office/powerpoint/2010/main" val="82544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8395-9ABB-4056-81AE-13406C98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3131"/>
            <a:ext cx="10353762" cy="583033"/>
          </a:xfrm>
        </p:spPr>
        <p:txBody>
          <a:bodyPr>
            <a:normAutofit fontScale="90000"/>
          </a:bodyPr>
          <a:lstStyle/>
          <a:p>
            <a:r>
              <a:rPr lang="en-AU" dirty="0"/>
              <a:t>STRIDE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FEE2090-2AB0-4A5A-BDF0-88C822AD9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628108"/>
              </p:ext>
            </p:extLst>
          </p:nvPr>
        </p:nvGraphicFramePr>
        <p:xfrm>
          <a:off x="660520" y="923198"/>
          <a:ext cx="10860311" cy="244653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84242">
                  <a:extLst>
                    <a:ext uri="{9D8B030D-6E8A-4147-A177-3AD203B41FA5}">
                      <a16:colId xmlns:a16="http://schemas.microsoft.com/office/drawing/2014/main" val="277762477"/>
                    </a:ext>
                  </a:extLst>
                </a:gridCol>
                <a:gridCol w="9076069">
                  <a:extLst>
                    <a:ext uri="{9D8B030D-6E8A-4147-A177-3AD203B41FA5}">
                      <a16:colId xmlns:a16="http://schemas.microsoft.com/office/drawing/2014/main" val="3468371891"/>
                    </a:ext>
                  </a:extLst>
                </a:gridCol>
              </a:tblGrid>
              <a:tr h="393250">
                <a:tc>
                  <a:txBody>
                    <a:bodyPr/>
                    <a:lstStyle/>
                    <a:p>
                      <a:r>
                        <a:rPr lang="en-AU" sz="2000" dirty="0"/>
                        <a:t>Category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/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182115"/>
                  </a:ext>
                </a:extLst>
              </a:tr>
              <a:tr h="598572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Spoofing</a:t>
                      </a:r>
                      <a:endParaRPr lang="en-AU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impersonates a targeted user to gain unauthorized access to a system.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017825"/>
                  </a:ext>
                </a:extLst>
              </a:tr>
              <a:tr h="682082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Tampering</a:t>
                      </a:r>
                      <a:endParaRPr lang="en-AU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modifies data or code to change the behavior of a software/system.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459759"/>
                  </a:ext>
                </a:extLst>
              </a:tr>
              <a:tr h="76964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Repudiation</a:t>
                      </a:r>
                      <a:endParaRPr lang="en-AU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denies their actions or the actions of others on the system.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26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06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8395-9ABB-4056-81AE-13406C98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3131"/>
            <a:ext cx="10353762" cy="583033"/>
          </a:xfrm>
        </p:spPr>
        <p:txBody>
          <a:bodyPr>
            <a:normAutofit fontScale="90000"/>
          </a:bodyPr>
          <a:lstStyle/>
          <a:p>
            <a:r>
              <a:rPr lang="en-AU" dirty="0"/>
              <a:t>STRIDE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FEE2090-2AB0-4A5A-BDF0-88C822AD9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748520"/>
              </p:ext>
            </p:extLst>
          </p:nvPr>
        </p:nvGraphicFramePr>
        <p:xfrm>
          <a:off x="660520" y="923198"/>
          <a:ext cx="10860311" cy="443003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84242">
                  <a:extLst>
                    <a:ext uri="{9D8B030D-6E8A-4147-A177-3AD203B41FA5}">
                      <a16:colId xmlns:a16="http://schemas.microsoft.com/office/drawing/2014/main" val="277762477"/>
                    </a:ext>
                  </a:extLst>
                </a:gridCol>
                <a:gridCol w="9076069">
                  <a:extLst>
                    <a:ext uri="{9D8B030D-6E8A-4147-A177-3AD203B41FA5}">
                      <a16:colId xmlns:a16="http://schemas.microsoft.com/office/drawing/2014/main" val="3468371891"/>
                    </a:ext>
                  </a:extLst>
                </a:gridCol>
              </a:tblGrid>
              <a:tr h="435172">
                <a:tc>
                  <a:txBody>
                    <a:bodyPr/>
                    <a:lstStyle/>
                    <a:p>
                      <a:r>
                        <a:rPr lang="en-AU" sz="2000" dirty="0"/>
                        <a:t>Category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 sz="2000" dirty="0"/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182115"/>
                  </a:ext>
                </a:extLst>
              </a:tr>
              <a:tr h="515035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Spoofing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impersonates a targeted user to gain unauthorized access to a system.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017825"/>
                  </a:ext>
                </a:extLst>
              </a:tr>
              <a:tr h="494009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Tampering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modifies data or code to change the behavior of a software/system.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459759"/>
                  </a:ext>
                </a:extLst>
              </a:tr>
              <a:tr h="589065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Repudiation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denies their actions or the actions of others on the system.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026173"/>
                  </a:ext>
                </a:extLst>
              </a:tr>
              <a:tr h="729986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Information Disclosure</a:t>
                      </a:r>
                      <a:endParaRPr lang="en-AU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accesses unauthorized sensitive information.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267129"/>
                  </a:ext>
                </a:extLst>
              </a:tr>
              <a:tr h="67958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Denial of Service</a:t>
                      </a:r>
                      <a:endParaRPr lang="en-AU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prevents legitimate users from accessing a target system or performing actions on the system.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75822"/>
                  </a:ext>
                </a:extLst>
              </a:tr>
              <a:tr h="965724"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Elevation of Privilege</a:t>
                      </a:r>
                      <a:endParaRPr lang="en-AU" sz="20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 attacker gains higher-privilege access to a target system than they are authorized to have.</a:t>
                      </a:r>
                      <a:endParaRPr lang="en-AU" sz="2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75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014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EC5B-4739-41DB-ACE5-2C3AA000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581" y="129576"/>
            <a:ext cx="8057072" cy="750318"/>
          </a:xfrm>
        </p:spPr>
        <p:txBody>
          <a:bodyPr/>
          <a:lstStyle/>
          <a:p>
            <a:r>
              <a:rPr lang="en-AU" dirty="0"/>
              <a:t>MS Modelling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8718E-A4C4-4CB3-AA4B-71F9F2E8E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94" y="5434731"/>
            <a:ext cx="11208810" cy="1230129"/>
          </a:xfrm>
        </p:spPr>
        <p:txBody>
          <a:bodyPr>
            <a:normAutofit fontScale="85000" lnSpcReduction="20000"/>
          </a:bodyPr>
          <a:lstStyle/>
          <a:p>
            <a:r>
              <a:rPr lang="en-AU" sz="2800" dirty="0"/>
              <a:t>MS modelling tool only supports windows OS</a:t>
            </a:r>
          </a:p>
          <a:p>
            <a:r>
              <a:rPr lang="en-AU" sz="2800" dirty="0">
                <a:solidFill>
                  <a:schemeClr val="accent1"/>
                </a:solidFill>
              </a:rPr>
              <a:t>https://docs.microsoft.com/en-gb/azure/security/develop/threat-modeling-tool-getting-started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351A4-F260-F2BE-74D6-3A83542D5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75" y="1068404"/>
            <a:ext cx="8994004" cy="382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6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099" y="1009413"/>
            <a:ext cx="3943351" cy="720506"/>
          </a:xfrm>
        </p:spPr>
        <p:txBody>
          <a:bodyPr>
            <a:normAutofit/>
          </a:bodyPr>
          <a:lstStyle/>
          <a:p>
            <a:r>
              <a:rPr lang="en-AU" sz="2800" dirty="0"/>
              <a:t>Given this scenario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3038" y="0"/>
            <a:ext cx="7839162" cy="1009413"/>
          </a:xfrm>
        </p:spPr>
        <p:txBody>
          <a:bodyPr/>
          <a:lstStyle/>
          <a:p>
            <a:r>
              <a:rPr lang="en-AU" dirty="0"/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228638" y="1757726"/>
            <a:ext cx="100389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</a:rPr>
              <a:t>Alice opens a browser to login to a web server via her own credentials. </a:t>
            </a:r>
          </a:p>
          <a:p>
            <a:pPr algn="just"/>
            <a:endParaRPr lang="en-AU" sz="2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</a:endParaRPr>
          </a:p>
          <a:p>
            <a:pPr algn="just"/>
            <a:r>
              <a:rPr lang="en-AU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</a:rPr>
              <a:t>The web server will authenticate Alice by validating her username and password via its SQL database.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DC2E2B9-3739-46E9-9023-244028B8169E}"/>
              </a:ext>
            </a:extLst>
          </p:cNvPr>
          <p:cNvSpPr txBox="1">
            <a:spLocks/>
          </p:cNvSpPr>
          <p:nvPr/>
        </p:nvSpPr>
        <p:spPr>
          <a:xfrm>
            <a:off x="530137" y="5623730"/>
            <a:ext cx="10696057" cy="7205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3000" dirty="0"/>
              <a:t>Draw a diagram using MS modelling tool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247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90638" y="76437"/>
            <a:ext cx="7839162" cy="837963"/>
          </a:xfrm>
        </p:spPr>
        <p:txBody>
          <a:bodyPr/>
          <a:lstStyle/>
          <a:p>
            <a:r>
              <a:rPr lang="en-AU" dirty="0"/>
              <a:t>Demo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69B8C2-9A72-4129-AF7B-2CB334906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891" y="1228494"/>
            <a:ext cx="8761120" cy="477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04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62250" y="228600"/>
            <a:ext cx="5829300" cy="685800"/>
          </a:xfrm>
        </p:spPr>
        <p:txBody>
          <a:bodyPr/>
          <a:lstStyle/>
          <a:p>
            <a:r>
              <a:rPr lang="en-AU" dirty="0"/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C6A18-4696-4785-ACA4-E7EB8335C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296" y="1066110"/>
            <a:ext cx="9583487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8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62250" y="228600"/>
            <a:ext cx="5829300" cy="685800"/>
          </a:xfrm>
        </p:spPr>
        <p:txBody>
          <a:bodyPr/>
          <a:lstStyle/>
          <a:p>
            <a:r>
              <a:rPr lang="en-AU" dirty="0"/>
              <a:t>Demo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26C600-6063-4FC0-A6CC-E5A861764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37" y="1009413"/>
            <a:ext cx="4706006" cy="1011892"/>
          </a:xfrm>
        </p:spPr>
        <p:txBody>
          <a:bodyPr>
            <a:normAutofit fontScale="92500"/>
          </a:bodyPr>
          <a:lstStyle/>
          <a:p>
            <a:r>
              <a:rPr lang="en-AU" sz="2800" dirty="0"/>
              <a:t>How to generate this diagram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2971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3E0EB-5993-7B61-E2BF-E830E6C6F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1E3BFC-2D3D-7E6C-99F4-A46E540E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FD5B1F-1A92-A3E4-3530-A50CA2D9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0" y="228600"/>
            <a:ext cx="5829300" cy="685800"/>
          </a:xfrm>
        </p:spPr>
        <p:txBody>
          <a:bodyPr/>
          <a:lstStyle/>
          <a:p>
            <a:r>
              <a:rPr lang="en-AU" dirty="0"/>
              <a:t>Demo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69DFC7F-32BB-EE1D-ED2B-74C10137B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137" y="1009412"/>
            <a:ext cx="5045910" cy="1357269"/>
          </a:xfrm>
        </p:spPr>
        <p:txBody>
          <a:bodyPr>
            <a:normAutofit/>
          </a:bodyPr>
          <a:lstStyle/>
          <a:p>
            <a:r>
              <a:rPr lang="en-AU" sz="2800" dirty="0"/>
              <a:t>How to generate a full report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973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0137" y="649160"/>
            <a:ext cx="3943351" cy="720506"/>
          </a:xfrm>
        </p:spPr>
        <p:txBody>
          <a:bodyPr>
            <a:normAutofit/>
          </a:bodyPr>
          <a:lstStyle/>
          <a:p>
            <a:r>
              <a:rPr lang="en-AU" sz="2800" dirty="0"/>
              <a:t>Given this diagram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90774" y="-48545"/>
            <a:ext cx="7839162" cy="1009413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42D19-B132-4716-BD15-C6007C478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93" y="1352393"/>
            <a:ext cx="10239463" cy="430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91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0137" y="649160"/>
            <a:ext cx="3943351" cy="720506"/>
          </a:xfrm>
        </p:spPr>
        <p:txBody>
          <a:bodyPr>
            <a:normAutofit/>
          </a:bodyPr>
          <a:lstStyle/>
          <a:p>
            <a:r>
              <a:rPr lang="en-AU" sz="2800" dirty="0"/>
              <a:t>Given this diagram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90774" y="-48545"/>
            <a:ext cx="7839162" cy="1009413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42D19-B132-4716-BD15-C6007C478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93" y="1386432"/>
            <a:ext cx="10633770" cy="45975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5AAB9B-996F-4227-BF00-F77BA29B3393}"/>
              </a:ext>
            </a:extLst>
          </p:cNvPr>
          <p:cNvCxnSpPr>
            <a:cxnSpLocks/>
          </p:cNvCxnSpPr>
          <p:nvPr/>
        </p:nvCxnSpPr>
        <p:spPr>
          <a:xfrm>
            <a:off x="9668828" y="2536190"/>
            <a:ext cx="0" cy="873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627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0137" y="649160"/>
            <a:ext cx="3943351" cy="720506"/>
          </a:xfrm>
        </p:spPr>
        <p:txBody>
          <a:bodyPr>
            <a:normAutofit/>
          </a:bodyPr>
          <a:lstStyle/>
          <a:p>
            <a:r>
              <a:rPr lang="en-AU" sz="2800" dirty="0"/>
              <a:t>Given this diagram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90774" y="-48545"/>
            <a:ext cx="7839162" cy="1009413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42D19-B132-4716-BD15-C6007C478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93" y="1386432"/>
            <a:ext cx="10633770" cy="45975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5AAB9B-996F-4227-BF00-F77BA29B3393}"/>
              </a:ext>
            </a:extLst>
          </p:cNvPr>
          <p:cNvCxnSpPr>
            <a:cxnSpLocks/>
          </p:cNvCxnSpPr>
          <p:nvPr/>
        </p:nvCxnSpPr>
        <p:spPr>
          <a:xfrm>
            <a:off x="9668828" y="2688590"/>
            <a:ext cx="0" cy="72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E94D8-97C2-4F7B-B7A4-3C7B83076F98}"/>
              </a:ext>
            </a:extLst>
          </p:cNvPr>
          <p:cNvSpPr/>
          <p:nvPr/>
        </p:nvSpPr>
        <p:spPr>
          <a:xfrm>
            <a:off x="10316411" y="2112010"/>
            <a:ext cx="1148744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browser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861FF2-CA26-4192-A807-A7A5E0BAD8D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890783" y="2602230"/>
            <a:ext cx="0" cy="82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DBBE3-3C03-4455-B0F1-F88B2C2CCA85}"/>
              </a:ext>
            </a:extLst>
          </p:cNvPr>
          <p:cNvSpPr/>
          <p:nvPr/>
        </p:nvSpPr>
        <p:spPr>
          <a:xfrm>
            <a:off x="6838951" y="2112010"/>
            <a:ext cx="2095495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web application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09C957-CC68-4EE4-9EB0-9D28AB7FDDE8}"/>
              </a:ext>
            </a:extLst>
          </p:cNvPr>
          <p:cNvCxnSpPr>
            <a:cxnSpLocks/>
          </p:cNvCxnSpPr>
          <p:nvPr/>
        </p:nvCxnSpPr>
        <p:spPr>
          <a:xfrm>
            <a:off x="7842783" y="2602230"/>
            <a:ext cx="0" cy="447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03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0137" y="649160"/>
            <a:ext cx="3943351" cy="720506"/>
          </a:xfrm>
        </p:spPr>
        <p:txBody>
          <a:bodyPr>
            <a:normAutofit/>
          </a:bodyPr>
          <a:lstStyle/>
          <a:p>
            <a:r>
              <a:rPr lang="en-AU" sz="2800" dirty="0"/>
              <a:t>Given this diagram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90774" y="-48545"/>
            <a:ext cx="7839162" cy="1009413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42D19-B132-4716-BD15-C6007C478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93" y="1386432"/>
            <a:ext cx="10633770" cy="45975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5AAB9B-996F-4227-BF00-F77BA29B3393}"/>
              </a:ext>
            </a:extLst>
          </p:cNvPr>
          <p:cNvCxnSpPr>
            <a:cxnSpLocks/>
          </p:cNvCxnSpPr>
          <p:nvPr/>
        </p:nvCxnSpPr>
        <p:spPr>
          <a:xfrm>
            <a:off x="9668828" y="2688590"/>
            <a:ext cx="0" cy="72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E94D8-97C2-4F7B-B7A4-3C7B83076F98}"/>
              </a:ext>
            </a:extLst>
          </p:cNvPr>
          <p:cNvSpPr/>
          <p:nvPr/>
        </p:nvSpPr>
        <p:spPr>
          <a:xfrm>
            <a:off x="10316411" y="2112010"/>
            <a:ext cx="1148744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browser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861FF2-CA26-4192-A807-A7A5E0BAD8D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890783" y="2602230"/>
            <a:ext cx="0" cy="82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DBBE3-3C03-4455-B0F1-F88B2C2CCA85}"/>
              </a:ext>
            </a:extLst>
          </p:cNvPr>
          <p:cNvSpPr/>
          <p:nvPr/>
        </p:nvSpPr>
        <p:spPr>
          <a:xfrm>
            <a:off x="6838951" y="2112010"/>
            <a:ext cx="2095495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web application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09C957-CC68-4EE4-9EB0-9D28AB7FDDE8}"/>
              </a:ext>
            </a:extLst>
          </p:cNvPr>
          <p:cNvCxnSpPr>
            <a:cxnSpLocks/>
          </p:cNvCxnSpPr>
          <p:nvPr/>
        </p:nvCxnSpPr>
        <p:spPr>
          <a:xfrm>
            <a:off x="7842783" y="2602230"/>
            <a:ext cx="0" cy="447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17B07C5-FA02-4F5E-9120-2D0BE8202014}"/>
              </a:ext>
            </a:extLst>
          </p:cNvPr>
          <p:cNvSpPr/>
          <p:nvPr/>
        </p:nvSpPr>
        <p:spPr>
          <a:xfrm>
            <a:off x="4214860" y="2112010"/>
            <a:ext cx="2095495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local SQL database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9B27E1-7FCD-41A0-9291-00BB0E25B511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262607" y="2602230"/>
            <a:ext cx="1" cy="41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373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0137" y="649160"/>
            <a:ext cx="3943351" cy="720506"/>
          </a:xfrm>
        </p:spPr>
        <p:txBody>
          <a:bodyPr>
            <a:normAutofit/>
          </a:bodyPr>
          <a:lstStyle/>
          <a:p>
            <a:r>
              <a:rPr lang="en-AU" sz="2800" dirty="0"/>
              <a:t>Given this diagram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90774" y="-48545"/>
            <a:ext cx="7839162" cy="1009413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42D19-B132-4716-BD15-C6007C478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93" y="1386432"/>
            <a:ext cx="10633770" cy="45975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5AAB9B-996F-4227-BF00-F77BA29B3393}"/>
              </a:ext>
            </a:extLst>
          </p:cNvPr>
          <p:cNvCxnSpPr>
            <a:cxnSpLocks/>
          </p:cNvCxnSpPr>
          <p:nvPr/>
        </p:nvCxnSpPr>
        <p:spPr>
          <a:xfrm>
            <a:off x="9668828" y="2688590"/>
            <a:ext cx="0" cy="72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86E94D8-97C2-4F7B-B7A4-3C7B83076F98}"/>
              </a:ext>
            </a:extLst>
          </p:cNvPr>
          <p:cNvSpPr/>
          <p:nvPr/>
        </p:nvSpPr>
        <p:spPr>
          <a:xfrm>
            <a:off x="10316411" y="2112010"/>
            <a:ext cx="1148744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browser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861FF2-CA26-4192-A807-A7A5E0BAD8D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890783" y="2602230"/>
            <a:ext cx="0" cy="826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DBBE3-3C03-4455-B0F1-F88B2C2CCA85}"/>
              </a:ext>
            </a:extLst>
          </p:cNvPr>
          <p:cNvSpPr/>
          <p:nvPr/>
        </p:nvSpPr>
        <p:spPr>
          <a:xfrm>
            <a:off x="6838951" y="2112010"/>
            <a:ext cx="2095495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web application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09C957-CC68-4EE4-9EB0-9D28AB7FDDE8}"/>
              </a:ext>
            </a:extLst>
          </p:cNvPr>
          <p:cNvCxnSpPr>
            <a:cxnSpLocks/>
          </p:cNvCxnSpPr>
          <p:nvPr/>
        </p:nvCxnSpPr>
        <p:spPr>
          <a:xfrm>
            <a:off x="7842783" y="2602230"/>
            <a:ext cx="0" cy="447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17B07C5-FA02-4F5E-9120-2D0BE8202014}"/>
              </a:ext>
            </a:extLst>
          </p:cNvPr>
          <p:cNvSpPr/>
          <p:nvPr/>
        </p:nvSpPr>
        <p:spPr>
          <a:xfrm>
            <a:off x="4214860" y="2112010"/>
            <a:ext cx="2095495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local SQL database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9B27E1-7FCD-41A0-9291-00BB0E25B511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262607" y="2602230"/>
            <a:ext cx="1" cy="41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3785BD1-8065-4D3B-AA13-A99B298A0A94}"/>
              </a:ext>
            </a:extLst>
          </p:cNvPr>
          <p:cNvSpPr/>
          <p:nvPr/>
        </p:nvSpPr>
        <p:spPr>
          <a:xfrm>
            <a:off x="1177838" y="2104390"/>
            <a:ext cx="2251162" cy="4902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SQL backup database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6422B0-5E72-4027-B1DE-B619FFB85352}"/>
              </a:ext>
            </a:extLst>
          </p:cNvPr>
          <p:cNvCxnSpPr>
            <a:cxnSpLocks/>
          </p:cNvCxnSpPr>
          <p:nvPr/>
        </p:nvCxnSpPr>
        <p:spPr>
          <a:xfrm>
            <a:off x="1764820" y="2611376"/>
            <a:ext cx="0" cy="515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034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099" y="1009413"/>
            <a:ext cx="3943351" cy="720506"/>
          </a:xfrm>
        </p:spPr>
        <p:txBody>
          <a:bodyPr>
            <a:normAutofit/>
          </a:bodyPr>
          <a:lstStyle/>
          <a:p>
            <a:r>
              <a:rPr lang="en-AU" sz="2800" dirty="0"/>
              <a:t>A possible scenario: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sz="2667" dirty="0"/>
          </a:p>
          <a:p>
            <a:endParaRPr lang="en-AU" sz="2667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43038" y="0"/>
            <a:ext cx="7839162" cy="1009413"/>
          </a:xfrm>
        </p:spPr>
        <p:txBody>
          <a:bodyPr/>
          <a:lstStyle/>
          <a:p>
            <a:r>
              <a:rPr lang="en-AU" dirty="0"/>
              <a:t>Exercise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28638" y="1757726"/>
            <a:ext cx="1029661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</a:rPr>
              <a:t>Alice opens a browser to login to a web server via her own credentials. </a:t>
            </a:r>
          </a:p>
          <a:p>
            <a:pPr algn="just"/>
            <a:endParaRPr lang="en-AU" sz="2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</a:endParaRPr>
          </a:p>
          <a:p>
            <a:pPr algn="just"/>
            <a:r>
              <a:rPr lang="en-AU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</a:rPr>
              <a:t>The web server will validate Alice by checking if her username and password are stored in its local SQL database. </a:t>
            </a:r>
          </a:p>
          <a:p>
            <a:pPr algn="just"/>
            <a:endParaRPr lang="en-AU" sz="2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</a:endParaRPr>
          </a:p>
          <a:p>
            <a:pPr algn="just"/>
            <a:r>
              <a:rPr lang="en-AU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</a:rPr>
              <a:t>When Alice updates her personal information, the local SQL database interacts with the SQL backup database to synchronize the updates. </a:t>
            </a:r>
          </a:p>
        </p:txBody>
      </p:sp>
    </p:spTree>
    <p:extLst>
      <p:ext uri="{BB962C8B-B14F-4D97-AF65-F5344CB8AC3E}">
        <p14:creationId xmlns:p14="http://schemas.microsoft.com/office/powerpoint/2010/main" val="1847060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8222"/>
            <a:ext cx="10353762" cy="1257300"/>
          </a:xfrm>
        </p:spPr>
        <p:txBody>
          <a:bodyPr/>
          <a:lstStyle/>
          <a:p>
            <a:r>
              <a:rPr lang="en-AU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85A87-A16A-4E7E-9423-CD34A99A7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986" y="1065972"/>
            <a:ext cx="11351092" cy="3714749"/>
          </a:xfrm>
        </p:spPr>
        <p:txBody>
          <a:bodyPr/>
          <a:lstStyle/>
          <a:p>
            <a:r>
              <a:rPr lang="en-AU" sz="2800" dirty="0"/>
              <a:t>If there are multiple threats with the same severity in a threat model, which one should be addressed first?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2933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8222"/>
            <a:ext cx="10353762" cy="1257300"/>
          </a:xfrm>
        </p:spPr>
        <p:txBody>
          <a:bodyPr/>
          <a:lstStyle/>
          <a:p>
            <a:r>
              <a:rPr lang="en-AU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85A87-A16A-4E7E-9423-CD34A99A7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986" y="1065972"/>
            <a:ext cx="11351092" cy="3714749"/>
          </a:xfrm>
        </p:spPr>
        <p:txBody>
          <a:bodyPr/>
          <a:lstStyle/>
          <a:p>
            <a:r>
              <a:rPr lang="en-AU" sz="2800" dirty="0"/>
              <a:t>If there are multiple threats with the same severity in a threat model, which one should be addressed first?</a:t>
            </a:r>
          </a:p>
          <a:p>
            <a:r>
              <a:rPr lang="en-AU" sz="2800" dirty="0"/>
              <a:t>An example answer: </a:t>
            </a:r>
          </a:p>
          <a:p>
            <a:pPr lvl="1"/>
            <a:r>
              <a:rPr lang="en-AU" sz="2800" dirty="0"/>
              <a:t>I</a:t>
            </a:r>
            <a:r>
              <a:rPr lang="en-US" sz="2800" dirty="0"/>
              <a:t>t is important to prioritize the threats with the same-level severity based on some critical factors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probability of success, and resource costs</a:t>
            </a:r>
          </a:p>
        </p:txBody>
      </p:sp>
    </p:spTree>
    <p:extLst>
      <p:ext uri="{BB962C8B-B14F-4D97-AF65-F5344CB8AC3E}">
        <p14:creationId xmlns:p14="http://schemas.microsoft.com/office/powerpoint/2010/main" val="3084059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3" y="935421"/>
            <a:ext cx="11925494" cy="4248704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cyber range </a:t>
            </a:r>
            <a:r>
              <a:rPr lang="en-US" sz="2800" dirty="0"/>
              <a:t>simulates real-world network environment that can be used to replicate real-world cyber scenarios.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red team </a:t>
            </a:r>
            <a:r>
              <a:rPr lang="en-US" sz="2800" dirty="0"/>
              <a:t>is a group of security professionals who simulate cyber attacks and thus identify weaknesses that can be exploited by real attackers</a:t>
            </a:r>
          </a:p>
          <a:p>
            <a:r>
              <a:rPr lang="en-US" sz="2800" dirty="0">
                <a:solidFill>
                  <a:srgbClr val="FF0000"/>
                </a:solidFill>
              </a:rPr>
              <a:t>blue team </a:t>
            </a:r>
            <a:r>
              <a:rPr lang="en-US" sz="2800" dirty="0"/>
              <a:t>is a group of security professionals who respond to the simulated attacks and test their incident responses.</a:t>
            </a:r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5001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3" y="935421"/>
            <a:ext cx="11925494" cy="4248704"/>
          </a:xfrm>
        </p:spPr>
        <p:txBody>
          <a:bodyPr>
            <a:normAutofit lnSpcReduction="10000"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cyber range </a:t>
            </a:r>
            <a:r>
              <a:rPr lang="en-US" sz="2800" dirty="0"/>
              <a:t>simulates real-world network environment that can be used to replicate real-world cyber scenarios.</a:t>
            </a:r>
          </a:p>
          <a:p>
            <a:r>
              <a:rPr lang="en-US" sz="2800" dirty="0">
                <a:solidFill>
                  <a:srgbClr val="FF0000"/>
                </a:solidFill>
              </a:rPr>
              <a:t>red team </a:t>
            </a:r>
            <a:r>
              <a:rPr lang="en-US" sz="2800" dirty="0"/>
              <a:t>is a group of security professionals who simulate cyber attacks and thus identify weaknesses that can be exploited by real attackers</a:t>
            </a:r>
          </a:p>
          <a:p>
            <a:r>
              <a:rPr lang="en-US" sz="2800" dirty="0">
                <a:solidFill>
                  <a:srgbClr val="FF0000"/>
                </a:solidFill>
              </a:rPr>
              <a:t>blue team </a:t>
            </a:r>
            <a:r>
              <a:rPr lang="en-US" sz="2800" dirty="0"/>
              <a:t>is a group of security professionals who respond to the simulated attacks and test their incident responses.</a:t>
            </a:r>
          </a:p>
          <a:p>
            <a:r>
              <a:rPr lang="en-AU" sz="2800" dirty="0"/>
              <a:t>CALDERA provides </a:t>
            </a:r>
            <a:r>
              <a:rPr lang="en-AU" sz="2800" dirty="0">
                <a:solidFill>
                  <a:srgbClr val="FF0000"/>
                </a:solidFill>
              </a:rPr>
              <a:t>such a cyber-range environment where red team and blue team are involved.</a:t>
            </a:r>
            <a:endParaRPr lang="en-AU" sz="2800" dirty="0"/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364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516961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600" dirty="0"/>
              <a:t>Open a Linux VM</a:t>
            </a:r>
          </a:p>
          <a:p>
            <a:pPr lvl="1"/>
            <a:r>
              <a:rPr lang="en-AU" sz="2600" dirty="0"/>
              <a:t>Run the following commands:</a:t>
            </a:r>
          </a:p>
          <a:p>
            <a:pPr lvl="2"/>
            <a:r>
              <a:rPr lang="en-US" sz="2600" dirty="0" err="1"/>
              <a:t>sudo</a:t>
            </a:r>
            <a:r>
              <a:rPr lang="en-US" sz="2600" dirty="0"/>
              <a:t> apt install python3-pip </a:t>
            </a:r>
            <a:endParaRPr lang="en-AU" sz="2600" dirty="0"/>
          </a:p>
          <a:p>
            <a:pPr lvl="2"/>
            <a:r>
              <a:rPr lang="en-AU" sz="2600" dirty="0"/>
              <a:t>git clone https://github.com/mitre/caldera.git --recursive</a:t>
            </a:r>
          </a:p>
          <a:p>
            <a:pPr lvl="2"/>
            <a:r>
              <a:rPr lang="en-AU" sz="2600" dirty="0"/>
              <a:t>cd caldera</a:t>
            </a:r>
          </a:p>
          <a:p>
            <a:pPr lvl="2"/>
            <a:r>
              <a:rPr lang="en-AU" sz="2600" dirty="0"/>
              <a:t>pip3 install -r requirements.txt</a:t>
            </a:r>
          </a:p>
          <a:p>
            <a:pPr lvl="2"/>
            <a:r>
              <a:rPr lang="en-AU" sz="2600" dirty="0"/>
              <a:t>python3 server.py --insecure</a:t>
            </a:r>
          </a:p>
          <a:p>
            <a:pPr lvl="1"/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4988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69B9CF4-8625-5BD7-1C8D-AA3171666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46654"/>
            <a:ext cx="9815513" cy="4196743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2A4C536-851A-BCB1-E157-D50321CAA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4343397"/>
            <a:ext cx="9805988" cy="189239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18DA3B-32E3-43B3-94CD-410A869D016D}"/>
              </a:ext>
            </a:extLst>
          </p:cNvPr>
          <p:cNvCxnSpPr>
            <a:cxnSpLocks/>
          </p:cNvCxnSpPr>
          <p:nvPr/>
        </p:nvCxnSpPr>
        <p:spPr>
          <a:xfrm>
            <a:off x="7415621" y="6235794"/>
            <a:ext cx="338962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326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"/>
            <a:ext cx="10353762" cy="749808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254AE2-B37A-49C1-8634-4CFA4DA6C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82" y="1048300"/>
            <a:ext cx="5943599" cy="52669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A0E551-F952-485C-B72B-FFE0A227C488}"/>
              </a:ext>
            </a:extLst>
          </p:cNvPr>
          <p:cNvCxnSpPr>
            <a:cxnSpLocks/>
          </p:cNvCxnSpPr>
          <p:nvPr/>
        </p:nvCxnSpPr>
        <p:spPr>
          <a:xfrm>
            <a:off x="5310994" y="5266936"/>
            <a:ext cx="121782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FA20A1-0F23-43F0-86E5-A74E8E1A27DA}"/>
              </a:ext>
            </a:extLst>
          </p:cNvPr>
          <p:cNvSpPr txBox="1">
            <a:spLocks/>
          </p:cNvSpPr>
          <p:nvPr/>
        </p:nvSpPr>
        <p:spPr>
          <a:xfrm>
            <a:off x="283113" y="743604"/>
            <a:ext cx="6501736" cy="139609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Login</a:t>
            </a:r>
            <a:endParaRPr lang="en-AU" sz="26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AU" sz="2600" dirty="0"/>
              <a:t>In caldera/conf/</a:t>
            </a:r>
            <a:r>
              <a:rPr lang="en-AU" sz="2600" dirty="0" err="1"/>
              <a:t>default.vml</a:t>
            </a:r>
            <a:r>
              <a:rPr lang="en-AU" sz="2600" dirty="0"/>
              <a:t>,</a:t>
            </a:r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Font typeface="Wingdings 2" charset="2"/>
              <a:buNone/>
            </a:pPr>
            <a:endParaRPr lang="en-US" sz="2800" dirty="0"/>
          </a:p>
          <a:p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76FB52-F8D2-4DD7-B527-954197A2907F}"/>
              </a:ext>
            </a:extLst>
          </p:cNvPr>
          <p:cNvCxnSpPr>
            <a:cxnSpLocks/>
          </p:cNvCxnSpPr>
          <p:nvPr/>
        </p:nvCxnSpPr>
        <p:spPr>
          <a:xfrm>
            <a:off x="5310994" y="3224776"/>
            <a:ext cx="231648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3960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5169619"/>
          </a:xfrm>
        </p:spPr>
        <p:txBody>
          <a:bodyPr>
            <a:normAutofit/>
          </a:bodyPr>
          <a:lstStyle/>
          <a:p>
            <a:r>
              <a:rPr lang="en-AU" sz="2800" dirty="0"/>
              <a:t>Login</a:t>
            </a:r>
            <a:endParaRPr lang="en-US" sz="2800" dirty="0"/>
          </a:p>
          <a:p>
            <a:pPr lvl="1"/>
            <a:r>
              <a:rPr lang="en-US" sz="2600" dirty="0"/>
              <a:t>Open a browser</a:t>
            </a:r>
          </a:p>
          <a:p>
            <a:pPr lvl="1"/>
            <a:r>
              <a:rPr lang="en-AU" sz="2600" dirty="0"/>
              <a:t>Enter the following URL in the address bar</a:t>
            </a:r>
          </a:p>
          <a:p>
            <a:pPr lvl="3"/>
            <a:r>
              <a:rPr lang="en-AU" sz="2600" u="sng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http://localhost:8888</a:t>
            </a:r>
            <a:r>
              <a:rPr lang="en-AU" sz="26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3"/>
            <a:r>
              <a:rPr lang="en-AU" sz="2600" dirty="0"/>
              <a:t>username: red</a:t>
            </a:r>
          </a:p>
          <a:p>
            <a:pPr lvl="3"/>
            <a:r>
              <a:rPr lang="en-AU" sz="2600" dirty="0"/>
              <a:t>password: admin</a:t>
            </a:r>
          </a:p>
          <a:p>
            <a:pPr lvl="1"/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2979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AEF12-5CDC-7446-8A71-29EB3B6D91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28801" y="935421"/>
            <a:ext cx="8499764" cy="509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51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91439"/>
            <a:ext cx="10353762" cy="749808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52D72-55F6-4014-A0DE-3FA94A46A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778001"/>
            <a:ext cx="10060485" cy="56593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17C001-70A2-40DC-81F5-6DFE623C1849}"/>
              </a:ext>
            </a:extLst>
          </p:cNvPr>
          <p:cNvSpPr/>
          <p:nvPr/>
        </p:nvSpPr>
        <p:spPr>
          <a:xfrm>
            <a:off x="681375" y="3584448"/>
            <a:ext cx="1824081" cy="122529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925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7" y="770830"/>
            <a:ext cx="11777473" cy="5731921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(</a:t>
            </a:r>
            <a:r>
              <a:rPr lang="en-US" sz="2800" dirty="0">
                <a:solidFill>
                  <a:srgbClr val="FF0000"/>
                </a:solidFill>
              </a:rPr>
              <a:t>Tactics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Techniques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Procedures</a:t>
            </a:r>
            <a:r>
              <a:rPr lang="en-US" sz="2800" dirty="0"/>
              <a:t>) to be performed on a targeted system. An adversary profile can be used to simulate an attack automatically.</a:t>
            </a:r>
            <a:r>
              <a:rPr lang="en-AU" sz="2800" dirty="0"/>
              <a:t>  </a:t>
            </a:r>
          </a:p>
          <a:p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3" y="1"/>
            <a:ext cx="6546273" cy="804672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5715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7" y="847715"/>
            <a:ext cx="11777473" cy="5731921"/>
          </a:xfrm>
        </p:spPr>
        <p:txBody>
          <a:bodyPr>
            <a:normAutofit/>
          </a:bodyPr>
          <a:lstStyle/>
          <a:p>
            <a:pPr marL="342000" lvl="1"/>
            <a:r>
              <a:rPr lang="en-US" sz="2800" dirty="0">
                <a:solidFill>
                  <a:srgbClr val="FF0000"/>
                </a:solidFill>
              </a:rPr>
              <a:t>Tactic: </a:t>
            </a:r>
            <a:r>
              <a:rPr lang="en-US" sz="2800" dirty="0"/>
              <a:t>high-level attack goal that attackers aim to achieve.</a:t>
            </a:r>
          </a:p>
          <a:p>
            <a:pPr marL="648000" lvl="2"/>
            <a:r>
              <a:rPr lang="en-US" sz="2600" dirty="0"/>
              <a:t>e.g., gaining unauthorized access</a:t>
            </a:r>
            <a:r>
              <a:rPr lang="en-US" sz="280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2600" dirty="0"/>
          </a:p>
          <a:p>
            <a:pPr marL="342000" lvl="1"/>
            <a:r>
              <a:rPr lang="en-US" sz="2800" dirty="0">
                <a:solidFill>
                  <a:srgbClr val="FF0000"/>
                </a:solidFill>
              </a:rPr>
              <a:t>Technique:</a:t>
            </a:r>
            <a:r>
              <a:rPr lang="en-US" sz="2800" dirty="0"/>
              <a:t> specific method used by attackers to achieve a tactic. </a:t>
            </a:r>
          </a:p>
          <a:p>
            <a:pPr marL="648000" lvl="2"/>
            <a:r>
              <a:rPr lang="en-US" sz="2600" dirty="0"/>
              <a:t>e.g., </a:t>
            </a:r>
            <a:r>
              <a:rPr lang="en-AU" sz="2600" dirty="0"/>
              <a:t>exploiting vulnerabilities</a:t>
            </a:r>
            <a:r>
              <a:rPr lang="en-AU" sz="2800" dirty="0"/>
              <a:t>.</a:t>
            </a:r>
            <a:endParaRPr lang="en-US" sz="2800" dirty="0"/>
          </a:p>
          <a:p>
            <a:pPr marL="342000" lvl="2"/>
            <a:r>
              <a:rPr lang="en-US" sz="2800" dirty="0">
                <a:solidFill>
                  <a:srgbClr val="FF0000"/>
                </a:solidFill>
              </a:rPr>
              <a:t>Procedure:</a:t>
            </a:r>
            <a:r>
              <a:rPr lang="en-US" sz="2800" dirty="0"/>
              <a:t> step-by-step process followed by attackers when executing a technique. </a:t>
            </a:r>
          </a:p>
          <a:p>
            <a:pPr marL="702000" lvl="3"/>
            <a:r>
              <a:rPr lang="en-US" sz="2600" dirty="0"/>
              <a:t>e.g., </a:t>
            </a:r>
            <a:r>
              <a:rPr lang="en-AU" sz="2600" dirty="0"/>
              <a:t>specific Linux commands in each step</a:t>
            </a:r>
            <a:r>
              <a:rPr lang="en-US" sz="2600" dirty="0"/>
              <a:t>.</a:t>
            </a:r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3" y="1"/>
            <a:ext cx="6546273" cy="804672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073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276350"/>
            <a:ext cx="11625775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to be performed on a targeted system. An adversary profile can be used to simulate an attack automatically.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>
                <a:solidFill>
                  <a:srgbClr val="FF0000"/>
                </a:solidFill>
              </a:rPr>
              <a:t>a spy program </a:t>
            </a:r>
            <a:r>
              <a:rPr lang="en-US" sz="2800" dirty="0"/>
              <a:t>that is installed on the targeted system and responsible for executing TTPs specified in the adversary profile. </a:t>
            </a:r>
            <a:endParaRPr lang="en-US" sz="2600" dirty="0"/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0805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967359"/>
            <a:ext cx="11625775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to be performed on a targeted system. An adversary profile can be used to simulate an attack automatically.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/>
              <a:t>a spy program that is installed on the targeted system and responsible for executing TTPs specified in the adversary profile. </a:t>
            </a:r>
            <a:endParaRPr lang="en-US" sz="2600" dirty="0"/>
          </a:p>
          <a:p>
            <a:r>
              <a:rPr lang="en-US" sz="2800" dirty="0">
                <a:solidFill>
                  <a:srgbClr val="FF0000"/>
                </a:solidFill>
              </a:rPr>
              <a:t>Ability</a:t>
            </a:r>
            <a:r>
              <a:rPr lang="en-US" sz="2800" dirty="0"/>
              <a:t> is a specific implementation of a tactic/technique including what commands to run and what OS the commands can run on. </a:t>
            </a:r>
          </a:p>
          <a:p>
            <a:pPr lvl="1"/>
            <a:r>
              <a:rPr lang="en-US" sz="2600" dirty="0"/>
              <a:t>e.g., display information about running processes by running ``</a:t>
            </a:r>
            <a:r>
              <a:rPr lang="en-US" sz="2600" dirty="0" err="1"/>
              <a:t>ps</a:t>
            </a:r>
            <a:r>
              <a:rPr lang="en-US" sz="2600" dirty="0"/>
              <a:t> –aux” in </a:t>
            </a:r>
            <a:r>
              <a:rPr lang="en-US" sz="2800" dirty="0"/>
              <a:t>Linux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0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9109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48" y="967359"/>
            <a:ext cx="12013703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(tactics, techniques and procedures) to be performed on a targeted system. An adversary profile can be used to simulate an attack or evaluate the effectiveness of a security defense.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/>
              <a:t>a spy program that is installed on the targeted system and responsible for executing TTPs specified in the adversary profile. </a:t>
            </a:r>
            <a:endParaRPr lang="en-US" sz="2600" dirty="0"/>
          </a:p>
          <a:p>
            <a:r>
              <a:rPr lang="en-US" sz="2800" dirty="0">
                <a:solidFill>
                  <a:srgbClr val="FF0000"/>
                </a:solidFill>
              </a:rPr>
              <a:t>Ability</a:t>
            </a:r>
            <a:r>
              <a:rPr lang="en-US" sz="2800" dirty="0"/>
              <a:t> is a specific implementation of a tactic/technique including what commands to run and what OS the commands can run on.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Operation</a:t>
            </a:r>
            <a:r>
              <a:rPr lang="en-US" sz="2800" dirty="0"/>
              <a:t> is to create an adversary profile and execute the profile via agent.</a:t>
            </a:r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4730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4853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57AF6-335D-4D8B-8B36-7820095D4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60" y="344212"/>
            <a:ext cx="10580279" cy="584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30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12E25F-C39A-4AB1-AED1-F74537B1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519093"/>
            <a:ext cx="9715500" cy="322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58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F94674-05E3-4122-865B-AE5DC912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1" y="3429000"/>
            <a:ext cx="10229850" cy="2648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BB14DA-484E-3BF6-969A-7A94D22F2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1" y="125128"/>
            <a:ext cx="10229850" cy="345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915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A18963-4FC8-4483-8A2F-5C1D87A43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42" y="1431579"/>
            <a:ext cx="10738992" cy="126172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C73488-B460-4985-8C8F-0D5BBD00B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442" y="567835"/>
            <a:ext cx="3673797" cy="882851"/>
          </a:xfrm>
        </p:spPr>
        <p:txBody>
          <a:bodyPr/>
          <a:lstStyle/>
          <a:p>
            <a:r>
              <a:rPr lang="en-AU" sz="2800" dirty="0" err="1"/>
              <a:t>chmod</a:t>
            </a:r>
            <a:r>
              <a:rPr lang="en-AU" sz="2800" dirty="0"/>
              <a:t> +x agent.sh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6221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6B1AB-DBF4-476E-B403-E2EE73F9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81" y="486294"/>
            <a:ext cx="9706594" cy="57648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D49BD3-1383-4D9D-9080-4A5184CD9A58}"/>
              </a:ext>
            </a:extLst>
          </p:cNvPr>
          <p:cNvCxnSpPr>
            <a:cxnSpLocks/>
          </p:cNvCxnSpPr>
          <p:nvPr/>
        </p:nvCxnSpPr>
        <p:spPr>
          <a:xfrm>
            <a:off x="1249581" y="6251167"/>
            <a:ext cx="970659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5103B2-6E36-47CC-B169-D499926BEC15}"/>
              </a:ext>
            </a:extLst>
          </p:cNvPr>
          <p:cNvCxnSpPr>
            <a:cxnSpLocks/>
          </p:cNvCxnSpPr>
          <p:nvPr/>
        </p:nvCxnSpPr>
        <p:spPr>
          <a:xfrm>
            <a:off x="1249581" y="3226873"/>
            <a:ext cx="2923408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D0F27E-2670-49AA-B297-CB2AF861F458}"/>
              </a:ext>
            </a:extLst>
          </p:cNvPr>
          <p:cNvCxnSpPr>
            <a:cxnSpLocks/>
          </p:cNvCxnSpPr>
          <p:nvPr/>
        </p:nvCxnSpPr>
        <p:spPr>
          <a:xfrm>
            <a:off x="1249581" y="4246590"/>
            <a:ext cx="176869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7D50DB-1355-4461-9C1D-960C0329E69F}"/>
              </a:ext>
            </a:extLst>
          </p:cNvPr>
          <p:cNvCxnSpPr>
            <a:cxnSpLocks/>
          </p:cNvCxnSpPr>
          <p:nvPr/>
        </p:nvCxnSpPr>
        <p:spPr>
          <a:xfrm>
            <a:off x="1249581" y="3905275"/>
            <a:ext cx="176869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758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E8B347-3205-4E75-6220-A8162C623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95" y="299005"/>
            <a:ext cx="10501163" cy="513480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B2B790-7D1C-430A-B8AA-A370797ECDD8}"/>
              </a:ext>
            </a:extLst>
          </p:cNvPr>
          <p:cNvCxnSpPr>
            <a:cxnSpLocks/>
          </p:cNvCxnSpPr>
          <p:nvPr/>
        </p:nvCxnSpPr>
        <p:spPr>
          <a:xfrm>
            <a:off x="1307841" y="5173928"/>
            <a:ext cx="921257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630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08F8C9-805D-4BCD-99CF-5518751D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610247"/>
            <a:ext cx="9731829" cy="5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7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7F2A09-4F1B-4C1B-8EB2-0B0C47ECB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300" y="1308883"/>
            <a:ext cx="9303400" cy="362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56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30CA4-DE97-4DF3-81A8-01A8695FE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65" y="817643"/>
            <a:ext cx="8656137" cy="492717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7A33FF-0801-4048-A2BA-783A2F330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282" y="6372006"/>
            <a:ext cx="8232718" cy="485994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https://caldera.readthedocs.io/en/latest/plugins/stockpile/Exfiltration-How-Tos.html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7878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F2BA7-B078-C50E-9006-30F0A8F0C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9" y="956713"/>
            <a:ext cx="11109342" cy="475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418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57C84-286A-4FC5-B85F-92618256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161" y="2530763"/>
            <a:ext cx="7446163" cy="1355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9C22B-55A2-4A4F-9576-6E9D1F8C3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162" y="3886202"/>
            <a:ext cx="7552842" cy="1355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5D179D-99A5-B791-A02C-2333926E4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07" y="641816"/>
            <a:ext cx="9331879" cy="18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33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44260-C02F-4396-A45C-202AE8FFECC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97" y="2743200"/>
            <a:ext cx="7987005" cy="2600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641E3E-08F1-4869-9C88-334903467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98" y="456877"/>
            <a:ext cx="8267001" cy="21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84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840201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578A3F-D61F-45F2-9FAA-0656E0EC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9795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0</TotalTime>
  <Words>1203</Words>
  <Application>Microsoft Office PowerPoint</Application>
  <PresentationFormat>Widescreen</PresentationFormat>
  <Paragraphs>262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Söhne</vt:lpstr>
      <vt:lpstr>Calibri</vt:lpstr>
      <vt:lpstr>Georgia Pro Cond Light</vt:lpstr>
      <vt:lpstr>Speak Pro</vt:lpstr>
      <vt:lpstr>Symbol</vt:lpstr>
      <vt:lpstr>Wingdings 2</vt:lpstr>
      <vt:lpstr>SlateVTI</vt:lpstr>
      <vt:lpstr>CITS1003 Introduction to Cybersecurity [9] Incidents exercises</vt:lpstr>
      <vt:lpstr>PowerPoint Presentation</vt:lpstr>
      <vt:lpstr>Modelling</vt:lpstr>
      <vt:lpstr>Modelling</vt:lpstr>
      <vt:lpstr>STRIDE</vt:lpstr>
      <vt:lpstr>STRIDE</vt:lpstr>
      <vt:lpstr>STRIDE</vt:lpstr>
      <vt:lpstr>MS Modelling Tool</vt:lpstr>
      <vt:lpstr>Demo</vt:lpstr>
      <vt:lpstr>Demo</vt:lpstr>
      <vt:lpstr>Demo</vt:lpstr>
      <vt:lpstr>Demo</vt:lpstr>
      <vt:lpstr>Demo</vt:lpstr>
      <vt:lpstr>Exercise</vt:lpstr>
      <vt:lpstr>Exercise</vt:lpstr>
      <vt:lpstr>Exercise</vt:lpstr>
      <vt:lpstr>Exercise</vt:lpstr>
      <vt:lpstr>Exercise</vt:lpstr>
      <vt:lpstr>Exercise</vt:lpstr>
      <vt:lpstr>Modelling</vt:lpstr>
      <vt:lpstr>Modelling</vt:lpstr>
      <vt:lpstr>CALDERA</vt:lpstr>
      <vt:lpstr>CALDERA</vt:lpstr>
      <vt:lpstr>CALDERA</vt:lpstr>
      <vt:lpstr>PowerPoint Presentation</vt:lpstr>
      <vt:lpstr>CALDERA</vt:lpstr>
      <vt:lpstr>CALDERA</vt:lpstr>
      <vt:lpstr>CALDERA</vt:lpstr>
      <vt:lpstr>CALDERA</vt:lpstr>
      <vt:lpstr>CALDERA</vt:lpstr>
      <vt:lpstr>CALDERA</vt:lpstr>
      <vt:lpstr>CALDERA</vt:lpstr>
      <vt:lpstr>CALDERA</vt:lpstr>
      <vt:lpstr>CALDERA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CALDERA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2026-04-28T15:52:49Z</dcterms:created>
  <dcterms:modified xsi:type="dcterms:W3CDTF">2026-04-28T15:53:26Z</dcterms:modified>
</cp:coreProperties>
</file>