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763" r:id="rId1"/>
  </p:sldMasterIdLst>
  <p:notesMasterIdLst>
    <p:notesMasterId r:id="rId65"/>
  </p:notesMasterIdLst>
  <p:sldIdLst>
    <p:sldId id="256" r:id="rId2"/>
    <p:sldId id="343" r:id="rId3"/>
    <p:sldId id="442" r:id="rId4"/>
    <p:sldId id="457" r:id="rId5"/>
    <p:sldId id="459" r:id="rId6"/>
    <p:sldId id="458" r:id="rId7"/>
    <p:sldId id="460" r:id="rId8"/>
    <p:sldId id="552" r:id="rId9"/>
    <p:sldId id="453" r:id="rId10"/>
    <p:sldId id="520" r:id="rId11"/>
    <p:sldId id="523" r:id="rId12"/>
    <p:sldId id="521" r:id="rId13"/>
    <p:sldId id="547" r:id="rId14"/>
    <p:sldId id="1523" r:id="rId15"/>
    <p:sldId id="1525" r:id="rId16"/>
    <p:sldId id="1524" r:id="rId17"/>
    <p:sldId id="525" r:id="rId18"/>
    <p:sldId id="549" r:id="rId19"/>
    <p:sldId id="548" r:id="rId20"/>
    <p:sldId id="526" r:id="rId21"/>
    <p:sldId id="527" r:id="rId22"/>
    <p:sldId id="550" r:id="rId23"/>
    <p:sldId id="528" r:id="rId24"/>
    <p:sldId id="1526" r:id="rId25"/>
    <p:sldId id="557" r:id="rId26"/>
    <p:sldId id="551" r:id="rId27"/>
    <p:sldId id="533" r:id="rId28"/>
    <p:sldId id="534" r:id="rId29"/>
    <p:sldId id="541" r:id="rId30"/>
    <p:sldId id="556" r:id="rId31"/>
    <p:sldId id="542" r:id="rId32"/>
    <p:sldId id="536" r:id="rId33"/>
    <p:sldId id="559" r:id="rId34"/>
    <p:sldId id="558" r:id="rId35"/>
    <p:sldId id="537" r:id="rId36"/>
    <p:sldId id="544" r:id="rId37"/>
    <p:sldId id="451" r:id="rId38"/>
    <p:sldId id="538" r:id="rId39"/>
    <p:sldId id="539" r:id="rId40"/>
    <p:sldId id="344" r:id="rId41"/>
    <p:sldId id="507" r:id="rId42"/>
    <p:sldId id="508" r:id="rId43"/>
    <p:sldId id="1516" r:id="rId44"/>
    <p:sldId id="1515" r:id="rId45"/>
    <p:sldId id="461" r:id="rId46"/>
    <p:sldId id="510" r:id="rId47"/>
    <p:sldId id="511" r:id="rId48"/>
    <p:sldId id="512" r:id="rId49"/>
    <p:sldId id="345" r:id="rId50"/>
    <p:sldId id="514" r:id="rId51"/>
    <p:sldId id="1517" r:id="rId52"/>
    <p:sldId id="1518" r:id="rId53"/>
    <p:sldId id="1521" r:id="rId54"/>
    <p:sldId id="1522" r:id="rId55"/>
    <p:sldId id="1519" r:id="rId56"/>
    <p:sldId id="553" r:id="rId57"/>
    <p:sldId id="515" r:id="rId58"/>
    <p:sldId id="516" r:id="rId59"/>
    <p:sldId id="346" r:id="rId60"/>
    <p:sldId id="519" r:id="rId61"/>
    <p:sldId id="1520" r:id="rId62"/>
    <p:sldId id="347" r:id="rId63"/>
    <p:sldId id="518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015" autoAdjust="0"/>
    <p:restoredTop sz="66246" autoAdjust="0"/>
  </p:normalViewPr>
  <p:slideViewPr>
    <p:cSldViewPr snapToGrid="0" snapToObjects="1">
      <p:cViewPr varScale="1">
        <p:scale>
          <a:sx n="55" d="100"/>
          <a:sy n="55" d="100"/>
        </p:scale>
        <p:origin x="101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16/03/2026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1726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9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84579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7839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1854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930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06672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668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6201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86012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672395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4119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35422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68309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600491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147229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98125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87358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7510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19160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80207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3253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28982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60759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71923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90632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556895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36605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53250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7747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13188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04140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130265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408360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20919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42475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081823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67221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84690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327423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91727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2399016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96233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73382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4245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138622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010142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779931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548335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086901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12498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988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14669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637275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772838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515357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1326459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49297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522311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94944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627831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8797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7830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[4] Threats exercise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</a:t>
            </a:r>
            <a:r>
              <a:rPr lang="en-US" dirty="0" err="1">
                <a:solidFill>
                  <a:srgbClr val="20D1FF"/>
                </a:solidFill>
              </a:rPr>
              <a:t>Zhi</a:t>
            </a:r>
            <a:r>
              <a:rPr lang="en-US" dirty="0">
                <a:solidFill>
                  <a:srgbClr val="20D1FF"/>
                </a:solidFill>
              </a:rPr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53144"/>
            <a:ext cx="10353762" cy="5138056"/>
          </a:xfrm>
        </p:spPr>
        <p:txBody>
          <a:bodyPr>
            <a:normAutofit/>
          </a:bodyPr>
          <a:lstStyle/>
          <a:p>
            <a:r>
              <a:rPr lang="en-AU" sz="2800" dirty="0"/>
              <a:t>What is a malware?</a:t>
            </a:r>
          </a:p>
          <a:p>
            <a:pPr lvl="1"/>
            <a:r>
              <a:rPr lang="en-AU" sz="2800" dirty="0"/>
              <a:t>oligomorphic malware</a:t>
            </a:r>
          </a:p>
          <a:p>
            <a:pPr lvl="1"/>
            <a:r>
              <a:rPr lang="en-AU" sz="2800" dirty="0"/>
              <a:t>polymorphic malware</a:t>
            </a:r>
          </a:p>
          <a:p>
            <a:pPr lvl="1"/>
            <a:r>
              <a:rPr lang="en-AU" sz="2800" dirty="0"/>
              <a:t>metamorphic malware</a:t>
            </a:r>
          </a:p>
          <a:p>
            <a:r>
              <a:rPr lang="en-AU" sz="2800" dirty="0"/>
              <a:t>How to detect a malware?</a:t>
            </a:r>
          </a:p>
          <a:p>
            <a:pPr lvl="1"/>
            <a:r>
              <a:rPr lang="en-AU" sz="2800" dirty="0"/>
              <a:t>Virus Total</a:t>
            </a:r>
          </a:p>
          <a:p>
            <a:pPr lvl="1"/>
            <a:r>
              <a:rPr lang="en-AU" sz="2800" dirty="0"/>
              <a:t>Yara</a:t>
            </a:r>
          </a:p>
          <a:p>
            <a:pPr lvl="1"/>
            <a:r>
              <a:rPr lang="en-AU" sz="2800" dirty="0"/>
              <a:t>Ember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3945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“a system compromise” mean? </a:t>
            </a: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948547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0" y="1026584"/>
            <a:ext cx="11273979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“compromising a system” target? Breaking the CIA triad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40918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83897" y="899009"/>
            <a:ext cx="11013557" cy="5761589"/>
          </a:xfrm>
        </p:spPr>
        <p:txBody>
          <a:bodyPr>
            <a:normAutofit fontScale="85000" lnSpcReduction="10000"/>
          </a:bodyPr>
          <a:lstStyle/>
          <a:p>
            <a:r>
              <a:rPr lang="en-AU" sz="3300" dirty="0"/>
              <a:t>Malware: Malicious Software</a:t>
            </a:r>
          </a:p>
          <a:p>
            <a:pPr lvl="1"/>
            <a:r>
              <a:rPr lang="en-AU" sz="3300" dirty="0"/>
              <a:t>definition: </a:t>
            </a:r>
            <a:r>
              <a:rPr lang="en-US" sz="3300" dirty="0"/>
              <a:t>it refers to all malicious software designed to compromise a computer system</a:t>
            </a:r>
          </a:p>
          <a:p>
            <a:pPr lvl="2"/>
            <a:r>
              <a:rPr lang="en-US" sz="3300" dirty="0"/>
              <a:t>what does “compromising a system” target? Breaking the CIA triad</a:t>
            </a:r>
          </a:p>
          <a:p>
            <a:r>
              <a:rPr lang="en-US" sz="3300" dirty="0"/>
              <a:t>What can we do to break </a:t>
            </a:r>
            <a:r>
              <a:rPr lang="en-AU" sz="3300" dirty="0"/>
              <a:t>confidentiality</a:t>
            </a:r>
            <a:r>
              <a:rPr lang="en-US" sz="3300" dirty="0"/>
              <a:t>? </a:t>
            </a:r>
          </a:p>
          <a:p>
            <a:pPr lvl="2"/>
            <a:r>
              <a:rPr lang="en-AU" sz="3300" dirty="0"/>
              <a:t>e.g., stealing user data </a:t>
            </a:r>
          </a:p>
          <a:p>
            <a:r>
              <a:rPr lang="en-US" sz="3300" dirty="0"/>
              <a:t>What can we do to break integrity?</a:t>
            </a:r>
          </a:p>
          <a:p>
            <a:pPr lvl="2"/>
            <a:r>
              <a:rPr lang="en-AU" sz="3300" dirty="0"/>
              <a:t>e.g., modifying or deleting system files </a:t>
            </a:r>
            <a:endParaRPr lang="en-US" sz="3300" dirty="0"/>
          </a:p>
          <a:p>
            <a:r>
              <a:rPr lang="en-US" sz="3300" dirty="0"/>
              <a:t>What can we do to break </a:t>
            </a:r>
            <a:r>
              <a:rPr lang="en-AU" sz="3300" dirty="0"/>
              <a:t>availability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causing system panic</a:t>
            </a:r>
          </a:p>
          <a:p>
            <a:pPr lvl="2"/>
            <a:endParaRPr lang="en-AU" sz="2800" dirty="0"/>
          </a:p>
          <a:p>
            <a:pPr lvl="2"/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57227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54286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Representative malware types:</a:t>
            </a:r>
          </a:p>
          <a:p>
            <a:pPr lvl="1"/>
            <a:r>
              <a:rPr lang="en-AU" sz="2600" dirty="0"/>
              <a:t>e.g., Worm, Trojan, and Ransomware.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3454318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Worm</a:t>
            </a:r>
            <a:r>
              <a:rPr lang="en-AU" sz="2800" dirty="0">
                <a:solidFill>
                  <a:schemeClr val="tx1"/>
                </a:solidFill>
              </a:rPr>
              <a:t>: </a:t>
            </a:r>
            <a:r>
              <a:rPr lang="en-US" sz="2800" dirty="0">
                <a:solidFill>
                  <a:schemeClr val="tx1"/>
                </a:solidFill>
              </a:rPr>
              <a:t>replicates itself and spreads across networks and systems without user interaction (the way it spreads relies on exploiting vulnerabilities in network protocols)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rgbClr val="FF0000"/>
                </a:solidFill>
              </a:rPr>
              <a:t>Trojan</a:t>
            </a:r>
            <a:r>
              <a:rPr lang="en-AU" sz="2800" dirty="0"/>
              <a:t>: </a:t>
            </a:r>
            <a:r>
              <a:rPr lang="en-US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311687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/>
              <a:t>Worm: </a:t>
            </a:r>
            <a:r>
              <a:rPr lang="en-US" sz="2800" dirty="0"/>
              <a:t>replicates itself and spreads across networks and systems without user interaction (the way it spreads relies on exploiting vulnerabilities in network protocols)</a:t>
            </a:r>
            <a:endParaRPr lang="en-AU" sz="2800" dirty="0"/>
          </a:p>
          <a:p>
            <a:r>
              <a:rPr lang="en-AU" sz="2800" dirty="0"/>
              <a:t>Trojan: </a:t>
            </a:r>
            <a:r>
              <a:rPr lang="en-US" sz="2800" dirty="0"/>
              <a:t>appears as a benign program (</a:t>
            </a:r>
            <a:r>
              <a:rPr lang="en-US" sz="2800"/>
              <a:t>actually containing malicious code). </a:t>
            </a:r>
            <a:endParaRPr lang="en-AU" sz="2800" dirty="0"/>
          </a:p>
          <a:p>
            <a:r>
              <a:rPr lang="en-AU" sz="2800" dirty="0">
                <a:solidFill>
                  <a:srgbClr val="FF0000"/>
                </a:solidFill>
              </a:rPr>
              <a:t>Ransomware</a:t>
            </a:r>
            <a:r>
              <a:rPr lang="en-AU" sz="2800" dirty="0"/>
              <a:t>: generates an encryption key on its own, uses the key to encrypt a victim’s files and demands payments for decryption. </a:t>
            </a:r>
          </a:p>
          <a:p>
            <a:pPr lvl="1"/>
            <a:r>
              <a:rPr lang="en-AU" sz="2800" dirty="0"/>
              <a:t>Note a symmetric key is preferred but why?</a:t>
            </a:r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945545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2" y="1195917"/>
            <a:ext cx="10734157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 evasion:</a:t>
            </a:r>
          </a:p>
          <a:p>
            <a:pPr lvl="1"/>
            <a:r>
              <a:rPr lang="en-AU" sz="2800" dirty="0"/>
              <a:t>encrypts/modifies its code to evade the detection by anti-malware</a:t>
            </a:r>
          </a:p>
          <a:p>
            <a:r>
              <a:rPr lang="en-AU" sz="2800" dirty="0"/>
              <a:t> Common evasion techniques:</a:t>
            </a:r>
          </a:p>
          <a:p>
            <a:pPr lvl="1"/>
            <a:r>
              <a:rPr lang="en-AU" sz="2800" dirty="0"/>
              <a:t>oligomorphic</a:t>
            </a:r>
          </a:p>
          <a:p>
            <a:pPr lvl="1"/>
            <a:r>
              <a:rPr lang="en-AU" sz="2800" dirty="0"/>
              <a:t>polymorphic</a:t>
            </a:r>
          </a:p>
          <a:p>
            <a:pPr lvl="1"/>
            <a:r>
              <a:rPr lang="en-AU" sz="2800" dirty="0"/>
              <a:t>metamorphic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443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B8AF568-CB64-4108-AF78-4C7061D0B21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CBC96A-53D0-46B0-9C3C-CCA789C0570E}"/>
              </a:ext>
            </a:extLst>
          </p:cNvPr>
          <p:cNvSpPr txBox="1"/>
          <p:nvPr/>
        </p:nvSpPr>
        <p:spPr>
          <a:xfrm>
            <a:off x="4069318" y="2298379"/>
            <a:ext cx="71982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 err="1">
                <a:solidFill>
                  <a:schemeClr val="lt1"/>
                </a:solidFill>
              </a:rPr>
              <a:t>sensitive_data</a:t>
            </a:r>
            <a:r>
              <a:rPr lang="en-AU" sz="2000" dirty="0">
                <a:solidFill>
                  <a:schemeClr val="lt1"/>
                </a:solidFill>
              </a:rPr>
              <a:t> = </a:t>
            </a:r>
            <a:r>
              <a:rPr lang="en-AU" sz="2000" dirty="0" err="1">
                <a:solidFill>
                  <a:schemeClr val="lt1"/>
                </a:solidFill>
              </a:rPr>
              <a:t>read_sensitive_file</a:t>
            </a:r>
            <a:r>
              <a:rPr lang="en-AU" sz="2000" dirty="0">
                <a:solidFill>
                  <a:schemeClr val="lt1"/>
                </a:solidFill>
              </a:rPr>
              <a:t>()</a:t>
            </a:r>
          </a:p>
          <a:p>
            <a:r>
              <a:rPr lang="en-AU" sz="2000" dirty="0">
                <a:solidFill>
                  <a:schemeClr val="lt1"/>
                </a:solidFill>
              </a:rPr>
              <a:t>connection = </a:t>
            </a:r>
            <a:r>
              <a:rPr lang="en-AU" sz="2000" dirty="0" err="1">
                <a:solidFill>
                  <a:schemeClr val="lt1"/>
                </a:solidFill>
              </a:rPr>
              <a:t>connect_to_remote_server</a:t>
            </a:r>
            <a:r>
              <a:rPr lang="en-AU" sz="2000" dirty="0">
                <a:solidFill>
                  <a:schemeClr val="lt1"/>
                </a:solidFill>
              </a:rPr>
              <a:t>(</a:t>
            </a:r>
            <a:r>
              <a:rPr lang="en-AU" sz="2000" dirty="0" err="1">
                <a:solidFill>
                  <a:schemeClr val="lt1"/>
                </a:solidFill>
              </a:rPr>
              <a:t>remote_ip_address</a:t>
            </a:r>
            <a:r>
              <a:rPr lang="en-AU" sz="2000" dirty="0">
                <a:solidFill>
                  <a:schemeClr val="lt1"/>
                </a:solidFill>
              </a:rPr>
              <a:t>)</a:t>
            </a:r>
          </a:p>
          <a:p>
            <a:r>
              <a:rPr lang="en-AU" sz="2000" dirty="0">
                <a:solidFill>
                  <a:schemeClr val="lt1"/>
                </a:solidFill>
              </a:rPr>
              <a:t>transmit(connection, </a:t>
            </a:r>
            <a:r>
              <a:rPr lang="en-AU" sz="2000" dirty="0" err="1">
                <a:solidFill>
                  <a:schemeClr val="lt1"/>
                </a:solidFill>
              </a:rPr>
              <a:t>sensitive_data</a:t>
            </a:r>
            <a:r>
              <a:rPr lang="en-AU" sz="2000" dirty="0">
                <a:solidFill>
                  <a:schemeClr val="lt1"/>
                </a:solidFill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C510E4-925D-457F-A38C-3F208EB9267E}"/>
              </a:ext>
            </a:extLst>
          </p:cNvPr>
          <p:cNvSpPr/>
          <p:nvPr/>
        </p:nvSpPr>
        <p:spPr>
          <a:xfrm>
            <a:off x="3833028" y="1332226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 example</a:t>
            </a:r>
          </a:p>
        </p:txBody>
      </p:sp>
    </p:spTree>
    <p:extLst>
      <p:ext uri="{BB962C8B-B14F-4D97-AF65-F5344CB8AC3E}">
        <p14:creationId xmlns:p14="http://schemas.microsoft.com/office/powerpoint/2010/main" val="2990205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769E79-C239-4E6D-95DA-7121F0782CD3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142956" y="1828973"/>
            <a:ext cx="1411207" cy="827023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B4BD251C-8925-45C7-AE64-EB6633EC04AA}"/>
              </a:ext>
            </a:extLst>
          </p:cNvPr>
          <p:cNvSpPr/>
          <p:nvPr/>
        </p:nvSpPr>
        <p:spPr>
          <a:xfrm>
            <a:off x="4554163" y="1356576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001B0E-E13B-4702-805C-623C6922583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333459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33549" y="2810171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63932" y="2725915"/>
            <a:ext cx="1536559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23ECAA-195E-4FF3-9BE8-636E6DDA8EBE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5930638" y="1356577"/>
            <a:ext cx="1416686" cy="880882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6778FBD-B3C3-4222-A97C-E2755D128421}"/>
              </a:ext>
            </a:extLst>
          </p:cNvPr>
          <p:cNvSpPr/>
          <p:nvPr/>
        </p:nvSpPr>
        <p:spPr>
          <a:xfrm>
            <a:off x="7347324" y="884179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E4FA286-9DFA-48CB-BA9D-686C981814BC}"/>
              </a:ext>
            </a:extLst>
          </p:cNvPr>
          <p:cNvSpPr/>
          <p:nvPr/>
        </p:nvSpPr>
        <p:spPr>
          <a:xfrm>
            <a:off x="6403058" y="141753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3356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15804" y="2732647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87210" y="2725915"/>
            <a:ext cx="1513281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4267E59-14A1-4D85-9AD4-70A343E7123E}"/>
              </a:ext>
            </a:extLst>
          </p:cNvPr>
          <p:cNvSpPr/>
          <p:nvPr/>
        </p:nvSpPr>
        <p:spPr>
          <a:xfrm>
            <a:off x="8549470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8331EF-F06E-4253-85C5-1C88D387E668}"/>
              </a:ext>
            </a:extLst>
          </p:cNvPr>
          <p:cNvSpPr/>
          <p:nvPr/>
        </p:nvSpPr>
        <p:spPr>
          <a:xfrm>
            <a:off x="5411668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6FDBC4E3-78BA-47D5-8516-C715FE71A5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65374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olded Corner 6">
            <a:extLst>
              <a:ext uri="{FF2B5EF4-FFF2-40B4-BE49-F238E27FC236}">
                <a16:creationId xmlns:a16="http://schemas.microsoft.com/office/drawing/2014/main" id="{0A770E0A-E53B-43CE-BE1D-70C152DC5884}"/>
              </a:ext>
            </a:extLst>
          </p:cNvPr>
          <p:cNvSpPr/>
          <p:nvPr/>
        </p:nvSpPr>
        <p:spPr>
          <a:xfrm>
            <a:off x="8526192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2816822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74212-E68D-49C5-93AD-62AF273D1EAA}"/>
              </a:ext>
            </a:extLst>
          </p:cNvPr>
          <p:cNvSpPr txBox="1"/>
          <p:nvPr/>
        </p:nvSpPr>
        <p:spPr>
          <a:xfrm>
            <a:off x="612534" y="2884097"/>
            <a:ext cx="884317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lt1"/>
                </a:solidFill>
              </a:rPr>
              <a:t>for (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= 0;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&lt; length;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++) {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=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+ 0x3;</a:t>
            </a:r>
          </a:p>
          <a:p>
            <a:r>
              <a:rPr lang="en-US" sz="2800" dirty="0">
                <a:solidFill>
                  <a:schemeClr val="lt1"/>
                </a:solidFill>
              </a:rPr>
              <a:t>}</a:t>
            </a:r>
          </a:p>
          <a:p>
            <a:r>
              <a:rPr lang="en-US" sz="2800" dirty="0" err="1">
                <a:solidFill>
                  <a:schemeClr val="lt1"/>
                </a:solidFill>
              </a:rPr>
              <a:t>jump_to</a:t>
            </a:r>
            <a:r>
              <a:rPr lang="en-US" sz="2800" dirty="0">
                <a:solidFill>
                  <a:schemeClr val="lt1"/>
                </a:solidFill>
              </a:rPr>
              <a:t>(body);</a:t>
            </a:r>
            <a:endParaRPr lang="en-AU" sz="2000" dirty="0">
              <a:solidFill>
                <a:schemeClr val="lt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97E592-AC61-4304-AAC2-FC67E0B90807}"/>
              </a:ext>
            </a:extLst>
          </p:cNvPr>
          <p:cNvSpPr/>
          <p:nvPr/>
        </p:nvSpPr>
        <p:spPr>
          <a:xfrm>
            <a:off x="382966" y="1781247"/>
            <a:ext cx="3209318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 simple example</a:t>
            </a:r>
          </a:p>
        </p:txBody>
      </p:sp>
      <p:sp>
        <p:nvSpPr>
          <p:cNvPr id="28" name="Rounded Rectangle 1">
            <a:extLst>
              <a:ext uri="{FF2B5EF4-FFF2-40B4-BE49-F238E27FC236}">
                <a16:creationId xmlns:a16="http://schemas.microsoft.com/office/drawing/2014/main" id="{E6FABF1C-B7C0-416F-94AE-CD4E14B045FA}"/>
              </a:ext>
            </a:extLst>
          </p:cNvPr>
          <p:cNvSpPr/>
          <p:nvPr/>
        </p:nvSpPr>
        <p:spPr>
          <a:xfrm>
            <a:off x="5680589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802C6EE-7C8B-4442-8E7C-5236AE9078FC}"/>
              </a:ext>
            </a:extLst>
          </p:cNvPr>
          <p:cNvSpPr/>
          <p:nvPr/>
        </p:nvSpPr>
        <p:spPr>
          <a:xfrm>
            <a:off x="5283504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F73CF30-FD30-472E-8531-9F724C0E9790}"/>
              </a:ext>
            </a:extLst>
          </p:cNvPr>
          <p:cNvSpPr/>
          <p:nvPr/>
        </p:nvSpPr>
        <p:spPr>
          <a:xfrm>
            <a:off x="9130042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26194F3-A6BF-46B5-B558-7F7EC81CC7A0}"/>
              </a:ext>
            </a:extLst>
          </p:cNvPr>
          <p:cNvSpPr/>
          <p:nvPr/>
        </p:nvSpPr>
        <p:spPr>
          <a:xfrm>
            <a:off x="5992240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A07D7D9F-B2EC-42EB-9003-4094130A07DE}"/>
              </a:ext>
            </a:extLst>
          </p:cNvPr>
          <p:cNvCxnSpPr>
            <a:cxnSpLocks/>
          </p:cNvCxnSpPr>
          <p:nvPr/>
        </p:nvCxnSpPr>
        <p:spPr>
          <a:xfrm rot="10800000" flipV="1">
            <a:off x="6645946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9ABD6F10-5520-4AEB-BBBB-251C6DEFB1FF}"/>
              </a:ext>
            </a:extLst>
          </p:cNvPr>
          <p:cNvSpPr/>
          <p:nvPr/>
        </p:nvSpPr>
        <p:spPr>
          <a:xfrm>
            <a:off x="9106764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5" name="Rounded Rectangle 1">
            <a:extLst>
              <a:ext uri="{FF2B5EF4-FFF2-40B4-BE49-F238E27FC236}">
                <a16:creationId xmlns:a16="http://schemas.microsoft.com/office/drawing/2014/main" id="{E6CE7C50-2517-184E-8D01-F27A47132740}"/>
              </a:ext>
            </a:extLst>
          </p:cNvPr>
          <p:cNvSpPr/>
          <p:nvPr/>
        </p:nvSpPr>
        <p:spPr>
          <a:xfrm>
            <a:off x="8669312" y="2228932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FF8B3FF0-04F6-04BE-0E08-9C0767571729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7341831" y="3247613"/>
            <a:ext cx="1327481" cy="852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6F24E73-6A2E-1EBF-991B-EE8023798096}"/>
              </a:ext>
            </a:extLst>
          </p:cNvPr>
          <p:cNvSpPr/>
          <p:nvPr/>
        </p:nvSpPr>
        <p:spPr>
          <a:xfrm>
            <a:off x="8272228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</p:spTree>
    <p:extLst>
      <p:ext uri="{BB962C8B-B14F-4D97-AF65-F5344CB8AC3E}">
        <p14:creationId xmlns:p14="http://schemas.microsoft.com/office/powerpoint/2010/main" val="19178295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74212-E68D-49C5-93AD-62AF273D1EAA}"/>
              </a:ext>
            </a:extLst>
          </p:cNvPr>
          <p:cNvSpPr txBox="1"/>
          <p:nvPr/>
        </p:nvSpPr>
        <p:spPr>
          <a:xfrm>
            <a:off x="612534" y="2884097"/>
            <a:ext cx="884317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lt1"/>
                </a:solidFill>
              </a:rPr>
              <a:t>for (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= 0;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&lt; length;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++) {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=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^ 0x33;</a:t>
            </a:r>
          </a:p>
          <a:p>
            <a:r>
              <a:rPr lang="en-US" sz="2800" dirty="0">
                <a:solidFill>
                  <a:schemeClr val="lt1"/>
                </a:solidFill>
              </a:rPr>
              <a:t>}</a:t>
            </a:r>
          </a:p>
          <a:p>
            <a:r>
              <a:rPr lang="en-US" sz="2800" dirty="0" err="1">
                <a:solidFill>
                  <a:schemeClr val="lt1"/>
                </a:solidFill>
              </a:rPr>
              <a:t>jump_to</a:t>
            </a:r>
            <a:r>
              <a:rPr lang="en-US" sz="2800" dirty="0">
                <a:solidFill>
                  <a:schemeClr val="lt1"/>
                </a:solidFill>
              </a:rPr>
              <a:t>(body);</a:t>
            </a:r>
            <a:endParaRPr lang="en-AU" sz="2000" dirty="0">
              <a:solidFill>
                <a:schemeClr val="lt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97E592-AC61-4304-AAC2-FC67E0B90807}"/>
              </a:ext>
            </a:extLst>
          </p:cNvPr>
          <p:cNvSpPr/>
          <p:nvPr/>
        </p:nvSpPr>
        <p:spPr>
          <a:xfrm>
            <a:off x="460104" y="1781247"/>
            <a:ext cx="4290088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 bit complicated example</a:t>
            </a:r>
          </a:p>
        </p:txBody>
      </p:sp>
      <p:sp>
        <p:nvSpPr>
          <p:cNvPr id="28" name="Rounded Rectangle 1">
            <a:extLst>
              <a:ext uri="{FF2B5EF4-FFF2-40B4-BE49-F238E27FC236}">
                <a16:creationId xmlns:a16="http://schemas.microsoft.com/office/drawing/2014/main" id="{E6FABF1C-B7C0-416F-94AE-CD4E14B045FA}"/>
              </a:ext>
            </a:extLst>
          </p:cNvPr>
          <p:cNvSpPr/>
          <p:nvPr/>
        </p:nvSpPr>
        <p:spPr>
          <a:xfrm>
            <a:off x="5680589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802C6EE-7C8B-4442-8E7C-5236AE9078FC}"/>
              </a:ext>
            </a:extLst>
          </p:cNvPr>
          <p:cNvSpPr/>
          <p:nvPr/>
        </p:nvSpPr>
        <p:spPr>
          <a:xfrm>
            <a:off x="5283504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F73CF30-FD30-472E-8531-9F724C0E9790}"/>
              </a:ext>
            </a:extLst>
          </p:cNvPr>
          <p:cNvSpPr/>
          <p:nvPr/>
        </p:nvSpPr>
        <p:spPr>
          <a:xfrm>
            <a:off x="9130042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26194F3-A6BF-46B5-B558-7F7EC81CC7A0}"/>
              </a:ext>
            </a:extLst>
          </p:cNvPr>
          <p:cNvSpPr/>
          <p:nvPr/>
        </p:nvSpPr>
        <p:spPr>
          <a:xfrm>
            <a:off x="5992240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A07D7D9F-B2EC-42EB-9003-4094130A07DE}"/>
              </a:ext>
            </a:extLst>
          </p:cNvPr>
          <p:cNvCxnSpPr>
            <a:cxnSpLocks/>
          </p:cNvCxnSpPr>
          <p:nvPr/>
        </p:nvCxnSpPr>
        <p:spPr>
          <a:xfrm rot="10800000" flipV="1">
            <a:off x="6645946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9ABD6F10-5520-4AEB-BBBB-251C6DEFB1FF}"/>
              </a:ext>
            </a:extLst>
          </p:cNvPr>
          <p:cNvSpPr/>
          <p:nvPr/>
        </p:nvSpPr>
        <p:spPr>
          <a:xfrm>
            <a:off x="9106764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D411A82-A3A4-CB14-C98F-81C55847C99B}"/>
              </a:ext>
            </a:extLst>
          </p:cNvPr>
          <p:cNvSpPr/>
          <p:nvPr/>
        </p:nvSpPr>
        <p:spPr>
          <a:xfrm>
            <a:off x="8669312" y="2228932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0C73A755-FA8A-13C3-4FDB-60679DB36514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 flipV="1">
            <a:off x="7341831" y="3247613"/>
            <a:ext cx="1327481" cy="852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091A837-3832-0C47-C7C0-B86C4C23B8D5}"/>
              </a:ext>
            </a:extLst>
          </p:cNvPr>
          <p:cNvSpPr/>
          <p:nvPr/>
        </p:nvSpPr>
        <p:spPr>
          <a:xfrm>
            <a:off x="8272228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</p:spTree>
    <p:extLst>
      <p:ext uri="{BB962C8B-B14F-4D97-AF65-F5344CB8AC3E}">
        <p14:creationId xmlns:p14="http://schemas.microsoft.com/office/powerpoint/2010/main" val="32925104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15804" y="2732647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87210" y="2725915"/>
            <a:ext cx="1513281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4267E59-14A1-4D85-9AD4-70A343E7123E}"/>
              </a:ext>
            </a:extLst>
          </p:cNvPr>
          <p:cNvSpPr/>
          <p:nvPr/>
        </p:nvSpPr>
        <p:spPr>
          <a:xfrm>
            <a:off x="8549470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8331EF-F06E-4253-85C5-1C88D387E668}"/>
              </a:ext>
            </a:extLst>
          </p:cNvPr>
          <p:cNvSpPr/>
          <p:nvPr/>
        </p:nvSpPr>
        <p:spPr>
          <a:xfrm>
            <a:off x="5411668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6FDBC4E3-78BA-47D5-8516-C715FE71A5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65374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A3CE530-393A-4946-985C-FA1691EE52CD}"/>
              </a:ext>
            </a:extLst>
          </p:cNvPr>
          <p:cNvSpPr/>
          <p:nvPr/>
        </p:nvSpPr>
        <p:spPr>
          <a:xfrm>
            <a:off x="7984362" y="3894266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4" name="Folded Corner 6">
            <a:extLst>
              <a:ext uri="{FF2B5EF4-FFF2-40B4-BE49-F238E27FC236}">
                <a16:creationId xmlns:a16="http://schemas.microsoft.com/office/drawing/2014/main" id="{0A770E0A-E53B-43CE-BE1D-70C152DC5884}"/>
              </a:ext>
            </a:extLst>
          </p:cNvPr>
          <p:cNvSpPr/>
          <p:nvPr/>
        </p:nvSpPr>
        <p:spPr>
          <a:xfrm>
            <a:off x="8526192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B6BB651-DFB3-417D-AB05-E4EFAB669685}"/>
              </a:ext>
            </a:extLst>
          </p:cNvPr>
          <p:cNvCxnSpPr>
            <a:cxnSpLocks/>
            <a:stCxn id="13" idx="3"/>
          </p:cNvCxnSpPr>
          <p:nvPr/>
        </p:nvCxnSpPr>
        <p:spPr>
          <a:xfrm flipH="1" flipV="1">
            <a:off x="10210715" y="1742527"/>
            <a:ext cx="566808" cy="2590982"/>
          </a:xfrm>
          <a:prstGeom prst="curvedConnector4">
            <a:avLst>
              <a:gd name="adj1" fmla="val -40331"/>
              <a:gd name="adj2" fmla="val 1008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16343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6289ECE0-4295-45FB-8C74-29BF1E764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5203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A1D9831-CC9A-480B-90B0-C94947CBADBD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sp>
        <p:nvSpPr>
          <p:cNvPr id="12" name="Slide Number Placeholder 2">
            <a:extLst>
              <a:ext uri="{FF2B5EF4-FFF2-40B4-BE49-F238E27FC236}">
                <a16:creationId xmlns:a16="http://schemas.microsoft.com/office/drawing/2014/main" id="{FC64E3BB-6EC2-4390-B456-AA9DEA690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1090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6091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931946" y="2369614"/>
            <a:ext cx="2585623" cy="44938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27117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6626A8-F9E3-4A04-9F7E-B6A683EDE5A7}"/>
              </a:ext>
            </a:extLst>
          </p:cNvPr>
          <p:cNvCxnSpPr>
            <a:cxnSpLocks/>
          </p:cNvCxnSpPr>
          <p:nvPr/>
        </p:nvCxnSpPr>
        <p:spPr>
          <a:xfrm flipH="1">
            <a:off x="1051401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4927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212283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94501" y="6000749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8E644-E8DD-4825-826C-742E8E240CC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14908982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7720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66200" y="6365874"/>
            <a:ext cx="257186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  <a:p>
            <a:pPr algn="ctr"/>
            <a:r>
              <a:rPr lang="en-AU" sz="2800" dirty="0"/>
              <a:t>(most cases)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4055979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AFAD24-1767-498B-B327-BE4185125CA0}"/>
              </a:ext>
            </a:extLst>
          </p:cNvPr>
          <p:cNvSpPr/>
          <p:nvPr/>
        </p:nvSpPr>
        <p:spPr>
          <a:xfrm>
            <a:off x="8008811" y="107164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301712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55903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301712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62BC3F6-787F-4C2E-8DED-762436F8E681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>
          <a:xfrm flipV="1">
            <a:off x="6931946" y="1510883"/>
            <a:ext cx="1076865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31343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56773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301712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58157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48802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6225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7749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9273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20797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24378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23435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35028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73258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2097029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4288FD0-403F-4A48-8339-307DD23A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5795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BDED2-493A-46F9-9DC9-C7700B2CA418}"/>
              </a:ext>
            </a:extLst>
          </p:cNvPr>
          <p:cNvSpPr txBox="1"/>
          <p:nvPr/>
        </p:nvSpPr>
        <p:spPr>
          <a:xfrm>
            <a:off x="487004" y="3628966"/>
            <a:ext cx="465615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lt1"/>
                </a:solidFill>
              </a:rPr>
              <a:t>for (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= 0;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&lt; length;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++) {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=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^ 0x33;</a:t>
            </a:r>
          </a:p>
          <a:p>
            <a:r>
              <a:rPr lang="en-US" sz="2800" dirty="0">
                <a:solidFill>
                  <a:schemeClr val="lt1"/>
                </a:solidFill>
              </a:rPr>
              <a:t>}</a:t>
            </a:r>
          </a:p>
          <a:p>
            <a:r>
              <a:rPr lang="en-US" sz="2800" dirty="0" err="1">
                <a:solidFill>
                  <a:schemeClr val="lt1"/>
                </a:solidFill>
              </a:rPr>
              <a:t>jump_to</a:t>
            </a:r>
            <a:r>
              <a:rPr lang="en-US" sz="2800" dirty="0">
                <a:solidFill>
                  <a:schemeClr val="lt1"/>
                </a:solidFill>
              </a:rPr>
              <a:t>(body);</a:t>
            </a:r>
            <a:endParaRPr lang="en-AU" sz="2000" dirty="0">
              <a:solidFill>
                <a:schemeClr val="lt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44D81E8-F125-48DD-932F-D8A464084855}"/>
              </a:ext>
            </a:extLst>
          </p:cNvPr>
          <p:cNvSpPr/>
          <p:nvPr/>
        </p:nvSpPr>
        <p:spPr>
          <a:xfrm>
            <a:off x="343989" y="2506615"/>
            <a:ext cx="220223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 example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9D6EF4-41C1-4E2C-8F7F-F0D267CDA60E}"/>
              </a:ext>
            </a:extLst>
          </p:cNvPr>
          <p:cNvSpPr txBox="1"/>
          <p:nvPr/>
        </p:nvSpPr>
        <p:spPr>
          <a:xfrm>
            <a:off x="6578531" y="3590678"/>
            <a:ext cx="465615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lt1"/>
                </a:solidFill>
              </a:rPr>
              <a:t>for (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= 0;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&lt; length;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++) {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temp =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];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</a:t>
            </a:r>
            <a:r>
              <a:rPr lang="en-US" altLang="zh-CN" sz="2800" dirty="0">
                <a:solidFill>
                  <a:schemeClr val="lt1"/>
                </a:solidFill>
              </a:rPr>
              <a:t>temp = temp </a:t>
            </a:r>
            <a:r>
              <a:rPr lang="en-US" sz="2800" dirty="0">
                <a:solidFill>
                  <a:schemeClr val="lt1"/>
                </a:solidFill>
              </a:rPr>
              <a:t>^ 0x33;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= temp;</a:t>
            </a:r>
          </a:p>
          <a:p>
            <a:r>
              <a:rPr lang="en-US" sz="2800" dirty="0">
                <a:solidFill>
                  <a:schemeClr val="lt1"/>
                </a:solidFill>
              </a:rPr>
              <a:t>}</a:t>
            </a:r>
          </a:p>
          <a:p>
            <a:r>
              <a:rPr lang="en-US" sz="2800" dirty="0" err="1">
                <a:solidFill>
                  <a:schemeClr val="lt1"/>
                </a:solidFill>
              </a:rPr>
              <a:t>jump_to</a:t>
            </a:r>
            <a:r>
              <a:rPr lang="en-US" sz="2800" dirty="0">
                <a:solidFill>
                  <a:schemeClr val="lt1"/>
                </a:solidFill>
              </a:rPr>
              <a:t>(body);</a:t>
            </a:r>
            <a:endParaRPr lang="en-AU" sz="2000" dirty="0">
              <a:solidFill>
                <a:schemeClr val="lt1"/>
              </a:solidFill>
            </a:endParaRP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8EDB9DA6-9EEB-499D-A328-3C8814AC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61264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6A2907-1B53-4B6D-8756-018A7E16D432}"/>
              </a:ext>
            </a:extLst>
          </p:cNvPr>
          <p:cNvSpPr/>
          <p:nvPr/>
        </p:nvSpPr>
        <p:spPr>
          <a:xfrm>
            <a:off x="9019063" y="87352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8703748-3091-468D-A41F-D67F5B8D9967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7883666" y="1312763"/>
            <a:ext cx="1135397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Multiplication Sign 44">
            <a:extLst>
              <a:ext uri="{FF2B5EF4-FFF2-40B4-BE49-F238E27FC236}">
                <a16:creationId xmlns:a16="http://schemas.microsoft.com/office/drawing/2014/main" id="{E76DDA8C-DA50-4F33-9D46-FAFEBB213E0C}"/>
              </a:ext>
            </a:extLst>
          </p:cNvPr>
          <p:cNvSpPr/>
          <p:nvPr/>
        </p:nvSpPr>
        <p:spPr>
          <a:xfrm>
            <a:off x="8242161" y="120874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96B7DED2-CC72-425F-835E-4B2EF3271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42332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4015465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04A842F-BA1A-44FD-9C69-62C356B25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E184200-A6AA-4938-B3EF-9D1A259604EF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0B20E41-7315-47E9-AE53-5D7920E9C0D7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</p:spTree>
    <p:extLst>
      <p:ext uri="{BB962C8B-B14F-4D97-AF65-F5344CB8AC3E}">
        <p14:creationId xmlns:p14="http://schemas.microsoft.com/office/powerpoint/2010/main" val="2298933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mutated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6B2477D5-7D4C-47A7-B8E4-8A9B87CF05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B8498570-48C0-41D9-A674-EA401E5AFF17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F95C2CC3-FD86-42C4-8C2F-64A9B3FBFF5B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</p:spTree>
    <p:extLst>
      <p:ext uri="{BB962C8B-B14F-4D97-AF65-F5344CB8AC3E}">
        <p14:creationId xmlns:p14="http://schemas.microsoft.com/office/powerpoint/2010/main" val="6470756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89" y="4306267"/>
            <a:ext cx="9282715" cy="2125355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75013A-6F1C-4F80-B3F2-05F44D950002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7253831" y="1813886"/>
            <a:ext cx="1418282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1">
            <a:extLst>
              <a:ext uri="{FF2B5EF4-FFF2-40B4-BE49-F238E27FC236}">
                <a16:creationId xmlns:a16="http://schemas.microsoft.com/office/drawing/2014/main" id="{52A4B538-178C-41C9-A553-FCA27B6526B8}"/>
              </a:ext>
            </a:extLst>
          </p:cNvPr>
          <p:cNvSpPr/>
          <p:nvPr/>
        </p:nvSpPr>
        <p:spPr>
          <a:xfrm>
            <a:off x="5565670" y="1178767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71ADEB-E79D-4882-9C42-E87D049C6EFB}"/>
              </a:ext>
            </a:extLst>
          </p:cNvPr>
          <p:cNvSpPr/>
          <p:nvPr/>
        </p:nvSpPr>
        <p:spPr>
          <a:xfrm>
            <a:off x="8112752" y="2387499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8" name="Rounded Rectangle 1">
            <a:extLst>
              <a:ext uri="{FF2B5EF4-FFF2-40B4-BE49-F238E27FC236}">
                <a16:creationId xmlns:a16="http://schemas.microsoft.com/office/drawing/2014/main" id="{ECE847A4-074D-4491-980B-1A5D2FA4514E}"/>
              </a:ext>
            </a:extLst>
          </p:cNvPr>
          <p:cNvSpPr/>
          <p:nvPr/>
        </p:nvSpPr>
        <p:spPr>
          <a:xfrm>
            <a:off x="20140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7CBDAD-E546-4136-A06A-5415B882A91B}"/>
              </a:ext>
            </a:extLst>
          </p:cNvPr>
          <p:cNvSpPr/>
          <p:nvPr/>
        </p:nvSpPr>
        <p:spPr>
          <a:xfrm>
            <a:off x="1637395" y="2368838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8D80D-8131-4D56-8CE8-A8EC2E37FEFB}"/>
              </a:ext>
            </a:extLst>
          </p:cNvPr>
          <p:cNvSpPr/>
          <p:nvPr/>
        </p:nvSpPr>
        <p:spPr>
          <a:xfrm>
            <a:off x="0" y="1495662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0D83DD2D-C4A2-440C-A14C-6756F5DE4DEE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3957060" y="1512117"/>
            <a:ext cx="1158696" cy="31188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B92CA281-1DC3-4F91-98B2-50CF5FE9DF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309124" y="2529504"/>
            <a:ext cx="2417571" cy="1165428"/>
          </a:xfrm>
          <a:prstGeom prst="curvedConnector3">
            <a:avLst>
              <a:gd name="adj1" fmla="val 5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40156F0-2D12-4725-A641-5B77A2ABEB7D}"/>
              </a:ext>
            </a:extLst>
          </p:cNvPr>
          <p:cNvSpPr/>
          <p:nvPr/>
        </p:nvSpPr>
        <p:spPr>
          <a:xfrm>
            <a:off x="5403544" y="333812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858F5B-17E9-4A07-90D7-BFACF8C84D98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3939976" y="1813886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">
            <a:extLst>
              <a:ext uri="{FF2B5EF4-FFF2-40B4-BE49-F238E27FC236}">
                <a16:creationId xmlns:a16="http://schemas.microsoft.com/office/drawing/2014/main" id="{3F8C689E-E5B6-42D5-AFA7-CCF1A0A6E367}"/>
              </a:ext>
            </a:extLst>
          </p:cNvPr>
          <p:cNvSpPr/>
          <p:nvPr/>
        </p:nvSpPr>
        <p:spPr>
          <a:xfrm>
            <a:off x="86721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6" name="Folded Corner 6">
            <a:extLst>
              <a:ext uri="{FF2B5EF4-FFF2-40B4-BE49-F238E27FC236}">
                <a16:creationId xmlns:a16="http://schemas.microsoft.com/office/drawing/2014/main" id="{C9FC7622-54CB-4C5A-A2FD-6F12816246CB}"/>
              </a:ext>
            </a:extLst>
          </p:cNvPr>
          <p:cNvSpPr/>
          <p:nvPr/>
        </p:nvSpPr>
        <p:spPr>
          <a:xfrm>
            <a:off x="2014013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17" name="Folded Corner 6">
            <a:extLst>
              <a:ext uri="{FF2B5EF4-FFF2-40B4-BE49-F238E27FC236}">
                <a16:creationId xmlns:a16="http://schemas.microsoft.com/office/drawing/2014/main" id="{049091B9-A984-486F-B6F4-A750FA8A955C}"/>
              </a:ext>
            </a:extLst>
          </p:cNvPr>
          <p:cNvSpPr/>
          <p:nvPr/>
        </p:nvSpPr>
        <p:spPr>
          <a:xfrm>
            <a:off x="8668054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8F2EAAFF-3A51-4363-95DD-204CE9DF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2843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r>
              <a:rPr lang="en-AU" sz="2800" dirty="0"/>
              <a:t>dynamic decryption: provide a sandbox environment to execute malware and identify the pattern of malicious code </a:t>
            </a:r>
            <a:r>
              <a:rPr lang="en-AU" sz="2800" dirty="0">
                <a:solidFill>
                  <a:srgbClr val="FF0000"/>
                </a:solidFill>
              </a:rPr>
              <a:t>at runtime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C0DDD7-2495-45C9-85A7-5A7866452696}"/>
              </a:ext>
            </a:extLst>
          </p:cNvPr>
          <p:cNvCxnSpPr>
            <a:cxnSpLocks/>
          </p:cNvCxnSpPr>
          <p:nvPr/>
        </p:nvCxnSpPr>
        <p:spPr>
          <a:xfrm flipH="1" flipV="1">
            <a:off x="6824743" y="4090414"/>
            <a:ext cx="2516850" cy="2486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">
            <a:extLst>
              <a:ext uri="{FF2B5EF4-FFF2-40B4-BE49-F238E27FC236}">
                <a16:creationId xmlns:a16="http://schemas.microsoft.com/office/drawing/2014/main" id="{43146A01-6ACE-4ECF-8C13-B42726B609B5}"/>
              </a:ext>
            </a:extLst>
          </p:cNvPr>
          <p:cNvSpPr/>
          <p:nvPr/>
        </p:nvSpPr>
        <p:spPr>
          <a:xfrm>
            <a:off x="5184252" y="3480163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98AEFF-11A2-478B-AFB0-2BEB1ECDD1FF}"/>
              </a:ext>
            </a:extLst>
          </p:cNvPr>
          <p:cNvSpPr/>
          <p:nvPr/>
        </p:nvSpPr>
        <p:spPr>
          <a:xfrm>
            <a:off x="9047481" y="462606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21" name="Rounded Rectangle 1">
            <a:extLst>
              <a:ext uri="{FF2B5EF4-FFF2-40B4-BE49-F238E27FC236}">
                <a16:creationId xmlns:a16="http://schemas.microsoft.com/office/drawing/2014/main" id="{F9CBFA83-B51E-4F62-95D7-02EBD8C3A49E}"/>
              </a:ext>
            </a:extLst>
          </p:cNvPr>
          <p:cNvSpPr/>
          <p:nvPr/>
        </p:nvSpPr>
        <p:spPr>
          <a:xfrm>
            <a:off x="1624294" y="3442841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1E0F6F-C5EE-4789-8E70-D45FC813CC8D}"/>
              </a:ext>
            </a:extLst>
          </p:cNvPr>
          <p:cNvSpPr/>
          <p:nvPr/>
        </p:nvSpPr>
        <p:spPr>
          <a:xfrm>
            <a:off x="1247676" y="4670234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BBF860-346E-446B-8102-CF7EDBFA9C1B}"/>
              </a:ext>
            </a:extLst>
          </p:cNvPr>
          <p:cNvSpPr/>
          <p:nvPr/>
        </p:nvSpPr>
        <p:spPr>
          <a:xfrm>
            <a:off x="-389719" y="3797058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5DBCAF-CA55-4B95-9803-FE082A560BE9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3550257" y="4115282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1">
            <a:extLst>
              <a:ext uri="{FF2B5EF4-FFF2-40B4-BE49-F238E27FC236}">
                <a16:creationId xmlns:a16="http://schemas.microsoft.com/office/drawing/2014/main" id="{8E579ED3-9536-4EC0-8396-872FA479258B}"/>
              </a:ext>
            </a:extLst>
          </p:cNvPr>
          <p:cNvSpPr/>
          <p:nvPr/>
        </p:nvSpPr>
        <p:spPr>
          <a:xfrm>
            <a:off x="9341593" y="3429000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Folded Corner 6">
            <a:extLst>
              <a:ext uri="{FF2B5EF4-FFF2-40B4-BE49-F238E27FC236}">
                <a16:creationId xmlns:a16="http://schemas.microsoft.com/office/drawing/2014/main" id="{50F3D803-A3E2-4FCC-8B36-6921B2F15B48}"/>
              </a:ext>
            </a:extLst>
          </p:cNvPr>
          <p:cNvSpPr/>
          <p:nvPr/>
        </p:nvSpPr>
        <p:spPr>
          <a:xfrm>
            <a:off x="1624294" y="3781798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30" name="Folded Corner 6">
            <a:extLst>
              <a:ext uri="{FF2B5EF4-FFF2-40B4-BE49-F238E27FC236}">
                <a16:creationId xmlns:a16="http://schemas.microsoft.com/office/drawing/2014/main" id="{79096A4A-7823-47E2-9B1B-0D8F6859EDAE}"/>
              </a:ext>
            </a:extLst>
          </p:cNvPr>
          <p:cNvSpPr/>
          <p:nvPr/>
        </p:nvSpPr>
        <p:spPr>
          <a:xfrm>
            <a:off x="9337534" y="3767957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C05293-0859-40CB-A167-59E39C2360FC}"/>
              </a:ext>
            </a:extLst>
          </p:cNvPr>
          <p:cNvSpPr/>
          <p:nvPr/>
        </p:nvSpPr>
        <p:spPr>
          <a:xfrm>
            <a:off x="4837043" y="3167269"/>
            <a:ext cx="6830701" cy="2557669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456293-697E-43AA-AC4D-E7232D7D1E80}"/>
              </a:ext>
            </a:extLst>
          </p:cNvPr>
          <p:cNvSpPr/>
          <p:nvPr/>
        </p:nvSpPr>
        <p:spPr>
          <a:xfrm>
            <a:off x="4724143" y="5143794"/>
            <a:ext cx="1661243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sandbox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C35EA5-4330-4C7F-9A57-D3BF7EE7C27F}"/>
              </a:ext>
            </a:extLst>
          </p:cNvPr>
          <p:cNvSpPr/>
          <p:nvPr/>
        </p:nvSpPr>
        <p:spPr>
          <a:xfrm>
            <a:off x="742122" y="5743647"/>
            <a:ext cx="3298715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dynamic decryption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768EED-1699-40F4-A198-386023275BF5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040838" y="5724938"/>
            <a:ext cx="4211556" cy="45803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42058C5-DEB3-4E2E-A251-04A21CB83C48}"/>
              </a:ext>
            </a:extLst>
          </p:cNvPr>
          <p:cNvSpPr/>
          <p:nvPr/>
        </p:nvSpPr>
        <p:spPr>
          <a:xfrm>
            <a:off x="6998563" y="3431623"/>
            <a:ext cx="2205786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decryption occurs</a:t>
            </a:r>
          </a:p>
          <a:p>
            <a:pPr algn="ctr"/>
            <a:r>
              <a:rPr lang="en-AU" sz="2000" dirty="0"/>
              <a:t> at runtime</a:t>
            </a:r>
          </a:p>
        </p:txBody>
      </p:sp>
      <p:sp>
        <p:nvSpPr>
          <p:cNvPr id="25" name="Slide Number Placeholder 2">
            <a:extLst>
              <a:ext uri="{FF2B5EF4-FFF2-40B4-BE49-F238E27FC236}">
                <a16:creationId xmlns:a16="http://schemas.microsoft.com/office/drawing/2014/main" id="{BB1406F5-2825-4A3D-98C3-66AD65EB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56650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oligomorphic or polymorphic malware?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pattern detection</a:t>
            </a:r>
            <a:r>
              <a:rPr lang="en-AU" sz="2800" dirty="0"/>
              <a:t>: identify patterns in the </a:t>
            </a:r>
            <a:r>
              <a:rPr lang="en-AU" sz="2800" dirty="0" err="1"/>
              <a:t>decryptors</a:t>
            </a:r>
            <a:r>
              <a:rPr lang="en-AU" sz="2800" dirty="0"/>
              <a:t>. 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dynamic decryption</a:t>
            </a:r>
            <a:r>
              <a:rPr lang="en-AU" sz="2800" dirty="0"/>
              <a:t>: provide a sandbox environment to execute malware and identify the pattern of malicious code at run-time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Oligomorphic  and Polymorphic Malware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0B3E12A0-C1C3-4F96-89B2-51BA9FCB3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400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</p:spTree>
    <p:extLst>
      <p:ext uri="{BB962C8B-B14F-4D97-AF65-F5344CB8AC3E}">
        <p14:creationId xmlns:p14="http://schemas.microsoft.com/office/powerpoint/2010/main" val="3570713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310" y="1413152"/>
            <a:ext cx="7934434" cy="797611"/>
          </a:xfrm>
        </p:spPr>
        <p:txBody>
          <a:bodyPr>
            <a:normAutofit/>
          </a:bodyPr>
          <a:lstStyle/>
          <a:p>
            <a:r>
              <a:rPr lang="en-AU" sz="2800" dirty="0"/>
              <a:t>An example: Garbage (or flower) instruction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1D04698-6DBD-40CD-8395-6D7A83D8A48F}"/>
              </a:ext>
            </a:extLst>
          </p:cNvPr>
          <p:cNvSpPr txBox="1">
            <a:spLocks/>
          </p:cNvSpPr>
          <p:nvPr/>
        </p:nvSpPr>
        <p:spPr>
          <a:xfrm>
            <a:off x="2494384" y="90775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66F673-DF40-412E-B291-6D60F279475A}"/>
              </a:ext>
            </a:extLst>
          </p:cNvPr>
          <p:cNvSpPr txBox="1">
            <a:spLocks/>
          </p:cNvSpPr>
          <p:nvPr/>
        </p:nvSpPr>
        <p:spPr>
          <a:xfrm>
            <a:off x="788653" y="2052012"/>
            <a:ext cx="10590548" cy="12709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An insertion of unnecessary instructions within a malware to obfuscate software analysis but retain the main logic of the malware</a:t>
            </a:r>
            <a:r>
              <a:rPr lang="en-AU" sz="2800" dirty="0"/>
              <a:t>. </a:t>
            </a:r>
          </a:p>
          <a:p>
            <a:pPr lvl="1"/>
            <a:endParaRPr lang="en-AU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2DA5C1-CC93-4E1A-A317-54AEE1B91EAF}"/>
              </a:ext>
            </a:extLst>
          </p:cNvPr>
          <p:cNvSpPr txBox="1"/>
          <p:nvPr/>
        </p:nvSpPr>
        <p:spPr>
          <a:xfrm>
            <a:off x="487004" y="3352377"/>
            <a:ext cx="465615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lt1"/>
                </a:solidFill>
              </a:rPr>
              <a:t>for (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= 0;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&lt; length;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++) {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=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^ 0x33;</a:t>
            </a:r>
          </a:p>
          <a:p>
            <a:r>
              <a:rPr lang="en-US" sz="2800" dirty="0">
                <a:solidFill>
                  <a:schemeClr val="lt1"/>
                </a:solidFill>
              </a:rPr>
              <a:t>}</a:t>
            </a:r>
          </a:p>
          <a:p>
            <a:r>
              <a:rPr lang="en-US" sz="2800" dirty="0" err="1">
                <a:solidFill>
                  <a:schemeClr val="lt1"/>
                </a:solidFill>
              </a:rPr>
              <a:t>jump_to</a:t>
            </a:r>
            <a:r>
              <a:rPr lang="en-US" sz="2800" dirty="0">
                <a:solidFill>
                  <a:schemeClr val="lt1"/>
                </a:solidFill>
              </a:rPr>
              <a:t>(body);</a:t>
            </a:r>
            <a:endParaRPr lang="en-AU" sz="2000" dirty="0">
              <a:solidFill>
                <a:schemeClr val="lt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0EB93C-675F-4562-81E0-8E386A0C9E50}"/>
              </a:ext>
            </a:extLst>
          </p:cNvPr>
          <p:cNvSpPr txBox="1"/>
          <p:nvPr/>
        </p:nvSpPr>
        <p:spPr>
          <a:xfrm>
            <a:off x="6578531" y="3322954"/>
            <a:ext cx="465615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lt1"/>
                </a:solidFill>
              </a:rPr>
              <a:t>for (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= 0;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 &lt; length; 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++) {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temp = 100;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</a:t>
            </a:r>
            <a:r>
              <a:rPr lang="en-US" altLang="zh-CN" sz="2800" dirty="0">
                <a:solidFill>
                  <a:schemeClr val="lt1"/>
                </a:solidFill>
              </a:rPr>
              <a:t>temp = temp </a:t>
            </a:r>
            <a:r>
              <a:rPr lang="en-US" sz="2800" dirty="0">
                <a:solidFill>
                  <a:schemeClr val="lt1"/>
                </a:solidFill>
              </a:rPr>
              <a:t>* 2;</a:t>
            </a:r>
          </a:p>
          <a:p>
            <a:r>
              <a:rPr lang="en-US" sz="2800" dirty="0">
                <a:solidFill>
                  <a:schemeClr val="lt1"/>
                </a:solidFill>
              </a:rPr>
              <a:t>   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= body[</a:t>
            </a:r>
            <a:r>
              <a:rPr lang="en-US" sz="2800" dirty="0" err="1">
                <a:solidFill>
                  <a:schemeClr val="lt1"/>
                </a:solidFill>
              </a:rPr>
              <a:t>i</a:t>
            </a:r>
            <a:r>
              <a:rPr lang="en-US" sz="2800" dirty="0">
                <a:solidFill>
                  <a:schemeClr val="lt1"/>
                </a:solidFill>
              </a:rPr>
              <a:t>] ^ 0x33;</a:t>
            </a:r>
          </a:p>
          <a:p>
            <a:r>
              <a:rPr lang="en-AU" sz="2800" dirty="0"/>
              <a:t>    temp = temp / 2;</a:t>
            </a:r>
            <a:endParaRPr lang="en-US" sz="2800" dirty="0">
              <a:solidFill>
                <a:schemeClr val="lt1"/>
              </a:solidFill>
            </a:endParaRPr>
          </a:p>
          <a:p>
            <a:r>
              <a:rPr lang="en-US" sz="2800" dirty="0">
                <a:solidFill>
                  <a:schemeClr val="lt1"/>
                </a:solidFill>
              </a:rPr>
              <a:t>}</a:t>
            </a:r>
          </a:p>
          <a:p>
            <a:r>
              <a:rPr lang="en-US" sz="2800" dirty="0" err="1">
                <a:solidFill>
                  <a:schemeClr val="lt1"/>
                </a:solidFill>
              </a:rPr>
              <a:t>jump_to</a:t>
            </a:r>
            <a:r>
              <a:rPr lang="en-US" sz="2800" dirty="0">
                <a:solidFill>
                  <a:schemeClr val="lt1"/>
                </a:solidFill>
              </a:rPr>
              <a:t>(body);</a:t>
            </a:r>
            <a:endParaRPr lang="en-AU" sz="2000" dirty="0">
              <a:solidFill>
                <a:schemeClr val="lt1"/>
              </a:solidFill>
            </a:endParaRP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0FEF8252-DB69-42D2-A66B-9A757449A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38197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88E0343-2A35-45FC-93C7-D479F4A5C7ED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  <a:p>
            <a:pPr algn="ctr"/>
            <a:r>
              <a:rPr lang="en-AU" sz="2800" dirty="0"/>
              <a:t>dynamic decryption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788E6F1-9F21-4638-846A-674CBD0F73C6}"/>
              </a:ext>
            </a:extLst>
          </p:cNvPr>
          <p:cNvCxnSpPr>
            <a:cxnSpLocks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885AFB1-289F-4D53-8329-634F8290525C}"/>
              </a:ext>
            </a:extLst>
          </p:cNvPr>
          <p:cNvCxnSpPr>
            <a:cxnSpLocks/>
          </p:cNvCxnSpPr>
          <p:nvPr/>
        </p:nvCxnSpPr>
        <p:spPr>
          <a:xfrm flipH="1" flipV="1">
            <a:off x="9198700" y="2024546"/>
            <a:ext cx="1315311" cy="1045397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BCF702E-82E7-44B8-8209-4B38A06FCA6F}"/>
              </a:ext>
            </a:extLst>
          </p:cNvPr>
          <p:cNvSpPr/>
          <p:nvPr/>
        </p:nvSpPr>
        <p:spPr>
          <a:xfrm>
            <a:off x="7807368" y="1833382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04B9C52-7514-49C8-85ED-FC01FCAE85FE}"/>
              </a:ext>
            </a:extLst>
          </p:cNvPr>
          <p:cNvSpPr/>
          <p:nvPr/>
        </p:nvSpPr>
        <p:spPr>
          <a:xfrm>
            <a:off x="9848205" y="1826758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519319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11B2B2-3BFA-47EB-951E-A1036EEB65A1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  <a:p>
            <a:pPr algn="ctr"/>
            <a:r>
              <a:rPr lang="en-AU" sz="2800" dirty="0"/>
              <a:t>dynamic decryption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845DF49-6BEE-451A-8E40-D2399A53E01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C64AB466-221B-4BFC-9E24-7840FF87E5FF}"/>
              </a:ext>
            </a:extLst>
          </p:cNvPr>
          <p:cNvSpPr/>
          <p:nvPr/>
        </p:nvSpPr>
        <p:spPr>
          <a:xfrm>
            <a:off x="9001451" y="1739325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EE69ECDB-CF2C-4093-A01F-A86ECEA133DB}"/>
              </a:ext>
            </a:extLst>
          </p:cNvPr>
          <p:cNvCxnSpPr>
            <a:cxnSpLocks/>
            <a:stCxn id="38" idx="0"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92334AAF-0339-471B-94AF-B6BB21428770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E759D4D-8C06-44A1-9A90-8C27F3A93636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C137BE2-2C4D-4ABD-B05A-717E5EA4FAAF}"/>
              </a:ext>
            </a:extLst>
          </p:cNvPr>
          <p:cNvCxnSpPr>
            <a:cxnSpLocks/>
          </p:cNvCxnSpPr>
          <p:nvPr/>
        </p:nvCxnSpPr>
        <p:spPr>
          <a:xfrm flipH="1" flipV="1">
            <a:off x="9198699" y="2024546"/>
            <a:ext cx="1364893" cy="104539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0D5776B-520B-48D4-8266-DA2A0ABA78F3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34772051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metamorphic malware?</a:t>
            </a:r>
          </a:p>
          <a:p>
            <a:pPr lvl="1"/>
            <a:r>
              <a:rPr lang="en-AU" sz="2800" dirty="0"/>
              <a:t>heuristic detection: provide a sandbox environment to execute malware and identify suspicious behaviours at run-time. 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Metamorphic Malware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E5919D44-D41E-40A7-9316-93D0CF17E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36043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Summarize the main characteristics of oligomorphic, polymorphic and metamorphic malware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04A307A0-F1FF-4AEA-8DB3-2A25CF19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73111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314" y="1333110"/>
            <a:ext cx="11077242" cy="4629540"/>
          </a:xfrm>
        </p:spPr>
        <p:txBody>
          <a:bodyPr>
            <a:normAutofit/>
          </a:bodyPr>
          <a:lstStyle/>
          <a:p>
            <a:r>
              <a:rPr lang="en-AU" sz="2800" dirty="0"/>
              <a:t>Summarize the main characteristics of oligomorphic, polymorphic and metamorphic malware</a:t>
            </a:r>
          </a:p>
          <a:p>
            <a:pPr lvl="1"/>
            <a:r>
              <a:rPr lang="en-AU" sz="2800" dirty="0"/>
              <a:t>oligomorphic: it decrypts itself with a 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polymorphic: it decrypts itself with a very large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metamorphic: it mutates itself significantly each time it infects others.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F61D16BD-A61A-4E6F-9D80-EEFE55F8F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36899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are the benefits of studying evasive malware?</a:t>
            </a:r>
          </a:p>
          <a:p>
            <a:pPr lvl="1"/>
            <a:r>
              <a:rPr lang="en-AU" sz="2800" dirty="0"/>
              <a:t>e.g., the attacker’s perspective/the defender’s perspective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225825F-9C3F-43F2-97C9-81E26CC8E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11930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677477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758757"/>
            <a:ext cx="11542365" cy="1655657"/>
          </a:xfrm>
        </p:spPr>
        <p:txBody>
          <a:bodyPr>
            <a:noAutofit/>
          </a:bodyPr>
          <a:lstStyle/>
          <a:p>
            <a:r>
              <a:rPr lang="en-AU" sz="2400" dirty="0"/>
              <a:t>Virus Total is a website (</a:t>
            </a:r>
            <a:r>
              <a:rPr lang="en-AU" sz="2400" dirty="0">
                <a:solidFill>
                  <a:srgbClr val="FF0000"/>
                </a:solidFill>
              </a:rPr>
              <a:t>https://www.virustotal.com/gui/home/upload</a:t>
            </a:r>
            <a:r>
              <a:rPr lang="en-AU" sz="2400" dirty="0"/>
              <a:t>) that provides free online malware scanning.</a:t>
            </a:r>
          </a:p>
          <a:p>
            <a:pPr lvl="1"/>
            <a:r>
              <a:rPr lang="en-AU" sz="2400" dirty="0"/>
              <a:t>It is a collection of no less than 60 malware-detection engines.</a:t>
            </a:r>
          </a:p>
          <a:p>
            <a:pPr lvl="1"/>
            <a:r>
              <a:rPr lang="en-AU" sz="2400" dirty="0"/>
              <a:t>Provides </a:t>
            </a:r>
            <a:r>
              <a:rPr lang="en-US" sz="2400" dirty="0"/>
              <a:t>a comprehensive view of whether a file or website is malicious</a:t>
            </a:r>
            <a:r>
              <a:rPr lang="en-AU" sz="2400" dirty="0"/>
              <a:t>.</a:t>
            </a:r>
          </a:p>
          <a:p>
            <a:pPr marL="450000" lvl="1" indent="0">
              <a:buNone/>
            </a:pPr>
            <a:endParaRPr lang="en-AU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DCE218-D7E4-41CA-B2F0-1257F3BAB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13" y="2762654"/>
            <a:ext cx="6061387" cy="3866745"/>
          </a:xfrm>
          <a:prstGeom prst="rect">
            <a:avLst/>
          </a:prstGeom>
        </p:spPr>
      </p:pic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19E34B3B-E790-4764-AE6C-357723979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39550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6" y="986987"/>
            <a:ext cx="851679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VMs to download malware samples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822918" y="5230667"/>
            <a:ext cx="10596964" cy="9503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https://github.com/mstfknn/malware-sample-library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1B9D2-B6E7-4121-A91D-86AFC42D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1724978"/>
            <a:ext cx="9600440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561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03766" y="2063973"/>
            <a:ext cx="6514534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3 malware samples are downloaded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822918" y="1433367"/>
            <a:ext cx="10596964" cy="9503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https://github.com/mstfknn/malware-sample-library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772994-795C-4A4A-BDBF-14E56B752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3014354"/>
            <a:ext cx="3572374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68670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784195"/>
            <a:ext cx="10353762" cy="4581679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Upload each compressed malware onto </a:t>
            </a:r>
            <a:r>
              <a:rPr lang="en-US" sz="2800" dirty="0" err="1">
                <a:effectLst/>
              </a:rPr>
              <a:t>virustotal</a:t>
            </a:r>
            <a:endParaRPr lang="en-US" sz="2800" dirty="0">
              <a:effectLst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39318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93388"/>
            <a:ext cx="3100039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36213006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 Why or Why not?</a:t>
            </a:r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D6C95030-7B4D-4A35-8D48-3C0698A09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00749"/>
            <a:ext cx="753545" cy="365125"/>
          </a:xfrm>
        </p:spPr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9266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software,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6171967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 Why or Why not?</a:t>
            </a:r>
            <a:endParaRPr lang="en-AU" sz="2800" dirty="0"/>
          </a:p>
          <a:p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8269540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r>
              <a:rPr lang="en-AU" sz="2800" dirty="0"/>
              <a:t>e.g., mutated malware and sandbox-aware malware. </a:t>
            </a:r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6189277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2819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94031"/>
            <a:ext cx="10353762" cy="3481977"/>
          </a:xfrm>
        </p:spPr>
        <p:txBody>
          <a:bodyPr>
            <a:normAutofit/>
          </a:bodyPr>
          <a:lstStyle/>
          <a:p>
            <a:r>
              <a:rPr lang="en-AU" sz="2800" dirty="0"/>
              <a:t>Yara is a rule-based signature matching tool.</a:t>
            </a:r>
          </a:p>
          <a:p>
            <a:pPr lvl="1"/>
            <a:r>
              <a:rPr lang="en-AU" sz="2800" dirty="0"/>
              <a:t>It is an open-source project. </a:t>
            </a:r>
          </a:p>
          <a:p>
            <a:pPr lvl="1"/>
            <a:r>
              <a:rPr lang="en-AU" sz="2800" dirty="0"/>
              <a:t>It defines a set of rules as signatures. </a:t>
            </a:r>
          </a:p>
          <a:p>
            <a:pPr lvl="1"/>
            <a:r>
              <a:rPr lang="en-AU" sz="2800" dirty="0"/>
              <a:t>The signature describes the key </a:t>
            </a:r>
            <a:r>
              <a:rPr lang="en-US" sz="2800" dirty="0"/>
              <a:t>characteristics</a:t>
            </a:r>
            <a:r>
              <a:rPr lang="en-AU" sz="2800" dirty="0"/>
              <a:t> of a malware family, e.g., certain lines of code.</a:t>
            </a:r>
          </a:p>
          <a:p>
            <a:pPr lvl="1"/>
            <a:r>
              <a:rPr lang="en-AU" sz="2800" dirty="0"/>
              <a:t>It essentially is a pattern detection technique. </a:t>
            </a:r>
          </a:p>
          <a:p>
            <a:pPr marL="36900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80939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Inside the container</a:t>
            </a:r>
          </a:p>
          <a:p>
            <a:pPr lvl="1"/>
            <a:r>
              <a:rPr lang="en-AU" sz="2600" dirty="0">
                <a:effectLst/>
              </a:rPr>
              <a:t>apt-get install </a:t>
            </a:r>
            <a:r>
              <a:rPr lang="en-AU" sz="2600" dirty="0" err="1">
                <a:effectLst/>
              </a:rPr>
              <a:t>yara</a:t>
            </a:r>
            <a:endParaRPr lang="en-AU" sz="2600" dirty="0">
              <a:effectLst/>
            </a:endParaRPr>
          </a:p>
          <a:p>
            <a:pPr lvl="1"/>
            <a:r>
              <a:rPr lang="en-AU" sz="2600" dirty="0">
                <a:effectLst/>
              </a:rPr>
              <a:t>git clone https://github.com/Yara-Rules/rules.git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2637466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apt-get install </a:t>
            </a:r>
            <a:r>
              <a:rPr lang="en-AU" sz="2800" dirty="0" err="1">
                <a:effectLst/>
              </a:rPr>
              <a:t>yara</a:t>
            </a:r>
            <a:endParaRPr lang="en-AU" sz="2800" dirty="0">
              <a:effectLst/>
            </a:endParaRPr>
          </a:p>
          <a:p>
            <a:r>
              <a:rPr lang="en-AU" sz="2800" dirty="0">
                <a:effectLst/>
              </a:rPr>
              <a:t>git clone https://github.com/Yara-Rules/rules.git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4230715"/>
            <a:ext cx="9276441" cy="143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3112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2202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758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33F889-BE04-4164-A3E7-379D16C3A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361320"/>
            <a:ext cx="5591955" cy="5525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AD241A0-D20B-421B-BE89-502708AC06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980" y="4042739"/>
            <a:ext cx="4667901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8333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4B1488-7010-4F58-A666-F2A73FC7E7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212891"/>
            <a:ext cx="5122715" cy="3082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BCA2303-2DAF-4998-BB98-CC6804881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67" y="3690142"/>
            <a:ext cx="10794898" cy="265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020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97047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33991544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5831567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malware detection/intrusion detection/system monitoring</a:t>
            </a:r>
            <a:endParaRPr lang="en-US" sz="2800" dirty="0"/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612645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42240"/>
            <a:ext cx="10353762" cy="93472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595" y="1162050"/>
            <a:ext cx="10353762" cy="4913630"/>
          </a:xfrm>
        </p:spPr>
        <p:txBody>
          <a:bodyPr>
            <a:normAutofit/>
          </a:bodyPr>
          <a:lstStyle/>
          <a:p>
            <a:r>
              <a:rPr lang="en-AU" sz="3000" dirty="0"/>
              <a:t>Ember is an AI-based detection tool.</a:t>
            </a:r>
          </a:p>
          <a:p>
            <a:pPr lvl="1"/>
            <a:r>
              <a:rPr lang="en-AU" sz="3000" dirty="0"/>
              <a:t>It </a:t>
            </a:r>
            <a:r>
              <a:rPr lang="en-AU" sz="3200" dirty="0"/>
              <a:t>is an open-source project. </a:t>
            </a:r>
            <a:endParaRPr lang="en-AU" sz="3000" dirty="0"/>
          </a:p>
          <a:p>
            <a:pPr lvl="1"/>
            <a:r>
              <a:rPr lang="en-AU" sz="3000" dirty="0"/>
              <a:t>It uses a deep-learning-based model to predict whether a given file is malicious.</a:t>
            </a:r>
          </a:p>
          <a:p>
            <a:pPr lvl="1"/>
            <a:endParaRPr lang="en-AU" sz="3000" dirty="0"/>
          </a:p>
        </p:txBody>
      </p:sp>
    </p:spTree>
    <p:extLst>
      <p:ext uri="{BB962C8B-B14F-4D97-AF65-F5344CB8AC3E}">
        <p14:creationId xmlns:p14="http://schemas.microsoft.com/office/powerpoint/2010/main" val="8350462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32505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35F5975-2C76-4F59-A37E-82C404CDC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python3 scripts/classify_binaries.py -m ember_model_2018.txt /opt/malware-sample-library/Trojans/</a:t>
            </a:r>
            <a:r>
              <a:rPr lang="en-AU" sz="2800" dirty="0" err="1">
                <a:solidFill>
                  <a:schemeClr val="tx1"/>
                </a:solidFill>
                <a:effectLst/>
              </a:rPr>
              <a:t>NanocoreRAT.bin</a:t>
            </a:r>
            <a:endParaRPr lang="en-AU" sz="2800" dirty="0">
              <a:solidFill>
                <a:schemeClr val="tx1"/>
              </a:solidFill>
              <a:effectLst/>
            </a:endParaRPr>
          </a:p>
          <a:p>
            <a:endParaRPr lang="en-AU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4202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68853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03825574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</p:txBody>
      </p:sp>
    </p:spTree>
    <p:extLst>
      <p:ext uri="{BB962C8B-B14F-4D97-AF65-F5344CB8AC3E}">
        <p14:creationId xmlns:p14="http://schemas.microsoft.com/office/powerpoint/2010/main" val="368248531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12194213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0</TotalTime>
  <Words>1943</Words>
  <Application>Microsoft Office PowerPoint</Application>
  <PresentationFormat>Widescreen</PresentationFormat>
  <Paragraphs>489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8" baseType="lpstr">
      <vt:lpstr>Calibri</vt:lpstr>
      <vt:lpstr>Georgia Pro Cond Light</vt:lpstr>
      <vt:lpstr>Speak Pro</vt:lpstr>
      <vt:lpstr>Wingdings 2</vt:lpstr>
      <vt:lpstr>SlateVTI</vt:lpstr>
      <vt:lpstr>CITS1003 Introduction to Cybersecurity [4] Threats exercise</vt:lpstr>
      <vt:lpstr>PowerPoint Presentation</vt:lpstr>
      <vt:lpstr>Malware</vt:lpstr>
      <vt:lpstr>Malware</vt:lpstr>
      <vt:lpstr>Malware</vt:lpstr>
      <vt:lpstr>Malware</vt:lpstr>
      <vt:lpstr>Malware</vt:lpstr>
      <vt:lpstr>Malware</vt:lpstr>
      <vt:lpstr>PowerPoint Presentation</vt:lpstr>
      <vt:lpstr>Malware</vt:lpstr>
      <vt:lpstr>Malware</vt:lpstr>
      <vt:lpstr>Malware</vt:lpstr>
      <vt:lpstr>Malware</vt:lpstr>
      <vt:lpstr>Malware</vt:lpstr>
      <vt:lpstr>Malware</vt:lpstr>
      <vt:lpstr>Malware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Polymorphic Malware</vt:lpstr>
      <vt:lpstr>Polymorphic Malware</vt:lpstr>
      <vt:lpstr>Oligomorphic  and Polymorphic Malware</vt:lpstr>
      <vt:lpstr>PowerPoint Presentation</vt:lpstr>
      <vt:lpstr>PowerPoint Presentation</vt:lpstr>
      <vt:lpstr>PowerPoint Presentation</vt:lpstr>
      <vt:lpstr>PowerPoint Presentation</vt:lpstr>
      <vt:lpstr>Metamorphic Malware</vt:lpstr>
      <vt:lpstr>Malware</vt:lpstr>
      <vt:lpstr>Malware</vt:lpstr>
      <vt:lpstr>Malware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2026-03-16T04:14:49Z</dcterms:created>
  <dcterms:modified xsi:type="dcterms:W3CDTF">2026-03-16T04:15:17Z</dcterms:modified>
</cp:coreProperties>
</file>