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763" r:id="rId1"/>
  </p:sldMasterIdLst>
  <p:notesMasterIdLst>
    <p:notesMasterId r:id="rId74"/>
  </p:notesMasterIdLst>
  <p:sldIdLst>
    <p:sldId id="256" r:id="rId2"/>
    <p:sldId id="386" r:id="rId3"/>
    <p:sldId id="260" r:id="rId4"/>
    <p:sldId id="445" r:id="rId5"/>
    <p:sldId id="443" r:id="rId6"/>
    <p:sldId id="1583" r:id="rId7"/>
    <p:sldId id="1582" r:id="rId8"/>
    <p:sldId id="1580" r:id="rId9"/>
    <p:sldId id="272" r:id="rId10"/>
    <p:sldId id="1558" r:id="rId11"/>
    <p:sldId id="1559" r:id="rId12"/>
    <p:sldId id="1560" r:id="rId13"/>
    <p:sldId id="1561" r:id="rId14"/>
    <p:sldId id="1562" r:id="rId15"/>
    <p:sldId id="1563" r:id="rId16"/>
    <p:sldId id="1557" r:id="rId17"/>
    <p:sldId id="450" r:id="rId18"/>
    <p:sldId id="480" r:id="rId19"/>
    <p:sldId id="451" r:id="rId20"/>
    <p:sldId id="461" r:id="rId21"/>
    <p:sldId id="452" r:id="rId22"/>
    <p:sldId id="462" r:id="rId23"/>
    <p:sldId id="453" r:id="rId24"/>
    <p:sldId id="463" r:id="rId25"/>
    <p:sldId id="455" r:id="rId26"/>
    <p:sldId id="454" r:id="rId27"/>
    <p:sldId id="481" r:id="rId28"/>
    <p:sldId id="464" r:id="rId29"/>
    <p:sldId id="466" r:id="rId30"/>
    <p:sldId id="467" r:id="rId31"/>
    <p:sldId id="465" r:id="rId32"/>
    <p:sldId id="456" r:id="rId33"/>
    <p:sldId id="468" r:id="rId34"/>
    <p:sldId id="388" r:id="rId35"/>
    <p:sldId id="459" r:id="rId36"/>
    <p:sldId id="1586" r:id="rId37"/>
    <p:sldId id="1584" r:id="rId38"/>
    <p:sldId id="483" r:id="rId39"/>
    <p:sldId id="460" r:id="rId40"/>
    <p:sldId id="473" r:id="rId41"/>
    <p:sldId id="387" r:id="rId42"/>
    <p:sldId id="475" r:id="rId43"/>
    <p:sldId id="484" r:id="rId44"/>
    <p:sldId id="476" r:id="rId45"/>
    <p:sldId id="477" r:id="rId46"/>
    <p:sldId id="478" r:id="rId47"/>
    <p:sldId id="479" r:id="rId48"/>
    <p:sldId id="549" r:id="rId49"/>
    <p:sldId id="1592" r:id="rId50"/>
    <p:sldId id="1568" r:id="rId51"/>
    <p:sldId id="544" r:id="rId52"/>
    <p:sldId id="1569" r:id="rId53"/>
    <p:sldId id="1587" r:id="rId54"/>
    <p:sldId id="1588" r:id="rId55"/>
    <p:sldId id="1570" r:id="rId56"/>
    <p:sldId id="1571" r:id="rId57"/>
    <p:sldId id="1589" r:id="rId58"/>
    <p:sldId id="1590" r:id="rId59"/>
    <p:sldId id="1572" r:id="rId60"/>
    <p:sldId id="1573" r:id="rId61"/>
    <p:sldId id="1574" r:id="rId62"/>
    <p:sldId id="1579" r:id="rId63"/>
    <p:sldId id="1576" r:id="rId64"/>
    <p:sldId id="1577" r:id="rId65"/>
    <p:sldId id="1575" r:id="rId66"/>
    <p:sldId id="1578" r:id="rId67"/>
    <p:sldId id="457" r:id="rId68"/>
    <p:sldId id="1564" r:id="rId69"/>
    <p:sldId id="1591" r:id="rId70"/>
    <p:sldId id="1566" r:id="rId71"/>
    <p:sldId id="1567" r:id="rId72"/>
    <p:sldId id="1556"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426" autoAdjust="0"/>
    <p:restoredTop sz="85687" autoAdjust="0"/>
  </p:normalViewPr>
  <p:slideViewPr>
    <p:cSldViewPr snapToGrid="0" snapToObjects="1">
      <p:cViewPr varScale="1">
        <p:scale>
          <a:sx n="61" d="100"/>
          <a:sy n="61" d="100"/>
        </p:scale>
        <p:origin x="39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6D7260-B7E4-B548-BD1F-84ED14536037}" type="datetimeFigureOut">
              <a:rPr lang="en-AU" smtClean="0"/>
              <a:t>12/05/2025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030C05-EF6C-9847-8923-580D76870F8E}" type="slidenum">
              <a:rPr lang="en-AU" smtClean="0"/>
              <a:t>‹#›</a:t>
            </a:fld>
            <a:endParaRPr lang="en-AU"/>
          </a:p>
        </p:txBody>
      </p:sp>
    </p:spTree>
    <p:extLst>
      <p:ext uri="{BB962C8B-B14F-4D97-AF65-F5344CB8AC3E}">
        <p14:creationId xmlns:p14="http://schemas.microsoft.com/office/powerpoint/2010/main" val="2063409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a:t>
            </a:fld>
            <a:endParaRPr lang="en-AU"/>
          </a:p>
        </p:txBody>
      </p:sp>
    </p:spTree>
    <p:extLst>
      <p:ext uri="{BB962C8B-B14F-4D97-AF65-F5344CB8AC3E}">
        <p14:creationId xmlns:p14="http://schemas.microsoft.com/office/powerpoint/2010/main" val="433977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a:t>
            </a:fld>
            <a:endParaRPr lang="en-AU"/>
          </a:p>
        </p:txBody>
      </p:sp>
    </p:spTree>
    <p:extLst>
      <p:ext uri="{BB962C8B-B14F-4D97-AF65-F5344CB8AC3E}">
        <p14:creationId xmlns:p14="http://schemas.microsoft.com/office/powerpoint/2010/main" val="7807784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a:t>
            </a:fld>
            <a:endParaRPr lang="en-AU"/>
          </a:p>
        </p:txBody>
      </p:sp>
    </p:spTree>
    <p:extLst>
      <p:ext uri="{BB962C8B-B14F-4D97-AF65-F5344CB8AC3E}">
        <p14:creationId xmlns:p14="http://schemas.microsoft.com/office/powerpoint/2010/main" val="29177253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a:t>
            </a:fld>
            <a:endParaRPr lang="en-AU"/>
          </a:p>
        </p:txBody>
      </p:sp>
    </p:spTree>
    <p:extLst>
      <p:ext uri="{BB962C8B-B14F-4D97-AF65-F5344CB8AC3E}">
        <p14:creationId xmlns:p14="http://schemas.microsoft.com/office/powerpoint/2010/main" val="14363036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a:t>
            </a:fld>
            <a:endParaRPr lang="en-AU"/>
          </a:p>
        </p:txBody>
      </p:sp>
    </p:spTree>
    <p:extLst>
      <p:ext uri="{BB962C8B-B14F-4D97-AF65-F5344CB8AC3E}">
        <p14:creationId xmlns:p14="http://schemas.microsoft.com/office/powerpoint/2010/main" val="4694428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a:t>
            </a:fld>
            <a:endParaRPr lang="en-AU"/>
          </a:p>
        </p:txBody>
      </p:sp>
    </p:spTree>
    <p:extLst>
      <p:ext uri="{BB962C8B-B14F-4D97-AF65-F5344CB8AC3E}">
        <p14:creationId xmlns:p14="http://schemas.microsoft.com/office/powerpoint/2010/main" val="34165445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7</a:t>
            </a:fld>
            <a:endParaRPr lang="en-AU"/>
          </a:p>
        </p:txBody>
      </p:sp>
    </p:spTree>
    <p:extLst>
      <p:ext uri="{BB962C8B-B14F-4D97-AF65-F5344CB8AC3E}">
        <p14:creationId xmlns:p14="http://schemas.microsoft.com/office/powerpoint/2010/main" val="25437528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8</a:t>
            </a:fld>
            <a:endParaRPr lang="en-AU"/>
          </a:p>
        </p:txBody>
      </p:sp>
    </p:spTree>
    <p:extLst>
      <p:ext uri="{BB962C8B-B14F-4D97-AF65-F5344CB8AC3E}">
        <p14:creationId xmlns:p14="http://schemas.microsoft.com/office/powerpoint/2010/main" val="1017360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9</a:t>
            </a:fld>
            <a:endParaRPr lang="en-AU"/>
          </a:p>
        </p:txBody>
      </p:sp>
    </p:spTree>
    <p:extLst>
      <p:ext uri="{BB962C8B-B14F-4D97-AF65-F5344CB8AC3E}">
        <p14:creationId xmlns:p14="http://schemas.microsoft.com/office/powerpoint/2010/main" val="9510441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10</a:t>
            </a:fld>
            <a:endParaRPr lang="en-AU"/>
          </a:p>
        </p:txBody>
      </p:sp>
    </p:spTree>
    <p:extLst>
      <p:ext uri="{BB962C8B-B14F-4D97-AF65-F5344CB8AC3E}">
        <p14:creationId xmlns:p14="http://schemas.microsoft.com/office/powerpoint/2010/main" val="24947623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11</a:t>
            </a:fld>
            <a:endParaRPr lang="en-AU"/>
          </a:p>
        </p:txBody>
      </p:sp>
    </p:spTree>
    <p:extLst>
      <p:ext uri="{BB962C8B-B14F-4D97-AF65-F5344CB8AC3E}">
        <p14:creationId xmlns:p14="http://schemas.microsoft.com/office/powerpoint/2010/main" val="1745863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12</a:t>
            </a:fld>
            <a:endParaRPr lang="en-AU"/>
          </a:p>
        </p:txBody>
      </p:sp>
    </p:spTree>
    <p:extLst>
      <p:ext uri="{BB962C8B-B14F-4D97-AF65-F5344CB8AC3E}">
        <p14:creationId xmlns:p14="http://schemas.microsoft.com/office/powerpoint/2010/main" val="29839883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13</a:t>
            </a:fld>
            <a:endParaRPr lang="en-AU"/>
          </a:p>
        </p:txBody>
      </p:sp>
    </p:spTree>
    <p:extLst>
      <p:ext uri="{BB962C8B-B14F-4D97-AF65-F5344CB8AC3E}">
        <p14:creationId xmlns:p14="http://schemas.microsoft.com/office/powerpoint/2010/main" val="11130217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14</a:t>
            </a:fld>
            <a:endParaRPr lang="en-AU"/>
          </a:p>
        </p:txBody>
      </p:sp>
    </p:spTree>
    <p:extLst>
      <p:ext uri="{BB962C8B-B14F-4D97-AF65-F5344CB8AC3E}">
        <p14:creationId xmlns:p14="http://schemas.microsoft.com/office/powerpoint/2010/main" val="14038814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15</a:t>
            </a:fld>
            <a:endParaRPr lang="en-AU"/>
          </a:p>
        </p:txBody>
      </p:sp>
    </p:spTree>
    <p:extLst>
      <p:ext uri="{BB962C8B-B14F-4D97-AF65-F5344CB8AC3E}">
        <p14:creationId xmlns:p14="http://schemas.microsoft.com/office/powerpoint/2010/main" val="32218160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16</a:t>
            </a:fld>
            <a:endParaRPr lang="en-AU"/>
          </a:p>
        </p:txBody>
      </p:sp>
    </p:spTree>
    <p:extLst>
      <p:ext uri="{BB962C8B-B14F-4D97-AF65-F5344CB8AC3E}">
        <p14:creationId xmlns:p14="http://schemas.microsoft.com/office/powerpoint/2010/main" val="28816798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17</a:t>
            </a:fld>
            <a:endParaRPr lang="en-AU"/>
          </a:p>
        </p:txBody>
      </p:sp>
    </p:spTree>
    <p:extLst>
      <p:ext uri="{BB962C8B-B14F-4D97-AF65-F5344CB8AC3E}">
        <p14:creationId xmlns:p14="http://schemas.microsoft.com/office/powerpoint/2010/main" val="696232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18</a:t>
            </a:fld>
            <a:endParaRPr lang="en-AU"/>
          </a:p>
        </p:txBody>
      </p:sp>
    </p:spTree>
    <p:extLst>
      <p:ext uri="{BB962C8B-B14F-4D97-AF65-F5344CB8AC3E}">
        <p14:creationId xmlns:p14="http://schemas.microsoft.com/office/powerpoint/2010/main" val="33862894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19</a:t>
            </a:fld>
            <a:endParaRPr lang="en-AU"/>
          </a:p>
        </p:txBody>
      </p:sp>
    </p:spTree>
    <p:extLst>
      <p:ext uri="{BB962C8B-B14F-4D97-AF65-F5344CB8AC3E}">
        <p14:creationId xmlns:p14="http://schemas.microsoft.com/office/powerpoint/2010/main" val="38642317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fontAlgn="base">
              <a:buFont typeface="Symbol" panose="05050102010706020507" pitchFamily="18" charset="2"/>
              <a:buNone/>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20</a:t>
            </a:fld>
            <a:endParaRPr lang="en-AU"/>
          </a:p>
        </p:txBody>
      </p:sp>
    </p:spTree>
    <p:extLst>
      <p:ext uri="{BB962C8B-B14F-4D97-AF65-F5344CB8AC3E}">
        <p14:creationId xmlns:p14="http://schemas.microsoft.com/office/powerpoint/2010/main" val="19940918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21</a:t>
            </a:fld>
            <a:endParaRPr lang="en-AU"/>
          </a:p>
        </p:txBody>
      </p:sp>
    </p:spTree>
    <p:extLst>
      <p:ext uri="{BB962C8B-B14F-4D97-AF65-F5344CB8AC3E}">
        <p14:creationId xmlns:p14="http://schemas.microsoft.com/office/powerpoint/2010/main" val="24397328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22</a:t>
            </a:fld>
            <a:endParaRPr lang="en-AU"/>
          </a:p>
        </p:txBody>
      </p:sp>
    </p:spTree>
    <p:extLst>
      <p:ext uri="{BB962C8B-B14F-4D97-AF65-F5344CB8AC3E}">
        <p14:creationId xmlns:p14="http://schemas.microsoft.com/office/powerpoint/2010/main" val="34513954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23</a:t>
            </a:fld>
            <a:endParaRPr lang="en-AU"/>
          </a:p>
        </p:txBody>
      </p:sp>
    </p:spTree>
    <p:extLst>
      <p:ext uri="{BB962C8B-B14F-4D97-AF65-F5344CB8AC3E}">
        <p14:creationId xmlns:p14="http://schemas.microsoft.com/office/powerpoint/2010/main" val="32797879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24</a:t>
            </a:fld>
            <a:endParaRPr lang="en-AU"/>
          </a:p>
        </p:txBody>
      </p:sp>
    </p:spTree>
    <p:extLst>
      <p:ext uri="{BB962C8B-B14F-4D97-AF65-F5344CB8AC3E}">
        <p14:creationId xmlns:p14="http://schemas.microsoft.com/office/powerpoint/2010/main" val="10572774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25</a:t>
            </a:fld>
            <a:endParaRPr lang="en-AU"/>
          </a:p>
        </p:txBody>
      </p:sp>
    </p:spTree>
    <p:extLst>
      <p:ext uri="{BB962C8B-B14F-4D97-AF65-F5344CB8AC3E}">
        <p14:creationId xmlns:p14="http://schemas.microsoft.com/office/powerpoint/2010/main" val="33810085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26</a:t>
            </a:fld>
            <a:endParaRPr lang="en-AU"/>
          </a:p>
        </p:txBody>
      </p:sp>
    </p:spTree>
    <p:extLst>
      <p:ext uri="{BB962C8B-B14F-4D97-AF65-F5344CB8AC3E}">
        <p14:creationId xmlns:p14="http://schemas.microsoft.com/office/powerpoint/2010/main" val="26899628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27</a:t>
            </a:fld>
            <a:endParaRPr lang="en-AU"/>
          </a:p>
        </p:txBody>
      </p:sp>
    </p:spTree>
    <p:extLst>
      <p:ext uri="{BB962C8B-B14F-4D97-AF65-F5344CB8AC3E}">
        <p14:creationId xmlns:p14="http://schemas.microsoft.com/office/powerpoint/2010/main" val="11427027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28</a:t>
            </a:fld>
            <a:endParaRPr lang="en-AU"/>
          </a:p>
        </p:txBody>
      </p:sp>
    </p:spTree>
    <p:extLst>
      <p:ext uri="{BB962C8B-B14F-4D97-AF65-F5344CB8AC3E}">
        <p14:creationId xmlns:p14="http://schemas.microsoft.com/office/powerpoint/2010/main" val="14491658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29</a:t>
            </a:fld>
            <a:endParaRPr lang="en-AU"/>
          </a:p>
        </p:txBody>
      </p:sp>
    </p:spTree>
    <p:extLst>
      <p:ext uri="{BB962C8B-B14F-4D97-AF65-F5344CB8AC3E}">
        <p14:creationId xmlns:p14="http://schemas.microsoft.com/office/powerpoint/2010/main" val="3938115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30</a:t>
            </a:fld>
            <a:endParaRPr lang="en-AU"/>
          </a:p>
        </p:txBody>
      </p:sp>
    </p:spTree>
    <p:extLst>
      <p:ext uri="{BB962C8B-B14F-4D97-AF65-F5344CB8AC3E}">
        <p14:creationId xmlns:p14="http://schemas.microsoft.com/office/powerpoint/2010/main" val="33731282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31</a:t>
            </a:fld>
            <a:endParaRPr lang="en-AU"/>
          </a:p>
        </p:txBody>
      </p:sp>
    </p:spTree>
    <p:extLst>
      <p:ext uri="{BB962C8B-B14F-4D97-AF65-F5344CB8AC3E}">
        <p14:creationId xmlns:p14="http://schemas.microsoft.com/office/powerpoint/2010/main" val="8223181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32</a:t>
            </a:fld>
            <a:endParaRPr lang="en-AU"/>
          </a:p>
        </p:txBody>
      </p:sp>
    </p:spTree>
    <p:extLst>
      <p:ext uri="{BB962C8B-B14F-4D97-AF65-F5344CB8AC3E}">
        <p14:creationId xmlns:p14="http://schemas.microsoft.com/office/powerpoint/2010/main" val="29960120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33</a:t>
            </a:fld>
            <a:endParaRPr lang="en-AU"/>
          </a:p>
        </p:txBody>
      </p:sp>
    </p:spTree>
    <p:extLst>
      <p:ext uri="{BB962C8B-B14F-4D97-AF65-F5344CB8AC3E}">
        <p14:creationId xmlns:p14="http://schemas.microsoft.com/office/powerpoint/2010/main" val="35160337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34</a:t>
            </a:fld>
            <a:endParaRPr lang="en-AU"/>
          </a:p>
        </p:txBody>
      </p:sp>
    </p:spTree>
    <p:extLst>
      <p:ext uri="{BB962C8B-B14F-4D97-AF65-F5344CB8AC3E}">
        <p14:creationId xmlns:p14="http://schemas.microsoft.com/office/powerpoint/2010/main" val="1680107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35</a:t>
            </a:fld>
            <a:endParaRPr lang="en-AU"/>
          </a:p>
        </p:txBody>
      </p:sp>
    </p:spTree>
    <p:extLst>
      <p:ext uri="{BB962C8B-B14F-4D97-AF65-F5344CB8AC3E}">
        <p14:creationId xmlns:p14="http://schemas.microsoft.com/office/powerpoint/2010/main" val="36052977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36</a:t>
            </a:fld>
            <a:endParaRPr lang="en-AU"/>
          </a:p>
        </p:txBody>
      </p:sp>
    </p:spTree>
    <p:extLst>
      <p:ext uri="{BB962C8B-B14F-4D97-AF65-F5344CB8AC3E}">
        <p14:creationId xmlns:p14="http://schemas.microsoft.com/office/powerpoint/2010/main" val="31911037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37</a:t>
            </a:fld>
            <a:endParaRPr lang="en-AU"/>
          </a:p>
        </p:txBody>
      </p:sp>
    </p:spTree>
    <p:extLst>
      <p:ext uri="{BB962C8B-B14F-4D97-AF65-F5344CB8AC3E}">
        <p14:creationId xmlns:p14="http://schemas.microsoft.com/office/powerpoint/2010/main" val="28319982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38</a:t>
            </a:fld>
            <a:endParaRPr lang="en-AU"/>
          </a:p>
        </p:txBody>
      </p:sp>
    </p:spTree>
    <p:extLst>
      <p:ext uri="{BB962C8B-B14F-4D97-AF65-F5344CB8AC3E}">
        <p14:creationId xmlns:p14="http://schemas.microsoft.com/office/powerpoint/2010/main" val="25217466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39</a:t>
            </a:fld>
            <a:endParaRPr lang="en-AU"/>
          </a:p>
        </p:txBody>
      </p:sp>
    </p:spTree>
    <p:extLst>
      <p:ext uri="{BB962C8B-B14F-4D97-AF65-F5344CB8AC3E}">
        <p14:creationId xmlns:p14="http://schemas.microsoft.com/office/powerpoint/2010/main" val="23224258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40</a:t>
            </a:fld>
            <a:endParaRPr lang="en-AU"/>
          </a:p>
        </p:txBody>
      </p:sp>
    </p:spTree>
    <p:extLst>
      <p:ext uri="{BB962C8B-B14F-4D97-AF65-F5344CB8AC3E}">
        <p14:creationId xmlns:p14="http://schemas.microsoft.com/office/powerpoint/2010/main" val="1519511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42</a:t>
            </a:fld>
            <a:endParaRPr lang="en-AU"/>
          </a:p>
        </p:txBody>
      </p:sp>
    </p:spTree>
    <p:extLst>
      <p:ext uri="{BB962C8B-B14F-4D97-AF65-F5344CB8AC3E}">
        <p14:creationId xmlns:p14="http://schemas.microsoft.com/office/powerpoint/2010/main" val="25643857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44</a:t>
            </a:fld>
            <a:endParaRPr lang="en-AU"/>
          </a:p>
        </p:txBody>
      </p:sp>
    </p:spTree>
    <p:extLst>
      <p:ext uri="{BB962C8B-B14F-4D97-AF65-F5344CB8AC3E}">
        <p14:creationId xmlns:p14="http://schemas.microsoft.com/office/powerpoint/2010/main" val="14993874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45</a:t>
            </a:fld>
            <a:endParaRPr lang="en-AU"/>
          </a:p>
        </p:txBody>
      </p:sp>
    </p:spTree>
    <p:extLst>
      <p:ext uri="{BB962C8B-B14F-4D97-AF65-F5344CB8AC3E}">
        <p14:creationId xmlns:p14="http://schemas.microsoft.com/office/powerpoint/2010/main" val="9351073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46</a:t>
            </a:fld>
            <a:endParaRPr lang="en-AU"/>
          </a:p>
        </p:txBody>
      </p:sp>
    </p:spTree>
    <p:extLst>
      <p:ext uri="{BB962C8B-B14F-4D97-AF65-F5344CB8AC3E}">
        <p14:creationId xmlns:p14="http://schemas.microsoft.com/office/powerpoint/2010/main" val="381186993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47</a:t>
            </a:fld>
            <a:endParaRPr lang="en-AU"/>
          </a:p>
        </p:txBody>
      </p:sp>
    </p:spTree>
    <p:extLst>
      <p:ext uri="{BB962C8B-B14F-4D97-AF65-F5344CB8AC3E}">
        <p14:creationId xmlns:p14="http://schemas.microsoft.com/office/powerpoint/2010/main" val="5430898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37538328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2868943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5008585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658EC99-F1E9-439E-A40D-F097B4B5366F}"/>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4062062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52</a:t>
            </a:fld>
            <a:endParaRPr lang="en-AU"/>
          </a:p>
        </p:txBody>
      </p:sp>
    </p:spTree>
    <p:extLst>
      <p:ext uri="{BB962C8B-B14F-4D97-AF65-F5344CB8AC3E}">
        <p14:creationId xmlns:p14="http://schemas.microsoft.com/office/powerpoint/2010/main" val="292733933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6900" indent="0" rtl="0">
              <a:spcBef>
                <a:spcPts val="0"/>
              </a:spcBef>
              <a:spcAft>
                <a:spcPts val="0"/>
              </a:spcAft>
              <a:buNone/>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53</a:t>
            </a:fld>
            <a:endParaRPr lang="en-AU"/>
          </a:p>
        </p:txBody>
      </p:sp>
    </p:spTree>
    <p:extLst>
      <p:ext uri="{BB962C8B-B14F-4D97-AF65-F5344CB8AC3E}">
        <p14:creationId xmlns:p14="http://schemas.microsoft.com/office/powerpoint/2010/main" val="7093578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54</a:t>
            </a:fld>
            <a:endParaRPr lang="en-AU"/>
          </a:p>
        </p:txBody>
      </p:sp>
    </p:spTree>
    <p:extLst>
      <p:ext uri="{BB962C8B-B14F-4D97-AF65-F5344CB8AC3E}">
        <p14:creationId xmlns:p14="http://schemas.microsoft.com/office/powerpoint/2010/main" val="267750313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55</a:t>
            </a:fld>
            <a:endParaRPr lang="en-AU"/>
          </a:p>
        </p:txBody>
      </p:sp>
    </p:spTree>
    <p:extLst>
      <p:ext uri="{BB962C8B-B14F-4D97-AF65-F5344CB8AC3E}">
        <p14:creationId xmlns:p14="http://schemas.microsoft.com/office/powerpoint/2010/main" val="139868777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56</a:t>
            </a:fld>
            <a:endParaRPr lang="en-AU"/>
          </a:p>
        </p:txBody>
      </p:sp>
    </p:spTree>
    <p:extLst>
      <p:ext uri="{BB962C8B-B14F-4D97-AF65-F5344CB8AC3E}">
        <p14:creationId xmlns:p14="http://schemas.microsoft.com/office/powerpoint/2010/main" val="31656730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57</a:t>
            </a:fld>
            <a:endParaRPr lang="en-AU"/>
          </a:p>
        </p:txBody>
      </p:sp>
    </p:spTree>
    <p:extLst>
      <p:ext uri="{BB962C8B-B14F-4D97-AF65-F5344CB8AC3E}">
        <p14:creationId xmlns:p14="http://schemas.microsoft.com/office/powerpoint/2010/main" val="373024481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58</a:t>
            </a:fld>
            <a:endParaRPr lang="en-AU"/>
          </a:p>
        </p:txBody>
      </p:sp>
    </p:spTree>
    <p:extLst>
      <p:ext uri="{BB962C8B-B14F-4D97-AF65-F5344CB8AC3E}">
        <p14:creationId xmlns:p14="http://schemas.microsoft.com/office/powerpoint/2010/main" val="50978158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59</a:t>
            </a:fld>
            <a:endParaRPr lang="en-AU"/>
          </a:p>
        </p:txBody>
      </p:sp>
    </p:spTree>
    <p:extLst>
      <p:ext uri="{BB962C8B-B14F-4D97-AF65-F5344CB8AC3E}">
        <p14:creationId xmlns:p14="http://schemas.microsoft.com/office/powerpoint/2010/main" val="184606510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60</a:t>
            </a:fld>
            <a:endParaRPr lang="en-AU"/>
          </a:p>
        </p:txBody>
      </p:sp>
    </p:spTree>
    <p:extLst>
      <p:ext uri="{BB962C8B-B14F-4D97-AF65-F5344CB8AC3E}">
        <p14:creationId xmlns:p14="http://schemas.microsoft.com/office/powerpoint/2010/main" val="345061298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62</a:t>
            </a:fld>
            <a:endParaRPr lang="en-AU"/>
          </a:p>
        </p:txBody>
      </p:sp>
    </p:spTree>
    <p:extLst>
      <p:ext uri="{BB962C8B-B14F-4D97-AF65-F5344CB8AC3E}">
        <p14:creationId xmlns:p14="http://schemas.microsoft.com/office/powerpoint/2010/main" val="49447339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63</a:t>
            </a:fld>
            <a:endParaRPr lang="en-AU"/>
          </a:p>
        </p:txBody>
      </p:sp>
    </p:spTree>
    <p:extLst>
      <p:ext uri="{BB962C8B-B14F-4D97-AF65-F5344CB8AC3E}">
        <p14:creationId xmlns:p14="http://schemas.microsoft.com/office/powerpoint/2010/main" val="74447103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6900" indent="0" rtl="0">
              <a:spcBef>
                <a:spcPts val="0"/>
              </a:spcBef>
              <a:spcAft>
                <a:spcPts val="0"/>
              </a:spcAft>
              <a:buNone/>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64</a:t>
            </a:fld>
            <a:endParaRPr lang="en-AU"/>
          </a:p>
        </p:txBody>
      </p:sp>
    </p:spTree>
    <p:extLst>
      <p:ext uri="{BB962C8B-B14F-4D97-AF65-F5344CB8AC3E}">
        <p14:creationId xmlns:p14="http://schemas.microsoft.com/office/powerpoint/2010/main" val="384751707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65</a:t>
            </a:fld>
            <a:endParaRPr lang="en-AU"/>
          </a:p>
        </p:txBody>
      </p:sp>
    </p:spTree>
    <p:extLst>
      <p:ext uri="{BB962C8B-B14F-4D97-AF65-F5344CB8AC3E}">
        <p14:creationId xmlns:p14="http://schemas.microsoft.com/office/powerpoint/2010/main" val="237884431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6900" indent="0" rtl="0">
              <a:spcBef>
                <a:spcPts val="0"/>
              </a:spcBef>
              <a:spcAft>
                <a:spcPts val="0"/>
              </a:spcAft>
              <a:buNone/>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66</a:t>
            </a:fld>
            <a:endParaRPr lang="en-AU"/>
          </a:p>
        </p:txBody>
      </p:sp>
    </p:spTree>
    <p:extLst>
      <p:ext uri="{BB962C8B-B14F-4D97-AF65-F5344CB8AC3E}">
        <p14:creationId xmlns:p14="http://schemas.microsoft.com/office/powerpoint/2010/main" val="143831131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67</a:t>
            </a:fld>
            <a:endParaRPr lang="en-AU"/>
          </a:p>
        </p:txBody>
      </p:sp>
    </p:spTree>
    <p:extLst>
      <p:ext uri="{BB962C8B-B14F-4D97-AF65-F5344CB8AC3E}">
        <p14:creationId xmlns:p14="http://schemas.microsoft.com/office/powerpoint/2010/main" val="380663437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68</a:t>
            </a:fld>
            <a:endParaRPr lang="en-AU"/>
          </a:p>
        </p:txBody>
      </p:sp>
    </p:spTree>
    <p:extLst>
      <p:ext uri="{BB962C8B-B14F-4D97-AF65-F5344CB8AC3E}">
        <p14:creationId xmlns:p14="http://schemas.microsoft.com/office/powerpoint/2010/main" val="352067473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69</a:t>
            </a:fld>
            <a:endParaRPr lang="en-AU"/>
          </a:p>
        </p:txBody>
      </p:sp>
    </p:spTree>
    <p:extLst>
      <p:ext uri="{BB962C8B-B14F-4D97-AF65-F5344CB8AC3E}">
        <p14:creationId xmlns:p14="http://schemas.microsoft.com/office/powerpoint/2010/main" val="39147873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70</a:t>
            </a:fld>
            <a:endParaRPr lang="en-AU"/>
          </a:p>
        </p:txBody>
      </p:sp>
    </p:spTree>
    <p:extLst>
      <p:ext uri="{BB962C8B-B14F-4D97-AF65-F5344CB8AC3E}">
        <p14:creationId xmlns:p14="http://schemas.microsoft.com/office/powerpoint/2010/main" val="29393504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71</a:t>
            </a:fld>
            <a:endParaRPr lang="en-AU"/>
          </a:p>
        </p:txBody>
      </p:sp>
    </p:spTree>
    <p:extLst>
      <p:ext uri="{BB962C8B-B14F-4D97-AF65-F5344CB8AC3E}">
        <p14:creationId xmlns:p14="http://schemas.microsoft.com/office/powerpoint/2010/main" val="126926853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72</a:t>
            </a:fld>
            <a:endParaRPr lang="en-US"/>
          </a:p>
        </p:txBody>
      </p:sp>
    </p:spTree>
    <p:extLst>
      <p:ext uri="{BB962C8B-B14F-4D97-AF65-F5344CB8AC3E}">
        <p14:creationId xmlns:p14="http://schemas.microsoft.com/office/powerpoint/2010/main" val="1851400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5/12/2025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35090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5/12/2025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69118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5/12/2025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559894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5/12/2025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22988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9343D99-809A-49C0-96E5-4250D0B498EE}" type="datetime1">
              <a:rPr lang="en-US" smtClean="0"/>
              <a:t>5/12/2025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91553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5/12/2025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3296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5/12/2025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98986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5/12/2025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434586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5/12/2025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17793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5/12/2025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5171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5/12/2025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235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5/12/2025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372291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5/12/2025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3464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5/12/2025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59530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5/12/2025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15711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5/12/2025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185967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5/12/2025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6992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5/12/2025</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586398981"/>
      </p:ext>
    </p:extLst>
  </p:cSld>
  <p:clrMap bg1="dk1" tx1="lt1" bg2="dk2" tx2="lt2" accent1="accent1" accent2="accent2" accent3="accent3" accent4="accent4" accent5="accent5" accent6="accent6" hlink="hlink" folHlink="folHlink"/>
  <p:sldLayoutIdLst>
    <p:sldLayoutId id="2147483760" r:id="rId1"/>
    <p:sldLayoutId id="2147483761" r:id="rId2"/>
    <p:sldLayoutId id="2147483762" r:id="rId3"/>
    <p:sldLayoutId id="2147483746" r:id="rId4"/>
    <p:sldLayoutId id="2147483747" r:id="rId5"/>
    <p:sldLayoutId id="2147483748" r:id="rId6"/>
    <p:sldLayoutId id="2147483749" r:id="rId7"/>
    <p:sldLayoutId id="2147483750" r:id="rId8"/>
    <p:sldLayoutId id="2147483751" r:id="rId9"/>
    <p:sldLayoutId id="2147483752" r:id="rId10"/>
    <p:sldLayoutId id="2147483759" r:id="rId11"/>
    <p:sldLayoutId id="2147483753" r:id="rId12"/>
    <p:sldLayoutId id="2147483754" r:id="rId13"/>
    <p:sldLayoutId id="2147483755" r:id="rId14"/>
    <p:sldLayoutId id="2147483756" r:id="rId15"/>
    <p:sldLayoutId id="2147483757" r:id="rId16"/>
    <p:sldLayoutId id="2147483758" r:id="rId17"/>
  </p:sldLayoutIdLst>
  <p:hf sldNum="0" hdr="0" ftr="0" dt="0"/>
  <p:txStyles>
    <p:title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8E16CA-BF32-4E68-AAAF-189A3408C6C8}"/>
              </a:ext>
            </a:extLst>
          </p:cNvPr>
          <p:cNvPicPr>
            <a:picLocks noChangeAspect="1"/>
          </p:cNvPicPr>
          <p:nvPr/>
        </p:nvPicPr>
        <p:blipFill rotWithShape="1">
          <a:blip r:embed="rId4"/>
          <a:srcRect t="13986" b="1744"/>
          <a:stretch/>
        </p:blipFill>
        <p:spPr>
          <a:xfrm>
            <a:off x="20" y="10"/>
            <a:ext cx="12191980" cy="6857990"/>
          </a:xfrm>
          <a:prstGeom prst="rect">
            <a:avLst/>
          </a:prstGeom>
        </p:spPr>
      </p:pic>
      <p:sp useBgFill="1">
        <p:nvSpPr>
          <p:cNvPr id="14" name="Freeform 5">
            <a:extLst>
              <a:ext uri="{FF2B5EF4-FFF2-40B4-BE49-F238E27FC236}">
                <a16:creationId xmlns:a16="http://schemas.microsoft.com/office/drawing/2014/main" id="{608EAA06-5488-416B-B2B2-E552130110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271651" y="1762886"/>
            <a:ext cx="7656919" cy="3332229"/>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A7F2B5DE-6445-CC49-9F8E-7C9072991AF6}"/>
              </a:ext>
            </a:extLst>
          </p:cNvPr>
          <p:cNvSpPr>
            <a:spLocks noGrp="1"/>
          </p:cNvSpPr>
          <p:nvPr>
            <p:ph type="ctrTitle"/>
          </p:nvPr>
        </p:nvSpPr>
        <p:spPr>
          <a:xfrm>
            <a:off x="2480733" y="2074339"/>
            <a:ext cx="7219954" cy="1828801"/>
          </a:xfrm>
        </p:spPr>
        <p:txBody>
          <a:bodyPr>
            <a:normAutofit fontScale="90000"/>
          </a:bodyPr>
          <a:lstStyle/>
          <a:p>
            <a:r>
              <a:rPr lang="en-US" sz="4800" dirty="0"/>
              <a:t>CITS1003 Introduction to Cybersecurity</a:t>
            </a:r>
            <a:br>
              <a:rPr lang="en-US" sz="4800" dirty="0"/>
            </a:br>
            <a:r>
              <a:rPr lang="en-US" sz="4800" dirty="0"/>
              <a:t>Exam Exercises</a:t>
            </a:r>
          </a:p>
        </p:txBody>
      </p:sp>
      <p:sp>
        <p:nvSpPr>
          <p:cNvPr id="3" name="Subtitle 2">
            <a:extLst>
              <a:ext uri="{FF2B5EF4-FFF2-40B4-BE49-F238E27FC236}">
                <a16:creationId xmlns:a16="http://schemas.microsoft.com/office/drawing/2014/main" id="{1804B053-88E2-6F47-B5CB-F0B21DD687A8}"/>
              </a:ext>
            </a:extLst>
          </p:cNvPr>
          <p:cNvSpPr>
            <a:spLocks noGrp="1"/>
          </p:cNvSpPr>
          <p:nvPr>
            <p:ph type="subTitle" idx="1"/>
          </p:nvPr>
        </p:nvSpPr>
        <p:spPr>
          <a:xfrm>
            <a:off x="2480733" y="3903138"/>
            <a:ext cx="7219954" cy="1049867"/>
          </a:xfrm>
        </p:spPr>
        <p:txBody>
          <a:bodyPr>
            <a:normAutofit/>
          </a:bodyPr>
          <a:lstStyle/>
          <a:p>
            <a:r>
              <a:rPr lang="en-US" dirty="0">
                <a:solidFill>
                  <a:srgbClr val="20D1FF"/>
                </a:solidFill>
              </a:rPr>
              <a:t>Dr </a:t>
            </a:r>
            <a:r>
              <a:rPr lang="en-US" dirty="0" err="1">
                <a:solidFill>
                  <a:srgbClr val="20D1FF"/>
                </a:solidFill>
              </a:rPr>
              <a:t>Zhi</a:t>
            </a:r>
            <a:r>
              <a:rPr lang="en-US" dirty="0">
                <a:solidFill>
                  <a:srgbClr val="20D1FF"/>
                </a:solidFill>
              </a:rPr>
              <a:t> Zhang</a:t>
            </a:r>
          </a:p>
        </p:txBody>
      </p:sp>
    </p:spTree>
    <p:extLst>
      <p:ext uri="{BB962C8B-B14F-4D97-AF65-F5344CB8AC3E}">
        <p14:creationId xmlns:p14="http://schemas.microsoft.com/office/powerpoint/2010/main" val="1077586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67693E-A48F-4F32-8586-A906B0CE6024}"/>
              </a:ext>
            </a:extLst>
          </p:cNvPr>
          <p:cNvSpPr>
            <a:spLocks noGrp="1"/>
          </p:cNvSpPr>
          <p:nvPr>
            <p:ph idx="1"/>
          </p:nvPr>
        </p:nvSpPr>
        <p:spPr>
          <a:xfrm>
            <a:off x="284480" y="943840"/>
            <a:ext cx="11397447" cy="4562879"/>
          </a:xfrm>
        </p:spPr>
        <p:txBody>
          <a:bodyPr>
            <a:normAutofit/>
          </a:bodyPr>
          <a:lstStyle/>
          <a:p>
            <a:r>
              <a:rPr lang="en-AU" sz="2800" dirty="0"/>
              <a:t>Project</a:t>
            </a:r>
          </a:p>
          <a:p>
            <a:pPr lvl="1"/>
            <a:r>
              <a:rPr lang="en-US" sz="2600" dirty="0">
                <a:solidFill>
                  <a:schemeClr val="accent1"/>
                </a:solidFill>
              </a:rPr>
              <a:t>The project and its report are due at 11:59 PM on May 19</a:t>
            </a:r>
            <a:r>
              <a:rPr lang="en-US" sz="2400" b="0" i="0" dirty="0">
                <a:solidFill>
                  <a:srgbClr val="1C1D1F"/>
                </a:solidFill>
                <a:effectLst/>
                <a:latin typeface="__Inter_a923d8"/>
              </a:rPr>
              <a:t>.</a:t>
            </a:r>
          </a:p>
          <a:p>
            <a:pPr lvl="1"/>
            <a:r>
              <a:rPr lang="en-AU" sz="2600" dirty="0">
                <a:solidFill>
                  <a:schemeClr val="accent1"/>
                </a:solidFill>
                <a:effectLst>
                  <a:outerShdw blurRad="38100" dist="38100" dir="2700000" algn="tl">
                    <a:srgbClr val="000000">
                      <a:alpha val="43137"/>
                    </a:srgbClr>
                  </a:outerShdw>
                </a:effectLst>
              </a:rPr>
              <a:t>https://uwacyber.gitbook.io/cits1003/cits1003-project/overview</a:t>
            </a:r>
            <a:endParaRPr lang="en-AU" sz="2600" dirty="0">
              <a:solidFill>
                <a:schemeClr val="accent1"/>
              </a:solidFill>
            </a:endParaRPr>
          </a:p>
          <a:p>
            <a:pPr lvl="1"/>
            <a:r>
              <a:rPr lang="en-AU" sz="2600" dirty="0">
                <a:solidFill>
                  <a:schemeClr val="accent1"/>
                </a:solidFill>
              </a:rPr>
              <a:t>https://docs.google.com/document/d/1wlSfCf2KAC-q_y_hm7Ss0brH23rOGXOoydB7ewdm8sU/edit?usp=sharing</a:t>
            </a:r>
          </a:p>
          <a:p>
            <a:pPr lvl="1"/>
            <a:endParaRPr lang="en-AU" sz="2600" dirty="0">
              <a:solidFill>
                <a:schemeClr val="accent1"/>
              </a:solidFill>
            </a:endParaRPr>
          </a:p>
          <a:p>
            <a:r>
              <a:rPr lang="en-AU" sz="2800" dirty="0"/>
              <a:t>Exam</a:t>
            </a:r>
          </a:p>
          <a:p>
            <a:pPr marL="36900" indent="0">
              <a:buNone/>
            </a:pPr>
            <a:endParaRPr lang="en-AU" dirty="0"/>
          </a:p>
        </p:txBody>
      </p:sp>
    </p:spTree>
    <p:extLst>
      <p:ext uri="{BB962C8B-B14F-4D97-AF65-F5344CB8AC3E}">
        <p14:creationId xmlns:p14="http://schemas.microsoft.com/office/powerpoint/2010/main" val="1836985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919119" y="93306"/>
            <a:ext cx="10353762" cy="725844"/>
          </a:xfrm>
        </p:spPr>
        <p:txBody>
          <a:bodyPr/>
          <a:lstStyle/>
          <a:p>
            <a:r>
              <a:rPr lang="en-AU" dirty="0"/>
              <a:t>Exam Format</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589944" y="1068742"/>
            <a:ext cx="10897206" cy="5053762"/>
          </a:xfrm>
        </p:spPr>
        <p:txBody>
          <a:bodyPr>
            <a:normAutofit/>
          </a:bodyPr>
          <a:lstStyle/>
          <a:p>
            <a:r>
              <a:rPr lang="en-AU" sz="2800" dirty="0"/>
              <a:t>The exam </a:t>
            </a:r>
            <a:r>
              <a:rPr lang="en-US" altLang="zh-CN" sz="2800" dirty="0"/>
              <a:t>is F2F and </a:t>
            </a:r>
            <a:r>
              <a:rPr lang="en-AU" sz="2800" dirty="0"/>
              <a:t>has a time limit of 2 hours.</a:t>
            </a:r>
          </a:p>
          <a:p>
            <a:r>
              <a:rPr lang="en-AU" sz="2800" dirty="0"/>
              <a:t>The exam is marked out of 100 points and is worth 50% of the overall unit mark.</a:t>
            </a:r>
          </a:p>
          <a:p>
            <a:r>
              <a:rPr lang="en-AU" sz="2800" dirty="0"/>
              <a:t>The exam is open book: any printed or written materials are allowed. </a:t>
            </a:r>
          </a:p>
          <a:p>
            <a:r>
              <a:rPr lang="en-AU" sz="2800" dirty="0">
                <a:effectLst/>
              </a:rPr>
              <a:t>UWA approved calculators with stickers are permitted.</a:t>
            </a:r>
            <a:endParaRPr lang="en-AU" sz="2800" dirty="0"/>
          </a:p>
        </p:txBody>
      </p:sp>
    </p:spTree>
    <p:extLst>
      <p:ext uri="{BB962C8B-B14F-4D97-AF65-F5344CB8AC3E}">
        <p14:creationId xmlns:p14="http://schemas.microsoft.com/office/powerpoint/2010/main" val="1112541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919119" y="93306"/>
            <a:ext cx="10353762" cy="725844"/>
          </a:xfrm>
        </p:spPr>
        <p:txBody>
          <a:bodyPr/>
          <a:lstStyle/>
          <a:p>
            <a:r>
              <a:rPr lang="en-AU" dirty="0"/>
              <a:t>Exam Instructions</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16676" y="878242"/>
            <a:ext cx="12175324" cy="5560658"/>
          </a:xfrm>
        </p:spPr>
        <p:txBody>
          <a:bodyPr>
            <a:normAutofit/>
          </a:bodyPr>
          <a:lstStyle/>
          <a:p>
            <a:r>
              <a:rPr lang="en-AU" sz="2800" dirty="0"/>
              <a:t>For F2F exam :</a:t>
            </a:r>
          </a:p>
          <a:p>
            <a:pPr lvl="1"/>
            <a:r>
              <a:rPr lang="en-AU" sz="2800" dirty="0"/>
              <a:t>You will be provided with an answer booklet</a:t>
            </a:r>
          </a:p>
          <a:p>
            <a:pPr lvl="1"/>
            <a:r>
              <a:rPr lang="en-AU" sz="2800" dirty="0"/>
              <a:t>You should clearly state which questions of the final exam you are answering.</a:t>
            </a:r>
          </a:p>
          <a:p>
            <a:pPr lvl="1"/>
            <a:r>
              <a:rPr lang="en-AU" sz="2800" dirty="0"/>
              <a:t>Please do NOT use a pencil or a red pen.</a:t>
            </a:r>
          </a:p>
          <a:p>
            <a:pPr lvl="1"/>
            <a:r>
              <a:rPr lang="en-AU" sz="2800" dirty="0"/>
              <a:t>Please use readable handwriting. What cannot be read cannot be marked.</a:t>
            </a:r>
          </a:p>
          <a:p>
            <a:endParaRPr lang="en-AU" sz="2800" dirty="0"/>
          </a:p>
          <a:p>
            <a:pPr marL="36900" indent="0">
              <a:buNone/>
            </a:pPr>
            <a:endParaRPr lang="en-AU" dirty="0"/>
          </a:p>
        </p:txBody>
      </p:sp>
    </p:spTree>
    <p:extLst>
      <p:ext uri="{BB962C8B-B14F-4D97-AF65-F5344CB8AC3E}">
        <p14:creationId xmlns:p14="http://schemas.microsoft.com/office/powerpoint/2010/main" val="1306094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919118" y="168196"/>
            <a:ext cx="10353762" cy="843396"/>
          </a:xfrm>
        </p:spPr>
        <p:txBody>
          <a:bodyPr>
            <a:normAutofit/>
          </a:bodyPr>
          <a:lstStyle/>
          <a:p>
            <a:r>
              <a:rPr lang="en-AU" sz="3600" dirty="0"/>
              <a:t>Exam Content</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186512" y="1153036"/>
            <a:ext cx="11818975" cy="5374888"/>
          </a:xfrm>
        </p:spPr>
        <p:txBody>
          <a:bodyPr>
            <a:noAutofit/>
          </a:bodyPr>
          <a:lstStyle/>
          <a:p>
            <a:r>
              <a:rPr lang="en-AU" sz="2400" dirty="0"/>
              <a:t>Basic Unit Information (5 marks only)</a:t>
            </a:r>
          </a:p>
        </p:txBody>
      </p:sp>
    </p:spTree>
    <p:extLst>
      <p:ext uri="{BB962C8B-B14F-4D97-AF65-F5344CB8AC3E}">
        <p14:creationId xmlns:p14="http://schemas.microsoft.com/office/powerpoint/2010/main" val="4009072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919118" y="168196"/>
            <a:ext cx="10353762" cy="843396"/>
          </a:xfrm>
        </p:spPr>
        <p:txBody>
          <a:bodyPr>
            <a:normAutofit/>
          </a:bodyPr>
          <a:lstStyle/>
          <a:p>
            <a:r>
              <a:rPr lang="en-AU" sz="3600" dirty="0"/>
              <a:t>Exam Content</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186512" y="1153036"/>
            <a:ext cx="11818975" cy="5374888"/>
          </a:xfrm>
        </p:spPr>
        <p:txBody>
          <a:bodyPr>
            <a:noAutofit/>
          </a:bodyPr>
          <a:lstStyle/>
          <a:p>
            <a:r>
              <a:rPr lang="en-AU" sz="2400" dirty="0"/>
              <a:t>Basic Unit Information (5 marks only)</a:t>
            </a:r>
          </a:p>
          <a:p>
            <a:r>
              <a:rPr lang="en-AU" sz="2400" dirty="0"/>
              <a:t>7 themed questions in 6 topics</a:t>
            </a:r>
          </a:p>
          <a:p>
            <a:pPr lvl="1"/>
            <a:r>
              <a:rPr lang="en-AU" sz="2400" dirty="0"/>
              <a:t>AI in cybersecurity (live-lecture)</a:t>
            </a:r>
          </a:p>
          <a:p>
            <a:pPr lvl="1"/>
            <a:r>
              <a:rPr lang="en-AU" sz="2400" dirty="0"/>
              <a:t>Cyber concepts in </a:t>
            </a:r>
            <a:r>
              <a:rPr lang="en-AU" sz="2400" b="1" dirty="0"/>
              <a:t>Week1’s</a:t>
            </a:r>
            <a:r>
              <a:rPr lang="zh-CN" altLang="en-US" sz="2400" b="1" dirty="0"/>
              <a:t> </a:t>
            </a:r>
            <a:r>
              <a:rPr lang="en-AU" altLang="zh-CN" sz="2400" b="1" dirty="0"/>
              <a:t>live</a:t>
            </a:r>
            <a:r>
              <a:rPr lang="zh-CN" altLang="en-US" sz="2400" b="1" dirty="0"/>
              <a:t> </a:t>
            </a:r>
            <a:r>
              <a:rPr lang="en-AU" altLang="zh-CN" sz="2400" b="1" dirty="0"/>
              <a:t>lecture</a:t>
            </a:r>
            <a:r>
              <a:rPr lang="en-AU" sz="2400" b="1" dirty="0"/>
              <a:t> </a:t>
            </a:r>
            <a:r>
              <a:rPr lang="en-AU" sz="2400" dirty="0"/>
              <a:t>with a Linux command from </a:t>
            </a:r>
            <a:r>
              <a:rPr lang="en-AU" sz="2400" b="1" dirty="0"/>
              <a:t>S</a:t>
            </a:r>
            <a:r>
              <a:rPr lang="en-US" altLang="zh-CN" sz="2400" b="1" dirty="0"/>
              <a:t>ection1.3 in</a:t>
            </a:r>
            <a:r>
              <a:rPr lang="en-AU" sz="2400" b="1" dirty="0"/>
              <a:t> Lab3</a:t>
            </a:r>
            <a:r>
              <a:rPr lang="en-AU" sz="2400" dirty="0"/>
              <a:t> </a:t>
            </a:r>
          </a:p>
          <a:p>
            <a:pPr lvl="1"/>
            <a:r>
              <a:rPr lang="en-AU" sz="2400" dirty="0"/>
              <a:t>Cryptography (pre-recorded videos and live-lecture)</a:t>
            </a:r>
          </a:p>
          <a:p>
            <a:pPr lvl="1"/>
            <a:r>
              <a:rPr lang="en-AU" sz="2400" dirty="0"/>
              <a:t>Threats (live-lecture)</a:t>
            </a:r>
          </a:p>
          <a:p>
            <a:pPr lvl="1"/>
            <a:r>
              <a:rPr lang="en-AU" sz="2400" dirty="0"/>
              <a:t>Vulnerabilities (pre-recorded videos and live-lecture), with a Linux command from </a:t>
            </a:r>
            <a:r>
              <a:rPr lang="en-AU" sz="2400" b="1" dirty="0"/>
              <a:t>Sections 2-3 in Lab4</a:t>
            </a:r>
          </a:p>
          <a:p>
            <a:pPr lvl="1"/>
            <a:r>
              <a:rPr lang="en-AU" sz="2400" dirty="0"/>
              <a:t>Incidents (live-lecture)</a:t>
            </a:r>
          </a:p>
        </p:txBody>
      </p:sp>
    </p:spTree>
    <p:extLst>
      <p:ext uri="{BB962C8B-B14F-4D97-AF65-F5344CB8AC3E}">
        <p14:creationId xmlns:p14="http://schemas.microsoft.com/office/powerpoint/2010/main" val="3730813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919118" y="-1860"/>
            <a:ext cx="10353762" cy="843396"/>
          </a:xfrm>
        </p:spPr>
        <p:txBody>
          <a:bodyPr>
            <a:normAutofit/>
          </a:bodyPr>
          <a:lstStyle/>
          <a:p>
            <a:r>
              <a:rPr lang="en-AU" sz="3600" dirty="0"/>
              <a:t>Exam Content</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186512" y="741556"/>
            <a:ext cx="11818975" cy="5374888"/>
          </a:xfrm>
        </p:spPr>
        <p:txBody>
          <a:bodyPr>
            <a:noAutofit/>
          </a:bodyPr>
          <a:lstStyle/>
          <a:p>
            <a:r>
              <a:rPr lang="en-AU" sz="2600" dirty="0"/>
              <a:t>Slides for pre-recorded videos: </a:t>
            </a:r>
          </a:p>
          <a:p>
            <a:pPr marL="450000" lvl="1" indent="0">
              <a:buNone/>
            </a:pPr>
            <a:r>
              <a:rPr lang="en-AU" sz="2600" dirty="0"/>
              <a:t>https://github.com/uwacyber/cits1003/tree/2022s1/cits1003-lecture_slides/past-slides</a:t>
            </a:r>
          </a:p>
          <a:p>
            <a:r>
              <a:rPr lang="en-AU" sz="2600" dirty="0"/>
              <a:t>A themed question describes a scenario where 2-3 questions are asked </a:t>
            </a:r>
          </a:p>
          <a:p>
            <a:r>
              <a:rPr lang="en-AU" sz="2400" dirty="0"/>
              <a:t>Demos in the live lectures will NOT be examined</a:t>
            </a:r>
          </a:p>
        </p:txBody>
      </p:sp>
    </p:spTree>
    <p:extLst>
      <p:ext uri="{BB962C8B-B14F-4D97-AF65-F5344CB8AC3E}">
        <p14:creationId xmlns:p14="http://schemas.microsoft.com/office/powerpoint/2010/main" val="2084434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729933" y="-1287"/>
            <a:ext cx="10353762" cy="843396"/>
          </a:xfrm>
        </p:spPr>
        <p:txBody>
          <a:bodyPr/>
          <a:lstStyle/>
          <a:p>
            <a:r>
              <a:rPr lang="en-AU" dirty="0"/>
              <a:t>Exam Content (</a:t>
            </a:r>
            <a:r>
              <a:rPr lang="en-AU" dirty="0">
                <a:solidFill>
                  <a:srgbClr val="FF0000"/>
                </a:solidFill>
              </a:rPr>
              <a:t>Deferred</a:t>
            </a:r>
            <a:r>
              <a:rPr lang="en-AU" dirty="0"/>
              <a:t>)</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186512" y="936702"/>
            <a:ext cx="11818975" cy="5374888"/>
          </a:xfrm>
        </p:spPr>
        <p:txBody>
          <a:bodyPr>
            <a:noAutofit/>
          </a:bodyPr>
          <a:lstStyle/>
          <a:p>
            <a:r>
              <a:rPr lang="en-AU" sz="2600" dirty="0"/>
              <a:t>TBA</a:t>
            </a:r>
          </a:p>
        </p:txBody>
      </p:sp>
    </p:spTree>
    <p:extLst>
      <p:ext uri="{BB962C8B-B14F-4D97-AF65-F5344CB8AC3E}">
        <p14:creationId xmlns:p14="http://schemas.microsoft.com/office/powerpoint/2010/main" val="35181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29540"/>
            <a:ext cx="10353762" cy="543791"/>
          </a:xfrm>
        </p:spPr>
        <p:txBody>
          <a:bodyPr>
            <a:normAutofit fontScale="90000"/>
          </a:bodyPr>
          <a:lstStyle/>
          <a:p>
            <a:r>
              <a:rPr lang="en-AU" dirty="0"/>
              <a:t>Example Question 1</a:t>
            </a:r>
          </a:p>
        </p:txBody>
      </p:sp>
      <p:sp>
        <p:nvSpPr>
          <p:cNvPr id="7" name="TextBox 6">
            <a:extLst>
              <a:ext uri="{FF2B5EF4-FFF2-40B4-BE49-F238E27FC236}">
                <a16:creationId xmlns:a16="http://schemas.microsoft.com/office/drawing/2014/main" id="{75E0A5E3-B5A7-40C6-9FE8-508ABF9E1458}"/>
              </a:ext>
            </a:extLst>
          </p:cNvPr>
          <p:cNvSpPr txBox="1"/>
          <p:nvPr/>
        </p:nvSpPr>
        <p:spPr>
          <a:xfrm>
            <a:off x="266007" y="793611"/>
            <a:ext cx="11720945" cy="4493538"/>
          </a:xfrm>
          <a:prstGeom prst="rect">
            <a:avLst/>
          </a:prstGeom>
          <a:noFill/>
        </p:spPr>
        <p:txBody>
          <a:bodyPr wrap="square">
            <a:spAutoFit/>
          </a:bodyPr>
          <a:lstStyle/>
          <a:p>
            <a:pPr fontAlgn="base"/>
            <a:r>
              <a:rPr lang="en-US"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You are a malicious actor wanting to physically infiltrate the corporate headquarters of Company X. To do so, you will need to bypass the security camera system installed at the front door (the front door is the only way in). The camera system records video footage of people coming into the building and based on this, determines whether or not they have proper access. You do not know the specifics of the system, but you are at least certain that AI facial recognition is involved in identifying individuals. You thus begin to devise adversarial attack strategies to circumvent the system and gain illegal access to the building.</a:t>
            </a:r>
            <a:endPar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fontAlgn="base"/>
            <a:endPar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fontAlgn="base"/>
            <a:r>
              <a:rPr lang="en-US"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a:t>
            </a:r>
            <a:r>
              <a:rPr lang="en-US"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Would this strategy be a white-box or a black-box attack? Justify your answer.</a:t>
            </a:r>
          </a:p>
          <a:p>
            <a:pPr rtl="0">
              <a:spcBef>
                <a:spcPts val="0"/>
              </a:spcBef>
              <a:spcAft>
                <a:spcPts val="0"/>
              </a:spcAft>
            </a:pPr>
            <a:r>
              <a:rPr lang="en-AU"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US"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[3 marks] Design an adversarial attack that can negatively affect the AI model in its prediction capabilities. Justify your design. </a:t>
            </a:r>
            <a:br>
              <a:rPr lang="en-US"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br>
            <a:r>
              <a:rPr lang="en-US"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a:t>
            </a:r>
            <a:r>
              <a:rPr lang="en-US"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[3 marks] Describe 3 possible challenges in devising mitigations against adversarial attacks for this system in the long-term.</a:t>
            </a:r>
            <a:endPar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182683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1257300"/>
          </a:xfrm>
        </p:spPr>
        <p:txBody>
          <a:bodyPr/>
          <a:lstStyle/>
          <a:p>
            <a:r>
              <a:rPr lang="en-AU" dirty="0"/>
              <a:t>Example Question 1</a:t>
            </a:r>
          </a:p>
        </p:txBody>
      </p:sp>
      <p:sp>
        <p:nvSpPr>
          <p:cNvPr id="7" name="TextBox 6">
            <a:extLst>
              <a:ext uri="{FF2B5EF4-FFF2-40B4-BE49-F238E27FC236}">
                <a16:creationId xmlns:a16="http://schemas.microsoft.com/office/drawing/2014/main" id="{75E0A5E3-B5A7-40C6-9FE8-508ABF9E1458}"/>
              </a:ext>
            </a:extLst>
          </p:cNvPr>
          <p:cNvSpPr txBox="1"/>
          <p:nvPr/>
        </p:nvSpPr>
        <p:spPr>
          <a:xfrm>
            <a:off x="381779" y="1295400"/>
            <a:ext cx="11039907" cy="1384995"/>
          </a:xfrm>
          <a:prstGeom prst="rect">
            <a:avLst/>
          </a:prstGeom>
          <a:noFill/>
        </p:spPr>
        <p:txBody>
          <a:bodyPr wrap="square">
            <a:spAutoFit/>
          </a:bodyPr>
          <a:lstStyle/>
          <a:p>
            <a:pPr fontAlgn="base"/>
            <a:r>
              <a:rPr lang="en-US"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Would this strategy be a white-box or a black-box attack? Justify your answer</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a:t>
            </a:r>
          </a:p>
          <a:p>
            <a:pPr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967945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1257300"/>
          </a:xfrm>
        </p:spPr>
        <p:txBody>
          <a:bodyPr/>
          <a:lstStyle/>
          <a:p>
            <a:r>
              <a:rPr lang="en-AU" dirty="0"/>
              <a:t>Example Question 1</a:t>
            </a:r>
          </a:p>
        </p:txBody>
      </p:sp>
      <p:sp>
        <p:nvSpPr>
          <p:cNvPr id="7" name="TextBox 6">
            <a:extLst>
              <a:ext uri="{FF2B5EF4-FFF2-40B4-BE49-F238E27FC236}">
                <a16:creationId xmlns:a16="http://schemas.microsoft.com/office/drawing/2014/main" id="{75E0A5E3-B5A7-40C6-9FE8-508ABF9E1458}"/>
              </a:ext>
            </a:extLst>
          </p:cNvPr>
          <p:cNvSpPr txBox="1"/>
          <p:nvPr/>
        </p:nvSpPr>
        <p:spPr>
          <a:xfrm>
            <a:off x="381779" y="1295400"/>
            <a:ext cx="11439160" cy="3108543"/>
          </a:xfrm>
          <a:prstGeom prst="rect">
            <a:avLst/>
          </a:prstGeom>
          <a:noFill/>
        </p:spPr>
        <p:txBody>
          <a:bodyPr wrap="square">
            <a:spAutoFit/>
          </a:bodyPr>
          <a:lstStyle/>
          <a:p>
            <a:pPr fontAlgn="base"/>
            <a:r>
              <a:rPr lang="en-US"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Would this strategy be a white-box or a black-box attack? Justify your answer</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a:t>
            </a:r>
          </a:p>
          <a:p>
            <a:pPr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rtl="0">
              <a:spcBef>
                <a:spcPts val="0"/>
              </a:spcBef>
              <a:spcAft>
                <a:spcPts val="0"/>
              </a:spcAft>
            </a:pPr>
            <a:r>
              <a:rPr lang="en-US"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black box</a:t>
            </a:r>
          </a:p>
          <a:p>
            <a:pPr rtl="0">
              <a:spcBef>
                <a:spcPts val="0"/>
              </a:spcBef>
              <a:spcAft>
                <a:spcPts val="0"/>
              </a:spcAft>
            </a:pPr>
            <a:r>
              <a:rPr lang="en-US"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we have no knowledge of how the AI system works including its model architecture, parameters and training dataset.</a:t>
            </a:r>
            <a:br>
              <a:rPr lang="en-US" sz="2800" dirty="0"/>
            </a:br>
            <a:endParaRPr lang="en-AU" sz="2800" dirty="0">
              <a:effectLst/>
              <a:ea typeface="Times New Roman" panose="02020603050405020304" pitchFamily="18" charset="0"/>
            </a:endParaRPr>
          </a:p>
        </p:txBody>
      </p:sp>
    </p:spTree>
    <p:extLst>
      <p:ext uri="{BB962C8B-B14F-4D97-AF65-F5344CB8AC3E}">
        <p14:creationId xmlns:p14="http://schemas.microsoft.com/office/powerpoint/2010/main" val="3427740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1257300"/>
          </a:xfrm>
        </p:spPr>
        <p:txBody>
          <a:bodyPr/>
          <a:lstStyle/>
          <a:p>
            <a:r>
              <a:rPr lang="en-AU" dirty="0"/>
              <a:t>Example Question 1</a:t>
            </a:r>
          </a:p>
        </p:txBody>
      </p:sp>
      <p:sp>
        <p:nvSpPr>
          <p:cNvPr id="7" name="TextBox 6">
            <a:extLst>
              <a:ext uri="{FF2B5EF4-FFF2-40B4-BE49-F238E27FC236}">
                <a16:creationId xmlns:a16="http://schemas.microsoft.com/office/drawing/2014/main" id="{75E0A5E3-B5A7-40C6-9FE8-508ABF9E1458}"/>
              </a:ext>
            </a:extLst>
          </p:cNvPr>
          <p:cNvSpPr txBox="1"/>
          <p:nvPr/>
        </p:nvSpPr>
        <p:spPr>
          <a:xfrm>
            <a:off x="381779" y="1295400"/>
            <a:ext cx="11039907" cy="954107"/>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[3 marks] Design an adversarial attack that can negatively affect the AI model in its prediction capabilities. Justify your design.</a:t>
            </a:r>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3288724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1257300"/>
          </a:xfrm>
        </p:spPr>
        <p:txBody>
          <a:bodyPr/>
          <a:lstStyle/>
          <a:p>
            <a:r>
              <a:rPr lang="en-AU" dirty="0"/>
              <a:t>Example Question 1</a:t>
            </a:r>
          </a:p>
        </p:txBody>
      </p:sp>
      <p:sp>
        <p:nvSpPr>
          <p:cNvPr id="4" name="TextBox 3">
            <a:extLst>
              <a:ext uri="{FF2B5EF4-FFF2-40B4-BE49-F238E27FC236}">
                <a16:creationId xmlns:a16="http://schemas.microsoft.com/office/drawing/2014/main" id="{B60C46B0-C120-4431-98AB-2D674C3631DB}"/>
              </a:ext>
            </a:extLst>
          </p:cNvPr>
          <p:cNvSpPr txBox="1"/>
          <p:nvPr/>
        </p:nvSpPr>
        <p:spPr>
          <a:xfrm>
            <a:off x="381779" y="1365295"/>
            <a:ext cx="11439160" cy="4832092"/>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[3 marks] Design an adversarial attack that can negatively affect the AI model in its prediction capabilities. Justify your design</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a:t>
            </a:r>
          </a:p>
          <a:p>
            <a:pPr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r>
              <a:rPr lang="en-US"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a reasonable design (such as creating distortions) with an example (such as makeup).</a:t>
            </a:r>
          </a:p>
          <a:p>
            <a:pPr rtl="0">
              <a:spcBef>
                <a:spcPts val="0"/>
              </a:spcBef>
              <a:spcAft>
                <a:spcPts val="0"/>
              </a:spcAft>
            </a:pPr>
            <a:r>
              <a:rPr lang="en-US"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the impact of the design on the AI system: the system will misidentify the attacker as an authorized individual or simply fail to recognize a face at all</a:t>
            </a:r>
          </a:p>
          <a:p>
            <a:br>
              <a:rPr lang="en-US" sz="2800" dirty="0"/>
            </a:br>
            <a:br>
              <a:rPr lang="en-US" sz="2800" dirty="0"/>
            </a:br>
            <a:endParaRPr lang="en-AU" sz="2800" dirty="0">
              <a:effectLst/>
              <a:ea typeface="Times New Roman" panose="02020603050405020304" pitchFamily="18" charset="0"/>
            </a:endParaRPr>
          </a:p>
        </p:txBody>
      </p:sp>
    </p:spTree>
    <p:extLst>
      <p:ext uri="{BB962C8B-B14F-4D97-AF65-F5344CB8AC3E}">
        <p14:creationId xmlns:p14="http://schemas.microsoft.com/office/powerpoint/2010/main" val="2129605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1257300"/>
          </a:xfrm>
        </p:spPr>
        <p:txBody>
          <a:bodyPr/>
          <a:lstStyle/>
          <a:p>
            <a:r>
              <a:rPr lang="en-AU" dirty="0"/>
              <a:t>Example Question 1</a:t>
            </a:r>
          </a:p>
        </p:txBody>
      </p:sp>
      <p:sp>
        <p:nvSpPr>
          <p:cNvPr id="7" name="TextBox 6">
            <a:extLst>
              <a:ext uri="{FF2B5EF4-FFF2-40B4-BE49-F238E27FC236}">
                <a16:creationId xmlns:a16="http://schemas.microsoft.com/office/drawing/2014/main" id="{75E0A5E3-B5A7-40C6-9FE8-508ABF9E1458}"/>
              </a:ext>
            </a:extLst>
          </p:cNvPr>
          <p:cNvSpPr txBox="1"/>
          <p:nvPr/>
        </p:nvSpPr>
        <p:spPr>
          <a:xfrm>
            <a:off x="381779" y="1295400"/>
            <a:ext cx="11039907" cy="954107"/>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[3 marks] Describe 3 possible challenges in devising mitigations against adversarial attacks for this system in the long-term.</a:t>
            </a:r>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14210172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1077778"/>
          </a:xfrm>
        </p:spPr>
        <p:txBody>
          <a:bodyPr/>
          <a:lstStyle/>
          <a:p>
            <a:r>
              <a:rPr lang="en-AU" dirty="0"/>
              <a:t>Example Question 1</a:t>
            </a:r>
          </a:p>
        </p:txBody>
      </p:sp>
      <p:sp>
        <p:nvSpPr>
          <p:cNvPr id="4" name="TextBox 3">
            <a:extLst>
              <a:ext uri="{FF2B5EF4-FFF2-40B4-BE49-F238E27FC236}">
                <a16:creationId xmlns:a16="http://schemas.microsoft.com/office/drawing/2014/main" id="{B60C46B0-C120-4431-98AB-2D674C3631DB}"/>
              </a:ext>
            </a:extLst>
          </p:cNvPr>
          <p:cNvSpPr txBox="1"/>
          <p:nvPr/>
        </p:nvSpPr>
        <p:spPr>
          <a:xfrm>
            <a:off x="376420" y="1115878"/>
            <a:ext cx="11439160" cy="5447645"/>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[3 marks] Describe 3 possible challenges in devising mitigations against adversarial attacks for this system in the long-term.</a:t>
            </a:r>
          </a:p>
          <a:p>
            <a:pPr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rtl="0">
              <a:spcBef>
                <a:spcPts val="0"/>
              </a:spcBef>
              <a:spcAft>
                <a:spcPts val="0"/>
              </a:spcAft>
            </a:pPr>
            <a:r>
              <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The trade-off between security and user convenience: Implementing more stringent security measures may increase the system's resilience to attacks but could also make it more cumbersome for authorized users to access the building.</a:t>
            </a:r>
          </a:p>
          <a:p>
            <a:pPr rtl="0">
              <a:spcBef>
                <a:spcPts val="0"/>
              </a:spcBef>
              <a:spcAft>
                <a:spcPts val="0"/>
              </a:spcAft>
            </a:pPr>
            <a:endPar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endParaRPr>
          </a:p>
          <a:p>
            <a:pPr rtl="0">
              <a:spcBef>
                <a:spcPts val="0"/>
              </a:spcBef>
              <a:spcAft>
                <a:spcPts val="0"/>
              </a:spcAft>
            </a:pPr>
            <a:r>
              <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The complexity and resource requirements of maintaining a robust AI system: regularly updating the AI's training data, implementing new defenses, and monitoring the system can be time-consuming and resource-intensive.</a:t>
            </a:r>
          </a:p>
          <a:p>
            <a:pPr rtl="0">
              <a:spcBef>
                <a:spcPts val="0"/>
              </a:spcBef>
              <a:spcAft>
                <a:spcPts val="0"/>
              </a:spcAft>
            </a:pPr>
            <a:endPar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endParaRPr>
          </a:p>
          <a:p>
            <a:pPr rtl="0">
              <a:spcBef>
                <a:spcPts val="0"/>
              </a:spcBef>
              <a:spcAft>
                <a:spcPts val="0"/>
              </a:spcAft>
            </a:pPr>
            <a:r>
              <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Updates or modifications to the system can inadvertently introduce new vulnerabilities to the system.</a:t>
            </a:r>
          </a:p>
          <a:p>
            <a:endPar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1834362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49598" y="218826"/>
            <a:ext cx="10353762" cy="543791"/>
          </a:xfrm>
        </p:spPr>
        <p:txBody>
          <a:bodyPr>
            <a:normAutofit fontScale="90000"/>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266007" y="933136"/>
            <a:ext cx="11720945" cy="5047536"/>
          </a:xfrm>
          <a:prstGeom prst="rect">
            <a:avLst/>
          </a:prstGeom>
          <a:noFill/>
        </p:spPr>
        <p:txBody>
          <a:bodyPr wrap="square">
            <a:spAutoFit/>
          </a:bodyPr>
          <a:lstStyle/>
          <a:p>
            <a:pPr fontAlgn="base"/>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Dirty COW (Dirty copy-on-write) is a computer security vulnerability for the Linux kernel that affected many Linux-based operating systems. It is a local privilege escalation bug that exploits a race condition in the implementation of the copy-on-write mechanism in the kernel's memory-management subsystem. The exploit allows an attacker to obtain root permissions on a Linux device, also known as privilege escalation. </a:t>
            </a:r>
          </a:p>
          <a:p>
            <a:pPr fontAlgn="base"/>
            <a:endPar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fontAlgn="base"/>
            <a:r>
              <a:rPr lang="en-AU"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[4 marks] Describe TWO malicious actions that an attacker with root permissions gained through privilege escalation can perform. Include the associated </a:t>
            </a:r>
            <a:r>
              <a:rPr lang="en-AU" sz="2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linux</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commands for each action, or the commands at each step of the action.</a:t>
            </a:r>
          </a:p>
          <a:p>
            <a:pPr fontAlgn="base"/>
            <a:r>
              <a:rPr lang="en-AU"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[4 marks] What do these directories contain?</a:t>
            </a:r>
          </a:p>
          <a:p>
            <a:pPr marL="228600" fontAlgn="base"/>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AU" sz="2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usr</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/local</a:t>
            </a:r>
          </a:p>
          <a:p>
            <a:pPr marL="228600" fontAlgn="base"/>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/opt</a:t>
            </a:r>
          </a:p>
          <a:p>
            <a:pPr fontAlgn="base"/>
            <a:r>
              <a:rPr lang="en-AU"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 </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[2 marks] Write a command to find all files that start with the string "host" (e.g., host123.txt, </a:t>
            </a:r>
            <a:r>
              <a:rPr lang="en-AU" sz="2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host_cmd.conf</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hostname, etc.) located in the currently logged-in user’s home directory.</a:t>
            </a:r>
          </a:p>
          <a:p>
            <a:pPr fontAlgn="base"/>
            <a:r>
              <a:rPr lang="en-AU"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4</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Assume there is a file named “cits1003.txt” located in the home directory of the currently logged-in user. Write two separate Linux commands: one displays the contents of the file, and the other renames the file to 1003.txt (keeping it in the same directory).</a:t>
            </a:r>
            <a:endPar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2109811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1257300"/>
          </a:xfrm>
        </p:spPr>
        <p:txBody>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381779" y="1295400"/>
            <a:ext cx="11410171" cy="2246769"/>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[4 marks] Describe TWO malicious actions that an attacker with root permissions gained through privilege escalation can perform. Include the associated </a:t>
            </a:r>
            <a:r>
              <a:rPr lang="en-AU" sz="28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linux</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commands for each action, or the commands at each step of the action.</a:t>
            </a:r>
          </a:p>
          <a:p>
            <a:pPr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3392029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1257300"/>
          </a:xfrm>
        </p:spPr>
        <p:txBody>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381779" y="1295400"/>
            <a:ext cx="11439160" cy="3970318"/>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[4 marks] Describe TWO malicious actions that an attacker with root permissions gained through privilege escalation can perform. Include the associated </a:t>
            </a:r>
            <a:r>
              <a:rPr lang="en-AU" sz="28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linux</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commands for each action, or the commands at each step of the action.</a:t>
            </a:r>
          </a:p>
          <a:p>
            <a:pPr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marL="342900" lvl="0" indent="-342900" fontAlgn="base">
              <a:buFont typeface="Symbol" panose="05050102010706020507" pitchFamily="18" charset="2"/>
              <a:buChar char=""/>
            </a:pPr>
            <a:r>
              <a:rPr lang="en-US" sz="2800" dirty="0">
                <a:solidFill>
                  <a:srgbClr val="FF0000"/>
                </a:solidFill>
                <a:ea typeface="Times New Roman" panose="02020603050405020304" pitchFamily="18" charset="0"/>
              </a:rPr>
              <a:t>[2 marks] </a:t>
            </a:r>
            <a:r>
              <a:rPr lang="en-US" sz="2800" dirty="0">
                <a:solidFill>
                  <a:srgbClr val="FF0000"/>
                </a:solidFill>
              </a:rPr>
              <a:t>recursively deleting all files and directories in the current directory</a:t>
            </a:r>
            <a:r>
              <a:rPr lang="en-AU" sz="2800" dirty="0">
                <a:solidFill>
                  <a:srgbClr val="FF0000"/>
                </a:solidFill>
                <a:effectLst/>
                <a:ea typeface="Times New Roman" panose="02020603050405020304" pitchFamily="18" charset="0"/>
              </a:rPr>
              <a:t>: rm –rf ~/*</a:t>
            </a:r>
            <a:endParaRPr lang="en-AU" sz="2800" dirty="0">
              <a:effectLst/>
              <a:ea typeface="Times New Roman" panose="02020603050405020304" pitchFamily="18" charset="0"/>
            </a:endParaRPr>
          </a:p>
          <a:p>
            <a:pPr marL="342900" lvl="0" indent="-342900" fontAlgn="base">
              <a:buFont typeface="Symbol" panose="05050102010706020507" pitchFamily="18" charset="2"/>
              <a:buChar char=""/>
            </a:pPr>
            <a:r>
              <a:rPr lang="en-AU" sz="2800" dirty="0">
                <a:solidFill>
                  <a:srgbClr val="FF0000"/>
                </a:solidFill>
                <a:effectLst/>
                <a:ea typeface="Times New Roman" panose="02020603050405020304" pitchFamily="18" charset="0"/>
              </a:rPr>
              <a:t>[2 marks] </a:t>
            </a:r>
            <a:r>
              <a:rPr lang="en-AU" sz="2800" dirty="0">
                <a:solidFill>
                  <a:srgbClr val="FF0000"/>
                </a:solidFill>
                <a:ea typeface="Times New Roman" panose="02020603050405020304" pitchFamily="18" charset="0"/>
              </a:rPr>
              <a:t>Changing the</a:t>
            </a:r>
            <a:r>
              <a:rPr lang="en-AU" sz="2800" dirty="0">
                <a:solidFill>
                  <a:srgbClr val="FF0000"/>
                </a:solidFill>
                <a:effectLst/>
                <a:ea typeface="Times New Roman" panose="02020603050405020304" pitchFamily="18" charset="0"/>
              </a:rPr>
              <a:t> permission of a regular user Alice: </a:t>
            </a:r>
            <a:r>
              <a:rPr lang="en-AU" sz="2800" dirty="0" err="1">
                <a:solidFill>
                  <a:srgbClr val="FF0000"/>
                </a:solidFill>
                <a:effectLst/>
                <a:ea typeface="Times New Roman" panose="02020603050405020304" pitchFamily="18" charset="0"/>
              </a:rPr>
              <a:t>usermod</a:t>
            </a:r>
            <a:r>
              <a:rPr lang="en-AU" sz="2800" dirty="0">
                <a:solidFill>
                  <a:srgbClr val="FF0000"/>
                </a:solidFill>
                <a:effectLst/>
                <a:ea typeface="Times New Roman" panose="02020603050405020304" pitchFamily="18" charset="0"/>
              </a:rPr>
              <a:t> –u 0 Alice</a:t>
            </a:r>
            <a:endParaRPr lang="en-AU" sz="2800" dirty="0">
              <a:effectLst/>
              <a:ea typeface="Times New Roman" panose="02020603050405020304" pitchFamily="18" charset="0"/>
            </a:endParaRPr>
          </a:p>
        </p:txBody>
      </p:sp>
    </p:spTree>
    <p:extLst>
      <p:ext uri="{BB962C8B-B14F-4D97-AF65-F5344CB8AC3E}">
        <p14:creationId xmlns:p14="http://schemas.microsoft.com/office/powerpoint/2010/main" val="2141797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1087037" y="231905"/>
            <a:ext cx="10353762" cy="702350"/>
          </a:xfrm>
        </p:spPr>
        <p:txBody>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924443" y="1226198"/>
            <a:ext cx="9821487" cy="1815882"/>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[4 marks] What do these directories contain?</a:t>
            </a:r>
          </a:p>
          <a:p>
            <a:pPr marL="228600" fontAlgn="base"/>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AU" sz="28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usr</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/local</a:t>
            </a:r>
          </a:p>
          <a:p>
            <a:pPr marL="228600" fontAlgn="base"/>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/opt</a:t>
            </a:r>
          </a:p>
          <a:p>
            <a:pPr marL="228600"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3890419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9119" y="351175"/>
            <a:ext cx="10353762" cy="702350"/>
          </a:xfrm>
        </p:spPr>
        <p:txBody>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924443" y="1226198"/>
            <a:ext cx="9821487" cy="2677656"/>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What do these directories contain?</a:t>
            </a:r>
          </a:p>
          <a:p>
            <a:pPr marL="228600" fontAlgn="base"/>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AU" sz="28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usr</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/local</a:t>
            </a:r>
          </a:p>
          <a:p>
            <a:pPr marL="228600" fontAlgn="base"/>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/opt</a:t>
            </a:r>
          </a:p>
          <a:p>
            <a:pPr marL="228600"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marL="342900" lvl="0" indent="-342900" fontAlgn="base">
              <a:buFont typeface="Symbol" panose="05050102010706020507" pitchFamily="18" charset="2"/>
              <a:buChar char=""/>
            </a:pPr>
            <a:r>
              <a:rPr lang="en-US" sz="2800" dirty="0">
                <a:solidFill>
                  <a:srgbClr val="FF0000"/>
                </a:solidFill>
                <a:ea typeface="Times New Roman" panose="02020603050405020304" pitchFamily="18" charset="0"/>
              </a:rPr>
              <a:t>[1 mark] </a:t>
            </a:r>
            <a:r>
              <a:rPr lang="en-AU" sz="2800" dirty="0">
                <a:solidFill>
                  <a:srgbClr val="FF0000"/>
                </a:solidFill>
              </a:rPr>
              <a:t>users programs that users have installed from source.</a:t>
            </a:r>
          </a:p>
          <a:p>
            <a:pPr marL="342900" lvl="0" indent="-342900" fontAlgn="base">
              <a:buFont typeface="Symbol" panose="05050102010706020507" pitchFamily="18" charset="2"/>
              <a:buChar char=""/>
            </a:pPr>
            <a:r>
              <a:rPr lang="en-US" sz="2800" dirty="0">
                <a:solidFill>
                  <a:srgbClr val="FF0000"/>
                </a:solidFill>
                <a:ea typeface="Times New Roman" panose="02020603050405020304" pitchFamily="18" charset="0"/>
              </a:rPr>
              <a:t>[1 mark] </a:t>
            </a:r>
            <a:r>
              <a:rPr lang="en-AU" sz="2800" dirty="0">
                <a:solidFill>
                  <a:srgbClr val="FF0000"/>
                </a:solidFill>
              </a:rPr>
              <a:t>optional add-on applications</a:t>
            </a:r>
          </a:p>
        </p:txBody>
      </p:sp>
    </p:spTree>
    <p:extLst>
      <p:ext uri="{BB962C8B-B14F-4D97-AF65-F5344CB8AC3E}">
        <p14:creationId xmlns:p14="http://schemas.microsoft.com/office/powerpoint/2010/main" val="36264629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1093904" y="442999"/>
            <a:ext cx="10353762" cy="809798"/>
          </a:xfrm>
        </p:spPr>
        <p:txBody>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884439" y="1371745"/>
            <a:ext cx="9522229" cy="1815882"/>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Write a command to find all files that start with the string "host" (e.g., host123.txt, </a:t>
            </a:r>
            <a:r>
              <a:rPr lang="en-AU" sz="28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host_cmd.conf</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hostname, etc.) located in the currently logged-in user’s home directory.</a:t>
            </a:r>
          </a:p>
        </p:txBody>
      </p:sp>
    </p:spTree>
    <p:extLst>
      <p:ext uri="{BB962C8B-B14F-4D97-AF65-F5344CB8AC3E}">
        <p14:creationId xmlns:p14="http://schemas.microsoft.com/office/powerpoint/2010/main" val="36675232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9119" y="442999"/>
            <a:ext cx="10353762" cy="809798"/>
          </a:xfrm>
        </p:spPr>
        <p:txBody>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884439" y="1371745"/>
            <a:ext cx="10353762" cy="2246769"/>
          </a:xfrm>
          <a:prstGeom prst="rect">
            <a:avLst/>
          </a:prstGeom>
          <a:noFill/>
        </p:spPr>
        <p:txBody>
          <a:bodyPr wrap="square">
            <a:spAutoFit/>
          </a:bodyPr>
          <a:lstStyle/>
          <a:p>
            <a:pPr fontAlgn="base"/>
            <a:r>
              <a:rPr lang="en-AU" sz="28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Write a command to find all files that start with the string "host" (e.g., host123.txt, </a:t>
            </a:r>
            <a:r>
              <a:rPr lang="en-AU" sz="28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host_cmd.conf</a:t>
            </a:r>
            <a:r>
              <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hostname, etc.) located in the currently logged-in user’s home directory.</a:t>
            </a:r>
          </a:p>
          <a:p>
            <a:pPr fontAlgn="base"/>
            <a:endParaRPr lang="en-AU"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marL="342900" lvl="0" indent="-342900" fontAlgn="base">
              <a:buFont typeface="Symbol" panose="05050102010706020507" pitchFamily="18" charset="2"/>
              <a:buChar char=""/>
            </a:pPr>
            <a:r>
              <a:rPr lang="en-US" sz="2800" dirty="0">
                <a:solidFill>
                  <a:srgbClr val="FF0000"/>
                </a:solidFill>
                <a:ea typeface="Times New Roman" panose="02020603050405020304" pitchFamily="18" charset="0"/>
              </a:rPr>
              <a:t>[2 marks] </a:t>
            </a:r>
            <a:r>
              <a:rPr lang="en-AU" sz="2800" dirty="0">
                <a:solidFill>
                  <a:srgbClr val="FF0000"/>
                </a:solidFill>
                <a:effectLst/>
                <a:ea typeface="Times New Roman" panose="02020603050405020304" pitchFamily="18" charset="0"/>
              </a:rPr>
              <a:t>find ~/ -name 'host*'</a:t>
            </a:r>
            <a:endParaRPr lang="en-AU" sz="2800" dirty="0">
              <a:effectLst/>
              <a:ea typeface="Times New Roman" panose="02020603050405020304" pitchFamily="18" charset="0"/>
            </a:endParaRPr>
          </a:p>
        </p:txBody>
      </p:sp>
    </p:spTree>
    <p:extLst>
      <p:ext uri="{BB962C8B-B14F-4D97-AF65-F5344CB8AC3E}">
        <p14:creationId xmlns:p14="http://schemas.microsoft.com/office/powerpoint/2010/main" val="16281707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9119" y="255814"/>
            <a:ext cx="10353762" cy="809798"/>
          </a:xfrm>
        </p:spPr>
        <p:txBody>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651682" y="1536174"/>
            <a:ext cx="10487372" cy="1569660"/>
          </a:xfrm>
          <a:prstGeom prst="rect">
            <a:avLst/>
          </a:prstGeom>
          <a:noFill/>
        </p:spPr>
        <p:txBody>
          <a:bodyPr wrap="square">
            <a:spAutoFit/>
          </a:bodyPr>
          <a:lstStyle/>
          <a:p>
            <a:pPr fontAlgn="base"/>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4</a:t>
            </a:r>
            <a:r>
              <a:rPr lang="en-AU" sz="24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a:t>
            </a:r>
            <a:r>
              <a:rPr lang="en-US" sz="24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Assume there is a file named “cits1003.txt” located in the home directory of the currently logged-in user. Write two separate Linux commands: one displays the contents of the file, and the other renames the file to 1003.txt (keeping it in the same directory).</a:t>
            </a:r>
            <a:r>
              <a:rPr lang="en-AU" sz="24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p>
        </p:txBody>
      </p:sp>
    </p:spTree>
    <p:extLst>
      <p:ext uri="{BB962C8B-B14F-4D97-AF65-F5344CB8AC3E}">
        <p14:creationId xmlns:p14="http://schemas.microsoft.com/office/powerpoint/2010/main" val="3592248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9119" y="255814"/>
            <a:ext cx="10353762" cy="809798"/>
          </a:xfrm>
        </p:spPr>
        <p:txBody>
          <a:bodyPr/>
          <a:lstStyle/>
          <a:p>
            <a:r>
              <a:rPr lang="en-AU" dirty="0"/>
              <a:t>Example Question 2</a:t>
            </a:r>
          </a:p>
        </p:txBody>
      </p:sp>
      <p:sp>
        <p:nvSpPr>
          <p:cNvPr id="7" name="TextBox 6">
            <a:extLst>
              <a:ext uri="{FF2B5EF4-FFF2-40B4-BE49-F238E27FC236}">
                <a16:creationId xmlns:a16="http://schemas.microsoft.com/office/drawing/2014/main" id="{75E0A5E3-B5A7-40C6-9FE8-508ABF9E1458}"/>
              </a:ext>
            </a:extLst>
          </p:cNvPr>
          <p:cNvSpPr txBox="1"/>
          <p:nvPr/>
        </p:nvSpPr>
        <p:spPr>
          <a:xfrm>
            <a:off x="651682" y="1536174"/>
            <a:ext cx="10487372" cy="2677656"/>
          </a:xfrm>
          <a:prstGeom prst="rect">
            <a:avLst/>
          </a:prstGeom>
          <a:noFill/>
        </p:spPr>
        <p:txBody>
          <a:bodyPr wrap="square">
            <a:spAutoFit/>
          </a:bodyPr>
          <a:lstStyle/>
          <a:p>
            <a:pPr fontAlgn="base"/>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4</a:t>
            </a:r>
            <a:r>
              <a:rPr lang="en-AU" sz="24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a:t>
            </a:r>
            <a:r>
              <a:rPr lang="en-US" sz="24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Assume there is a file named “cits1003.txt” located in the home directory of the currently logged-in user. Write two separate Linux commands: one displays the contents of the file, and the other renames the file to 1003.txt (keeping it in the same directory).</a:t>
            </a:r>
          </a:p>
          <a:p>
            <a:pPr fontAlgn="base"/>
            <a:endParaRPr lang="en-AU" sz="2400" dirty="0">
              <a:solidFill>
                <a:srgbClr val="FF0000"/>
              </a:solidFill>
              <a:effectLst/>
              <a:ea typeface="Times New Roman" panose="02020603050405020304" pitchFamily="18" charset="0"/>
            </a:endParaRPr>
          </a:p>
          <a:p>
            <a:pPr marL="342900" indent="-342900" fontAlgn="base">
              <a:buFont typeface="Symbol" panose="05050102010706020507" pitchFamily="18" charset="2"/>
              <a:buChar char=""/>
            </a:pPr>
            <a:r>
              <a:rPr lang="en-US" sz="2400" dirty="0">
                <a:solidFill>
                  <a:srgbClr val="FF0000"/>
                </a:solidFill>
                <a:ea typeface="Times New Roman" panose="02020603050405020304" pitchFamily="18" charset="0"/>
              </a:rPr>
              <a:t>[1 mark] </a:t>
            </a:r>
            <a:r>
              <a:rPr lang="en-AU" sz="2400" dirty="0">
                <a:solidFill>
                  <a:srgbClr val="FF0000"/>
                </a:solidFill>
              </a:rPr>
              <a:t>cat ~/cits1003.txt</a:t>
            </a:r>
          </a:p>
          <a:p>
            <a:pPr marL="342900" lvl="0" indent="-342900" fontAlgn="base">
              <a:buFont typeface="Symbol" panose="05050102010706020507" pitchFamily="18" charset="2"/>
              <a:buChar char=""/>
            </a:pPr>
            <a:r>
              <a:rPr lang="en-US" sz="2400" dirty="0">
                <a:solidFill>
                  <a:srgbClr val="FF0000"/>
                </a:solidFill>
                <a:ea typeface="Times New Roman" panose="02020603050405020304" pitchFamily="18" charset="0"/>
              </a:rPr>
              <a:t>[1 mark] </a:t>
            </a:r>
            <a:r>
              <a:rPr lang="en-US" sz="2400" dirty="0">
                <a:solidFill>
                  <a:srgbClr val="FF0000"/>
                </a:solidFill>
              </a:rPr>
              <a:t>mv ~/cits1003.txt ~/1003.txt</a:t>
            </a:r>
            <a:endParaRPr lang="en-AU" sz="2400" dirty="0">
              <a:solidFill>
                <a:srgbClr val="FF0000"/>
              </a:solidFill>
            </a:endParaRPr>
          </a:p>
        </p:txBody>
      </p:sp>
    </p:spTree>
    <p:extLst>
      <p:ext uri="{BB962C8B-B14F-4D97-AF65-F5344CB8AC3E}">
        <p14:creationId xmlns:p14="http://schemas.microsoft.com/office/powerpoint/2010/main" val="35335307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70628"/>
            <a:ext cx="10353762" cy="710045"/>
          </a:xfrm>
        </p:spPr>
        <p:txBody>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66007" y="1039975"/>
            <a:ext cx="11720945" cy="4493538"/>
          </a:xfrm>
          <a:prstGeom prst="rect">
            <a:avLst/>
          </a:prstGeom>
          <a:noFill/>
        </p:spPr>
        <p:txBody>
          <a:bodyPr wrap="square">
            <a:spAutoFit/>
          </a:bodyPr>
          <a:lstStyle/>
          <a:p>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The CEO of Australia’s leading take-away chicken restaurant, ‘Chicken Delight’, received an email to his company email at </a:t>
            </a:r>
            <a:r>
              <a:rPr lang="en-AU" sz="2200" dirty="0">
                <a:ln>
                  <a:solidFill>
                    <a:schemeClr val="bg1">
                      <a:lumMod val="75000"/>
                      <a:lumOff val="25000"/>
                      <a:alpha val="10000"/>
                    </a:schemeClr>
                  </a:solidFill>
                </a:ln>
                <a:solidFill>
                  <a:srgbClr val="FFC000"/>
                </a:solidFill>
                <a:effectLst>
                  <a:outerShdw blurRad="9525" dist="25400" dir="14640000" algn="tl" rotWithShape="0">
                    <a:schemeClr val="bg1">
                      <a:alpha val="30000"/>
                    </a:schemeClr>
                  </a:outerShdw>
                </a:effectLst>
              </a:rPr>
              <a:t>ceo@chickendelight.com </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from a sender at </a:t>
            </a:r>
            <a:r>
              <a:rPr lang="en-AU" sz="2200" dirty="0">
                <a:ln>
                  <a:solidFill>
                    <a:schemeClr val="bg1">
                      <a:lumMod val="75000"/>
                      <a:lumOff val="25000"/>
                      <a:alpha val="10000"/>
                    </a:schemeClr>
                  </a:solidFill>
                </a:ln>
                <a:solidFill>
                  <a:srgbClr val="FFC000"/>
                </a:solidFill>
                <a:effectLst>
                  <a:outerShdw blurRad="9525" dist="25400" dir="14640000" algn="tl" rotWithShape="0">
                    <a:schemeClr val="bg1">
                      <a:alpha val="30000"/>
                    </a:schemeClr>
                  </a:outerShdw>
                </a:effectLst>
              </a:rPr>
              <a:t>chockendelight@gmail.com</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The email claims to be the new Chicken Delight finance executive. The email asked the CEO to verify the company’s bank details for a new finance system by clicking on a </a:t>
            </a:r>
            <a:r>
              <a:rPr lang="en-AU" sz="2200" dirty="0">
                <a:ln>
                  <a:solidFill>
                    <a:schemeClr val="bg1">
                      <a:lumMod val="75000"/>
                      <a:lumOff val="25000"/>
                      <a:alpha val="10000"/>
                    </a:schemeClr>
                  </a:solidFill>
                </a:ln>
                <a:solidFill>
                  <a:srgbClr val="FFC000"/>
                </a:solidFill>
                <a:effectLst>
                  <a:outerShdw blurRad="9525" dist="25400" dir="14640000" algn="tl" rotWithShape="0">
                    <a:schemeClr val="bg1">
                      <a:alpha val="30000"/>
                    </a:schemeClr>
                  </a:outerShdw>
                </a:effectLst>
              </a:rPr>
              <a:t>bit.ly </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link provided in the email. The CEO clicked the link, causing Chicken Delight to lose over $80,000. As a result, the CEO was fired last night.</a:t>
            </a:r>
          </a:p>
          <a:p>
            <a:endPar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r>
              <a:rPr lang="en-AU"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 mark] Which specific Social Engineering Threat is this? </a:t>
            </a:r>
          </a:p>
          <a:p>
            <a:r>
              <a:rPr lang="en-AU"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 </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[2 marks] How could the company mitigate similar attacks in the future? </a:t>
            </a:r>
          </a:p>
          <a:p>
            <a:r>
              <a:rPr lang="en-AU"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Can you name some features of the email that the CEO have failed to pick up on? </a:t>
            </a:r>
          </a:p>
          <a:p>
            <a:r>
              <a:rPr lang="en-AU"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4</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[2 marks] Let’s assume you have developed a spam email filter that is currently 100% effective at filtering out spam emails. Will this solve the spam email threat? Why or why not? Justify your answer.</a:t>
            </a:r>
          </a:p>
        </p:txBody>
      </p:sp>
    </p:spTree>
    <p:extLst>
      <p:ext uri="{BB962C8B-B14F-4D97-AF65-F5344CB8AC3E}">
        <p14:creationId xmlns:p14="http://schemas.microsoft.com/office/powerpoint/2010/main" val="24149649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97127"/>
            <a:ext cx="10353762" cy="541020"/>
          </a:xfrm>
        </p:spPr>
        <p:txBody>
          <a:bodyPr>
            <a:normAutofit fontScale="90000"/>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30203" y="1072650"/>
            <a:ext cx="11720945" cy="461665"/>
          </a:xfrm>
          <a:prstGeom prst="rect">
            <a:avLst/>
          </a:prstGeom>
          <a:noFill/>
        </p:spPr>
        <p:txBody>
          <a:bodyPr wrap="square">
            <a:spAutoFit/>
          </a:bodyPr>
          <a:lstStyle/>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AU" sz="2400" dirty="0">
                <a:effectLst/>
                <a:ea typeface="DengXian" panose="02010600030101010101" pitchFamily="2" charset="-122"/>
                <a:cs typeface="Times New Roman" panose="02020603050405020304" pitchFamily="18" charset="0"/>
              </a:rPr>
              <a:t>[1 mark] Which specific Social Engineering Threat is this? </a:t>
            </a:r>
          </a:p>
        </p:txBody>
      </p:sp>
    </p:spTree>
    <p:extLst>
      <p:ext uri="{BB962C8B-B14F-4D97-AF65-F5344CB8AC3E}">
        <p14:creationId xmlns:p14="http://schemas.microsoft.com/office/powerpoint/2010/main" val="1102431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08611"/>
            <a:ext cx="10353762" cy="541020"/>
          </a:xfrm>
        </p:spPr>
        <p:txBody>
          <a:bodyPr>
            <a:normAutofit fontScale="90000"/>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30203" y="1253011"/>
            <a:ext cx="11720945" cy="1200329"/>
          </a:xfrm>
          <a:prstGeom prst="rect">
            <a:avLst/>
          </a:prstGeom>
          <a:noFill/>
        </p:spPr>
        <p:txBody>
          <a:bodyPr wrap="square">
            <a:spAutoFit/>
          </a:bodyPr>
          <a:lstStyle/>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AU" sz="2400" dirty="0">
                <a:effectLst/>
                <a:ea typeface="DengXian" panose="02010600030101010101" pitchFamily="2" charset="-122"/>
                <a:cs typeface="Times New Roman" panose="02020603050405020304" pitchFamily="18" charset="0"/>
              </a:rPr>
              <a:t>[1 mark] Which specific Social Engineering Threat is this? </a:t>
            </a:r>
          </a:p>
          <a:p>
            <a:pPr marL="342900" lvl="0" indent="-342900">
              <a:buFont typeface="Symbol" panose="05050102010706020507" pitchFamily="18" charset="2"/>
              <a:buChar char=""/>
            </a:pPr>
            <a:endParaRPr lang="en-AU" sz="2400" dirty="0">
              <a:solidFill>
                <a:srgbClr val="FF0000"/>
              </a:solidFill>
              <a:effectLst/>
              <a:ea typeface="Times New Roman" panose="02020603050405020304" pitchFamily="18" charset="0"/>
              <a:cs typeface="Arial" panose="020B0604020202020204" pitchFamily="34" charset="0"/>
            </a:endParaRPr>
          </a:p>
          <a:p>
            <a:pPr marL="342900" lvl="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Whale phishing</a:t>
            </a:r>
          </a:p>
        </p:txBody>
      </p:sp>
    </p:spTree>
    <p:extLst>
      <p:ext uri="{BB962C8B-B14F-4D97-AF65-F5344CB8AC3E}">
        <p14:creationId xmlns:p14="http://schemas.microsoft.com/office/powerpoint/2010/main" val="28573483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267026"/>
            <a:ext cx="10353762" cy="541020"/>
          </a:xfrm>
        </p:spPr>
        <p:txBody>
          <a:bodyPr>
            <a:normAutofit fontScale="90000"/>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35527" y="961182"/>
            <a:ext cx="11720945" cy="1938992"/>
          </a:xfrm>
          <a:prstGeom prst="rect">
            <a:avLst/>
          </a:prstGeom>
          <a:noFill/>
        </p:spPr>
        <p:txBody>
          <a:bodyPr wrap="square">
            <a:spAutoFit/>
          </a:bodyPr>
          <a:lstStyle/>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AU" sz="2400" dirty="0">
                <a:effectLst/>
                <a:ea typeface="DengXian" panose="02010600030101010101" pitchFamily="2" charset="-122"/>
                <a:cs typeface="Times New Roman" panose="02020603050405020304" pitchFamily="18" charset="0"/>
              </a:rPr>
              <a:t>[1 mark] Which specific Social Engineering Threat is this? </a:t>
            </a:r>
          </a:p>
          <a:p>
            <a:pPr marL="342900" lvl="0" indent="-342900">
              <a:buFont typeface="Symbol" panose="05050102010706020507" pitchFamily="18" charset="2"/>
              <a:buChar char=""/>
            </a:pPr>
            <a:endParaRPr lang="en-AU" sz="2400" dirty="0">
              <a:solidFill>
                <a:srgbClr val="FF0000"/>
              </a:solidFill>
              <a:effectLst/>
              <a:ea typeface="Times New Roman" panose="02020603050405020304" pitchFamily="18" charset="0"/>
              <a:cs typeface="Arial" panose="020B0604020202020204" pitchFamily="34" charset="0"/>
            </a:endParaRPr>
          </a:p>
          <a:p>
            <a:pPr marL="342900" lvl="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Whale phishing</a:t>
            </a:r>
          </a:p>
          <a:p>
            <a:endParaRPr lang="en-AU" sz="2400" dirty="0">
              <a:effectLst/>
              <a:ea typeface="DengXian" panose="02010600030101010101" pitchFamily="2" charset="-122"/>
              <a:cs typeface="Times New Roman" panose="02020603050405020304" pitchFamily="18" charset="0"/>
            </a:endParaRPr>
          </a:p>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 </a:t>
            </a:r>
            <a:r>
              <a:rPr lang="en-AU" sz="2400" dirty="0">
                <a:effectLst/>
                <a:ea typeface="DengXian" panose="02010600030101010101" pitchFamily="2" charset="-122"/>
                <a:cs typeface="Times New Roman" panose="02020603050405020304" pitchFamily="18" charset="0"/>
              </a:rPr>
              <a:t>[2 marks] How could the company mitigate similar attacks in the future? </a:t>
            </a:r>
          </a:p>
        </p:txBody>
      </p:sp>
    </p:spTree>
    <p:extLst>
      <p:ext uri="{BB962C8B-B14F-4D97-AF65-F5344CB8AC3E}">
        <p14:creationId xmlns:p14="http://schemas.microsoft.com/office/powerpoint/2010/main" val="16900569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72473"/>
            <a:ext cx="10353762" cy="541020"/>
          </a:xfrm>
        </p:spPr>
        <p:txBody>
          <a:bodyPr>
            <a:normAutofit fontScale="90000"/>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35527" y="922271"/>
            <a:ext cx="11720945" cy="4154984"/>
          </a:xfrm>
          <a:prstGeom prst="rect">
            <a:avLst/>
          </a:prstGeom>
          <a:noFill/>
        </p:spPr>
        <p:txBody>
          <a:bodyPr wrap="square">
            <a:spAutoFit/>
          </a:bodyPr>
          <a:lstStyle/>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AU" sz="2400" dirty="0">
                <a:effectLst/>
                <a:ea typeface="DengXian" panose="02010600030101010101" pitchFamily="2" charset="-122"/>
                <a:cs typeface="Times New Roman" panose="02020603050405020304" pitchFamily="18" charset="0"/>
              </a:rPr>
              <a:t>[1 mark] Which specific Social Engineering Threat is this? </a:t>
            </a:r>
          </a:p>
          <a:p>
            <a:pPr marL="342900" lvl="0" indent="-342900">
              <a:buFont typeface="Symbol" panose="05050102010706020507" pitchFamily="18" charset="2"/>
              <a:buChar char=""/>
            </a:pPr>
            <a:endParaRPr lang="en-AU" sz="2400" dirty="0">
              <a:solidFill>
                <a:srgbClr val="FF0000"/>
              </a:solidFill>
              <a:effectLst/>
              <a:ea typeface="Times New Roman" panose="02020603050405020304" pitchFamily="18" charset="0"/>
              <a:cs typeface="Arial" panose="020B0604020202020204" pitchFamily="34" charset="0"/>
            </a:endParaRPr>
          </a:p>
          <a:p>
            <a:pPr marL="342900" lvl="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Whale phishing</a:t>
            </a:r>
          </a:p>
          <a:p>
            <a:endParaRPr lang="en-AU" sz="2400" dirty="0">
              <a:effectLst/>
              <a:ea typeface="DengXian" panose="02010600030101010101" pitchFamily="2" charset="-122"/>
              <a:cs typeface="Times New Roman" panose="02020603050405020304" pitchFamily="18" charset="0"/>
            </a:endParaRPr>
          </a:p>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 </a:t>
            </a:r>
            <a:r>
              <a:rPr lang="en-AU" sz="2400" dirty="0">
                <a:effectLst/>
                <a:ea typeface="DengXian" panose="02010600030101010101" pitchFamily="2" charset="-122"/>
                <a:cs typeface="Times New Roman" panose="02020603050405020304" pitchFamily="18" charset="0"/>
              </a:rPr>
              <a:t>[2 marks] How could the company mitigate similar attacks in the future? </a:t>
            </a:r>
          </a:p>
          <a:p>
            <a:endParaRPr lang="en-AU" sz="2400" dirty="0">
              <a:effectLst/>
              <a:ea typeface="DengXian" panose="02010600030101010101" pitchFamily="2" charset="-122"/>
              <a:cs typeface="Times New Roman" panose="02020603050405020304" pitchFamily="18" charset="0"/>
            </a:endParaRPr>
          </a:p>
          <a:p>
            <a:pPr marL="342900" lvl="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Security awareness training: </a:t>
            </a:r>
            <a:r>
              <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employees should be trained to verify the authenticity of emails, especially those requesting sensitive information or financial transactions.</a:t>
            </a:r>
            <a:endPar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endParaRPr>
          </a:p>
          <a:p>
            <a:pPr marL="342900" lvl="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Improving spam email filtering: </a:t>
            </a:r>
            <a:r>
              <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implement robust email filtering solutions to detect and block phishing emails before they reach employees' inboxes</a:t>
            </a: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a:t>
            </a:r>
          </a:p>
        </p:txBody>
      </p:sp>
    </p:spTree>
    <p:extLst>
      <p:ext uri="{BB962C8B-B14F-4D97-AF65-F5344CB8AC3E}">
        <p14:creationId xmlns:p14="http://schemas.microsoft.com/office/powerpoint/2010/main" val="14627454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9118" y="72473"/>
            <a:ext cx="10353762" cy="541020"/>
          </a:xfrm>
        </p:spPr>
        <p:txBody>
          <a:bodyPr>
            <a:normAutofit fontScale="90000"/>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35527" y="902815"/>
            <a:ext cx="11720945" cy="4154984"/>
          </a:xfrm>
          <a:prstGeom prst="rect">
            <a:avLst/>
          </a:prstGeom>
          <a:noFill/>
        </p:spPr>
        <p:txBody>
          <a:bodyPr wrap="square">
            <a:spAutoFit/>
          </a:bodyPr>
          <a:lstStyle/>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AU" sz="2400" dirty="0">
                <a:effectLst/>
                <a:ea typeface="DengXian" panose="02010600030101010101" pitchFamily="2" charset="-122"/>
                <a:cs typeface="Times New Roman" panose="02020603050405020304" pitchFamily="18" charset="0"/>
              </a:rPr>
              <a:t>[1 mark] Which specific Social Engineering Threat is this? </a:t>
            </a:r>
          </a:p>
          <a:p>
            <a:pPr marL="342900" lvl="0" indent="-342900">
              <a:buFont typeface="Symbol" panose="05050102010706020507" pitchFamily="18" charset="2"/>
              <a:buChar char=""/>
            </a:pPr>
            <a:endParaRPr lang="en-AU" sz="2400" dirty="0">
              <a:solidFill>
                <a:srgbClr val="FF0000"/>
              </a:solidFill>
              <a:effectLst/>
              <a:ea typeface="Times New Roman" panose="02020603050405020304" pitchFamily="18" charset="0"/>
              <a:cs typeface="Arial" panose="020B0604020202020204" pitchFamily="34" charset="0"/>
            </a:endParaRPr>
          </a:p>
          <a:p>
            <a:pPr marL="342900" lvl="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Whale phishing</a:t>
            </a:r>
          </a:p>
          <a:p>
            <a:endParaRPr lang="en-AU" sz="2400" dirty="0">
              <a:effectLst/>
              <a:ea typeface="DengXian" panose="02010600030101010101" pitchFamily="2" charset="-122"/>
              <a:cs typeface="Times New Roman" panose="02020603050405020304" pitchFamily="18" charset="0"/>
            </a:endParaRPr>
          </a:p>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 </a:t>
            </a:r>
            <a:r>
              <a:rPr lang="en-AU" sz="2400" dirty="0">
                <a:effectLst/>
                <a:ea typeface="DengXian" panose="02010600030101010101" pitchFamily="2" charset="-122"/>
                <a:cs typeface="Times New Roman" panose="02020603050405020304" pitchFamily="18" charset="0"/>
              </a:rPr>
              <a:t>[2 marks] How could the company mitigate similar attacks in the future? </a:t>
            </a:r>
          </a:p>
          <a:p>
            <a:endParaRPr lang="en-AU" sz="2400" dirty="0">
              <a:effectLst/>
              <a:ea typeface="DengXian" panose="02010600030101010101" pitchFamily="2" charset="-122"/>
              <a:cs typeface="Times New Roman" panose="02020603050405020304" pitchFamily="18" charset="0"/>
            </a:endParaRPr>
          </a:p>
          <a:p>
            <a:pPr marL="34290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Security awareness training: describe it.</a:t>
            </a:r>
          </a:p>
          <a:p>
            <a:pPr marL="34290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Improving spam email filtering: describe it.</a:t>
            </a:r>
          </a:p>
          <a:p>
            <a:pPr lvl="0"/>
            <a:endParaRPr lang="en-AU" sz="2400" dirty="0">
              <a:solidFill>
                <a:srgbClr val="FF0000"/>
              </a:solidFill>
              <a:ea typeface="DengXian" panose="02010600030101010101" pitchFamily="2" charset="-122"/>
              <a:cs typeface="Arial" panose="020B0604020202020204" pitchFamily="34" charset="0"/>
            </a:endParaRPr>
          </a:p>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 </a:t>
            </a:r>
            <a:r>
              <a:rPr lang="en-AU" sz="2400" dirty="0">
                <a:ea typeface="DengXian" panose="02010600030101010101" pitchFamily="2" charset="-122"/>
                <a:cs typeface="Times New Roman" panose="02020603050405020304" pitchFamily="18" charset="0"/>
              </a:rPr>
              <a:t>[2 marks] Can you name some features of the spam email that the CEO have failed to pick up on? </a:t>
            </a:r>
          </a:p>
        </p:txBody>
      </p:sp>
    </p:spTree>
    <p:extLst>
      <p:ext uri="{BB962C8B-B14F-4D97-AF65-F5344CB8AC3E}">
        <p14:creationId xmlns:p14="http://schemas.microsoft.com/office/powerpoint/2010/main" val="565898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91274"/>
            <a:ext cx="10353762" cy="541020"/>
          </a:xfrm>
        </p:spPr>
        <p:txBody>
          <a:bodyPr>
            <a:normAutofit fontScale="90000"/>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35527" y="863905"/>
            <a:ext cx="11720945" cy="5262979"/>
          </a:xfrm>
          <a:prstGeom prst="rect">
            <a:avLst/>
          </a:prstGeom>
          <a:noFill/>
        </p:spPr>
        <p:txBody>
          <a:bodyPr wrap="square">
            <a:spAutoFit/>
          </a:bodyPr>
          <a:lstStyle/>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AU" sz="2400" dirty="0">
                <a:effectLst/>
                <a:ea typeface="DengXian" panose="02010600030101010101" pitchFamily="2" charset="-122"/>
                <a:cs typeface="Times New Roman" panose="02020603050405020304" pitchFamily="18" charset="0"/>
              </a:rPr>
              <a:t>[1 mark] Which specific Social Engineering Threat is this? </a:t>
            </a:r>
          </a:p>
          <a:p>
            <a:pPr lvl="0"/>
            <a:endParaRPr lang="en-AU" sz="2400" dirty="0">
              <a:solidFill>
                <a:srgbClr val="FF0000"/>
              </a:solidFill>
              <a:effectLst/>
              <a:ea typeface="Times New Roman" panose="02020603050405020304" pitchFamily="18" charset="0"/>
              <a:cs typeface="Arial" panose="020B0604020202020204" pitchFamily="34" charset="0"/>
            </a:endParaRPr>
          </a:p>
          <a:p>
            <a:pPr marL="342900" lvl="0" indent="-342900">
              <a:buFont typeface="Symbol" panose="05050102010706020507" pitchFamily="18" charset="2"/>
              <a:buChar char=""/>
            </a:pPr>
            <a:r>
              <a:rPr lang="en-AU" sz="2400" dirty="0">
                <a:solidFill>
                  <a:srgbClr val="FF0000"/>
                </a:solidFill>
                <a:effectLst/>
                <a:ea typeface="DengXian" panose="02010600030101010101" pitchFamily="2" charset="-122"/>
                <a:cs typeface="Times New Roman" panose="02020603050405020304" pitchFamily="18" charset="0"/>
              </a:rPr>
              <a:t>Whale phishing</a:t>
            </a:r>
          </a:p>
          <a:p>
            <a:endParaRPr lang="en-AU" sz="2400" dirty="0">
              <a:effectLst/>
              <a:ea typeface="DengXian" panose="02010600030101010101" pitchFamily="2" charset="-122"/>
              <a:cs typeface="Times New Roman" panose="02020603050405020304" pitchFamily="18" charset="0"/>
            </a:endParaRPr>
          </a:p>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 </a:t>
            </a:r>
            <a:r>
              <a:rPr lang="en-AU" sz="2400" dirty="0">
                <a:effectLst/>
                <a:ea typeface="DengXian" panose="02010600030101010101" pitchFamily="2" charset="-122"/>
                <a:cs typeface="Times New Roman" panose="02020603050405020304" pitchFamily="18" charset="0"/>
              </a:rPr>
              <a:t>[2 marks] How could the company mitigate similar attacks in the future? </a:t>
            </a:r>
          </a:p>
          <a:p>
            <a:endParaRPr lang="en-AU" sz="2400" dirty="0">
              <a:effectLst/>
              <a:ea typeface="DengXian" panose="02010600030101010101" pitchFamily="2" charset="-122"/>
              <a:cs typeface="Times New Roman" panose="02020603050405020304" pitchFamily="18" charset="0"/>
            </a:endParaRPr>
          </a:p>
          <a:p>
            <a:pPr marL="342900" lvl="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Security awareness training: describe it.</a:t>
            </a:r>
          </a:p>
          <a:p>
            <a:pPr marL="342900" lvl="0" indent="-342900">
              <a:buFont typeface="Symbol" panose="05050102010706020507" pitchFamily="18" charset="2"/>
              <a:buChar char=""/>
            </a:pPr>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Improving spam email filtering: describe it.</a:t>
            </a:r>
          </a:p>
          <a:p>
            <a:pPr lvl="0"/>
            <a:endParaRPr lang="en-AU" sz="2400" dirty="0">
              <a:solidFill>
                <a:srgbClr val="FF0000"/>
              </a:solidFill>
              <a:ea typeface="DengXian" panose="02010600030101010101" pitchFamily="2" charset="-122"/>
              <a:cs typeface="Arial" panose="020B0604020202020204" pitchFamily="34" charset="0"/>
            </a:endParaRPr>
          </a:p>
          <a:p>
            <a:r>
              <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3 </a:t>
            </a:r>
            <a:r>
              <a:rPr lang="en-AU" sz="2400" dirty="0">
                <a:ea typeface="DengXian" panose="02010600030101010101" pitchFamily="2" charset="-122"/>
                <a:cs typeface="Times New Roman" panose="02020603050405020304" pitchFamily="18" charset="0"/>
              </a:rPr>
              <a:t>[2 marks] Can you name some features of the spam email that the CEO have failed to pick up on? </a:t>
            </a:r>
            <a:endParaRPr lang="en-AU" sz="2400" b="1" dirty="0">
              <a:solidFill>
                <a:srgbClr val="FF0000"/>
              </a:solidFill>
              <a:effectLst/>
              <a:latin typeface="Speak Pro (Body)"/>
              <a:ea typeface="Times New Roman" panose="02020603050405020304" pitchFamily="18" charset="0"/>
              <a:cs typeface="Arial" panose="020B0604020202020204" pitchFamily="34" charset="0"/>
            </a:endParaRPr>
          </a:p>
          <a:p>
            <a:pPr marL="342900" indent="-342900">
              <a:buFont typeface="Symbol" panose="05050102010706020507" pitchFamily="18" charset="2"/>
              <a:buChar char=""/>
            </a:pPr>
            <a:r>
              <a:rPr lang="en-AU" sz="2400" dirty="0">
                <a:solidFill>
                  <a:srgbClr val="FF0000"/>
                </a:solidFill>
                <a:cs typeface="Arial" panose="020B0604020202020204" pitchFamily="34" charset="0"/>
              </a:rPr>
              <a:t>[1 mark] an external email as a non-company email: the CEO email has </a:t>
            </a:r>
            <a:r>
              <a:rPr lang="en-AU" sz="2400" dirty="0">
                <a:ln>
                  <a:solidFill>
                    <a:schemeClr val="bg1">
                      <a:lumMod val="75000"/>
                      <a:lumOff val="25000"/>
                      <a:alpha val="10000"/>
                    </a:schemeClr>
                  </a:solidFill>
                </a:ln>
                <a:solidFill>
                  <a:srgbClr val="FFC000"/>
                </a:solidFill>
                <a:effectLst>
                  <a:outerShdw blurRad="9525" dist="25400" dir="14640000" algn="tl" rotWithShape="0">
                    <a:schemeClr val="bg1">
                      <a:alpha val="30000"/>
                    </a:schemeClr>
                  </a:outerShdw>
                </a:effectLst>
              </a:rPr>
              <a:t>chickendelight.com </a:t>
            </a:r>
            <a:r>
              <a:rPr lang="en-AU" sz="2400" dirty="0">
                <a:solidFill>
                  <a:srgbClr val="FF0000"/>
                </a:solidFill>
                <a:cs typeface="Arial" panose="020B0604020202020204" pitchFamily="34" charset="0"/>
              </a:rPr>
              <a:t>and the scammer has </a:t>
            </a:r>
            <a:r>
              <a:rPr lang="en-AU" sz="2400" dirty="0">
                <a:ln>
                  <a:solidFill>
                    <a:schemeClr val="bg1">
                      <a:lumMod val="75000"/>
                      <a:lumOff val="25000"/>
                      <a:alpha val="10000"/>
                    </a:schemeClr>
                  </a:solidFill>
                </a:ln>
                <a:solidFill>
                  <a:srgbClr val="FFC000"/>
                </a:solidFill>
                <a:effectLst>
                  <a:outerShdw blurRad="9525" dist="25400" dir="14640000" algn="tl" rotWithShape="0">
                    <a:schemeClr val="bg1">
                      <a:alpha val="30000"/>
                    </a:schemeClr>
                  </a:outerShdw>
                </a:effectLst>
              </a:rPr>
              <a:t>gmail.com</a:t>
            </a:r>
            <a:r>
              <a:rPr lang="en-AU" sz="2400" dirty="0">
                <a:solidFill>
                  <a:srgbClr val="FF0000"/>
                </a:solidFill>
                <a:cs typeface="Arial" panose="020B0604020202020204" pitchFamily="34" charset="0"/>
              </a:rPr>
              <a:t>)</a:t>
            </a:r>
          </a:p>
          <a:p>
            <a:pPr marL="342900" indent="-342900">
              <a:buFont typeface="Symbol" panose="05050102010706020507" pitchFamily="18" charset="2"/>
              <a:buChar char=""/>
            </a:pPr>
            <a:r>
              <a:rPr lang="en-AU" sz="2400" dirty="0">
                <a:solidFill>
                  <a:srgbClr val="FF0000"/>
                </a:solidFill>
                <a:cs typeface="Arial" panose="020B0604020202020204" pitchFamily="34" charset="0"/>
              </a:rPr>
              <a:t>[1 mark] the short URL link is unknown and can be malicious. </a:t>
            </a:r>
          </a:p>
        </p:txBody>
      </p:sp>
    </p:spTree>
    <p:extLst>
      <p:ext uri="{BB962C8B-B14F-4D97-AF65-F5344CB8AC3E}">
        <p14:creationId xmlns:p14="http://schemas.microsoft.com/office/powerpoint/2010/main" val="8222210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266700"/>
            <a:ext cx="10353762" cy="710045"/>
          </a:xfrm>
        </p:spPr>
        <p:txBody>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35527" y="1115067"/>
            <a:ext cx="11720945" cy="1107996"/>
          </a:xfrm>
          <a:prstGeom prst="rect">
            <a:avLst/>
          </a:prstGeom>
          <a:noFill/>
        </p:spPr>
        <p:txBody>
          <a:bodyPr wrap="square">
            <a:spAutoFit/>
          </a:bodyPr>
          <a:lstStyle/>
          <a:p>
            <a:r>
              <a:rPr lang="en-AU"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4 </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[3 marks] Let’s assume you have developed a spam email filter that is currently 100% effective at filtering out existing spam emails. Will this solve the spam email threat? Why or why not? Justify your answer.</a:t>
            </a:r>
          </a:p>
        </p:txBody>
      </p:sp>
    </p:spTree>
    <p:extLst>
      <p:ext uri="{BB962C8B-B14F-4D97-AF65-F5344CB8AC3E}">
        <p14:creationId xmlns:p14="http://schemas.microsoft.com/office/powerpoint/2010/main" val="14685947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224312"/>
            <a:ext cx="10353762" cy="710045"/>
          </a:xfrm>
        </p:spPr>
        <p:txBody>
          <a:bodyPr/>
          <a:lstStyle/>
          <a:p>
            <a:r>
              <a:rPr lang="en-AU" dirty="0"/>
              <a:t>Example Question 3</a:t>
            </a:r>
          </a:p>
        </p:txBody>
      </p:sp>
      <p:sp>
        <p:nvSpPr>
          <p:cNvPr id="7" name="TextBox 6">
            <a:extLst>
              <a:ext uri="{FF2B5EF4-FFF2-40B4-BE49-F238E27FC236}">
                <a16:creationId xmlns:a16="http://schemas.microsoft.com/office/drawing/2014/main" id="{75E0A5E3-B5A7-40C6-9FE8-508ABF9E1458}"/>
              </a:ext>
            </a:extLst>
          </p:cNvPr>
          <p:cNvSpPr txBox="1"/>
          <p:nvPr/>
        </p:nvSpPr>
        <p:spPr>
          <a:xfrm>
            <a:off x="230203" y="971899"/>
            <a:ext cx="11720945" cy="2954655"/>
          </a:xfrm>
          <a:prstGeom prst="rect">
            <a:avLst/>
          </a:prstGeom>
          <a:noFill/>
        </p:spPr>
        <p:txBody>
          <a:bodyPr wrap="square">
            <a:spAutoFit/>
          </a:bodyPr>
          <a:lstStyle/>
          <a:p>
            <a:r>
              <a:rPr lang="en-AU" sz="22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4</a:t>
            </a:r>
            <a:r>
              <a:rPr lang="en-AU" sz="2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[3 marks] Let’s assume you have developed a spam email filter that is currently 100% effective at filtering out existing spam emails. Will this solve the spam email threat? Why or why not? Justify your answer.</a:t>
            </a:r>
          </a:p>
          <a:p>
            <a:pPr lvl="0"/>
            <a:r>
              <a:rPr lang="en-AU" sz="2400" dirty="0">
                <a:solidFill>
                  <a:srgbClr val="FF0000"/>
                </a:solidFill>
                <a:cs typeface="Arial" panose="020B0604020202020204" pitchFamily="34" charset="0"/>
              </a:rPr>
              <a:t>. </a:t>
            </a:r>
          </a:p>
          <a:p>
            <a:pPr marL="342900" indent="-342900">
              <a:buFont typeface="Symbol" panose="05050102010706020507" pitchFamily="18" charset="2"/>
              <a:buChar char=""/>
            </a:pPr>
            <a:r>
              <a:rPr lang="en-AU" sz="2400" dirty="0">
                <a:solidFill>
                  <a:srgbClr val="FF0000"/>
                </a:solidFill>
                <a:cs typeface="Arial" panose="020B0604020202020204" pitchFamily="34" charset="0"/>
              </a:rPr>
              <a:t>[2 marks] saying “no” here is easier. </a:t>
            </a:r>
            <a:r>
              <a:rPr lang="en-US" sz="2400" dirty="0">
                <a:solidFill>
                  <a:srgbClr val="FF0000"/>
                </a:solidFill>
                <a:cs typeface="Arial" panose="020B0604020202020204" pitchFamily="34" charset="0"/>
              </a:rPr>
              <a:t>spam email senders are constantly evolving their techniques to bypass filters and deceive recipients. They can employ various tactics such as image-based spam. As such, new types of spam emails can emerge that may not be effectively blocked by the existing filter.</a:t>
            </a:r>
            <a:endParaRPr lang="en-AU" sz="2400" dirty="0">
              <a:solidFill>
                <a:srgbClr val="FF0000"/>
              </a:solidFill>
              <a:cs typeface="Arial" panose="020B0604020202020204" pitchFamily="34" charset="0"/>
            </a:endParaRPr>
          </a:p>
        </p:txBody>
      </p:sp>
    </p:spTree>
    <p:extLst>
      <p:ext uri="{BB962C8B-B14F-4D97-AF65-F5344CB8AC3E}">
        <p14:creationId xmlns:p14="http://schemas.microsoft.com/office/powerpoint/2010/main" val="20172511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832757"/>
          </a:xfrm>
        </p:spPr>
        <p:txBody>
          <a:bodyPr/>
          <a:lstStyle/>
          <a:p>
            <a:r>
              <a:rPr lang="en-AU" dirty="0"/>
              <a:t>Example Question 4</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39926" y="968828"/>
            <a:ext cx="10712148" cy="5148943"/>
          </a:xfrm>
        </p:spPr>
        <p:txBody>
          <a:bodyPr>
            <a:normAutofit/>
          </a:bodyPr>
          <a:lstStyle/>
          <a:p>
            <a:pPr marL="36900" indent="0">
              <a:buNone/>
            </a:pPr>
            <a:r>
              <a:rPr lang="en-AU" sz="2200" dirty="0"/>
              <a:t>Assume Alice is flatting in a house with others, and everyone uses the same router to access the internet. One of the flatmate, Bob, has been annoying Alice recently and Alice wants to compromise Bob’s computer </a:t>
            </a:r>
            <a:r>
              <a:rPr lang="en-US" altLang="zh-CN" sz="2200" dirty="0"/>
              <a:t>when Bob is searching the internet </a:t>
            </a:r>
            <a:r>
              <a:rPr lang="en-AU" sz="2200" dirty="0"/>
              <a:t>(please don't do this in real-world). </a:t>
            </a:r>
            <a:r>
              <a:rPr lang="en-US" sz="2200" dirty="0"/>
              <a:t>Alice begins by using the Linux command '</a:t>
            </a:r>
            <a:r>
              <a:rPr lang="en-US" sz="2200" dirty="0" err="1"/>
              <a:t>nmap</a:t>
            </a:r>
            <a:r>
              <a:rPr lang="en-US" sz="2200" dirty="0"/>
              <a:t>' to scan the local network.</a:t>
            </a:r>
            <a:endParaRPr lang="en-AU" sz="2200" dirty="0"/>
          </a:p>
          <a:p>
            <a:pPr marL="36900" indent="0">
              <a:buNone/>
            </a:pPr>
            <a:endParaRPr lang="en-AU" sz="2200" dirty="0"/>
          </a:p>
          <a:p>
            <a:pPr marL="36900" indent="0">
              <a:buNone/>
            </a:pPr>
            <a:r>
              <a:rPr lang="en-AU" sz="2200" dirty="0">
                <a:solidFill>
                  <a:srgbClr val="FF0000"/>
                </a:solidFill>
              </a:rPr>
              <a:t>Part 1</a:t>
            </a:r>
            <a:r>
              <a:rPr lang="en-AU" sz="2200" dirty="0"/>
              <a:t> [2 marks] </a:t>
            </a:r>
            <a:r>
              <a:rPr lang="en-US" sz="2200" dirty="0"/>
              <a:t>What does the Linux command do: </a:t>
            </a:r>
            <a:r>
              <a:rPr lang="en-US" sz="2200" dirty="0" err="1"/>
              <a:t>nmap</a:t>
            </a:r>
            <a:r>
              <a:rPr lang="en-US" sz="2200" dirty="0"/>
              <a:t> 192.168.1.0-16? </a:t>
            </a:r>
            <a:endParaRPr lang="en-AU" sz="2200" dirty="0"/>
          </a:p>
          <a:p>
            <a:pPr marL="36900" indent="0">
              <a:buNone/>
            </a:pPr>
            <a:r>
              <a:rPr lang="en-AU" sz="2200" dirty="0">
                <a:solidFill>
                  <a:srgbClr val="FF0000"/>
                </a:solidFill>
              </a:rPr>
              <a:t>Part 2 </a:t>
            </a:r>
            <a:r>
              <a:rPr lang="en-AU" sz="2200" dirty="0"/>
              <a:t>[2 marks] Describe a possible attack to violate the confidentiality of Bob’s computer system, and the limitation of the attack.</a:t>
            </a:r>
          </a:p>
          <a:p>
            <a:pPr marL="36900" indent="0">
              <a:buNone/>
            </a:pPr>
            <a:r>
              <a:rPr lang="en-AU" sz="2200" dirty="0">
                <a:solidFill>
                  <a:srgbClr val="FF0000"/>
                </a:solidFill>
              </a:rPr>
              <a:t>Part 3 </a:t>
            </a:r>
            <a:r>
              <a:rPr lang="en-AU" sz="2200" dirty="0"/>
              <a:t>[2 marks] Describe a possible attack to violate the integrity of Bob’s computer system, and the limitation of the attack.</a:t>
            </a:r>
          </a:p>
        </p:txBody>
      </p:sp>
    </p:spTree>
    <p:extLst>
      <p:ext uri="{BB962C8B-B14F-4D97-AF65-F5344CB8AC3E}">
        <p14:creationId xmlns:p14="http://schemas.microsoft.com/office/powerpoint/2010/main" val="16296195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832757"/>
          </a:xfrm>
        </p:spPr>
        <p:txBody>
          <a:bodyPr/>
          <a:lstStyle/>
          <a:p>
            <a:r>
              <a:rPr lang="en-AU" dirty="0"/>
              <a:t>Example Question 4</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39926" y="968828"/>
            <a:ext cx="10712148" cy="5649686"/>
          </a:xfrm>
        </p:spPr>
        <p:txBody>
          <a:bodyPr>
            <a:normAutofit/>
          </a:bodyPr>
          <a:lstStyle/>
          <a:p>
            <a:pPr marL="36900" indent="0">
              <a:buNone/>
            </a:pPr>
            <a:r>
              <a:rPr lang="en-AU" sz="2400" dirty="0">
                <a:solidFill>
                  <a:srgbClr val="FF0000"/>
                </a:solidFill>
              </a:rPr>
              <a:t>Part 1 </a:t>
            </a:r>
            <a:r>
              <a:rPr lang="en-AU" sz="2400" dirty="0"/>
              <a:t>[2 marks] </a:t>
            </a:r>
            <a:r>
              <a:rPr lang="en-US" sz="2400" dirty="0"/>
              <a:t>What does the Linux command do: </a:t>
            </a:r>
            <a:r>
              <a:rPr lang="en-US" sz="2400" dirty="0" err="1"/>
              <a:t>nmap</a:t>
            </a:r>
            <a:r>
              <a:rPr lang="en-US" sz="2400" dirty="0"/>
              <a:t> 192.168.1.0-16?</a:t>
            </a:r>
            <a:endParaRPr lang="en-AU" sz="2400" dirty="0"/>
          </a:p>
        </p:txBody>
      </p:sp>
    </p:spTree>
    <p:extLst>
      <p:ext uri="{BB962C8B-B14F-4D97-AF65-F5344CB8AC3E}">
        <p14:creationId xmlns:p14="http://schemas.microsoft.com/office/powerpoint/2010/main" val="24106103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832757"/>
          </a:xfrm>
        </p:spPr>
        <p:txBody>
          <a:bodyPr/>
          <a:lstStyle/>
          <a:p>
            <a:r>
              <a:rPr lang="en-AU" dirty="0"/>
              <a:t>Example Question 4</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39926" y="968828"/>
            <a:ext cx="10712148" cy="5649686"/>
          </a:xfrm>
        </p:spPr>
        <p:txBody>
          <a:bodyPr>
            <a:normAutofit/>
          </a:bodyPr>
          <a:lstStyle/>
          <a:p>
            <a:pPr marL="36900" indent="0">
              <a:buNone/>
            </a:pPr>
            <a:r>
              <a:rPr lang="en-AU" sz="2400" dirty="0">
                <a:solidFill>
                  <a:srgbClr val="FF0000"/>
                </a:solidFill>
              </a:rPr>
              <a:t>Part 1 </a:t>
            </a:r>
            <a:r>
              <a:rPr lang="en-AU" sz="2400" dirty="0"/>
              <a:t>[2 marks] </a:t>
            </a:r>
            <a:r>
              <a:rPr lang="en-US" sz="2400" dirty="0"/>
              <a:t>What does the Linux command do: </a:t>
            </a:r>
            <a:r>
              <a:rPr lang="en-US" sz="2400" dirty="0" err="1"/>
              <a:t>nmap</a:t>
            </a:r>
            <a:r>
              <a:rPr lang="en-US" sz="2400" dirty="0"/>
              <a:t> 192.168.1.0-16?</a:t>
            </a:r>
            <a:endParaRPr lang="en-AU" sz="2400" dirty="0"/>
          </a:p>
          <a:p>
            <a:pPr marL="342900" lvl="0" indent="-342900" fontAlgn="base">
              <a:buClr>
                <a:srgbClr val="FF0000"/>
              </a:buClr>
              <a:buSzPct val="100000"/>
              <a:buFont typeface="Arial" panose="020B0604020202020204" pitchFamily="34" charset="0"/>
              <a:buChar char="•"/>
            </a:pPr>
            <a:r>
              <a:rPr lang="en-US" sz="2400" dirty="0">
                <a:solidFill>
                  <a:srgbClr val="FF0000"/>
                </a:solidFill>
              </a:rPr>
              <a:t>[2 mark] Perform a port scan on all the IP addresses within the range 192.168.1.0 to 192.168.1.16</a:t>
            </a:r>
            <a:endParaRPr lang="en-AU" sz="2400" dirty="0">
              <a:solidFill>
                <a:srgbClr val="FF0000"/>
              </a:solidFill>
            </a:endParaRPr>
          </a:p>
          <a:p>
            <a:pPr marL="36900" indent="0">
              <a:buNone/>
            </a:pPr>
            <a:endParaRPr lang="en-AU" dirty="0">
              <a:effectLst/>
            </a:endParaRPr>
          </a:p>
        </p:txBody>
      </p:sp>
    </p:spTree>
    <p:extLst>
      <p:ext uri="{BB962C8B-B14F-4D97-AF65-F5344CB8AC3E}">
        <p14:creationId xmlns:p14="http://schemas.microsoft.com/office/powerpoint/2010/main" val="25985051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832757"/>
          </a:xfrm>
        </p:spPr>
        <p:txBody>
          <a:bodyPr/>
          <a:lstStyle/>
          <a:p>
            <a:r>
              <a:rPr lang="en-AU" dirty="0"/>
              <a:t>Example Question 4</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39926" y="968828"/>
            <a:ext cx="10712148" cy="5649686"/>
          </a:xfrm>
        </p:spPr>
        <p:txBody>
          <a:bodyPr>
            <a:normAutofit/>
          </a:bodyPr>
          <a:lstStyle/>
          <a:p>
            <a:pPr marL="36900" indent="0">
              <a:buNone/>
            </a:pPr>
            <a:r>
              <a:rPr lang="en-AU" sz="2400" dirty="0">
                <a:solidFill>
                  <a:srgbClr val="FF0000"/>
                </a:solidFill>
              </a:rPr>
              <a:t>Part 2 </a:t>
            </a:r>
            <a:r>
              <a:rPr lang="en-AU" sz="2400" dirty="0"/>
              <a:t>[2 marks] Describe a possible attack to violate the confidentiality of Bob’s computer system, and the limitation of the attack.</a:t>
            </a:r>
          </a:p>
        </p:txBody>
      </p:sp>
    </p:spTree>
    <p:extLst>
      <p:ext uri="{BB962C8B-B14F-4D97-AF65-F5344CB8AC3E}">
        <p14:creationId xmlns:p14="http://schemas.microsoft.com/office/powerpoint/2010/main" val="14449075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832757"/>
          </a:xfrm>
        </p:spPr>
        <p:txBody>
          <a:bodyPr/>
          <a:lstStyle/>
          <a:p>
            <a:r>
              <a:rPr lang="en-AU" dirty="0"/>
              <a:t>Example Question 4</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39926" y="968828"/>
            <a:ext cx="10712148" cy="5649686"/>
          </a:xfrm>
        </p:spPr>
        <p:txBody>
          <a:bodyPr>
            <a:normAutofit/>
          </a:bodyPr>
          <a:lstStyle/>
          <a:p>
            <a:pPr marL="36900" indent="0">
              <a:buNone/>
            </a:pPr>
            <a:r>
              <a:rPr lang="en-AU" sz="2400" dirty="0">
                <a:solidFill>
                  <a:srgbClr val="FF0000"/>
                </a:solidFill>
              </a:rPr>
              <a:t>Part 2 </a:t>
            </a:r>
            <a:r>
              <a:rPr lang="en-AU" sz="2400" dirty="0"/>
              <a:t>[2 marks] Describe a possible attack to violate the confidentiality of Bob’s computer system, and the limitation of the attack.</a:t>
            </a:r>
          </a:p>
          <a:p>
            <a:pPr marL="36900" indent="0">
              <a:buNone/>
            </a:pPr>
            <a:endParaRPr lang="en-AU" sz="2400" dirty="0"/>
          </a:p>
          <a:p>
            <a:pPr marL="342900" lvl="0" indent="-342900" fontAlgn="base">
              <a:buClr>
                <a:srgbClr val="FF0000"/>
              </a:buClr>
              <a:buSzPct val="100000"/>
              <a:buFont typeface="Arial" panose="020B0604020202020204" pitchFamily="34" charset="0"/>
              <a:buChar char="•"/>
            </a:pPr>
            <a:r>
              <a:rPr lang="en-US" sz="2400" dirty="0">
                <a:solidFill>
                  <a:srgbClr val="FF0000"/>
                </a:solidFill>
              </a:rPr>
              <a:t>[1 mark] </a:t>
            </a:r>
            <a:r>
              <a:rPr lang="en-AU" sz="2400" dirty="0">
                <a:solidFill>
                  <a:srgbClr val="FF0000"/>
                </a:solidFill>
              </a:rPr>
              <a:t>Packet Sniffing:</a:t>
            </a:r>
            <a:r>
              <a:rPr lang="en-US" sz="2400" dirty="0">
                <a:solidFill>
                  <a:srgbClr val="FF0000"/>
                </a:solidFill>
              </a:rPr>
              <a:t> Alice could use the packet sniffing technique to filter and capture Bob’s network packets passing through the router. By capturing the packets, Alice could potentially analyze the data to extract Bob’s sensitive information, such as websites visited and login credentials. </a:t>
            </a:r>
            <a:endParaRPr lang="en-AU" sz="2400" dirty="0">
              <a:solidFill>
                <a:srgbClr val="FF0000"/>
              </a:solidFill>
            </a:endParaRPr>
          </a:p>
          <a:p>
            <a:pPr algn="l">
              <a:buClr>
                <a:srgbClr val="FF0000"/>
              </a:buClr>
              <a:buSzPct val="100000"/>
              <a:buFont typeface="Arial" panose="020B0604020202020204" pitchFamily="34" charset="0"/>
              <a:buChar char="•"/>
            </a:pPr>
            <a:r>
              <a:rPr lang="en-AU" sz="2400" dirty="0">
                <a:solidFill>
                  <a:srgbClr val="FF0000"/>
                </a:solidFill>
              </a:rPr>
              <a:t>[1 mark] </a:t>
            </a:r>
            <a:r>
              <a:rPr lang="en-US" sz="2400" dirty="0">
                <a:solidFill>
                  <a:srgbClr val="FF0000"/>
                </a:solidFill>
              </a:rPr>
              <a:t>Encryption: Bob can use anonymous networks such as Tor where transmitted data are encrypted, making it difficult for Alice to decrypt the data.</a:t>
            </a:r>
            <a:endParaRPr lang="en-AU" sz="2400" dirty="0">
              <a:solidFill>
                <a:srgbClr val="FF0000"/>
              </a:solidFill>
            </a:endParaRPr>
          </a:p>
          <a:p>
            <a:pPr marL="36900" indent="0">
              <a:buNone/>
            </a:pPr>
            <a:endParaRPr lang="en-AU" dirty="0">
              <a:effectLst/>
            </a:endParaRPr>
          </a:p>
        </p:txBody>
      </p:sp>
    </p:spTree>
    <p:extLst>
      <p:ext uri="{BB962C8B-B14F-4D97-AF65-F5344CB8AC3E}">
        <p14:creationId xmlns:p14="http://schemas.microsoft.com/office/powerpoint/2010/main" val="31010253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832757"/>
          </a:xfrm>
        </p:spPr>
        <p:txBody>
          <a:bodyPr/>
          <a:lstStyle/>
          <a:p>
            <a:r>
              <a:rPr lang="en-AU" dirty="0"/>
              <a:t>Example Question 4</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39926" y="968828"/>
            <a:ext cx="10712148" cy="5148943"/>
          </a:xfrm>
        </p:spPr>
        <p:txBody>
          <a:bodyPr>
            <a:normAutofit/>
          </a:bodyPr>
          <a:lstStyle/>
          <a:p>
            <a:pPr marL="36900" indent="0">
              <a:buNone/>
            </a:pPr>
            <a:r>
              <a:rPr lang="en-AU" sz="2400" dirty="0">
                <a:solidFill>
                  <a:srgbClr val="FF0000"/>
                </a:solidFill>
              </a:rPr>
              <a:t>Part 3 </a:t>
            </a:r>
            <a:r>
              <a:rPr lang="en-AU" sz="2400" dirty="0"/>
              <a:t>[2 marks] Describe a possible attack to violate the integrity of Bob’s computer system, and the limitation of the attack.</a:t>
            </a:r>
            <a:endParaRPr lang="en-US" sz="2000" dirty="0">
              <a:solidFill>
                <a:srgbClr val="FF0000"/>
              </a:solidFill>
            </a:endParaRPr>
          </a:p>
          <a:p>
            <a:pPr algn="l">
              <a:buFont typeface="Arial" panose="020B0604020202020204" pitchFamily="34" charset="0"/>
              <a:buChar char="•"/>
            </a:pPr>
            <a:endParaRPr lang="en-US" sz="2000" dirty="0">
              <a:solidFill>
                <a:srgbClr val="FF0000"/>
              </a:solidFill>
            </a:endParaRPr>
          </a:p>
          <a:p>
            <a:pPr marL="36900" indent="0">
              <a:buNone/>
            </a:pPr>
            <a:endParaRPr lang="en-AU" sz="2200" dirty="0"/>
          </a:p>
        </p:txBody>
      </p:sp>
    </p:spTree>
    <p:extLst>
      <p:ext uri="{BB962C8B-B14F-4D97-AF65-F5344CB8AC3E}">
        <p14:creationId xmlns:p14="http://schemas.microsoft.com/office/powerpoint/2010/main" val="14361423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832757"/>
          </a:xfrm>
        </p:spPr>
        <p:txBody>
          <a:bodyPr/>
          <a:lstStyle/>
          <a:p>
            <a:r>
              <a:rPr lang="en-AU" dirty="0"/>
              <a:t>Example Question 4</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39926" y="968828"/>
            <a:ext cx="10712148" cy="5148943"/>
          </a:xfrm>
        </p:spPr>
        <p:txBody>
          <a:bodyPr>
            <a:normAutofit/>
          </a:bodyPr>
          <a:lstStyle/>
          <a:p>
            <a:pPr marL="36900" indent="0">
              <a:buNone/>
            </a:pPr>
            <a:r>
              <a:rPr lang="en-AU" sz="2400" dirty="0">
                <a:solidFill>
                  <a:srgbClr val="FF0000"/>
                </a:solidFill>
              </a:rPr>
              <a:t>Part 3 </a:t>
            </a:r>
            <a:r>
              <a:rPr lang="en-AU" sz="2400" dirty="0"/>
              <a:t>[2 marks] Describe a possible attack to violate the integrity of Bob’s computer system, and the limitation of the attack.</a:t>
            </a:r>
            <a:endParaRPr lang="en-US" sz="2000" dirty="0">
              <a:solidFill>
                <a:srgbClr val="FF0000"/>
              </a:solidFill>
            </a:endParaRPr>
          </a:p>
          <a:p>
            <a:pPr marL="36900" indent="0">
              <a:buNone/>
            </a:pPr>
            <a:endParaRPr lang="en-AU" sz="2400" dirty="0"/>
          </a:p>
          <a:p>
            <a:pPr>
              <a:buClr>
                <a:srgbClr val="FF0000"/>
              </a:buClr>
              <a:buSzPct val="100000"/>
              <a:buFont typeface="Arial" panose="020B0604020202020204" pitchFamily="34" charset="0"/>
              <a:buChar char="•"/>
            </a:pPr>
            <a:r>
              <a:rPr lang="en-US" sz="2400" dirty="0">
                <a:solidFill>
                  <a:srgbClr val="FF0000"/>
                </a:solidFill>
              </a:rPr>
              <a:t>[1 mark] Malware Injection: Alice could attempt to inject malicious software, such as a keylogger or spyware, into Bob’s computer system. The malware can delete Bob’s sensitive files.</a:t>
            </a:r>
          </a:p>
          <a:p>
            <a:pPr>
              <a:buClr>
                <a:srgbClr val="FF0000"/>
              </a:buClr>
              <a:buSzPct val="100000"/>
              <a:buFont typeface="Arial" panose="020B0604020202020204" pitchFamily="34" charset="0"/>
              <a:buChar char="•"/>
            </a:pPr>
            <a:r>
              <a:rPr lang="en-AU" sz="2400" dirty="0">
                <a:solidFill>
                  <a:srgbClr val="FF0000"/>
                </a:solidFill>
              </a:rPr>
              <a:t>[1 mark] </a:t>
            </a:r>
            <a:r>
              <a:rPr lang="en-US" sz="2400" dirty="0">
                <a:solidFill>
                  <a:srgbClr val="FF0000"/>
                </a:solidFill>
              </a:rPr>
              <a:t>Antimalware: Bob could regularly update and maintain antimalware to mitigate the risk of malware injection.</a:t>
            </a:r>
          </a:p>
          <a:p>
            <a:pPr marL="36900" indent="0">
              <a:buNone/>
            </a:pPr>
            <a:endParaRPr lang="en-US" sz="2000" dirty="0">
              <a:solidFill>
                <a:srgbClr val="FF0000"/>
              </a:solidFill>
            </a:endParaRPr>
          </a:p>
          <a:p>
            <a:pPr algn="l">
              <a:buFont typeface="Arial" panose="020B0604020202020204" pitchFamily="34" charset="0"/>
              <a:buChar char="•"/>
            </a:pPr>
            <a:endParaRPr lang="en-US" sz="2000" dirty="0">
              <a:solidFill>
                <a:srgbClr val="FF0000"/>
              </a:solidFill>
            </a:endParaRPr>
          </a:p>
          <a:p>
            <a:pPr marL="36900" indent="0">
              <a:buNone/>
            </a:pPr>
            <a:endParaRPr lang="en-AU" sz="2200" dirty="0"/>
          </a:p>
        </p:txBody>
      </p:sp>
    </p:spTree>
    <p:extLst>
      <p:ext uri="{BB962C8B-B14F-4D97-AF65-F5344CB8AC3E}">
        <p14:creationId xmlns:p14="http://schemas.microsoft.com/office/powerpoint/2010/main" val="42838219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5</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363805" cy="4868634"/>
          </a:xfrm>
        </p:spPr>
        <p:txBody>
          <a:bodyPr>
            <a:normAutofit lnSpcReduction="10000"/>
          </a:bodyPr>
          <a:lstStyle/>
          <a:p>
            <a:pPr marL="36900" indent="0">
              <a:buNone/>
            </a:pPr>
            <a:r>
              <a:rPr lang="en-AU" sz="2400" dirty="0"/>
              <a:t>A power company has deployed smart meters to its customers to provide better power usage reports. To do this, the company needs to outsource some power usage data to a third party for data analysis. The company is concerned with user privacy as it has to send customer data to third parties. </a:t>
            </a:r>
          </a:p>
          <a:p>
            <a:pPr marL="36900" indent="0">
              <a:buNone/>
            </a:pPr>
            <a:endParaRPr lang="en-AU" sz="2400" dirty="0"/>
          </a:p>
          <a:p>
            <a:pPr marL="36900" indent="0">
              <a:buNone/>
            </a:pPr>
            <a:r>
              <a:rPr lang="en-AU" sz="2400" dirty="0">
                <a:solidFill>
                  <a:srgbClr val="FF0000"/>
                </a:solidFill>
              </a:rPr>
              <a:t>Part 1</a:t>
            </a:r>
            <a:r>
              <a:rPr lang="en-AU" sz="2400" dirty="0"/>
              <a:t> [2 marks] The first solution is to anonymize customer data. List a specific technique of this solution and what could go wrong with this technique?</a:t>
            </a:r>
          </a:p>
          <a:p>
            <a:pPr marL="36900" indent="0">
              <a:buNone/>
            </a:pPr>
            <a:r>
              <a:rPr lang="en-AU" sz="2400" dirty="0">
                <a:solidFill>
                  <a:srgbClr val="FF0000"/>
                </a:solidFill>
              </a:rPr>
              <a:t>Part 2 </a:t>
            </a:r>
            <a:r>
              <a:rPr lang="en-AU" sz="2400" dirty="0"/>
              <a:t>[2 marks] The company decided to use a privacy-preserving technique. Which one and why?</a:t>
            </a:r>
          </a:p>
          <a:p>
            <a:pPr marL="36900" indent="0">
              <a:buNone/>
            </a:pPr>
            <a:r>
              <a:rPr lang="en-AU" sz="2400" dirty="0">
                <a:solidFill>
                  <a:srgbClr val="FF0000"/>
                </a:solidFill>
              </a:rPr>
              <a:t>Part 3 </a:t>
            </a:r>
            <a:r>
              <a:rPr lang="en-AU" sz="2400" dirty="0"/>
              <a:t>[2 marks] There is a malicious employee in the company that wants to sell customer data. What could be done to mitigate such attacks?</a:t>
            </a:r>
          </a:p>
        </p:txBody>
      </p:sp>
    </p:spTree>
    <p:extLst>
      <p:ext uri="{BB962C8B-B14F-4D97-AF65-F5344CB8AC3E}">
        <p14:creationId xmlns:p14="http://schemas.microsoft.com/office/powerpoint/2010/main" val="25180831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906767"/>
          </a:xfrm>
        </p:spPr>
        <p:txBody>
          <a:bodyPr/>
          <a:lstStyle/>
          <a:p>
            <a:r>
              <a:rPr lang="en-AU" dirty="0"/>
              <a:t>Example Question 5</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03752" y="1066801"/>
            <a:ext cx="10874591" cy="4868634"/>
          </a:xfrm>
        </p:spPr>
        <p:txBody>
          <a:bodyPr>
            <a:normAutofit/>
          </a:bodyPr>
          <a:lstStyle/>
          <a:p>
            <a:pPr marL="36900" indent="0">
              <a:buNone/>
            </a:pPr>
            <a:r>
              <a:rPr lang="en-AU" sz="2400" dirty="0">
                <a:solidFill>
                  <a:srgbClr val="FF0000"/>
                </a:solidFill>
              </a:rPr>
              <a:t>Part 1 </a:t>
            </a:r>
            <a:r>
              <a:rPr lang="en-AU" sz="2400" dirty="0"/>
              <a:t>[2 marks] The first solution is to anonymize customer data. List a specific technique of this solution and what could go wrong with this technique?</a:t>
            </a:r>
          </a:p>
        </p:txBody>
      </p:sp>
    </p:spTree>
    <p:extLst>
      <p:ext uri="{BB962C8B-B14F-4D97-AF65-F5344CB8AC3E}">
        <p14:creationId xmlns:p14="http://schemas.microsoft.com/office/powerpoint/2010/main" val="31519140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906767"/>
          </a:xfrm>
        </p:spPr>
        <p:txBody>
          <a:bodyPr/>
          <a:lstStyle/>
          <a:p>
            <a:r>
              <a:rPr lang="en-AU" dirty="0"/>
              <a:t>Example Question 5</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03752" y="1066801"/>
            <a:ext cx="10874591" cy="4868634"/>
          </a:xfrm>
        </p:spPr>
        <p:txBody>
          <a:bodyPr>
            <a:normAutofit/>
          </a:bodyPr>
          <a:lstStyle/>
          <a:p>
            <a:pPr marL="36900" indent="0">
              <a:buNone/>
            </a:pPr>
            <a:r>
              <a:rPr lang="en-AU" sz="2400" dirty="0">
                <a:solidFill>
                  <a:srgbClr val="FF0000"/>
                </a:solidFill>
              </a:rPr>
              <a:t>Part 1 </a:t>
            </a:r>
            <a:r>
              <a:rPr lang="en-AU" sz="2400" dirty="0"/>
              <a:t>[2 marks] The first solution is to anonymize customer data. List a specific technique of this solution and what could go wrong with this technique?</a:t>
            </a:r>
          </a:p>
          <a:p>
            <a:pPr marL="36900" indent="0">
              <a:buNone/>
            </a:pPr>
            <a:endParaRPr lang="en-AU" sz="2400" dirty="0"/>
          </a:p>
          <a:p>
            <a:pPr marL="342900" lvl="0" indent="-342900" fontAlgn="base">
              <a:buClr>
                <a:srgbClr val="FF0000"/>
              </a:buClr>
              <a:buFont typeface="Symbol" panose="05050102010706020507" pitchFamily="18" charset="2"/>
              <a:buChar char=""/>
            </a:pPr>
            <a:r>
              <a:rPr lang="en-US" sz="2400" dirty="0">
                <a:solidFill>
                  <a:srgbClr val="FF0000"/>
                </a:solidFill>
              </a:rPr>
              <a:t>[1 mark] </a:t>
            </a:r>
            <a:r>
              <a:rPr lang="en-AU" sz="2400" dirty="0">
                <a:solidFill>
                  <a:srgbClr val="FF0000"/>
                </a:solidFill>
              </a:rPr>
              <a:t>data masking: it removes personally identifiable data such as user names </a:t>
            </a:r>
            <a:r>
              <a:rPr lang="en-US" sz="2400" dirty="0">
                <a:solidFill>
                  <a:srgbClr val="FF0000"/>
                </a:solidFill>
              </a:rPr>
              <a:t>that may lead to an individual being identified</a:t>
            </a:r>
            <a:endParaRPr lang="en-AU" sz="2400" dirty="0">
              <a:solidFill>
                <a:srgbClr val="FF0000"/>
              </a:solidFill>
            </a:endParaRPr>
          </a:p>
          <a:p>
            <a:pPr indent="-342900" fontAlgn="base">
              <a:buClr>
                <a:srgbClr val="FF0000"/>
              </a:buClr>
              <a:buFont typeface="Symbol" panose="05050102010706020507" pitchFamily="18" charset="2"/>
              <a:buChar char=""/>
            </a:pPr>
            <a:r>
              <a:rPr lang="en-AU" sz="2400" dirty="0">
                <a:solidFill>
                  <a:srgbClr val="FF0000"/>
                </a:solidFill>
              </a:rPr>
              <a:t>[1 mark] the technique is vulnerable to data linking attack, which </a:t>
            </a:r>
            <a:r>
              <a:rPr lang="en-US" sz="2400" dirty="0">
                <a:solidFill>
                  <a:srgbClr val="FF0000"/>
                </a:solidFill>
              </a:rPr>
              <a:t>correlates anonymized data with publicly available data sources to re-identify customers</a:t>
            </a:r>
            <a:r>
              <a:rPr lang="en-AU" sz="2400" dirty="0">
                <a:solidFill>
                  <a:srgbClr val="FF0000"/>
                </a:solidFill>
              </a:rPr>
              <a:t>. </a:t>
            </a:r>
            <a:endParaRPr lang="en-AU" sz="2400" dirty="0"/>
          </a:p>
          <a:p>
            <a:pPr marL="36900" indent="0">
              <a:buNone/>
            </a:pPr>
            <a:endParaRPr lang="en-AU" sz="2400" dirty="0"/>
          </a:p>
        </p:txBody>
      </p:sp>
    </p:spTree>
    <p:extLst>
      <p:ext uri="{BB962C8B-B14F-4D97-AF65-F5344CB8AC3E}">
        <p14:creationId xmlns:p14="http://schemas.microsoft.com/office/powerpoint/2010/main" val="13759487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5</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363805" cy="4868634"/>
          </a:xfrm>
        </p:spPr>
        <p:txBody>
          <a:bodyPr>
            <a:normAutofit/>
          </a:bodyPr>
          <a:lstStyle/>
          <a:p>
            <a:pPr marL="36900" indent="0">
              <a:buNone/>
            </a:pPr>
            <a:r>
              <a:rPr lang="en-AU" sz="2400" dirty="0">
                <a:solidFill>
                  <a:srgbClr val="FF0000"/>
                </a:solidFill>
              </a:rPr>
              <a:t>Part 2 </a:t>
            </a:r>
            <a:r>
              <a:rPr lang="en-AU" sz="2400" dirty="0"/>
              <a:t>[2 marks] The company decided to use a privacy-preserving solution. Which one and why?</a:t>
            </a:r>
          </a:p>
        </p:txBody>
      </p:sp>
    </p:spTree>
    <p:extLst>
      <p:ext uri="{BB962C8B-B14F-4D97-AF65-F5344CB8AC3E}">
        <p14:creationId xmlns:p14="http://schemas.microsoft.com/office/powerpoint/2010/main" val="974594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5</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363805" cy="4868634"/>
          </a:xfrm>
        </p:spPr>
        <p:txBody>
          <a:bodyPr>
            <a:normAutofit/>
          </a:bodyPr>
          <a:lstStyle/>
          <a:p>
            <a:pPr marL="36900" indent="0">
              <a:buNone/>
            </a:pPr>
            <a:r>
              <a:rPr lang="en-AU" sz="2400" dirty="0">
                <a:solidFill>
                  <a:srgbClr val="FF0000"/>
                </a:solidFill>
              </a:rPr>
              <a:t>Part 2 </a:t>
            </a:r>
            <a:r>
              <a:rPr lang="en-AU" sz="2400" dirty="0"/>
              <a:t>[2 marks] The company decided to use a privacy-preserving solution. Which one and why?</a:t>
            </a:r>
          </a:p>
          <a:p>
            <a:pPr marL="36900" indent="0">
              <a:buNone/>
            </a:pPr>
            <a:endParaRPr lang="en-AU" sz="2400" dirty="0"/>
          </a:p>
          <a:p>
            <a:pPr indent="-342900" fontAlgn="base">
              <a:buClr>
                <a:srgbClr val="FF0000"/>
              </a:buClr>
              <a:buFont typeface="Symbol" panose="05050102010706020507" pitchFamily="18" charset="2"/>
              <a:buChar char=""/>
            </a:pPr>
            <a:r>
              <a:rPr lang="en-US" sz="2400" dirty="0">
                <a:solidFill>
                  <a:srgbClr val="FF0000"/>
                </a:solidFill>
              </a:rPr>
              <a:t>[1 mark] </a:t>
            </a:r>
            <a:r>
              <a:rPr lang="en-AU" sz="2400" dirty="0">
                <a:solidFill>
                  <a:srgbClr val="FF0000"/>
                </a:solidFill>
              </a:rPr>
              <a:t>Homographic Encryption </a:t>
            </a:r>
            <a:r>
              <a:rPr lang="en-US" sz="2400" dirty="0">
                <a:solidFill>
                  <a:srgbClr val="FF0000"/>
                </a:solidFill>
              </a:rPr>
              <a:t>(HE). </a:t>
            </a:r>
          </a:p>
          <a:p>
            <a:pPr indent="-342900" fontAlgn="base">
              <a:buClr>
                <a:srgbClr val="FF0000"/>
              </a:buClr>
              <a:buFont typeface="Symbol" panose="05050102010706020507" pitchFamily="18" charset="2"/>
              <a:buChar char=""/>
            </a:pPr>
            <a:r>
              <a:rPr lang="en-US" sz="2400" dirty="0">
                <a:solidFill>
                  <a:srgbClr val="FF0000"/>
                </a:solidFill>
              </a:rPr>
              <a:t>[1 mark] Because HE allows data analysis to be performed on encrypted data, the power company does not have to outsource its raw user data.  </a:t>
            </a:r>
            <a:endParaRPr lang="en-AU" sz="2400" dirty="0">
              <a:solidFill>
                <a:srgbClr val="FF0000"/>
              </a:solidFill>
            </a:endParaRPr>
          </a:p>
          <a:p>
            <a:pPr marL="36900" indent="0">
              <a:buNone/>
            </a:pPr>
            <a:endParaRPr lang="en-AU" sz="2400" dirty="0"/>
          </a:p>
        </p:txBody>
      </p:sp>
    </p:spTree>
    <p:extLst>
      <p:ext uri="{BB962C8B-B14F-4D97-AF65-F5344CB8AC3E}">
        <p14:creationId xmlns:p14="http://schemas.microsoft.com/office/powerpoint/2010/main" val="40810967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5</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363805" cy="4868634"/>
          </a:xfrm>
        </p:spPr>
        <p:txBody>
          <a:bodyPr>
            <a:normAutofit/>
          </a:bodyPr>
          <a:lstStyle/>
          <a:p>
            <a:pPr marL="36900" indent="0">
              <a:buNone/>
            </a:pPr>
            <a:r>
              <a:rPr lang="en-AU" sz="2400" dirty="0">
                <a:solidFill>
                  <a:srgbClr val="FF0000"/>
                </a:solidFill>
              </a:rPr>
              <a:t>Part 3 </a:t>
            </a:r>
            <a:r>
              <a:rPr lang="en-AU" sz="2400" dirty="0"/>
              <a:t>[2 marks] There is a malicious employee in the company that wants to sell customer data. What could be done to mitigate such attacks?</a:t>
            </a:r>
          </a:p>
          <a:p>
            <a:pPr marL="36900" indent="0">
              <a:buNone/>
            </a:pPr>
            <a:endParaRPr lang="en-AU" sz="2400" dirty="0"/>
          </a:p>
          <a:p>
            <a:pPr marL="36900" indent="0">
              <a:buNone/>
            </a:pPr>
            <a:endParaRPr lang="en-AU" sz="2400" dirty="0"/>
          </a:p>
        </p:txBody>
      </p:sp>
    </p:spTree>
    <p:extLst>
      <p:ext uri="{BB962C8B-B14F-4D97-AF65-F5344CB8AC3E}">
        <p14:creationId xmlns:p14="http://schemas.microsoft.com/office/powerpoint/2010/main" val="40157994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5</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363805" cy="4868634"/>
          </a:xfrm>
        </p:spPr>
        <p:txBody>
          <a:bodyPr>
            <a:normAutofit/>
          </a:bodyPr>
          <a:lstStyle/>
          <a:p>
            <a:pPr marL="36900" indent="0">
              <a:buNone/>
            </a:pPr>
            <a:r>
              <a:rPr lang="en-AU" sz="2400" dirty="0">
                <a:solidFill>
                  <a:srgbClr val="FF0000"/>
                </a:solidFill>
              </a:rPr>
              <a:t>Part 3 </a:t>
            </a:r>
            <a:r>
              <a:rPr lang="en-AU" sz="2400" dirty="0"/>
              <a:t>[2 marks] There is a malicious employee in the company that wants to sell customer data. What could be done to mitigate such attacks?</a:t>
            </a:r>
          </a:p>
          <a:p>
            <a:pPr marL="36900" indent="0">
              <a:buNone/>
            </a:pPr>
            <a:endParaRPr lang="en-US" sz="2400" dirty="0">
              <a:solidFill>
                <a:srgbClr val="FF0000"/>
              </a:solidFill>
            </a:endParaRPr>
          </a:p>
          <a:p>
            <a:pPr indent="-342900" fontAlgn="base">
              <a:buClr>
                <a:srgbClr val="FF0000"/>
              </a:buClr>
              <a:buFont typeface="Symbol" panose="05050102010706020507" pitchFamily="18" charset="2"/>
              <a:buChar char=""/>
            </a:pPr>
            <a:r>
              <a:rPr lang="en-US" sz="2400" dirty="0">
                <a:solidFill>
                  <a:srgbClr val="FF0000"/>
                </a:solidFill>
              </a:rPr>
              <a:t>[2 marks] Implement a monitoring system to track access to customer data. By doing so, data access, modifications, and transfers will be tracked to detect any suspicious or unauthorized behaviors. </a:t>
            </a:r>
          </a:p>
          <a:p>
            <a:pPr marL="36900" indent="0">
              <a:buNone/>
            </a:pPr>
            <a:endParaRPr lang="en-AU" sz="2400" dirty="0"/>
          </a:p>
        </p:txBody>
      </p:sp>
    </p:spTree>
    <p:extLst>
      <p:ext uri="{BB962C8B-B14F-4D97-AF65-F5344CB8AC3E}">
        <p14:creationId xmlns:p14="http://schemas.microsoft.com/office/powerpoint/2010/main" val="30226556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243031" y="799925"/>
            <a:ext cx="8767965" cy="546736"/>
          </a:xfrm>
        </p:spPr>
        <p:txBody>
          <a:bodyPr/>
          <a:lstStyle/>
          <a:p>
            <a:r>
              <a:rPr lang="en-US" sz="2400" dirty="0">
                <a:solidFill>
                  <a:srgbClr val="FF0000"/>
                </a:solidFill>
                <a:latin typeface="+mn-lt"/>
                <a:ea typeface="+mn-ea"/>
                <a:cs typeface="+mn-cs"/>
              </a:rPr>
              <a:t>Part 1 </a:t>
            </a:r>
            <a:r>
              <a:rPr lang="en-US" sz="2400" dirty="0">
                <a:latin typeface="+mn-lt"/>
                <a:ea typeface="+mn-ea"/>
                <a:cs typeface="+mn-cs"/>
              </a:rPr>
              <a:t>Translate the attack-defense tree described below into code.</a:t>
            </a:r>
            <a:endParaRPr lang="en-AU" sz="2400" dirty="0">
              <a:latin typeface="+mn-lt"/>
              <a:ea typeface="+mn-ea"/>
              <a:cs typeface="+mn-cs"/>
            </a:endParaRPr>
          </a:p>
        </p:txBody>
      </p:sp>
      <p:sp>
        <p:nvSpPr>
          <p:cNvPr id="5" name="Title 1">
            <a:extLst>
              <a:ext uri="{FF2B5EF4-FFF2-40B4-BE49-F238E27FC236}">
                <a16:creationId xmlns:a16="http://schemas.microsoft.com/office/drawing/2014/main" id="{7F5B0894-DE45-40DF-81F4-90CA4E9FF03C}"/>
              </a:ext>
            </a:extLst>
          </p:cNvPr>
          <p:cNvSpPr txBox="1">
            <a:spLocks/>
          </p:cNvSpPr>
          <p:nvPr/>
        </p:nvSpPr>
        <p:spPr>
          <a:xfrm>
            <a:off x="913795" y="38100"/>
            <a:ext cx="10353762" cy="710045"/>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dirty="0"/>
              <a:t>Example Question 6</a:t>
            </a:r>
          </a:p>
        </p:txBody>
      </p:sp>
      <p:pic>
        <p:nvPicPr>
          <p:cNvPr id="1026" name="Picture 2">
            <a:extLst>
              <a:ext uri="{FF2B5EF4-FFF2-40B4-BE49-F238E27FC236}">
                <a16:creationId xmlns:a16="http://schemas.microsoft.com/office/drawing/2014/main" id="{59E29EA4-D58B-42FE-A83E-329DFC32C1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055" y="1579878"/>
            <a:ext cx="10701241" cy="4678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70311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243031" y="799925"/>
            <a:ext cx="8767965" cy="546736"/>
          </a:xfrm>
        </p:spPr>
        <p:txBody>
          <a:bodyPr/>
          <a:lstStyle/>
          <a:p>
            <a:r>
              <a:rPr lang="en-US" sz="2400" dirty="0">
                <a:solidFill>
                  <a:srgbClr val="FF0000"/>
                </a:solidFill>
                <a:latin typeface="+mn-lt"/>
                <a:ea typeface="+mn-ea"/>
                <a:cs typeface="+mn-cs"/>
              </a:rPr>
              <a:t>Part 1 </a:t>
            </a:r>
            <a:r>
              <a:rPr lang="en-US" sz="2400" dirty="0">
                <a:latin typeface="+mn-lt"/>
                <a:ea typeface="+mn-ea"/>
                <a:cs typeface="+mn-cs"/>
              </a:rPr>
              <a:t>Translate the attack-defense tree described below into code.</a:t>
            </a:r>
            <a:endParaRPr lang="en-AU" sz="2400" dirty="0">
              <a:latin typeface="+mn-lt"/>
              <a:ea typeface="+mn-ea"/>
              <a:cs typeface="+mn-cs"/>
            </a:endParaRPr>
          </a:p>
        </p:txBody>
      </p:sp>
      <p:sp>
        <p:nvSpPr>
          <p:cNvPr id="5" name="Title 1">
            <a:extLst>
              <a:ext uri="{FF2B5EF4-FFF2-40B4-BE49-F238E27FC236}">
                <a16:creationId xmlns:a16="http://schemas.microsoft.com/office/drawing/2014/main" id="{7F5B0894-DE45-40DF-81F4-90CA4E9FF03C}"/>
              </a:ext>
            </a:extLst>
          </p:cNvPr>
          <p:cNvSpPr txBox="1">
            <a:spLocks/>
          </p:cNvSpPr>
          <p:nvPr/>
        </p:nvSpPr>
        <p:spPr>
          <a:xfrm>
            <a:off x="913795" y="38100"/>
            <a:ext cx="10353762" cy="710045"/>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dirty="0"/>
              <a:t>Example Question 6</a:t>
            </a:r>
          </a:p>
        </p:txBody>
      </p:sp>
      <p:pic>
        <p:nvPicPr>
          <p:cNvPr id="3074" name="Picture 2">
            <a:extLst>
              <a:ext uri="{FF2B5EF4-FFF2-40B4-BE49-F238E27FC236}">
                <a16:creationId xmlns:a16="http://schemas.microsoft.com/office/drawing/2014/main" id="{D821FDFD-CA6A-426F-8E68-AF84358ED4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7694" y="1398441"/>
            <a:ext cx="5970494" cy="511073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8D6826D-9825-426E-B60D-6BEABC3E6646}"/>
              </a:ext>
            </a:extLst>
          </p:cNvPr>
          <p:cNvSpPr txBox="1"/>
          <p:nvPr/>
        </p:nvSpPr>
        <p:spPr>
          <a:xfrm>
            <a:off x="303892" y="1330687"/>
            <a:ext cx="1219806" cy="461665"/>
          </a:xfrm>
          <a:prstGeom prst="rect">
            <a:avLst/>
          </a:prstGeom>
          <a:noFill/>
        </p:spPr>
        <p:txBody>
          <a:bodyPr wrap="square">
            <a:spAutoFit/>
          </a:bodyPr>
          <a:lstStyle/>
          <a:p>
            <a:pPr rtl="0">
              <a:spcBef>
                <a:spcPts val="0"/>
              </a:spcBef>
              <a:spcAft>
                <a:spcPts val="0"/>
              </a:spcAft>
            </a:pPr>
            <a:r>
              <a:rPr lang="en-US"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Answer:</a:t>
            </a:r>
            <a:endParaRPr lang="en-AU" sz="24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41747975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282227" y="764770"/>
            <a:ext cx="11627545" cy="1296786"/>
          </a:xfrm>
        </p:spPr>
        <p:txBody>
          <a:bodyPr>
            <a:normAutofit/>
          </a:bodyPr>
          <a:lstStyle/>
          <a:p>
            <a:pPr algn="l" rtl="0">
              <a:spcBef>
                <a:spcPts val="0"/>
              </a:spcBef>
              <a:spcAft>
                <a:spcPts val="0"/>
              </a:spcAft>
            </a:pPr>
            <a:r>
              <a:rPr lang="en-US" sz="2400" dirty="0">
                <a:solidFill>
                  <a:srgbClr val="FF0000"/>
                </a:solidFill>
                <a:latin typeface="+mn-lt"/>
                <a:ea typeface="+mn-ea"/>
                <a:cs typeface="+mn-cs"/>
              </a:rPr>
              <a:t>Part 2 </a:t>
            </a:r>
            <a:r>
              <a:rPr lang="en-US" sz="2400" dirty="0">
                <a:latin typeface="+mn-lt"/>
                <a:ea typeface="+mn-ea"/>
                <a:cs typeface="+mn-cs"/>
              </a:rPr>
              <a:t>In the attack-defense tree mentioned previously, each editable node has been assigned an initial success-probability value. Calculate the success probability value for each node marked with a question mark.</a:t>
            </a:r>
            <a:endParaRPr lang="en-AU" sz="2400" dirty="0">
              <a:latin typeface="+mn-lt"/>
              <a:ea typeface="+mn-ea"/>
              <a:cs typeface="+mn-cs"/>
            </a:endParaRPr>
          </a:p>
        </p:txBody>
      </p:sp>
      <p:sp>
        <p:nvSpPr>
          <p:cNvPr id="5" name="Title 1">
            <a:extLst>
              <a:ext uri="{FF2B5EF4-FFF2-40B4-BE49-F238E27FC236}">
                <a16:creationId xmlns:a16="http://schemas.microsoft.com/office/drawing/2014/main" id="{7F5B0894-DE45-40DF-81F4-90CA4E9FF03C}"/>
              </a:ext>
            </a:extLst>
          </p:cNvPr>
          <p:cNvSpPr txBox="1">
            <a:spLocks/>
          </p:cNvSpPr>
          <p:nvPr/>
        </p:nvSpPr>
        <p:spPr>
          <a:xfrm>
            <a:off x="913795" y="54725"/>
            <a:ext cx="10353762" cy="710045"/>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dirty="0"/>
              <a:t>Example Question 6</a:t>
            </a:r>
          </a:p>
        </p:txBody>
      </p:sp>
    </p:spTree>
    <p:extLst>
      <p:ext uri="{BB962C8B-B14F-4D97-AF65-F5344CB8AC3E}">
        <p14:creationId xmlns:p14="http://schemas.microsoft.com/office/powerpoint/2010/main" val="11609800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22A5540C-AA78-4657-865C-27FF42377EC9}"/>
              </a:ext>
            </a:extLst>
          </p:cNvPr>
          <p:cNvSpPr txBox="1">
            <a:spLocks/>
          </p:cNvSpPr>
          <p:nvPr/>
        </p:nvSpPr>
        <p:spPr>
          <a:xfrm>
            <a:off x="415338" y="335286"/>
            <a:ext cx="11627545" cy="525187"/>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spcBef>
                <a:spcPts val="0"/>
              </a:spcBef>
            </a:pPr>
            <a:r>
              <a:rPr lang="en-US" sz="2400" dirty="0">
                <a:solidFill>
                  <a:srgbClr val="FF0000"/>
                </a:solidFill>
                <a:latin typeface="+mn-lt"/>
                <a:ea typeface="+mn-ea"/>
                <a:cs typeface="+mn-cs"/>
              </a:rPr>
              <a:t>Part 2</a:t>
            </a:r>
            <a:endParaRPr lang="en-AU" sz="2400" dirty="0">
              <a:latin typeface="+mn-lt"/>
              <a:ea typeface="+mn-ea"/>
              <a:cs typeface="+mn-cs"/>
            </a:endParaRPr>
          </a:p>
        </p:txBody>
      </p:sp>
      <p:sp>
        <p:nvSpPr>
          <p:cNvPr id="23" name="Title 1">
            <a:extLst>
              <a:ext uri="{FF2B5EF4-FFF2-40B4-BE49-F238E27FC236}">
                <a16:creationId xmlns:a16="http://schemas.microsoft.com/office/drawing/2014/main" id="{FF207394-4D38-4E05-9334-2F8FECB8A095}"/>
              </a:ext>
            </a:extLst>
          </p:cNvPr>
          <p:cNvSpPr txBox="1">
            <a:spLocks/>
          </p:cNvSpPr>
          <p:nvPr/>
        </p:nvSpPr>
        <p:spPr>
          <a:xfrm>
            <a:off x="913795" y="54725"/>
            <a:ext cx="10353762" cy="710045"/>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dirty="0"/>
              <a:t>Example Question 6</a:t>
            </a:r>
          </a:p>
        </p:txBody>
      </p:sp>
      <p:pic>
        <p:nvPicPr>
          <p:cNvPr id="2050" name="Picture 2">
            <a:extLst>
              <a:ext uri="{FF2B5EF4-FFF2-40B4-BE49-F238E27FC236}">
                <a16:creationId xmlns:a16="http://schemas.microsoft.com/office/drawing/2014/main" id="{9CE5D691-1CE7-4B11-8A13-D88B3127CD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3795" y="935421"/>
            <a:ext cx="10284768" cy="498715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07BA7B64-6AF9-4C08-AAEF-1353B9D28CB3}"/>
              </a:ext>
            </a:extLst>
          </p:cNvPr>
          <p:cNvPicPr>
            <a:picLocks noChangeAspect="1"/>
          </p:cNvPicPr>
          <p:nvPr/>
        </p:nvPicPr>
        <p:blipFill>
          <a:blip r:embed="rId4"/>
          <a:stretch>
            <a:fillRect/>
          </a:stretch>
        </p:blipFill>
        <p:spPr>
          <a:xfrm>
            <a:off x="8716611" y="935421"/>
            <a:ext cx="3220262" cy="1627742"/>
          </a:xfrm>
          <a:prstGeom prst="rect">
            <a:avLst/>
          </a:prstGeom>
        </p:spPr>
      </p:pic>
      <p:sp>
        <p:nvSpPr>
          <p:cNvPr id="24" name="TextBox 23">
            <a:extLst>
              <a:ext uri="{FF2B5EF4-FFF2-40B4-BE49-F238E27FC236}">
                <a16:creationId xmlns:a16="http://schemas.microsoft.com/office/drawing/2014/main" id="{250C0F0F-822B-4337-9AF3-C49E4E825FB1}"/>
              </a:ext>
            </a:extLst>
          </p:cNvPr>
          <p:cNvSpPr txBox="1"/>
          <p:nvPr/>
        </p:nvSpPr>
        <p:spPr>
          <a:xfrm>
            <a:off x="913794" y="6203110"/>
            <a:ext cx="10740323" cy="400110"/>
          </a:xfrm>
          <a:prstGeom prst="rect">
            <a:avLst/>
          </a:prstGeom>
          <a:noFill/>
        </p:spPr>
        <p:txBody>
          <a:bodyPr wrap="square">
            <a:spAutoFit/>
          </a:bodyPr>
          <a:lstStyle/>
          <a:p>
            <a:pPr rtl="0">
              <a:spcBef>
                <a:spcPts val="0"/>
              </a:spcBef>
              <a:spcAft>
                <a:spcPts val="0"/>
              </a:spcAft>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Answer: 1: 0.0972; 2: 0.0972; 3: 0.27; 4: 0.6; 5: 0.4</a:t>
            </a:r>
            <a:endParaRPr lang="en-AU"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26490769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7</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363805" cy="4868634"/>
          </a:xfrm>
        </p:spPr>
        <p:txBody>
          <a:bodyPr>
            <a:normAutofit fontScale="92500" lnSpcReduction="10000"/>
          </a:bodyPr>
          <a:lstStyle/>
          <a:p>
            <a:pPr marL="36900" indent="0">
              <a:buNone/>
            </a:pPr>
            <a:r>
              <a:rPr lang="en-US" sz="2400" dirty="0"/>
              <a:t>Alice wants to send Bob a secret message. To keep the message confidential, she decides to use steganography.</a:t>
            </a:r>
            <a:endParaRPr lang="en-AU" sz="2400" dirty="0"/>
          </a:p>
          <a:p>
            <a:pPr marL="36900" indent="0">
              <a:buNone/>
            </a:pPr>
            <a:r>
              <a:rPr lang="en-AU" sz="2400" dirty="0">
                <a:solidFill>
                  <a:srgbClr val="FF0000"/>
                </a:solidFill>
              </a:rPr>
              <a:t>Part 1</a:t>
            </a:r>
            <a:r>
              <a:rPr lang="en-AU" sz="2400" dirty="0"/>
              <a:t> </a:t>
            </a:r>
            <a:r>
              <a:rPr lang="en-US" sz="2400" dirty="0"/>
              <a:t>[5 marks] List 2 mediums that Alice can use for steganography. Explain 2 different steganography techniques that Alice can use, and provide an example for each technique to demonstrate how they work.</a:t>
            </a:r>
            <a:endParaRPr lang="en-AU" sz="2400" dirty="0"/>
          </a:p>
          <a:p>
            <a:pPr marL="36900" indent="0" rtl="0">
              <a:spcBef>
                <a:spcPts val="0"/>
              </a:spcBef>
              <a:spcAft>
                <a:spcPts val="0"/>
              </a:spcAft>
              <a:buNone/>
            </a:pPr>
            <a:r>
              <a:rPr lang="en-AU" sz="2400" dirty="0">
                <a:solidFill>
                  <a:srgbClr val="FF0000"/>
                </a:solidFill>
              </a:rPr>
              <a:t>Part 2</a:t>
            </a:r>
            <a:r>
              <a:rPr lang="en-AU" sz="2400" dirty="0"/>
              <a:t> </a:t>
            </a:r>
            <a:r>
              <a:rPr lang="en-US" sz="2400" dirty="0"/>
              <a:t>[6 marks] Alice ultimately chooses to use text for steganography, but she is concerned that an attacker may use steganalysis methods to uncover her secret message. Compare 2 text steganography techniques including their respective advantages and limitations. </a:t>
            </a:r>
          </a:p>
          <a:p>
            <a:pPr marL="36900" indent="0" rtl="0">
              <a:spcBef>
                <a:spcPts val="0"/>
              </a:spcBef>
              <a:spcAft>
                <a:spcPts val="0"/>
              </a:spcAft>
              <a:buNone/>
            </a:pPr>
            <a:r>
              <a:rPr lang="en-US" sz="2400" dirty="0">
                <a:solidFill>
                  <a:srgbClr val="FF0000"/>
                </a:solidFill>
              </a:rPr>
              <a:t>Part 3</a:t>
            </a:r>
            <a:r>
              <a:rPr lang="en-US" sz="2400" dirty="0"/>
              <a:t> [2 marks] Explain why MSB is not typically used for image steganography compared to LSB</a:t>
            </a:r>
            <a:br>
              <a:rPr lang="en-US" sz="2000" dirty="0"/>
            </a:br>
            <a:r>
              <a:rPr lang="en-AU" sz="2400" dirty="0">
                <a:solidFill>
                  <a:srgbClr val="FF0000"/>
                </a:solidFill>
              </a:rPr>
              <a:t>Part 4 </a:t>
            </a:r>
            <a:r>
              <a:rPr lang="en-US" sz="2400" dirty="0"/>
              <a:t>[4 marks] Outline the steps of the digital forensics process and provide a brief explanation of key activities that take place during each step.</a:t>
            </a:r>
          </a:p>
        </p:txBody>
      </p:sp>
    </p:spTree>
    <p:extLst>
      <p:ext uri="{BB962C8B-B14F-4D97-AF65-F5344CB8AC3E}">
        <p14:creationId xmlns:p14="http://schemas.microsoft.com/office/powerpoint/2010/main" val="31274782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7</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524519" cy="4868634"/>
          </a:xfrm>
        </p:spPr>
        <p:txBody>
          <a:bodyPr>
            <a:normAutofit/>
          </a:bodyPr>
          <a:lstStyle/>
          <a:p>
            <a:pPr marL="36900" indent="0">
              <a:spcBef>
                <a:spcPts val="0"/>
              </a:spcBef>
              <a:spcAft>
                <a:spcPts val="0"/>
              </a:spcAft>
              <a:buNone/>
            </a:pPr>
            <a:r>
              <a:rPr lang="en-AU" sz="2400" dirty="0">
                <a:solidFill>
                  <a:srgbClr val="FF0000"/>
                </a:solidFill>
              </a:rPr>
              <a:t>Part 1</a:t>
            </a:r>
            <a:r>
              <a:rPr lang="en-AU" sz="2400" dirty="0"/>
              <a:t> </a:t>
            </a:r>
            <a:r>
              <a:rPr lang="en-US" sz="2400" dirty="0"/>
              <a:t>[5 marks] List 2 mediums that Alice can use for steganography. Explain 2 different steganography techniques that Alice can use, and provide an example for each technique to demonstrate how they work.</a:t>
            </a:r>
          </a:p>
          <a:p>
            <a:pPr marL="36900" indent="0">
              <a:buNone/>
            </a:pPr>
            <a:endParaRPr lang="en-US" sz="2400" dirty="0">
              <a:solidFill>
                <a:srgbClr val="FF0000"/>
              </a:solidFill>
            </a:endParaRPr>
          </a:p>
        </p:txBody>
      </p:sp>
    </p:spTree>
    <p:extLst>
      <p:ext uri="{BB962C8B-B14F-4D97-AF65-F5344CB8AC3E}">
        <p14:creationId xmlns:p14="http://schemas.microsoft.com/office/powerpoint/2010/main" val="22434143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720351" y="36099"/>
            <a:ext cx="10353762" cy="1051003"/>
          </a:xfrm>
        </p:spPr>
        <p:txBody>
          <a:bodyPr/>
          <a:lstStyle/>
          <a:p>
            <a:r>
              <a:rPr lang="en-AU" dirty="0"/>
              <a:t>Example Question 7</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20351" y="1140280"/>
            <a:ext cx="11077202" cy="4868634"/>
          </a:xfrm>
        </p:spPr>
        <p:txBody>
          <a:bodyPr>
            <a:normAutofit fontScale="77500" lnSpcReduction="20000"/>
          </a:bodyPr>
          <a:lstStyle/>
          <a:p>
            <a:pPr marL="36900" indent="0">
              <a:spcBef>
                <a:spcPts val="0"/>
              </a:spcBef>
              <a:spcAft>
                <a:spcPts val="0"/>
              </a:spcAft>
              <a:buNone/>
            </a:pPr>
            <a:r>
              <a:rPr lang="en-AU" sz="2400" dirty="0">
                <a:solidFill>
                  <a:srgbClr val="FF0000"/>
                </a:solidFill>
              </a:rPr>
              <a:t>Part 1</a:t>
            </a:r>
            <a:r>
              <a:rPr lang="en-AU" sz="2400" dirty="0"/>
              <a:t> </a:t>
            </a:r>
            <a:r>
              <a:rPr lang="en-US" sz="2400" dirty="0"/>
              <a:t>[5 marks] List 2 mediums that Alice can use for steganography. Explain 2 different steganography techniques that Alice can use, and provide an example for each technique to demonstrate how they work.</a:t>
            </a:r>
          </a:p>
          <a:p>
            <a:pPr marL="36900" indent="0" rtl="0">
              <a:spcBef>
                <a:spcPts val="0"/>
              </a:spcBef>
              <a:spcAft>
                <a:spcPts val="0"/>
              </a:spcAft>
              <a:buNone/>
            </a:pPr>
            <a:endParaRPr lang="en-US" sz="2400" dirty="0"/>
          </a:p>
          <a:p>
            <a:pPr marL="36900" indent="0" rtl="0">
              <a:spcBef>
                <a:spcPts val="0"/>
              </a:spcBef>
              <a:spcAft>
                <a:spcPts val="0"/>
              </a:spcAft>
              <a:buNone/>
            </a:pPr>
            <a:r>
              <a:rPr lang="en-US" sz="2600" dirty="0">
                <a:solidFill>
                  <a:srgbClr val="FF0000"/>
                </a:solidFill>
              </a:rPr>
              <a:t>[0.5 mark] image</a:t>
            </a:r>
          </a:p>
          <a:p>
            <a:pPr marL="36900" indent="0" rtl="0">
              <a:spcBef>
                <a:spcPts val="0"/>
              </a:spcBef>
              <a:spcAft>
                <a:spcPts val="0"/>
              </a:spcAft>
              <a:buNone/>
            </a:pPr>
            <a:r>
              <a:rPr lang="en-US" sz="2600" dirty="0">
                <a:solidFill>
                  <a:srgbClr val="FF0000"/>
                </a:solidFill>
              </a:rPr>
              <a:t>[0.5 mark] text</a:t>
            </a:r>
            <a:br>
              <a:rPr lang="en-US" sz="2600" dirty="0">
                <a:solidFill>
                  <a:srgbClr val="FF0000"/>
                </a:solidFill>
              </a:rPr>
            </a:br>
            <a:br>
              <a:rPr lang="en-US" sz="2600" dirty="0">
                <a:solidFill>
                  <a:srgbClr val="FF0000"/>
                </a:solidFill>
              </a:rPr>
            </a:br>
            <a:r>
              <a:rPr lang="en-US" sz="2600" dirty="0">
                <a:solidFill>
                  <a:srgbClr val="FF0000"/>
                </a:solidFill>
              </a:rPr>
              <a:t>[1 mark] LSB: the LSB of each pixel is replaced with a bit of the secret message to be hidden. </a:t>
            </a:r>
          </a:p>
          <a:p>
            <a:pPr marL="36900" indent="0" rtl="0">
              <a:spcBef>
                <a:spcPts val="0"/>
              </a:spcBef>
              <a:spcAft>
                <a:spcPts val="0"/>
              </a:spcAft>
              <a:buNone/>
            </a:pPr>
            <a:r>
              <a:rPr lang="en-US" sz="2600" dirty="0">
                <a:solidFill>
                  <a:srgbClr val="FF0000"/>
                </a:solidFill>
              </a:rPr>
              <a:t>[1 mark] For example, if a binary representation of a pixel is 01010100, the LSB of the pixel is 0. If we want to hide the message "101", we can replace the LSB with the first bit of the message, resulting in the binary representation of the pixel becoming 01010101. </a:t>
            </a:r>
          </a:p>
          <a:p>
            <a:pPr marL="36900" indent="0" rtl="0">
              <a:spcBef>
                <a:spcPts val="0"/>
              </a:spcBef>
              <a:spcAft>
                <a:spcPts val="0"/>
              </a:spcAft>
              <a:buNone/>
            </a:pPr>
            <a:br>
              <a:rPr lang="en-US" sz="2600" dirty="0">
                <a:solidFill>
                  <a:srgbClr val="FF0000"/>
                </a:solidFill>
              </a:rPr>
            </a:br>
            <a:r>
              <a:rPr lang="en-US" sz="2600" dirty="0">
                <a:solidFill>
                  <a:srgbClr val="FF0000"/>
                </a:solidFill>
              </a:rPr>
              <a:t>[1 mark] White space. In this method, a secret message is embedded into the blank spaces or unused areas of the image. </a:t>
            </a:r>
          </a:p>
          <a:p>
            <a:pPr marL="36900" indent="0" rtl="0">
              <a:spcBef>
                <a:spcPts val="0"/>
              </a:spcBef>
              <a:spcAft>
                <a:spcPts val="0"/>
              </a:spcAft>
              <a:buNone/>
            </a:pPr>
            <a:r>
              <a:rPr lang="en-US" sz="2600" dirty="0">
                <a:solidFill>
                  <a:srgbClr val="FF0000"/>
                </a:solidFill>
              </a:rPr>
              <a:t>[1 mark] For example, given an image with a white border around it, the size of the white border can be increased or decreased in a particular pattern to encode a message. The changes are subtle and not visible to the human eye.</a:t>
            </a:r>
            <a:br>
              <a:rPr lang="en-US" sz="2000" dirty="0"/>
            </a:br>
            <a:endParaRPr lang="en-AU" sz="2400" dirty="0">
              <a:solidFill>
                <a:srgbClr val="FF0000"/>
              </a:solidFill>
            </a:endParaRPr>
          </a:p>
        </p:txBody>
      </p:sp>
    </p:spTree>
    <p:extLst>
      <p:ext uri="{BB962C8B-B14F-4D97-AF65-F5344CB8AC3E}">
        <p14:creationId xmlns:p14="http://schemas.microsoft.com/office/powerpoint/2010/main" val="32168843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7</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524519" cy="4868634"/>
          </a:xfrm>
        </p:spPr>
        <p:txBody>
          <a:bodyPr>
            <a:normAutofit/>
          </a:bodyPr>
          <a:lstStyle/>
          <a:p>
            <a:pPr marL="36900" indent="0" rtl="0">
              <a:spcBef>
                <a:spcPts val="0"/>
              </a:spcBef>
              <a:spcAft>
                <a:spcPts val="0"/>
              </a:spcAft>
              <a:buNone/>
            </a:pPr>
            <a:r>
              <a:rPr lang="en-AU" sz="2400" dirty="0">
                <a:solidFill>
                  <a:srgbClr val="FF0000"/>
                </a:solidFill>
              </a:rPr>
              <a:t>Part 2</a:t>
            </a:r>
            <a:r>
              <a:rPr lang="en-AU" sz="2400" dirty="0"/>
              <a:t> </a:t>
            </a:r>
            <a:r>
              <a:rPr lang="en-US" sz="2400" dirty="0"/>
              <a:t>[6 marks] Alice ultimately chooses to employ text steganography, but she is concerned that an attacker may use steganalysis methods to uncover her secret message. Compare 2 text steganography techniques including their respective advantages and limitations.</a:t>
            </a:r>
          </a:p>
          <a:p>
            <a:pPr marL="36900" indent="0">
              <a:buNone/>
            </a:pPr>
            <a:endParaRPr lang="en-US" sz="2400" dirty="0">
              <a:solidFill>
                <a:srgbClr val="FF0000"/>
              </a:solidFill>
            </a:endParaRPr>
          </a:p>
        </p:txBody>
      </p:sp>
    </p:spTree>
    <p:extLst>
      <p:ext uri="{BB962C8B-B14F-4D97-AF65-F5344CB8AC3E}">
        <p14:creationId xmlns:p14="http://schemas.microsoft.com/office/powerpoint/2010/main" val="36614085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720351" y="36099"/>
            <a:ext cx="10353762" cy="1051003"/>
          </a:xfrm>
        </p:spPr>
        <p:txBody>
          <a:bodyPr/>
          <a:lstStyle/>
          <a:p>
            <a:r>
              <a:rPr lang="en-AU" dirty="0"/>
              <a:t>Example Question 7</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20351" y="1140280"/>
            <a:ext cx="11077202" cy="4868634"/>
          </a:xfrm>
        </p:spPr>
        <p:txBody>
          <a:bodyPr>
            <a:normAutofit fontScale="85000" lnSpcReduction="10000"/>
          </a:bodyPr>
          <a:lstStyle/>
          <a:p>
            <a:pPr marL="36900" indent="0" rtl="0">
              <a:spcBef>
                <a:spcPts val="0"/>
              </a:spcBef>
              <a:spcAft>
                <a:spcPts val="0"/>
              </a:spcAft>
              <a:buNone/>
            </a:pPr>
            <a:r>
              <a:rPr lang="en-AU" sz="2400" dirty="0">
                <a:solidFill>
                  <a:srgbClr val="FF0000"/>
                </a:solidFill>
              </a:rPr>
              <a:t>Part 2</a:t>
            </a:r>
            <a:r>
              <a:rPr lang="en-AU" sz="2400" dirty="0"/>
              <a:t> </a:t>
            </a:r>
            <a:r>
              <a:rPr lang="en-US" sz="2400" dirty="0"/>
              <a:t>[6 marks] Alice ultimately chooses to employ text steganography, but she is concerned that an attacker may use steganalysis methods to uncover her secret message. Compare 2 text steganography techniques including their respective advantages and limitations.</a:t>
            </a:r>
          </a:p>
          <a:p>
            <a:pPr marL="36900" indent="0" rtl="0">
              <a:spcBef>
                <a:spcPts val="0"/>
              </a:spcBef>
              <a:spcAft>
                <a:spcPts val="0"/>
              </a:spcAft>
              <a:buNone/>
            </a:pPr>
            <a:endParaRPr lang="en-US" sz="2400" dirty="0"/>
          </a:p>
          <a:p>
            <a:pPr marL="36900" indent="0" rtl="0">
              <a:spcBef>
                <a:spcPts val="0"/>
              </a:spcBef>
              <a:spcAft>
                <a:spcPts val="0"/>
              </a:spcAft>
              <a:buNone/>
            </a:pPr>
            <a:r>
              <a:rPr lang="en-US" sz="2400" dirty="0">
                <a:solidFill>
                  <a:srgbClr val="FF0000"/>
                </a:solidFill>
              </a:rPr>
              <a:t>[1 mark] For position with key, we don’t add our secret message into the original text. Instead, we use a key to specify the positions of secret letters in the original text. </a:t>
            </a:r>
          </a:p>
          <a:p>
            <a:pPr marL="36900" indent="0" rtl="0">
              <a:spcBef>
                <a:spcPts val="0"/>
              </a:spcBef>
              <a:spcAft>
                <a:spcPts val="0"/>
              </a:spcAft>
              <a:buNone/>
            </a:pPr>
            <a:r>
              <a:rPr lang="en-US" sz="2400" dirty="0">
                <a:solidFill>
                  <a:srgbClr val="FF0000"/>
                </a:solidFill>
              </a:rPr>
              <a:t>[1 mark] The key has a large space and it’s hard to brute-force the key.  </a:t>
            </a:r>
          </a:p>
          <a:p>
            <a:pPr marL="36900" indent="0" rtl="0">
              <a:spcBef>
                <a:spcPts val="0"/>
              </a:spcBef>
              <a:spcAft>
                <a:spcPts val="0"/>
              </a:spcAft>
              <a:buNone/>
            </a:pPr>
            <a:r>
              <a:rPr lang="en-US" sz="2400" dirty="0">
                <a:solidFill>
                  <a:srgbClr val="FF0000"/>
                </a:solidFill>
              </a:rPr>
              <a:t>[1 mark] However, it requires a secure communication channel to exchange the key with the receiver.</a:t>
            </a:r>
          </a:p>
          <a:p>
            <a:pPr marL="36900" indent="0">
              <a:buNone/>
            </a:pPr>
            <a:br>
              <a:rPr lang="en-US" sz="2400" dirty="0">
                <a:solidFill>
                  <a:srgbClr val="FF0000"/>
                </a:solidFill>
              </a:rPr>
            </a:br>
            <a:endParaRPr lang="en-US" sz="2400" dirty="0">
              <a:solidFill>
                <a:srgbClr val="FF0000"/>
              </a:solidFill>
            </a:endParaRPr>
          </a:p>
          <a:p>
            <a:pPr marL="36900" indent="0" rtl="0">
              <a:spcBef>
                <a:spcPts val="0"/>
              </a:spcBef>
              <a:spcAft>
                <a:spcPts val="0"/>
              </a:spcAft>
              <a:buNone/>
            </a:pPr>
            <a:r>
              <a:rPr lang="en-US" sz="2400" dirty="0">
                <a:solidFill>
                  <a:srgbClr val="FF0000"/>
                </a:solidFill>
              </a:rPr>
              <a:t>[1 mark] For white space, it uses blank spaces or unused areas within text to conceal secret information</a:t>
            </a:r>
          </a:p>
          <a:p>
            <a:pPr marL="36900" indent="0" rtl="0">
              <a:spcBef>
                <a:spcPts val="0"/>
              </a:spcBef>
              <a:spcAft>
                <a:spcPts val="0"/>
              </a:spcAft>
              <a:buNone/>
            </a:pPr>
            <a:r>
              <a:rPr lang="en-US" sz="2400" dirty="0">
                <a:solidFill>
                  <a:srgbClr val="FF0000"/>
                </a:solidFill>
              </a:rPr>
              <a:t>[1 mark] it requires adding some blank spaces when necessary and most people, in their plain sight, do not notice the presence of extra spaces in a text.</a:t>
            </a:r>
          </a:p>
          <a:p>
            <a:pPr marL="36900" indent="0" rtl="0">
              <a:spcBef>
                <a:spcPts val="0"/>
              </a:spcBef>
              <a:spcAft>
                <a:spcPts val="0"/>
              </a:spcAft>
              <a:buNone/>
            </a:pPr>
            <a:r>
              <a:rPr lang="en-US" sz="2400" dirty="0">
                <a:solidFill>
                  <a:srgbClr val="FF0000"/>
                </a:solidFill>
              </a:rPr>
              <a:t>[1 mark] white space can change the file size and this will make it easy to be detected. </a:t>
            </a:r>
            <a:br>
              <a:rPr lang="en-US" sz="2400" dirty="0">
                <a:solidFill>
                  <a:srgbClr val="FF0000"/>
                </a:solidFill>
              </a:rPr>
            </a:br>
            <a:endParaRPr lang="en-AU" sz="2400" dirty="0">
              <a:solidFill>
                <a:srgbClr val="FF0000"/>
              </a:solidFill>
            </a:endParaRPr>
          </a:p>
        </p:txBody>
      </p:sp>
    </p:spTree>
    <p:extLst>
      <p:ext uri="{BB962C8B-B14F-4D97-AF65-F5344CB8AC3E}">
        <p14:creationId xmlns:p14="http://schemas.microsoft.com/office/powerpoint/2010/main" val="31204672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7</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524519" cy="4868634"/>
          </a:xfrm>
        </p:spPr>
        <p:txBody>
          <a:bodyPr>
            <a:normAutofit/>
          </a:bodyPr>
          <a:lstStyle/>
          <a:p>
            <a:pPr marL="36900" indent="0" rtl="0">
              <a:spcBef>
                <a:spcPts val="0"/>
              </a:spcBef>
              <a:spcAft>
                <a:spcPts val="0"/>
              </a:spcAft>
              <a:buNone/>
            </a:pPr>
            <a:r>
              <a:rPr lang="en-AU" sz="2400" dirty="0">
                <a:solidFill>
                  <a:srgbClr val="FF0000"/>
                </a:solidFill>
              </a:rPr>
              <a:t>Part 3</a:t>
            </a:r>
            <a:r>
              <a:rPr lang="en-AU" sz="2400" dirty="0"/>
              <a:t> </a:t>
            </a:r>
            <a:r>
              <a:rPr lang="en-US" sz="2400" dirty="0"/>
              <a:t>[2 marks] Explain why MSB is not typically used for image steganography compared to LSB.</a:t>
            </a:r>
            <a:br>
              <a:rPr lang="en-US" sz="2000" dirty="0"/>
            </a:br>
            <a:endParaRPr lang="en-US" sz="2400" dirty="0"/>
          </a:p>
          <a:p>
            <a:pPr marL="36900" indent="0">
              <a:buNone/>
            </a:pPr>
            <a:endParaRPr lang="en-US" sz="2400" dirty="0">
              <a:solidFill>
                <a:srgbClr val="FF0000"/>
              </a:solidFill>
            </a:endParaRPr>
          </a:p>
        </p:txBody>
      </p:sp>
    </p:spTree>
    <p:extLst>
      <p:ext uri="{BB962C8B-B14F-4D97-AF65-F5344CB8AC3E}">
        <p14:creationId xmlns:p14="http://schemas.microsoft.com/office/powerpoint/2010/main" val="30164989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720351" y="36099"/>
            <a:ext cx="10353762" cy="1051003"/>
          </a:xfrm>
        </p:spPr>
        <p:txBody>
          <a:bodyPr/>
          <a:lstStyle/>
          <a:p>
            <a:r>
              <a:rPr lang="en-AU" dirty="0"/>
              <a:t>Example Question 7</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720351" y="1140280"/>
            <a:ext cx="11077202" cy="4868634"/>
          </a:xfrm>
        </p:spPr>
        <p:txBody>
          <a:bodyPr>
            <a:normAutofit/>
          </a:bodyPr>
          <a:lstStyle/>
          <a:p>
            <a:pPr marL="36900" indent="0" rtl="0">
              <a:spcBef>
                <a:spcPts val="0"/>
              </a:spcBef>
              <a:spcAft>
                <a:spcPts val="0"/>
              </a:spcAft>
              <a:buNone/>
            </a:pPr>
            <a:r>
              <a:rPr lang="en-AU" sz="2400" dirty="0">
                <a:solidFill>
                  <a:srgbClr val="FF0000"/>
                </a:solidFill>
              </a:rPr>
              <a:t>Part 3</a:t>
            </a:r>
            <a:r>
              <a:rPr lang="en-AU" sz="2400" dirty="0"/>
              <a:t> </a:t>
            </a:r>
            <a:r>
              <a:rPr lang="en-US" sz="2400" dirty="0"/>
              <a:t>[2 marks] Explain why MSB is not typically used for image steganography compared to LSB.</a:t>
            </a:r>
          </a:p>
          <a:p>
            <a:pPr marL="36900" indent="0" rtl="0">
              <a:spcBef>
                <a:spcPts val="0"/>
              </a:spcBef>
              <a:spcAft>
                <a:spcPts val="0"/>
              </a:spcAft>
              <a:buNone/>
            </a:pPr>
            <a:endParaRPr lang="en-US" sz="2400" dirty="0"/>
          </a:p>
          <a:p>
            <a:pPr marL="36900" indent="0" rtl="0">
              <a:spcBef>
                <a:spcPts val="0"/>
              </a:spcBef>
              <a:spcAft>
                <a:spcPts val="0"/>
              </a:spcAft>
              <a:buNone/>
            </a:pPr>
            <a:r>
              <a:rPr lang="en-US" sz="2400" dirty="0">
                <a:solidFill>
                  <a:srgbClr val="FF0000"/>
                </a:solidFill>
              </a:rPr>
              <a:t>[1 mark] MSB is to replace the most significant bit of a pixel with a bit of the secret message. </a:t>
            </a:r>
          </a:p>
          <a:p>
            <a:pPr marL="36900" indent="0" rtl="0">
              <a:spcBef>
                <a:spcPts val="0"/>
              </a:spcBef>
              <a:spcAft>
                <a:spcPts val="0"/>
              </a:spcAft>
              <a:buNone/>
            </a:pPr>
            <a:r>
              <a:rPr lang="en-US" sz="2400" dirty="0">
                <a:solidFill>
                  <a:srgbClr val="FF0000"/>
                </a:solidFill>
              </a:rPr>
              <a:t>[1 mark] Compared to LSB, MSB altering the most significant bit can cause noticeable changes in the image, making itself easier to be detected by human eyes. </a:t>
            </a:r>
            <a:br>
              <a:rPr lang="en-US" sz="2000" dirty="0"/>
            </a:br>
            <a:br>
              <a:rPr lang="en-US" sz="2400" dirty="0">
                <a:solidFill>
                  <a:srgbClr val="FF0000"/>
                </a:solidFill>
              </a:rPr>
            </a:br>
            <a:endParaRPr lang="en-AU" sz="2400" dirty="0">
              <a:solidFill>
                <a:srgbClr val="FF0000"/>
              </a:solidFill>
            </a:endParaRPr>
          </a:p>
        </p:txBody>
      </p:sp>
    </p:spTree>
    <p:extLst>
      <p:ext uri="{BB962C8B-B14F-4D97-AF65-F5344CB8AC3E}">
        <p14:creationId xmlns:p14="http://schemas.microsoft.com/office/powerpoint/2010/main" val="8855905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7</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524519" cy="4868634"/>
          </a:xfrm>
        </p:spPr>
        <p:txBody>
          <a:bodyPr>
            <a:normAutofit/>
          </a:bodyPr>
          <a:lstStyle/>
          <a:p>
            <a:pPr marL="36900" indent="0" rtl="0">
              <a:spcBef>
                <a:spcPts val="0"/>
              </a:spcBef>
              <a:spcAft>
                <a:spcPts val="0"/>
              </a:spcAft>
              <a:buNone/>
            </a:pPr>
            <a:r>
              <a:rPr lang="en-AU" sz="2400" dirty="0">
                <a:solidFill>
                  <a:srgbClr val="FF0000"/>
                </a:solidFill>
              </a:rPr>
              <a:t>Part 4</a:t>
            </a:r>
            <a:r>
              <a:rPr lang="en-AU" sz="2400" dirty="0"/>
              <a:t> </a:t>
            </a:r>
            <a:r>
              <a:rPr lang="en-US" sz="2400" dirty="0"/>
              <a:t>[4 marks] Outline the steps of the digital forensics process and provide a brief explanation of key activities that take place during each step.</a:t>
            </a:r>
            <a:endParaRPr lang="en-US" sz="2400" dirty="0">
              <a:solidFill>
                <a:srgbClr val="FF0000"/>
              </a:solidFill>
            </a:endParaRPr>
          </a:p>
        </p:txBody>
      </p:sp>
    </p:spTree>
    <p:extLst>
      <p:ext uri="{BB962C8B-B14F-4D97-AF65-F5344CB8AC3E}">
        <p14:creationId xmlns:p14="http://schemas.microsoft.com/office/powerpoint/2010/main" val="34974319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7</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585990" y="1102900"/>
            <a:ext cx="11214946" cy="5504934"/>
          </a:xfrm>
        </p:spPr>
        <p:txBody>
          <a:bodyPr>
            <a:normAutofit fontScale="85000" lnSpcReduction="20000"/>
          </a:bodyPr>
          <a:lstStyle/>
          <a:p>
            <a:pPr marL="36900" indent="0" rtl="0">
              <a:spcBef>
                <a:spcPts val="0"/>
              </a:spcBef>
              <a:spcAft>
                <a:spcPts val="0"/>
              </a:spcAft>
              <a:buNone/>
            </a:pPr>
            <a:r>
              <a:rPr lang="en-AU" sz="2600" dirty="0">
                <a:solidFill>
                  <a:srgbClr val="FF0000"/>
                </a:solidFill>
              </a:rPr>
              <a:t>Part 4</a:t>
            </a:r>
            <a:r>
              <a:rPr lang="en-AU" sz="2600" dirty="0"/>
              <a:t> </a:t>
            </a:r>
            <a:r>
              <a:rPr lang="en-US" sz="2600" dirty="0"/>
              <a:t>[4 marks] Outline the steps of the digital forensics process and provide a brief explanation of key activities that take place during each step.</a:t>
            </a:r>
          </a:p>
          <a:p>
            <a:pPr marL="36900" indent="0" rtl="0">
              <a:spcBef>
                <a:spcPts val="0"/>
              </a:spcBef>
              <a:spcAft>
                <a:spcPts val="0"/>
              </a:spcAft>
              <a:buNone/>
            </a:pPr>
            <a:endParaRPr lang="en-US" sz="2600" dirty="0">
              <a:solidFill>
                <a:srgbClr val="FF0000"/>
              </a:solidFill>
            </a:endParaRPr>
          </a:p>
          <a:p>
            <a:pPr marL="36900" indent="0" rtl="0">
              <a:spcBef>
                <a:spcPts val="0"/>
              </a:spcBef>
              <a:spcAft>
                <a:spcPts val="0"/>
              </a:spcAft>
              <a:buNone/>
            </a:pPr>
            <a:r>
              <a:rPr lang="en-US" sz="2600" dirty="0">
                <a:solidFill>
                  <a:srgbClr val="FF0000"/>
                </a:solidFill>
              </a:rPr>
              <a:t>[1 mark] Collection: </a:t>
            </a:r>
          </a:p>
          <a:p>
            <a:pPr marL="36900" indent="0" rtl="0">
              <a:spcBef>
                <a:spcPts val="0"/>
              </a:spcBef>
              <a:spcAft>
                <a:spcPts val="0"/>
              </a:spcAft>
              <a:buNone/>
            </a:pPr>
            <a:r>
              <a:rPr lang="en-US" sz="2600" dirty="0">
                <a:solidFill>
                  <a:srgbClr val="FF0000"/>
                </a:solidFill>
              </a:rPr>
              <a:t>	Gather digital evidence using proper tools and techniques while maintaining a clear chain of custody; Identify sources of data; Secure devices to avoid tampering; Perform necessary decryption of data</a:t>
            </a:r>
          </a:p>
          <a:p>
            <a:pPr marL="36900" indent="0" rtl="0">
              <a:spcBef>
                <a:spcPts val="0"/>
              </a:spcBef>
              <a:spcAft>
                <a:spcPts val="0"/>
              </a:spcAft>
              <a:buNone/>
            </a:pPr>
            <a:r>
              <a:rPr lang="en-US" sz="2600" dirty="0">
                <a:solidFill>
                  <a:srgbClr val="FF0000"/>
                </a:solidFill>
              </a:rPr>
              <a:t>[1 mark] Examination:</a:t>
            </a:r>
          </a:p>
          <a:p>
            <a:pPr marL="36900" indent="0" rtl="0">
              <a:spcBef>
                <a:spcPts val="0"/>
              </a:spcBef>
              <a:spcAft>
                <a:spcPts val="0"/>
              </a:spcAft>
              <a:buNone/>
            </a:pPr>
            <a:r>
              <a:rPr lang="en-US" sz="2600" dirty="0">
                <a:solidFill>
                  <a:srgbClr val="FF0000"/>
                </a:solidFill>
              </a:rPr>
              <a:t>	Search for evidence in the collected data. Use existing tools to assist in examination of data of recovering files of interest from memory</a:t>
            </a:r>
          </a:p>
          <a:p>
            <a:pPr marL="36900" indent="0" rtl="0">
              <a:spcBef>
                <a:spcPts val="0"/>
              </a:spcBef>
              <a:spcAft>
                <a:spcPts val="0"/>
              </a:spcAft>
              <a:buNone/>
            </a:pPr>
            <a:r>
              <a:rPr lang="en-US" sz="2600" dirty="0">
                <a:solidFill>
                  <a:srgbClr val="FF0000"/>
                </a:solidFill>
              </a:rPr>
              <a:t>[1 mark] Analysis:</a:t>
            </a:r>
          </a:p>
          <a:p>
            <a:pPr marL="36900" indent="0" rtl="0">
              <a:spcBef>
                <a:spcPts val="0"/>
              </a:spcBef>
              <a:spcAft>
                <a:spcPts val="0"/>
              </a:spcAft>
              <a:buNone/>
            </a:pPr>
            <a:r>
              <a:rPr lang="en-US" sz="2600" dirty="0">
                <a:solidFill>
                  <a:srgbClr val="FF0000"/>
                </a:solidFill>
              </a:rPr>
              <a:t>	Examine collected digital evidence to identify relevant information, reconstruct events, and uncover hidden data; More in-depth exploration of materials; Attribution, establishing alibis, collecting statements, intents, all happen in this phase; Need to be based off of discovered, potential evidence; Basic description of image analysis, memory analysis.</a:t>
            </a:r>
          </a:p>
          <a:p>
            <a:pPr marL="36900" indent="0" rtl="0">
              <a:spcBef>
                <a:spcPts val="0"/>
              </a:spcBef>
              <a:spcAft>
                <a:spcPts val="0"/>
              </a:spcAft>
              <a:buNone/>
            </a:pPr>
            <a:r>
              <a:rPr lang="en-US" sz="2600" dirty="0">
                <a:solidFill>
                  <a:srgbClr val="FF0000"/>
                </a:solidFill>
              </a:rPr>
              <a:t>[1 mark] Reporting:</a:t>
            </a:r>
          </a:p>
          <a:p>
            <a:pPr marL="36900" indent="0" rtl="0">
              <a:spcBef>
                <a:spcPts val="0"/>
              </a:spcBef>
              <a:spcAft>
                <a:spcPts val="0"/>
              </a:spcAft>
              <a:buNone/>
            </a:pPr>
            <a:r>
              <a:rPr lang="en-US" sz="2600" dirty="0">
                <a:solidFill>
                  <a:srgbClr val="FF0000"/>
                </a:solidFill>
              </a:rPr>
              <a:t>	Findings are documented; Create final reports to be used in legal proceedings</a:t>
            </a:r>
          </a:p>
          <a:p>
            <a:pPr marL="36900" indent="0" rtl="0">
              <a:spcBef>
                <a:spcPts val="0"/>
              </a:spcBef>
              <a:spcAft>
                <a:spcPts val="0"/>
              </a:spcAft>
              <a:buNone/>
            </a:pPr>
            <a:endParaRPr lang="en-US" sz="2400" dirty="0">
              <a:solidFill>
                <a:srgbClr val="FF0000"/>
              </a:solidFill>
            </a:endParaRPr>
          </a:p>
          <a:p>
            <a:pPr marL="36900" indent="0">
              <a:buNone/>
            </a:pPr>
            <a:endParaRPr lang="en-US" sz="2400" dirty="0">
              <a:solidFill>
                <a:srgbClr val="FF0000"/>
              </a:solidFill>
            </a:endParaRPr>
          </a:p>
        </p:txBody>
      </p:sp>
    </p:spTree>
    <p:extLst>
      <p:ext uri="{BB962C8B-B14F-4D97-AF65-F5344CB8AC3E}">
        <p14:creationId xmlns:p14="http://schemas.microsoft.com/office/powerpoint/2010/main" val="40696975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8</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4" y="1140280"/>
            <a:ext cx="10363805" cy="4868634"/>
          </a:xfrm>
        </p:spPr>
        <p:txBody>
          <a:bodyPr>
            <a:normAutofit lnSpcReduction="10000"/>
          </a:bodyPr>
          <a:lstStyle/>
          <a:p>
            <a:pPr marL="36900" indent="0">
              <a:buNone/>
            </a:pPr>
            <a:r>
              <a:rPr lang="en-US" sz="2400" dirty="0"/>
              <a:t>Alice and Bob want to communicate securely via the internet. For instance, Alice wants to send a message to Bob with the message being encrypted. They have never met in person, nor have they communicated via the internet before.</a:t>
            </a:r>
            <a:endParaRPr lang="en-AU" sz="2400" dirty="0"/>
          </a:p>
          <a:p>
            <a:pPr marL="36900" indent="0">
              <a:buNone/>
            </a:pPr>
            <a:endParaRPr lang="en-AU" sz="2400" dirty="0"/>
          </a:p>
          <a:p>
            <a:pPr marL="36900" indent="0" rtl="0">
              <a:spcBef>
                <a:spcPts val="0"/>
              </a:spcBef>
              <a:spcAft>
                <a:spcPts val="0"/>
              </a:spcAft>
              <a:buNone/>
            </a:pPr>
            <a:r>
              <a:rPr lang="en-AU" sz="2400" dirty="0">
                <a:solidFill>
                  <a:srgbClr val="FF0000"/>
                </a:solidFill>
              </a:rPr>
              <a:t>Part 1</a:t>
            </a:r>
            <a:r>
              <a:rPr lang="en-AU" sz="2400" dirty="0"/>
              <a:t> </a:t>
            </a:r>
            <a:r>
              <a:rPr lang="en-US" sz="2400" dirty="0"/>
              <a:t>[6 marks] Describe the concept of public key infrastructure (PKI) and provide a step-by-step explanation of how PKI can be used to enable secure communication between two parties. </a:t>
            </a:r>
          </a:p>
          <a:p>
            <a:pPr marL="36900" indent="0" rtl="0">
              <a:spcBef>
                <a:spcPts val="0"/>
              </a:spcBef>
              <a:spcAft>
                <a:spcPts val="0"/>
              </a:spcAft>
              <a:buNone/>
            </a:pPr>
            <a:br>
              <a:rPr lang="en-US" sz="2000" dirty="0"/>
            </a:br>
            <a:r>
              <a:rPr lang="en-AU" sz="2400" dirty="0">
                <a:solidFill>
                  <a:srgbClr val="FF0000"/>
                </a:solidFill>
              </a:rPr>
              <a:t>Part 2 </a:t>
            </a:r>
            <a:r>
              <a:rPr lang="en-US" sz="2400" dirty="0"/>
              <a:t>[4 marks] Following on from Part 1, suppose a malicious third-party, Eve, is attempting to intercept and read the messages exchanged between Alice and Bob. What a possible attack could Eve carry out to compromise the security of their communication?</a:t>
            </a:r>
          </a:p>
        </p:txBody>
      </p:sp>
    </p:spTree>
    <p:extLst>
      <p:ext uri="{BB962C8B-B14F-4D97-AF65-F5344CB8AC3E}">
        <p14:creationId xmlns:p14="http://schemas.microsoft.com/office/powerpoint/2010/main" val="16766280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8</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430714" y="994683"/>
            <a:ext cx="11249452" cy="4868634"/>
          </a:xfrm>
        </p:spPr>
        <p:txBody>
          <a:bodyPr>
            <a:normAutofit/>
          </a:bodyPr>
          <a:lstStyle/>
          <a:p>
            <a:pPr marL="36900" indent="0" rtl="0">
              <a:spcBef>
                <a:spcPts val="0"/>
              </a:spcBef>
              <a:spcAft>
                <a:spcPts val="0"/>
              </a:spcAft>
              <a:buNone/>
            </a:pPr>
            <a:r>
              <a:rPr lang="en-AU" sz="2400" dirty="0">
                <a:solidFill>
                  <a:srgbClr val="FF0000"/>
                </a:solidFill>
              </a:rPr>
              <a:t>Part 1</a:t>
            </a:r>
            <a:r>
              <a:rPr lang="en-AU" sz="2400" dirty="0"/>
              <a:t> </a:t>
            </a:r>
            <a:r>
              <a:rPr lang="en-US" sz="2400" dirty="0"/>
              <a:t>[6 marks] Describe the concept of public key infrastructure (PKI) and provide a step-by-step explanation of how PKI can be used to enable secure communication between the two parties. </a:t>
            </a:r>
          </a:p>
        </p:txBody>
      </p:sp>
    </p:spTree>
    <p:extLst>
      <p:ext uri="{BB962C8B-B14F-4D97-AF65-F5344CB8AC3E}">
        <p14:creationId xmlns:p14="http://schemas.microsoft.com/office/powerpoint/2010/main" val="110495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8</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483202" y="1063927"/>
            <a:ext cx="11708797" cy="5504934"/>
          </a:xfrm>
        </p:spPr>
        <p:txBody>
          <a:bodyPr>
            <a:normAutofit/>
          </a:bodyPr>
          <a:lstStyle/>
          <a:p>
            <a:pPr marL="36900" indent="0" rtl="0">
              <a:spcBef>
                <a:spcPts val="0"/>
              </a:spcBef>
              <a:spcAft>
                <a:spcPts val="0"/>
              </a:spcAft>
              <a:buNone/>
            </a:pPr>
            <a:r>
              <a:rPr lang="en-AU" sz="2400" dirty="0">
                <a:solidFill>
                  <a:srgbClr val="FF0000"/>
                </a:solidFill>
              </a:rPr>
              <a:t>Part 1</a:t>
            </a:r>
            <a:r>
              <a:rPr lang="en-AU" sz="2400" dirty="0"/>
              <a:t> </a:t>
            </a:r>
            <a:r>
              <a:rPr lang="en-US" sz="2400" dirty="0"/>
              <a:t>[6 marks] Describe the concept of public key infrastructure (PKI) and provide a step-by-step explanation of how PKI can be used to enable secure communication between two parties. </a:t>
            </a:r>
          </a:p>
          <a:p>
            <a:pPr marL="36900" indent="0" rtl="0">
              <a:spcBef>
                <a:spcPts val="0"/>
              </a:spcBef>
              <a:spcAft>
                <a:spcPts val="0"/>
              </a:spcAft>
              <a:buNone/>
            </a:pPr>
            <a:endParaRPr lang="en-US" sz="2600" dirty="0">
              <a:solidFill>
                <a:srgbClr val="FF0000"/>
              </a:solidFill>
            </a:endParaRPr>
          </a:p>
          <a:p>
            <a:pPr marL="36900" indent="0" rtl="0">
              <a:spcBef>
                <a:spcPts val="0"/>
              </a:spcBef>
              <a:spcAft>
                <a:spcPts val="0"/>
              </a:spcAft>
              <a:buNone/>
            </a:pPr>
            <a:r>
              <a:rPr lang="en-US" sz="2400" dirty="0">
                <a:solidFill>
                  <a:srgbClr val="FF0000"/>
                </a:solidFill>
              </a:rPr>
              <a:t>[2 marks]</a:t>
            </a:r>
            <a:r>
              <a:rPr lang="en-US" sz="2400" dirty="0">
                <a:solidFill>
                  <a:srgbClr val="FF0000"/>
                </a:solidFill>
                <a:effectLst/>
              </a:rPr>
              <a:t> </a:t>
            </a:r>
            <a:r>
              <a:rPr lang="en-US" sz="2400" dirty="0">
                <a:solidFill>
                  <a:srgbClr val="FF0000"/>
                </a:solidFill>
              </a:rPr>
              <a:t>Public key infrastructure is a cryptographic system that utilizes a pair of keys for encryption and decryption: a public key and a private key. The public key is freely shared, while the private key remains confidential.</a:t>
            </a:r>
          </a:p>
        </p:txBody>
      </p:sp>
    </p:spTree>
    <p:extLst>
      <p:ext uri="{BB962C8B-B14F-4D97-AF65-F5344CB8AC3E}">
        <p14:creationId xmlns:p14="http://schemas.microsoft.com/office/powerpoint/2010/main" val="10287911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8</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483202" y="1063927"/>
            <a:ext cx="11708797" cy="5504934"/>
          </a:xfrm>
        </p:spPr>
        <p:txBody>
          <a:bodyPr>
            <a:normAutofit/>
          </a:bodyPr>
          <a:lstStyle/>
          <a:p>
            <a:pPr marL="36900" indent="0" rtl="0">
              <a:spcBef>
                <a:spcPts val="0"/>
              </a:spcBef>
              <a:spcAft>
                <a:spcPts val="0"/>
              </a:spcAft>
              <a:buNone/>
            </a:pPr>
            <a:r>
              <a:rPr lang="en-AU" sz="2400" dirty="0">
                <a:solidFill>
                  <a:srgbClr val="FF0000"/>
                </a:solidFill>
              </a:rPr>
              <a:t>Part 1</a:t>
            </a:r>
            <a:r>
              <a:rPr lang="en-AU" sz="2400" dirty="0"/>
              <a:t> </a:t>
            </a:r>
            <a:r>
              <a:rPr lang="en-US" sz="2400" dirty="0"/>
              <a:t>[6 marks] Describe the concept of public key infrastructure (PKI) and provide a step-by-step explanation of </a:t>
            </a:r>
            <a:r>
              <a:rPr lang="en-US" sz="2400"/>
              <a:t>how PKI </a:t>
            </a:r>
            <a:r>
              <a:rPr lang="en-US" sz="2400" dirty="0"/>
              <a:t>can be used to enable secure communication between two parties. </a:t>
            </a:r>
          </a:p>
          <a:p>
            <a:pPr marL="36900" indent="0" rtl="0">
              <a:spcBef>
                <a:spcPts val="0"/>
              </a:spcBef>
              <a:spcAft>
                <a:spcPts val="0"/>
              </a:spcAft>
              <a:buNone/>
            </a:pPr>
            <a:endParaRPr lang="en-US" sz="2600" dirty="0">
              <a:solidFill>
                <a:srgbClr val="FF0000"/>
              </a:solidFill>
            </a:endParaRPr>
          </a:p>
          <a:p>
            <a:pPr marL="36900" indent="0" rtl="0">
              <a:spcBef>
                <a:spcPts val="0"/>
              </a:spcBef>
              <a:spcAft>
                <a:spcPts val="0"/>
              </a:spcAft>
              <a:buNone/>
            </a:pPr>
            <a:r>
              <a:rPr lang="en-US" sz="2400" dirty="0">
                <a:solidFill>
                  <a:srgbClr val="FF0000"/>
                </a:solidFill>
              </a:rPr>
              <a:t>[4 marks]</a:t>
            </a:r>
          </a:p>
          <a:p>
            <a:pPr marL="36900" indent="0" rtl="0">
              <a:spcBef>
                <a:spcPts val="0"/>
              </a:spcBef>
              <a:spcAft>
                <a:spcPts val="0"/>
              </a:spcAft>
              <a:buNone/>
            </a:pPr>
            <a:r>
              <a:rPr lang="en-US" sz="2400" dirty="0">
                <a:solidFill>
                  <a:srgbClr val="FF0000"/>
                </a:solidFill>
              </a:rPr>
              <a:t>	1. Alice and Bob generate their own public and private key pairs.</a:t>
            </a:r>
          </a:p>
          <a:p>
            <a:pPr marL="36900" indent="0" rtl="0">
              <a:spcBef>
                <a:spcPts val="0"/>
              </a:spcBef>
              <a:spcAft>
                <a:spcPts val="0"/>
              </a:spcAft>
              <a:buNone/>
            </a:pPr>
            <a:r>
              <a:rPr lang="en-US" sz="2400" dirty="0">
                <a:solidFill>
                  <a:srgbClr val="FF0000"/>
                </a:solidFill>
              </a:rPr>
              <a:t>	2. Alice and Bob exchange their public keys while keeping their private keys secret.</a:t>
            </a:r>
          </a:p>
          <a:p>
            <a:pPr marL="36900" indent="0" rtl="0">
              <a:spcBef>
                <a:spcPts val="0"/>
              </a:spcBef>
              <a:spcAft>
                <a:spcPts val="0"/>
              </a:spcAft>
              <a:buNone/>
            </a:pPr>
            <a:r>
              <a:rPr lang="en-US" sz="2400" dirty="0">
                <a:solidFill>
                  <a:srgbClr val="FF0000"/>
                </a:solidFill>
              </a:rPr>
              <a:t>	3. To send a secure message to Bob, Alice encrypts the message using Bob's public key.</a:t>
            </a:r>
          </a:p>
          <a:p>
            <a:pPr marL="36900" indent="0" rtl="0">
              <a:spcBef>
                <a:spcPts val="0"/>
              </a:spcBef>
              <a:spcAft>
                <a:spcPts val="0"/>
              </a:spcAft>
              <a:buNone/>
            </a:pPr>
            <a:r>
              <a:rPr lang="en-US" sz="2400" dirty="0">
                <a:solidFill>
                  <a:srgbClr val="FF0000"/>
                </a:solidFill>
              </a:rPr>
              <a:t>	4. When receiving the message, Bob uses his private key for decryption. For Bob, he encrypts his message using Alice's public key, and Alice decrypts it with her private key.</a:t>
            </a:r>
            <a:br>
              <a:rPr lang="en-US" sz="2000" dirty="0"/>
            </a:br>
            <a:endParaRPr lang="en-US" sz="2400" dirty="0">
              <a:solidFill>
                <a:srgbClr val="FF0000"/>
              </a:solidFill>
            </a:endParaRPr>
          </a:p>
        </p:txBody>
      </p:sp>
    </p:spTree>
    <p:extLst>
      <p:ext uri="{BB962C8B-B14F-4D97-AF65-F5344CB8AC3E}">
        <p14:creationId xmlns:p14="http://schemas.microsoft.com/office/powerpoint/2010/main" val="36747127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8</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534232" y="1066801"/>
            <a:ext cx="11463327" cy="4868634"/>
          </a:xfrm>
        </p:spPr>
        <p:txBody>
          <a:bodyPr>
            <a:normAutofit/>
          </a:bodyPr>
          <a:lstStyle/>
          <a:p>
            <a:pPr marL="36900" indent="0" rtl="0">
              <a:spcBef>
                <a:spcPts val="0"/>
              </a:spcBef>
              <a:spcAft>
                <a:spcPts val="0"/>
              </a:spcAft>
              <a:buNone/>
            </a:pPr>
            <a:r>
              <a:rPr lang="en-AU" sz="2400" dirty="0">
                <a:solidFill>
                  <a:srgbClr val="FF0000"/>
                </a:solidFill>
              </a:rPr>
              <a:t>Part 2</a:t>
            </a:r>
            <a:r>
              <a:rPr lang="en-AU" sz="2400" dirty="0"/>
              <a:t> </a:t>
            </a:r>
            <a:r>
              <a:rPr lang="en-US" sz="2400" dirty="0"/>
              <a:t>[4 marks] Following on from Part 1, suppose a malicious third-party, Eve, is attempting to intercept and read the messages exchanged between Alice and Bob. What a possible attack could Eve carry out to compromise the security of their communication?</a:t>
            </a:r>
          </a:p>
        </p:txBody>
      </p:sp>
    </p:spTree>
    <p:extLst>
      <p:ext uri="{BB962C8B-B14F-4D97-AF65-F5344CB8AC3E}">
        <p14:creationId xmlns:p14="http://schemas.microsoft.com/office/powerpoint/2010/main" val="21834899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15798"/>
            <a:ext cx="10353762" cy="1051003"/>
          </a:xfrm>
        </p:spPr>
        <p:txBody>
          <a:bodyPr/>
          <a:lstStyle/>
          <a:p>
            <a:r>
              <a:rPr lang="en-AU" dirty="0"/>
              <a:t>Example Question 8</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483202" y="1063927"/>
            <a:ext cx="11708797" cy="5504934"/>
          </a:xfrm>
        </p:spPr>
        <p:txBody>
          <a:bodyPr>
            <a:normAutofit/>
          </a:bodyPr>
          <a:lstStyle/>
          <a:p>
            <a:pPr marL="36900" indent="0" rtl="0">
              <a:spcBef>
                <a:spcPts val="0"/>
              </a:spcBef>
              <a:spcAft>
                <a:spcPts val="0"/>
              </a:spcAft>
              <a:buNone/>
            </a:pPr>
            <a:r>
              <a:rPr lang="en-AU" sz="2400" dirty="0">
                <a:solidFill>
                  <a:srgbClr val="FF0000"/>
                </a:solidFill>
              </a:rPr>
              <a:t>Part 2 </a:t>
            </a:r>
            <a:r>
              <a:rPr lang="en-US" sz="2400" dirty="0"/>
              <a:t>[4 marks] Following on from Part 1, suppose a malicious third-party, Eve, is attempting to intercept and read the messages exchanged between Alice and Bob. What a possible attack could Eve carry out to compromise the security of their communication?</a:t>
            </a:r>
          </a:p>
          <a:p>
            <a:pPr marL="36900" indent="0" rtl="0">
              <a:spcBef>
                <a:spcPts val="0"/>
              </a:spcBef>
              <a:spcAft>
                <a:spcPts val="0"/>
              </a:spcAft>
              <a:buNone/>
            </a:pPr>
            <a:endParaRPr lang="en-US" sz="2600" dirty="0">
              <a:solidFill>
                <a:srgbClr val="FF0000"/>
              </a:solidFill>
            </a:endParaRPr>
          </a:p>
          <a:p>
            <a:pPr marL="36900" indent="0" rtl="0" fontAlgn="base">
              <a:spcBef>
                <a:spcPts val="0"/>
              </a:spcBef>
              <a:spcAft>
                <a:spcPts val="0"/>
              </a:spcAft>
              <a:buNone/>
            </a:pPr>
            <a:r>
              <a:rPr lang="en-US" sz="2400" dirty="0">
                <a:solidFill>
                  <a:srgbClr val="FF0000"/>
                </a:solidFill>
              </a:rPr>
              <a:t>[1 mark] Eve generates two pairs of privates and public keys.</a:t>
            </a:r>
          </a:p>
          <a:p>
            <a:pPr marL="36900" indent="0" rtl="0" fontAlgn="base">
              <a:spcBef>
                <a:spcPts val="0"/>
              </a:spcBef>
              <a:spcAft>
                <a:spcPts val="0"/>
              </a:spcAft>
              <a:buNone/>
            </a:pPr>
            <a:r>
              <a:rPr lang="en-US" sz="2400" dirty="0">
                <a:solidFill>
                  <a:srgbClr val="FF0000"/>
                </a:solidFill>
              </a:rPr>
              <a:t>[1 mark] Eve intercepts the public key exchange between Alice and Bob, </a:t>
            </a:r>
          </a:p>
          <a:p>
            <a:pPr marL="36900" indent="0" rtl="0" fontAlgn="base">
              <a:spcBef>
                <a:spcPts val="0"/>
              </a:spcBef>
              <a:spcAft>
                <a:spcPts val="0"/>
              </a:spcAft>
              <a:buNone/>
            </a:pPr>
            <a:r>
              <a:rPr lang="en-US" sz="2400" dirty="0">
                <a:solidFill>
                  <a:srgbClr val="FF0000"/>
                </a:solidFill>
              </a:rPr>
              <a:t>[1 mark] Eve substitutes her own public keys for Alice's and Bob’s. </a:t>
            </a:r>
          </a:p>
          <a:p>
            <a:pPr marL="36900" indent="0" rtl="0" fontAlgn="base">
              <a:spcBef>
                <a:spcPts val="0"/>
              </a:spcBef>
              <a:spcAft>
                <a:spcPts val="0"/>
              </a:spcAft>
              <a:buNone/>
            </a:pPr>
            <a:r>
              <a:rPr lang="en-US" sz="2400" dirty="0">
                <a:solidFill>
                  <a:srgbClr val="FF0000"/>
                </a:solidFill>
              </a:rPr>
              <a:t>[1 mark] As a result, when Alice and Bob send encrypted messages to each other, they are actually encrypted with Eve's public keys, allowing her to decrypt the messages with her private keys.</a:t>
            </a:r>
          </a:p>
        </p:txBody>
      </p:sp>
    </p:spTree>
    <p:extLst>
      <p:ext uri="{BB962C8B-B14F-4D97-AF65-F5344CB8AC3E}">
        <p14:creationId xmlns:p14="http://schemas.microsoft.com/office/powerpoint/2010/main" val="26144654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710045"/>
          </a:xfrm>
        </p:spPr>
        <p:txBody>
          <a:bodyPr/>
          <a:lstStyle/>
          <a:p>
            <a:r>
              <a:rPr lang="en-AU" dirty="0"/>
              <a:t>Example Question 9</a:t>
            </a:r>
          </a:p>
        </p:txBody>
      </p:sp>
      <p:sp>
        <p:nvSpPr>
          <p:cNvPr id="7" name="TextBox 6">
            <a:extLst>
              <a:ext uri="{FF2B5EF4-FFF2-40B4-BE49-F238E27FC236}">
                <a16:creationId xmlns:a16="http://schemas.microsoft.com/office/drawing/2014/main" id="{75E0A5E3-B5A7-40C6-9FE8-508ABF9E1458}"/>
              </a:ext>
            </a:extLst>
          </p:cNvPr>
          <p:cNvSpPr txBox="1"/>
          <p:nvPr/>
        </p:nvSpPr>
        <p:spPr>
          <a:xfrm>
            <a:off x="230203" y="732772"/>
            <a:ext cx="11720945" cy="3170099"/>
          </a:xfrm>
          <a:prstGeom prst="rect">
            <a:avLst/>
          </a:prstGeom>
          <a:noFill/>
        </p:spPr>
        <p:txBody>
          <a:bodyPr wrap="square">
            <a:spAutoFit/>
          </a:bodyPr>
          <a:lstStyle/>
          <a:p>
            <a:pPr rtl="0"/>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[5 marks] You invent the “FRNZ” cryptographic algorithm, which works on English messages, and all letters are treated as upper cases. FRNZ is implemented by the following steps:</a:t>
            </a:r>
          </a:p>
          <a:p>
            <a:pPr marL="228600" rtl="0"/>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Step 1.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A Caesar cipher operates over the plaintext by the rotation number R (a positive R value means a forward rotation by R).</a:t>
            </a:r>
          </a:p>
          <a:p>
            <a:pPr marL="228600" rtl="0"/>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Step 2.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The result in step 1 is converted, letter by letter, using the Alphanumeric table found below. For each output character, if it is even, its resulting character is 0 (i.e., even numbers are mapped to 0). If the output character is odd, its resulting character is 1 (i.e., odd numbers are mapped to 1).</a:t>
            </a:r>
          </a:p>
          <a:p>
            <a:pPr marL="228600" rtl="0"/>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Step 3.</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The result in step 2 is now </a:t>
            </a:r>
            <a:r>
              <a:rPr lang="en-US" sz="2000" dirty="0" err="1">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XOR’d</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with the key K. If the length of the key is less than the length of the message, the key is padded (on the right) to the length of the message. For example, if the message has length 10, and K=1110, the padded key is 1110111011.</a:t>
            </a:r>
          </a:p>
        </p:txBody>
      </p:sp>
      <p:pic>
        <p:nvPicPr>
          <p:cNvPr id="1026" name="Picture 2">
            <a:extLst>
              <a:ext uri="{FF2B5EF4-FFF2-40B4-BE49-F238E27FC236}">
                <a16:creationId xmlns:a16="http://schemas.microsoft.com/office/drawing/2014/main" id="{91BB2D63-9A43-4A70-94A6-83ACD9DA0A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007" y="4007127"/>
            <a:ext cx="5958700" cy="257145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12FFFC4-E00C-455E-BA6A-697EE9560C2D}"/>
              </a:ext>
            </a:extLst>
          </p:cNvPr>
          <p:cNvSpPr txBox="1"/>
          <p:nvPr/>
        </p:nvSpPr>
        <p:spPr>
          <a:xfrm>
            <a:off x="6510038" y="3902871"/>
            <a:ext cx="5557845" cy="2862322"/>
          </a:xfrm>
          <a:prstGeom prst="rect">
            <a:avLst/>
          </a:prstGeom>
          <a:noFill/>
        </p:spPr>
        <p:txBody>
          <a:bodyPr wrap="square">
            <a:spAutoFit/>
          </a:bodyPr>
          <a:lstStyle/>
          <a:p>
            <a:pPr rtl="0">
              <a:spcBef>
                <a:spcPts val="1200"/>
              </a:spcBef>
              <a:spcAft>
                <a:spcPts val="1200"/>
              </a:spcAft>
            </a:pP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For example, the plaintext “HELLOWORLD”, with the values R=2, K=1110 produces the final result “1010000011”:</a:t>
            </a:r>
          </a:p>
          <a:p>
            <a:pPr rtl="0" fontAlgn="base">
              <a:spcBef>
                <a:spcPts val="0"/>
              </a:spcBef>
              <a:spcAft>
                <a:spcPts val="0"/>
              </a:spcAft>
              <a:buFont typeface="+mj-lt"/>
              <a:buAutoNum type="arabicPeriod"/>
            </a:pP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“HELLOWORLD” -&gt; “JGNNQYQTNF”</a:t>
            </a:r>
          </a:p>
          <a:p>
            <a:pPr rtl="0" fontAlgn="base">
              <a:spcBef>
                <a:spcPts val="0"/>
              </a:spcBef>
              <a:spcAft>
                <a:spcPts val="0"/>
              </a:spcAft>
              <a:buFont typeface="+mj-lt"/>
              <a:buAutoNum type="arabicPeriod"/>
            </a:pP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“JGNNQYQTNF” -&gt; “107141417251720146”</a:t>
            </a:r>
          </a:p>
          <a:p>
            <a:pPr fontAlgn="base">
              <a:buFont typeface="+mj-lt"/>
              <a:buAutoNum type="arabicPeriod"/>
            </a:pP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“107141417251720146” -&gt; “0100111000”</a:t>
            </a:r>
          </a:p>
          <a:p>
            <a:pPr rtl="0" fontAlgn="base">
              <a:spcBef>
                <a:spcPts val="0"/>
              </a:spcBef>
              <a:spcAft>
                <a:spcPts val="1200"/>
              </a:spcAft>
              <a:buFont typeface="+mj-lt"/>
              <a:buAutoNum type="arabicPeriod"/>
            </a:pP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“0100111000”</a:t>
            </a:r>
          </a:p>
          <a:p>
            <a:pPr fontAlgn="base">
              <a:spcAft>
                <a:spcPts val="1200"/>
              </a:spcAft>
            </a:pP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1110111011.</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-&gt; “1010000011”</a:t>
            </a:r>
          </a:p>
        </p:txBody>
      </p:sp>
    </p:spTree>
    <p:extLst>
      <p:ext uri="{BB962C8B-B14F-4D97-AF65-F5344CB8AC3E}">
        <p14:creationId xmlns:p14="http://schemas.microsoft.com/office/powerpoint/2010/main" val="35352882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710045"/>
          </a:xfrm>
        </p:spPr>
        <p:txBody>
          <a:bodyPr/>
          <a:lstStyle/>
          <a:p>
            <a:r>
              <a:rPr lang="en-AU" dirty="0"/>
              <a:t>Example Question 9</a:t>
            </a:r>
          </a:p>
        </p:txBody>
      </p:sp>
      <p:sp>
        <p:nvSpPr>
          <p:cNvPr id="7" name="TextBox 6">
            <a:extLst>
              <a:ext uri="{FF2B5EF4-FFF2-40B4-BE49-F238E27FC236}">
                <a16:creationId xmlns:a16="http://schemas.microsoft.com/office/drawing/2014/main" id="{75E0A5E3-B5A7-40C6-9FE8-508ABF9E1458}"/>
              </a:ext>
            </a:extLst>
          </p:cNvPr>
          <p:cNvSpPr txBox="1"/>
          <p:nvPr/>
        </p:nvSpPr>
        <p:spPr>
          <a:xfrm>
            <a:off x="230203" y="732772"/>
            <a:ext cx="11720945" cy="5709255"/>
          </a:xfrm>
          <a:prstGeom prst="rect">
            <a:avLst/>
          </a:prstGeom>
          <a:noFill/>
        </p:spPr>
        <p:txBody>
          <a:bodyPr wrap="square">
            <a:spAutoFit/>
          </a:bodyPr>
          <a:lstStyle/>
          <a:p>
            <a:pPr rtl="0">
              <a:spcBef>
                <a:spcPts val="1200"/>
              </a:spcBef>
              <a:spcAft>
                <a:spcPts val="600"/>
              </a:spcAft>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Your Task for this part:</a:t>
            </a:r>
          </a:p>
          <a:p>
            <a:pPr rtl="0">
              <a:spcBef>
                <a:spcPts val="1200"/>
              </a:spcBef>
              <a:spcAft>
                <a:spcPts val="1200"/>
              </a:spcAft>
            </a:pP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Perform the FRNZ cryptographic algorithm, step by step, using the first 10 characters of your combined first and last names without spaces, e.g., “JOHNNY SMITH” becomes “JOHNNYSMIT”.  Also, if your first or last name contains characters that cannot be found in the Alphanumeric table below, these characters will be skipped, e.g., “JOÚHNNY SMIÊTH” becomes “JOHNNYSMIT”.</a:t>
            </a:r>
          </a:p>
          <a:p>
            <a:pPr rtl="0">
              <a:spcBef>
                <a:spcPts val="1200"/>
              </a:spcBef>
              <a:spcAft>
                <a:spcPts val="1200"/>
              </a:spcAft>
            </a:pP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If your first and last names combined without spaces are less than 10 characters long, pad the end of the combined string with the first characters from the string “LOREMIPSUM” until the final string is 10 characters long. For example, “JOHN DOE” becomes “JOHNDOE”. Then, as this is 7-characters long, pad it with the first 3 characters “LOR”. Thus, the final string becomes, “JOHNDOELOR”.</a:t>
            </a:r>
          </a:p>
          <a:p>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Use the values R=4, K=1010 in your answer.</a:t>
            </a:r>
          </a:p>
          <a:p>
            <a:endPar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marL="342900" indent="-342900">
              <a:buFont typeface="Symbol" panose="05050102010706020507" pitchFamily="18" charset="2"/>
              <a:buChar char=""/>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successful rotation of R</a:t>
            </a:r>
            <a:r>
              <a:rPr lang="en-AU"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 </a:t>
            </a:r>
          </a:p>
          <a:p>
            <a:pPr lvl="1"/>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“HELLOWORLD” -&gt; “</a:t>
            </a:r>
            <a:r>
              <a:rPr lang="pt-BR"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LIPPSASVPH</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a:t>
            </a:r>
          </a:p>
          <a:p>
            <a:pPr marL="342900" indent="-342900">
              <a:buFont typeface="Symbol" panose="05050102010706020507" pitchFamily="18" charset="2"/>
              <a:buChar char=""/>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successful binary string conversion</a:t>
            </a:r>
          </a:p>
          <a:p>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     </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a:t>
            </a:r>
            <a:r>
              <a:rPr lang="pt-BR"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LIPPSASVPH</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-&gt; “12916161911922168”</a:t>
            </a:r>
          </a:p>
          <a:p>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“12916161911922168” -&gt; “0100111000”</a:t>
            </a:r>
            <a:endPar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12175453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710045"/>
          </a:xfrm>
        </p:spPr>
        <p:txBody>
          <a:bodyPr/>
          <a:lstStyle/>
          <a:p>
            <a:r>
              <a:rPr lang="en-AU" dirty="0"/>
              <a:t>Example Question 9</a:t>
            </a:r>
          </a:p>
        </p:txBody>
      </p:sp>
      <p:sp>
        <p:nvSpPr>
          <p:cNvPr id="7" name="TextBox 6">
            <a:extLst>
              <a:ext uri="{FF2B5EF4-FFF2-40B4-BE49-F238E27FC236}">
                <a16:creationId xmlns:a16="http://schemas.microsoft.com/office/drawing/2014/main" id="{75E0A5E3-B5A7-40C6-9FE8-508ABF9E1458}"/>
              </a:ext>
            </a:extLst>
          </p:cNvPr>
          <p:cNvSpPr txBox="1"/>
          <p:nvPr/>
        </p:nvSpPr>
        <p:spPr>
          <a:xfrm>
            <a:off x="230203" y="732772"/>
            <a:ext cx="11720945" cy="6017032"/>
          </a:xfrm>
          <a:prstGeom prst="rect">
            <a:avLst/>
          </a:prstGeom>
          <a:noFill/>
        </p:spPr>
        <p:txBody>
          <a:bodyPr wrap="square">
            <a:spAutoFit/>
          </a:bodyPr>
          <a:lstStyle/>
          <a:p>
            <a:pPr rtl="0">
              <a:spcBef>
                <a:spcPts val="1200"/>
              </a:spcBef>
              <a:spcAft>
                <a:spcPts val="600"/>
              </a:spcAft>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1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Your Task for this part:</a:t>
            </a:r>
          </a:p>
          <a:p>
            <a:pPr rtl="0">
              <a:spcBef>
                <a:spcPts val="1200"/>
              </a:spcBef>
              <a:spcAft>
                <a:spcPts val="1200"/>
              </a:spcAft>
            </a:pP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Perform the FRNZ cryptographic algorithm, step by step, using the first 10 characters of your combined first and last names without spaces, e.g., “JOHNNY SMITH” becomes “JOHNNYSMIT”.  Also, if your first or last name contains characters that cannot be found in the Alphanumeric table below, these characters will be skipped, e.g., “JOÚHNNY SMIÊTH” becomes “JOHNNYSMIT”.</a:t>
            </a:r>
          </a:p>
          <a:p>
            <a:pPr rtl="0">
              <a:spcBef>
                <a:spcPts val="1200"/>
              </a:spcBef>
              <a:spcAft>
                <a:spcPts val="1200"/>
              </a:spcAft>
            </a:pP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If your first and last names combined without spaces are less than 10 characters long, pad the end of the combined string with the first characters from the string “LOREMIPSUM” until the final string is 10 characters long. For example, “JOHN DOE” becomes “JOHNDOE”. Then, as this is 7-characters long, pad it with the first 3 characters “LOR”. Thus, the final string becomes, “JOHNDOELOR”.</a:t>
            </a:r>
          </a:p>
          <a:p>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Use the values R=4, K=1010 in your answer.</a:t>
            </a:r>
          </a:p>
          <a:p>
            <a:endPar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a:p>
            <a:pPr marL="342900" indent="-342900">
              <a:buFont typeface="Symbol" panose="05050102010706020507" pitchFamily="18" charset="2"/>
              <a:buChar char=""/>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correctly padding the key. </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“1010” -&gt; “1010101010”</a:t>
            </a:r>
            <a:endPar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endParaRPr>
          </a:p>
          <a:p>
            <a:pPr marL="342900" indent="-342900">
              <a:buFont typeface="Symbol" panose="05050102010706020507" pitchFamily="18" charset="2"/>
              <a:buChar char=""/>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successful XOR  </a:t>
            </a:r>
          </a:p>
          <a:p>
            <a:pPr rtl="0" fontAlgn="base">
              <a:spcBef>
                <a:spcPts val="0"/>
              </a:spcBef>
              <a:spcAft>
                <a:spcPts val="1200"/>
              </a:spcAft>
            </a:pP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“0100111000”</a:t>
            </a:r>
          </a:p>
          <a:p>
            <a:pPr fontAlgn="base">
              <a:spcAft>
                <a:spcPts val="1200"/>
              </a:spcAft>
            </a:pP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1010101010.</a:t>
            </a:r>
            <a:r>
              <a:rPr lang="en-AU"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 -&gt; “1010000011”</a:t>
            </a:r>
          </a:p>
          <a:p>
            <a:pPr marL="342900" indent="-342900">
              <a:buFont typeface="Symbol" panose="05050102010706020507" pitchFamily="18" charset="2"/>
              <a:buChar char=""/>
            </a:pPr>
            <a:endPar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endParaRPr>
          </a:p>
        </p:txBody>
      </p:sp>
    </p:spTree>
    <p:extLst>
      <p:ext uri="{BB962C8B-B14F-4D97-AF65-F5344CB8AC3E}">
        <p14:creationId xmlns:p14="http://schemas.microsoft.com/office/powerpoint/2010/main" val="10890510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710045"/>
          </a:xfrm>
        </p:spPr>
        <p:txBody>
          <a:bodyPr/>
          <a:lstStyle/>
          <a:p>
            <a:r>
              <a:rPr lang="en-AU" dirty="0"/>
              <a:t>Example Question 9</a:t>
            </a:r>
          </a:p>
        </p:txBody>
      </p:sp>
      <p:sp>
        <p:nvSpPr>
          <p:cNvPr id="7" name="TextBox 6">
            <a:extLst>
              <a:ext uri="{FF2B5EF4-FFF2-40B4-BE49-F238E27FC236}">
                <a16:creationId xmlns:a16="http://schemas.microsoft.com/office/drawing/2014/main" id="{75E0A5E3-B5A7-40C6-9FE8-508ABF9E1458}"/>
              </a:ext>
            </a:extLst>
          </p:cNvPr>
          <p:cNvSpPr txBox="1"/>
          <p:nvPr/>
        </p:nvSpPr>
        <p:spPr>
          <a:xfrm>
            <a:off x="230203" y="748145"/>
            <a:ext cx="11720945" cy="707886"/>
          </a:xfrm>
          <a:prstGeom prst="rect">
            <a:avLst/>
          </a:prstGeom>
          <a:noFill/>
        </p:spPr>
        <p:txBody>
          <a:bodyPr wrap="square">
            <a:spAutoFit/>
          </a:bodyPr>
          <a:lstStyle/>
          <a:p>
            <a:pPr rtl="0">
              <a:spcBef>
                <a:spcPts val="1200"/>
              </a:spcBef>
              <a:spcAft>
                <a:spcPts val="1200"/>
              </a:spcAft>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[7 marks] Explain the factors that determine the security strength of the FRNZ cryptographic algorithm. What is the impact of changing the values of R and K on the security strength?</a:t>
            </a:r>
          </a:p>
        </p:txBody>
      </p:sp>
    </p:spTree>
    <p:extLst>
      <p:ext uri="{BB962C8B-B14F-4D97-AF65-F5344CB8AC3E}">
        <p14:creationId xmlns:p14="http://schemas.microsoft.com/office/powerpoint/2010/main" val="6938371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38100"/>
            <a:ext cx="10353762" cy="710045"/>
          </a:xfrm>
        </p:spPr>
        <p:txBody>
          <a:bodyPr/>
          <a:lstStyle/>
          <a:p>
            <a:r>
              <a:rPr lang="en-AU" dirty="0"/>
              <a:t>Example Question 9</a:t>
            </a:r>
          </a:p>
        </p:txBody>
      </p:sp>
      <p:sp>
        <p:nvSpPr>
          <p:cNvPr id="7" name="TextBox 6">
            <a:extLst>
              <a:ext uri="{FF2B5EF4-FFF2-40B4-BE49-F238E27FC236}">
                <a16:creationId xmlns:a16="http://schemas.microsoft.com/office/drawing/2014/main" id="{75E0A5E3-B5A7-40C6-9FE8-508ABF9E1458}"/>
              </a:ext>
            </a:extLst>
          </p:cNvPr>
          <p:cNvSpPr txBox="1"/>
          <p:nvPr/>
        </p:nvSpPr>
        <p:spPr>
          <a:xfrm>
            <a:off x="230203" y="748145"/>
            <a:ext cx="11720945" cy="3631763"/>
          </a:xfrm>
          <a:prstGeom prst="rect">
            <a:avLst/>
          </a:prstGeom>
          <a:noFill/>
        </p:spPr>
        <p:txBody>
          <a:bodyPr wrap="square">
            <a:spAutoFit/>
          </a:bodyPr>
          <a:lstStyle/>
          <a:p>
            <a:pPr rtl="0">
              <a:spcBef>
                <a:spcPts val="1200"/>
              </a:spcBef>
              <a:spcAft>
                <a:spcPts val="1200"/>
              </a:spcAft>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Part 2 </a:t>
            </a: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[7 marks] Explain the factors that determine the security strength of the FRNZ cryptographic algorithm. What is the impact of changing the values of R and K on the security strength?</a:t>
            </a:r>
          </a:p>
          <a:p>
            <a:br>
              <a:rPr lang="en-US" sz="2000" dirty="0"/>
            </a:br>
            <a:r>
              <a:rPr lang="en-US" sz="20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a:t>
            </a:r>
          </a:p>
          <a:p>
            <a:pPr marL="342900" indent="-342900">
              <a:buFont typeface="Symbol" panose="05050102010706020507" pitchFamily="18" charset="2"/>
              <a:buChar char=""/>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FRNZ primarily relies on K and the mapping between numbers and bit 0/1.</a:t>
            </a:r>
          </a:p>
          <a:p>
            <a:pPr marL="342900" indent="-342900">
              <a:buFont typeface="Symbol" panose="05050102010706020507" pitchFamily="18" charset="2"/>
              <a:buChar char=""/>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the length of K determines the number of possible combinations for brute force, affecting the overall security. A longer K increases the number of combinations. For example, when K has 4 bits, it has 2^4 options. When K has 10 bits, it has 2^10 options. </a:t>
            </a:r>
          </a:p>
          <a:p>
            <a:pPr marL="342900" indent="-342900">
              <a:buFont typeface="Symbol" panose="05050102010706020507" pitchFamily="18" charset="2"/>
              <a:buChar char=""/>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[2 marks] one to many mapping of bit 0/1 to letter contributes to security. The actual complexity is 13^10.</a:t>
            </a:r>
          </a:p>
          <a:p>
            <a:pPr marL="342900" indent="-342900">
              <a:buFont typeface="Symbol" panose="05050102010706020507" pitchFamily="18" charset="2"/>
              <a:buChar char=""/>
            </a:pPr>
            <a:r>
              <a:rPr lang="en-US" sz="2000" dirty="0">
                <a:ln>
                  <a:solidFill>
                    <a:schemeClr val="bg1">
                      <a:lumMod val="75000"/>
                      <a:lumOff val="25000"/>
                      <a:alpha val="10000"/>
                    </a:schemeClr>
                  </a:solidFill>
                </a:ln>
                <a:solidFill>
                  <a:srgbClr val="FF0000"/>
                </a:solidFill>
                <a:effectLst>
                  <a:outerShdw blurRad="9525" dist="25400" dir="14640000" algn="tl" rotWithShape="0">
                    <a:schemeClr val="bg1">
                      <a:alpha val="30000"/>
                    </a:schemeClr>
                  </a:outerShdw>
                </a:effectLst>
              </a:rPr>
              <a:t>[1 mark] either decreasing or increasing R has some marginally effect on overall security: only 26 rotations</a:t>
            </a:r>
          </a:p>
        </p:txBody>
      </p:sp>
    </p:spTree>
    <p:extLst>
      <p:ext uri="{BB962C8B-B14F-4D97-AF65-F5344CB8AC3E}">
        <p14:creationId xmlns:p14="http://schemas.microsoft.com/office/powerpoint/2010/main" val="12088144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5F79D-16DD-4439-8342-17CBBB22DF56}"/>
              </a:ext>
            </a:extLst>
          </p:cNvPr>
          <p:cNvSpPr>
            <a:spLocks noGrp="1"/>
          </p:cNvSpPr>
          <p:nvPr>
            <p:ph type="ctrTitle"/>
          </p:nvPr>
        </p:nvSpPr>
        <p:spPr>
          <a:xfrm>
            <a:off x="876300" y="400049"/>
            <a:ext cx="10801349" cy="1981201"/>
          </a:xfrm>
          <a:noFill/>
          <a:ln>
            <a:noFill/>
          </a:ln>
          <a:effectLst/>
        </p:spPr>
        <p:txBody>
          <a:bodyPr>
            <a:normAutofit/>
          </a:bodyPr>
          <a:lstStyle/>
          <a:p>
            <a:r>
              <a:rPr lang="en-AU" dirty="0">
                <a:ln w="22225">
                  <a:noFill/>
                  <a:prstDash val="solid"/>
                </a:ln>
                <a:solidFill>
                  <a:srgbClr val="FF0000"/>
                </a:solidFill>
                <a:effectLst/>
                <a:latin typeface="Arial Rounded MT Bold" panose="020F0704030504030204" pitchFamily="34" charset="0"/>
                <a:cs typeface="Arial" panose="020B0604020202020204" pitchFamily="34" charset="0"/>
              </a:rPr>
              <a:t>Good </a:t>
            </a:r>
            <a:r>
              <a:rPr lang="en-AU">
                <a:ln w="22225">
                  <a:noFill/>
                  <a:prstDash val="solid"/>
                </a:ln>
                <a:solidFill>
                  <a:srgbClr val="FF0000"/>
                </a:solidFill>
                <a:effectLst/>
                <a:latin typeface="Arial Rounded MT Bold" panose="020F0704030504030204" pitchFamily="34" charset="0"/>
                <a:cs typeface="Arial" panose="020B0604020202020204" pitchFamily="34" charset="0"/>
              </a:rPr>
              <a:t>Luck </a:t>
            </a:r>
            <a:br>
              <a:rPr lang="en-AU">
                <a:ln w="22225">
                  <a:noFill/>
                  <a:prstDash val="solid"/>
                </a:ln>
                <a:solidFill>
                  <a:srgbClr val="FF0000"/>
                </a:solidFill>
                <a:effectLst/>
                <a:latin typeface="Arial Rounded MT Bold" panose="020F0704030504030204" pitchFamily="34" charset="0"/>
                <a:cs typeface="Arial" panose="020B0604020202020204" pitchFamily="34" charset="0"/>
              </a:rPr>
            </a:br>
            <a:r>
              <a:rPr lang="en-AU">
                <a:ln w="22225">
                  <a:noFill/>
                  <a:prstDash val="solid"/>
                </a:ln>
                <a:solidFill>
                  <a:srgbClr val="FF0000"/>
                </a:solidFill>
                <a:effectLst/>
                <a:latin typeface="Arial Rounded MT Bold" panose="020F0704030504030204" pitchFamily="34" charset="0"/>
                <a:cs typeface="Arial" panose="020B0604020202020204" pitchFamily="34" charset="0"/>
              </a:rPr>
              <a:t>in all </a:t>
            </a:r>
            <a:r>
              <a:rPr lang="en-AU" dirty="0">
                <a:ln w="22225">
                  <a:noFill/>
                  <a:prstDash val="solid"/>
                </a:ln>
                <a:solidFill>
                  <a:srgbClr val="FF0000"/>
                </a:solidFill>
                <a:effectLst/>
                <a:latin typeface="Arial Rounded MT Bold" panose="020F0704030504030204" pitchFamily="34" charset="0"/>
                <a:cs typeface="Arial" panose="020B0604020202020204" pitchFamily="34" charset="0"/>
              </a:rPr>
              <a:t>your final exams!!!</a:t>
            </a:r>
          </a:p>
        </p:txBody>
      </p:sp>
      <p:sp>
        <p:nvSpPr>
          <p:cNvPr id="3" name="Content Placeholder 2">
            <a:extLst>
              <a:ext uri="{FF2B5EF4-FFF2-40B4-BE49-F238E27FC236}">
                <a16:creationId xmlns:a16="http://schemas.microsoft.com/office/drawing/2014/main" id="{4ED86F02-6CA1-4157-BC69-AD1E9404270E}"/>
              </a:ext>
            </a:extLst>
          </p:cNvPr>
          <p:cNvSpPr txBox="1">
            <a:spLocks/>
          </p:cNvSpPr>
          <p:nvPr/>
        </p:nvSpPr>
        <p:spPr>
          <a:xfrm>
            <a:off x="675948" y="2813258"/>
            <a:ext cx="10965550" cy="3123916"/>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0" indent="0" algn="ctr" defTabSz="457200" rtl="0" eaLnBrk="1" latinLnBrk="0" hangingPunct="1">
              <a:lnSpc>
                <a:spcPct val="110000"/>
              </a:lnSpc>
              <a:spcBef>
                <a:spcPct val="20000"/>
              </a:spcBef>
              <a:spcAft>
                <a:spcPts val="600"/>
              </a:spcAft>
              <a:buClr>
                <a:schemeClr val="tx2"/>
              </a:buClr>
              <a:buSzPct val="70000"/>
              <a:buFont typeface="Wingdings 2" charset="2"/>
              <a:buNone/>
              <a:defRPr sz="2100" kern="1200">
                <a:ln>
                  <a:solidFill>
                    <a:schemeClr val="bg1">
                      <a:lumMod val="75000"/>
                      <a:lumOff val="25000"/>
                      <a:alpha val="10000"/>
                    </a:schemeClr>
                  </a:solidFill>
                </a:ln>
                <a:solidFill>
                  <a:schemeClr val="tx1"/>
                </a:solidFill>
                <a:effectLst>
                  <a:outerShdw blurRad="9525" dist="25400" dir="14640000" algn="tl" rotWithShape="0">
                    <a:schemeClr val="bg1">
                      <a:alpha val="3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tx2"/>
              </a:buClr>
              <a:buSzPct val="70000"/>
              <a:buFont typeface="Wingdings 2" charset="2"/>
              <a:buNone/>
              <a:defRPr sz="19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tx2"/>
              </a:buClr>
              <a:buSzPct val="70000"/>
              <a:buFont typeface="Wingdings 2" charset="2"/>
              <a:buNone/>
              <a:defRPr sz="17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tx2"/>
              </a:buClr>
              <a:buSzPct val="70000"/>
              <a:buFont typeface="Wingdings 2" charset="2"/>
              <a:buNone/>
              <a:defRPr sz="15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tx2"/>
              </a:buClr>
              <a:buSzPct val="70000"/>
              <a:buFont typeface="Wingdings 2" charset="2"/>
              <a:buNone/>
              <a:defRPr sz="15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6pPr>
            <a:lvl7pPr marL="27432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7pPr>
            <a:lvl8pPr marL="32004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8pPr>
            <a:lvl9pPr marL="3657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9pPr>
          </a:lstStyle>
          <a:p>
            <a:pPr marL="36900" algn="l"/>
            <a:r>
              <a:rPr lang="en-AU" sz="2400" dirty="0">
                <a:solidFill>
                  <a:srgbClr val="FF0000"/>
                </a:solidFill>
              </a:rPr>
              <a:t>E</a:t>
            </a:r>
            <a:r>
              <a:rPr lang="en-US" altLang="zh-CN" sz="2400" dirty="0" err="1">
                <a:solidFill>
                  <a:srgbClr val="FF0000"/>
                </a:solidFill>
              </a:rPr>
              <a:t>xam</a:t>
            </a:r>
            <a:r>
              <a:rPr lang="en-US" altLang="zh-CN" sz="2400" dirty="0">
                <a:solidFill>
                  <a:srgbClr val="FF0000"/>
                </a:solidFill>
              </a:rPr>
              <a:t> Strategy:</a:t>
            </a:r>
            <a:r>
              <a:rPr lang="en-US" altLang="zh-CN" sz="2400" dirty="0">
                <a:solidFill>
                  <a:schemeClr val="tx2"/>
                </a:solidFill>
              </a:rPr>
              <a:t> </a:t>
            </a:r>
            <a:r>
              <a:rPr lang="en-US" sz="2400" dirty="0">
                <a:solidFill>
                  <a:schemeClr val="tx2"/>
                </a:solidFill>
              </a:rPr>
              <a:t>Prioritizing questions based on difficulty can help manage your time effectively and ensure you tackle the ones you're most confident about first.</a:t>
            </a:r>
            <a:endParaRPr lang="en-AU" sz="2400" dirty="0">
              <a:solidFill>
                <a:schemeClr val="tx2"/>
              </a:solidFill>
            </a:endParaRPr>
          </a:p>
          <a:p>
            <a:pPr marL="36900"/>
            <a:endParaRPr lang="en-AU" sz="2400" dirty="0"/>
          </a:p>
        </p:txBody>
      </p:sp>
    </p:spTree>
    <p:extLst>
      <p:ext uri="{BB962C8B-B14F-4D97-AF65-F5344CB8AC3E}">
        <p14:creationId xmlns:p14="http://schemas.microsoft.com/office/powerpoint/2010/main" val="28916929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AnalogousFromDarkSeedLeftStep">
      <a:dk1>
        <a:srgbClr val="000000"/>
      </a:dk1>
      <a:lt1>
        <a:srgbClr val="FFFFFF"/>
      </a:lt1>
      <a:dk2>
        <a:srgbClr val="243541"/>
      </a:dk2>
      <a:lt2>
        <a:srgbClr val="E4E8E2"/>
      </a:lt2>
      <a:accent1>
        <a:srgbClr val="A629E7"/>
      </a:accent1>
      <a:accent2>
        <a:srgbClr val="6640DC"/>
      </a:accent2>
      <a:accent3>
        <a:srgbClr val="2F4FE7"/>
      </a:accent3>
      <a:accent4>
        <a:srgbClr val="1787D5"/>
      </a:accent4>
      <a:accent5>
        <a:srgbClr val="20B6B5"/>
      </a:accent5>
      <a:accent6>
        <a:srgbClr val="14B973"/>
      </a:accent6>
      <a:hlink>
        <a:srgbClr val="358E9F"/>
      </a:hlink>
      <a:folHlink>
        <a:srgbClr val="7F7F7F"/>
      </a:folHlink>
    </a:clrScheme>
    <a:fontScheme name="Slate">
      <a:majorFont>
        <a:latin typeface="Georgia Pro Cond Ligh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Speak Pro"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5817</Words>
  <Application>Microsoft Office PowerPoint</Application>
  <PresentationFormat>Widescreen</PresentationFormat>
  <Paragraphs>410</Paragraphs>
  <Slides>72</Slides>
  <Notes>69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72</vt:i4>
      </vt:variant>
    </vt:vector>
  </HeadingPairs>
  <TitlesOfParts>
    <vt:vector size="82" baseType="lpstr">
      <vt:lpstr>__Inter_a923d8</vt:lpstr>
      <vt:lpstr>Speak Pro (Body)</vt:lpstr>
      <vt:lpstr>Arial</vt:lpstr>
      <vt:lpstr>Arial Rounded MT Bold</vt:lpstr>
      <vt:lpstr>Calibri</vt:lpstr>
      <vt:lpstr>Georgia Pro Cond Light</vt:lpstr>
      <vt:lpstr>Speak Pro</vt:lpstr>
      <vt:lpstr>Symbol</vt:lpstr>
      <vt:lpstr>Wingdings 2</vt:lpstr>
      <vt:lpstr>SlateVTI</vt:lpstr>
      <vt:lpstr>CITS1003 Introduction to Cybersecurity Exam Exercises</vt:lpstr>
      <vt:lpstr>PowerPoint Presentation</vt:lpstr>
      <vt:lpstr>Exam Format</vt:lpstr>
      <vt:lpstr>Exam Instructions</vt:lpstr>
      <vt:lpstr>Exam Content</vt:lpstr>
      <vt:lpstr>Exam Content</vt:lpstr>
      <vt:lpstr>Exam Content</vt:lpstr>
      <vt:lpstr>Exam Content (Deferred)</vt:lpstr>
      <vt:lpstr>Example Question 1</vt:lpstr>
      <vt:lpstr>Example Question 1</vt:lpstr>
      <vt:lpstr>Example Question 1</vt:lpstr>
      <vt:lpstr>Example Question 1</vt:lpstr>
      <vt:lpstr>Example Question 1</vt:lpstr>
      <vt:lpstr>Example Question 1</vt:lpstr>
      <vt:lpstr>Example Question 1</vt:lpstr>
      <vt:lpstr>Example Question 2</vt:lpstr>
      <vt:lpstr>Example Question 2</vt:lpstr>
      <vt:lpstr>Example Question 2</vt:lpstr>
      <vt:lpstr>Example Question 2</vt:lpstr>
      <vt:lpstr>Example Question 2</vt:lpstr>
      <vt:lpstr>Example Question 2</vt:lpstr>
      <vt:lpstr>Example Question 2</vt:lpstr>
      <vt:lpstr>Example Question 2</vt:lpstr>
      <vt:lpstr>Example Question 2</vt:lpstr>
      <vt:lpstr>Example Question 3</vt:lpstr>
      <vt:lpstr>Example Question 3</vt:lpstr>
      <vt:lpstr>Example Question 3</vt:lpstr>
      <vt:lpstr>Example Question 3</vt:lpstr>
      <vt:lpstr>Example Question 3</vt:lpstr>
      <vt:lpstr>Example Question 3</vt:lpstr>
      <vt:lpstr>Example Question 3</vt:lpstr>
      <vt:lpstr>Example Question 3</vt:lpstr>
      <vt:lpstr>Example Question 3</vt:lpstr>
      <vt:lpstr>Example Question 4</vt:lpstr>
      <vt:lpstr>Example Question 4</vt:lpstr>
      <vt:lpstr>Example Question 4</vt:lpstr>
      <vt:lpstr>Example Question 4</vt:lpstr>
      <vt:lpstr>Example Question 4</vt:lpstr>
      <vt:lpstr>Example Question 4</vt:lpstr>
      <vt:lpstr>Example Question 4</vt:lpstr>
      <vt:lpstr>Example Question 5</vt:lpstr>
      <vt:lpstr>Example Question 5</vt:lpstr>
      <vt:lpstr>Example Question 5</vt:lpstr>
      <vt:lpstr>Example Question 5</vt:lpstr>
      <vt:lpstr>Example Question 5</vt:lpstr>
      <vt:lpstr>Example Question 5</vt:lpstr>
      <vt:lpstr>Example Question 5</vt:lpstr>
      <vt:lpstr>Part 1 Translate the attack-defense tree described below into code.</vt:lpstr>
      <vt:lpstr>Part 1 Translate the attack-defense tree described below into code.</vt:lpstr>
      <vt:lpstr>Part 2 In the attack-defense tree mentioned previously, each editable node has been assigned an initial success-probability value. Calculate the success probability value for each node marked with a question mark.</vt:lpstr>
      <vt:lpstr>PowerPoint Presentation</vt:lpstr>
      <vt:lpstr>Example Question 7</vt:lpstr>
      <vt:lpstr>Example Question 7</vt:lpstr>
      <vt:lpstr>Example Question 7</vt:lpstr>
      <vt:lpstr>Example Question 7</vt:lpstr>
      <vt:lpstr>Example Question 7</vt:lpstr>
      <vt:lpstr>Example Question 7</vt:lpstr>
      <vt:lpstr>Example Question 7</vt:lpstr>
      <vt:lpstr>Example Question 7</vt:lpstr>
      <vt:lpstr>Example Question 7</vt:lpstr>
      <vt:lpstr>Example Question 8</vt:lpstr>
      <vt:lpstr>Example Question 8</vt:lpstr>
      <vt:lpstr>Example Question 8</vt:lpstr>
      <vt:lpstr>Example Question 8</vt:lpstr>
      <vt:lpstr>Example Question 8</vt:lpstr>
      <vt:lpstr>Example Question 8</vt:lpstr>
      <vt:lpstr>Example Question 9</vt:lpstr>
      <vt:lpstr>Example Question 9</vt:lpstr>
      <vt:lpstr>Example Question 9</vt:lpstr>
      <vt:lpstr>Example Question 9</vt:lpstr>
      <vt:lpstr>Example Question 9</vt:lpstr>
      <vt:lpstr>Good Luck  in all your final exams!!!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2025-05-12T02:56:14Z</dcterms:created>
  <dcterms:modified xsi:type="dcterms:W3CDTF">2025-05-12T03:01:46Z</dcterms:modified>
</cp:coreProperties>
</file>